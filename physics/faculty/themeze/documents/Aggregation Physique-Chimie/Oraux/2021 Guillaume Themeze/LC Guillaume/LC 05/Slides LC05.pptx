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e09a9cd88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e09a9cd8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09a9cd88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09a9cd88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09a9cd88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09a9cd88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09a9cd88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e09a9cd88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09a9cd8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e09a9cd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2075" y="3458850"/>
            <a:ext cx="2021924" cy="15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650" y="255625"/>
            <a:ext cx="1530925" cy="21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5625" y="255625"/>
            <a:ext cx="2924505" cy="21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6549" y="255625"/>
            <a:ext cx="2762800" cy="1874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6921" y="3557225"/>
            <a:ext cx="2487550" cy="146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type="ctrTitle"/>
          </p:nvPr>
        </p:nvSpPr>
        <p:spPr>
          <a:xfrm>
            <a:off x="1354650" y="2177788"/>
            <a:ext cx="6434700" cy="13320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LC05 Oxydants et réducteurs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3137250" y="408750"/>
            <a:ext cx="2869500" cy="569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Arbre de Diane</a:t>
            </a:r>
            <a:endParaRPr sz="25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000" y="1622638"/>
            <a:ext cx="3944025" cy="295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0" l="0" r="0" t="1980"/>
          <a:stretch/>
        </p:blipFill>
        <p:spPr>
          <a:xfrm>
            <a:off x="377275" y="1651888"/>
            <a:ext cx="3944036" cy="28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885600" y="262513"/>
            <a:ext cx="2842200" cy="8292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Échelle</a:t>
            </a:r>
            <a:r>
              <a:rPr lang="fr" sz="2500"/>
              <a:t> de potentiels standards</a:t>
            </a:r>
            <a:endParaRPr sz="250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675" y="1309113"/>
            <a:ext cx="26860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26240" l="73622" r="6749" t="33012"/>
          <a:stretch/>
        </p:blipFill>
        <p:spPr>
          <a:xfrm>
            <a:off x="4862325" y="1123538"/>
            <a:ext cx="3161899" cy="3692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ctrTitle"/>
          </p:nvPr>
        </p:nvSpPr>
        <p:spPr>
          <a:xfrm>
            <a:off x="5100325" y="327463"/>
            <a:ext cx="2685900" cy="5694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Échelle de pK</a:t>
            </a:r>
            <a:r>
              <a:rPr baseline="-25000" lang="fr" sz="2500"/>
              <a:t>a</a:t>
            </a:r>
            <a:endParaRPr baseline="-25000" sz="2500"/>
          </a:p>
        </p:txBody>
      </p:sp>
      <p:cxnSp>
        <p:nvCxnSpPr>
          <p:cNvPr id="75" name="Google Shape;75;p15"/>
          <p:cNvCxnSpPr/>
          <p:nvPr/>
        </p:nvCxnSpPr>
        <p:spPr>
          <a:xfrm>
            <a:off x="4312425" y="105575"/>
            <a:ext cx="0" cy="49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146350" y="289650"/>
            <a:ext cx="4851300" cy="569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Réducteurs et oxydants usuels</a:t>
            </a:r>
            <a:endParaRPr sz="2500"/>
          </a:p>
        </p:txBody>
      </p:sp>
      <p:grpSp>
        <p:nvGrpSpPr>
          <p:cNvPr id="81" name="Google Shape;81;p16"/>
          <p:cNvGrpSpPr/>
          <p:nvPr/>
        </p:nvGrpSpPr>
        <p:grpSpPr>
          <a:xfrm>
            <a:off x="458700" y="994350"/>
            <a:ext cx="1720175" cy="2956451"/>
            <a:chOff x="426175" y="594475"/>
            <a:chExt cx="1720175" cy="2956451"/>
          </a:xfrm>
        </p:grpSpPr>
        <p:pic>
          <p:nvPicPr>
            <p:cNvPr id="82" name="Google Shape;82;p16"/>
            <p:cNvPicPr preferRelativeResize="0"/>
            <p:nvPr/>
          </p:nvPicPr>
          <p:blipFill rotWithShape="1">
            <a:blip r:embed="rId3">
              <a:alphaModFix/>
            </a:blip>
            <a:srcRect b="0" l="36952" r="0" t="14207"/>
            <a:stretch/>
          </p:blipFill>
          <p:spPr>
            <a:xfrm>
              <a:off x="426175" y="1210075"/>
              <a:ext cx="1720175" cy="2340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 txBox="1"/>
            <p:nvPr/>
          </p:nvSpPr>
          <p:spPr>
            <a:xfrm>
              <a:off x="604050" y="594475"/>
              <a:ext cx="136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Le dioxygène (oxydant)</a:t>
              </a:r>
              <a:endParaRPr/>
            </a:p>
          </p:txBody>
        </p:sp>
      </p:grpSp>
      <p:grpSp>
        <p:nvGrpSpPr>
          <p:cNvPr id="84" name="Google Shape;84;p16"/>
          <p:cNvGrpSpPr/>
          <p:nvPr/>
        </p:nvGrpSpPr>
        <p:grpSpPr>
          <a:xfrm>
            <a:off x="7268088" y="994338"/>
            <a:ext cx="1364400" cy="3986713"/>
            <a:chOff x="7365538" y="1037663"/>
            <a:chExt cx="1364400" cy="3986713"/>
          </a:xfrm>
        </p:grpSpPr>
        <p:pic>
          <p:nvPicPr>
            <p:cNvPr id="85" name="Google Shape;85;p16"/>
            <p:cNvPicPr preferRelativeResize="0"/>
            <p:nvPr/>
          </p:nvPicPr>
          <p:blipFill rotWithShape="1">
            <a:blip r:embed="rId4">
              <a:alphaModFix/>
            </a:blip>
            <a:srcRect b="0" l="28135" r="30189" t="0"/>
            <a:stretch/>
          </p:blipFill>
          <p:spPr>
            <a:xfrm>
              <a:off x="7408400" y="1037663"/>
              <a:ext cx="1278700" cy="306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6"/>
            <p:cNvSpPr txBox="1"/>
            <p:nvPr/>
          </p:nvSpPr>
          <p:spPr>
            <a:xfrm>
              <a:off x="7365538" y="4193075"/>
              <a:ext cx="1364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Les ions hypochlorite</a:t>
              </a:r>
              <a:r>
                <a:rPr lang="fr"/>
                <a:t> (oxydant)</a:t>
              </a:r>
              <a:endParaRPr/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2769163" y="1134250"/>
            <a:ext cx="4092700" cy="2400900"/>
            <a:chOff x="2769163" y="734050"/>
            <a:chExt cx="4092700" cy="2400900"/>
          </a:xfrm>
        </p:grpSpPr>
        <p:pic>
          <p:nvPicPr>
            <p:cNvPr id="88" name="Google Shape;88;p16"/>
            <p:cNvPicPr preferRelativeResize="0"/>
            <p:nvPr/>
          </p:nvPicPr>
          <p:blipFill rotWithShape="1">
            <a:blip r:embed="rId5">
              <a:alphaModFix/>
            </a:blip>
            <a:srcRect b="13643" l="0" r="0" t="10684"/>
            <a:stretch/>
          </p:blipFill>
          <p:spPr>
            <a:xfrm>
              <a:off x="2769163" y="1134250"/>
              <a:ext cx="4092700" cy="200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6"/>
            <p:cNvSpPr txBox="1"/>
            <p:nvPr/>
          </p:nvSpPr>
          <p:spPr>
            <a:xfrm>
              <a:off x="3391650" y="734050"/>
              <a:ext cx="270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Les métaux (réducteurs)</a:t>
              </a:r>
              <a:endParaRPr/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2455175" y="3535150"/>
            <a:ext cx="2977925" cy="1470900"/>
            <a:chOff x="1499500" y="3535150"/>
            <a:chExt cx="2977925" cy="1470900"/>
          </a:xfrm>
        </p:grpSpPr>
        <p:pic>
          <p:nvPicPr>
            <p:cNvPr id="91" name="Google Shape;91;p16"/>
            <p:cNvPicPr preferRelativeResize="0"/>
            <p:nvPr/>
          </p:nvPicPr>
          <p:blipFill rotWithShape="1">
            <a:blip r:embed="rId6">
              <a:alphaModFix/>
            </a:blip>
            <a:srcRect b="0" l="24320" r="23411" t="0"/>
            <a:stretch/>
          </p:blipFill>
          <p:spPr>
            <a:xfrm>
              <a:off x="1499500" y="3535150"/>
              <a:ext cx="1537626" cy="147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6"/>
            <p:cNvSpPr txBox="1"/>
            <p:nvPr/>
          </p:nvSpPr>
          <p:spPr>
            <a:xfrm>
              <a:off x="3037125" y="4390450"/>
              <a:ext cx="1440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Le dihydrogène (réducteur)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461950" y="242825"/>
            <a:ext cx="2068500" cy="5727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Pile Daniell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9905" l="14191" r="13255" t="13366"/>
          <a:stretch/>
        </p:blipFill>
        <p:spPr>
          <a:xfrm>
            <a:off x="1147200" y="815525"/>
            <a:ext cx="6849576" cy="407462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940138" y="935150"/>
            <a:ext cx="111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A86E8"/>
                </a:solidFill>
              </a:rPr>
              <a:t>Multimètre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 rot="10800000">
            <a:off x="2190400" y="935175"/>
            <a:ext cx="568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7"/>
          <p:cNvSpPr txBox="1"/>
          <p:nvPr/>
        </p:nvSpPr>
        <p:spPr>
          <a:xfrm>
            <a:off x="2342050" y="534975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AA84F"/>
                </a:solidFill>
              </a:rPr>
              <a:t>e</a:t>
            </a:r>
            <a:r>
              <a:rPr baseline="30000" lang="fr" sz="1600">
                <a:solidFill>
                  <a:srgbClr val="6AA84F"/>
                </a:solidFill>
              </a:rPr>
              <a:t>-</a:t>
            </a:r>
            <a:endParaRPr baseline="30000" sz="1600">
              <a:solidFill>
                <a:srgbClr val="6AA84F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5905975" y="719625"/>
            <a:ext cx="29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I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149" y="167213"/>
            <a:ext cx="3606801" cy="480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>
            <p:ph type="title"/>
          </p:nvPr>
        </p:nvSpPr>
        <p:spPr>
          <a:xfrm>
            <a:off x="1082750" y="211125"/>
            <a:ext cx="3015300" cy="5727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Anode sacrificielle</a:t>
            </a:r>
            <a:endParaRPr/>
          </a:p>
        </p:txBody>
      </p:sp>
      <p:grpSp>
        <p:nvGrpSpPr>
          <p:cNvPr id="109" name="Google Shape;109;p18"/>
          <p:cNvGrpSpPr/>
          <p:nvPr/>
        </p:nvGrpSpPr>
        <p:grpSpPr>
          <a:xfrm>
            <a:off x="733494" y="2152150"/>
            <a:ext cx="1809296" cy="2539609"/>
            <a:chOff x="5670094" y="1264225"/>
            <a:chExt cx="1809296" cy="2539609"/>
          </a:xfrm>
        </p:grpSpPr>
        <p:grpSp>
          <p:nvGrpSpPr>
            <p:cNvPr id="110" name="Google Shape;110;p18"/>
            <p:cNvGrpSpPr/>
            <p:nvPr/>
          </p:nvGrpSpPr>
          <p:grpSpPr>
            <a:xfrm>
              <a:off x="5670094" y="1631125"/>
              <a:ext cx="1809296" cy="2172709"/>
              <a:chOff x="3326100" y="1626675"/>
              <a:chExt cx="2491800" cy="2992300"/>
            </a:xfrm>
          </p:grpSpPr>
          <p:sp>
            <p:nvSpPr>
              <p:cNvPr id="111" name="Google Shape;111;p18"/>
              <p:cNvSpPr/>
              <p:nvPr/>
            </p:nvSpPr>
            <p:spPr>
              <a:xfrm>
                <a:off x="3496500" y="1765075"/>
                <a:ext cx="2151000" cy="28539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3326100" y="1626675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3518175" y="1999050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" name="Google Shape;114;p18"/>
            <p:cNvSpPr/>
            <p:nvPr/>
          </p:nvSpPr>
          <p:spPr>
            <a:xfrm>
              <a:off x="6366250" y="1264225"/>
              <a:ext cx="417050" cy="1895950"/>
            </a:xfrm>
            <a:prstGeom prst="flowChartProcess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6366250" y="2309525"/>
              <a:ext cx="417050" cy="885400"/>
            </a:xfrm>
            <a:prstGeom prst="flowChartProcess">
              <a:avLst/>
            </a:prstGeom>
            <a:solidFill>
              <a:srgbClr val="9FB8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2869444" y="2152150"/>
            <a:ext cx="1809296" cy="2539609"/>
            <a:chOff x="5670094" y="1264225"/>
            <a:chExt cx="1809296" cy="2539609"/>
          </a:xfrm>
        </p:grpSpPr>
        <p:grpSp>
          <p:nvGrpSpPr>
            <p:cNvPr id="117" name="Google Shape;117;p18"/>
            <p:cNvGrpSpPr/>
            <p:nvPr/>
          </p:nvGrpSpPr>
          <p:grpSpPr>
            <a:xfrm>
              <a:off x="5670094" y="1631125"/>
              <a:ext cx="1809296" cy="2172709"/>
              <a:chOff x="3326100" y="1626675"/>
              <a:chExt cx="2491800" cy="2992300"/>
            </a:xfrm>
          </p:grpSpPr>
          <p:sp>
            <p:nvSpPr>
              <p:cNvPr id="118" name="Google Shape;118;p18"/>
              <p:cNvSpPr/>
              <p:nvPr/>
            </p:nvSpPr>
            <p:spPr>
              <a:xfrm>
                <a:off x="3496500" y="1765075"/>
                <a:ext cx="2151000" cy="2853900"/>
              </a:xfrm>
              <a:prstGeom prst="roundRect">
                <a:avLst>
                  <a:gd fmla="val 16667" name="adj"/>
                </a:avLst>
              </a:prstGeom>
              <a:solidFill>
                <a:srgbClr val="CFE2F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3326100" y="1626675"/>
                <a:ext cx="24918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3518175" y="1999050"/>
                <a:ext cx="2110200" cy="572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18"/>
            <p:cNvSpPr/>
            <p:nvPr/>
          </p:nvSpPr>
          <p:spPr>
            <a:xfrm>
              <a:off x="6366250" y="1264225"/>
              <a:ext cx="417050" cy="1895950"/>
            </a:xfrm>
            <a:prstGeom prst="flowChartProcess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6366250" y="2309525"/>
              <a:ext cx="417050" cy="885400"/>
            </a:xfrm>
            <a:prstGeom prst="flowChartProcess">
              <a:avLst/>
            </a:prstGeom>
            <a:solidFill>
              <a:srgbClr val="6A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8"/>
          <p:cNvSpPr/>
          <p:nvPr/>
        </p:nvSpPr>
        <p:spPr>
          <a:xfrm>
            <a:off x="2049300" y="2468400"/>
            <a:ext cx="1310100" cy="2544600"/>
          </a:xfrm>
          <a:prstGeom prst="blockArc">
            <a:avLst>
              <a:gd fmla="val 10800000" name="adj1"/>
              <a:gd fmla="val 211129" name="adj2"/>
              <a:gd fmla="val 10349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16725" y="2292900"/>
            <a:ext cx="5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Zinc</a:t>
            </a:r>
            <a:endParaRPr sz="1600"/>
          </a:p>
        </p:txBody>
      </p:sp>
      <p:sp>
        <p:nvSpPr>
          <p:cNvPr id="125" name="Google Shape;125;p18"/>
          <p:cNvSpPr txBox="1"/>
          <p:nvPr/>
        </p:nvSpPr>
        <p:spPr>
          <a:xfrm>
            <a:off x="4512675" y="2292900"/>
            <a:ext cx="57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Fer</a:t>
            </a:r>
            <a:endParaRPr sz="1600"/>
          </a:p>
        </p:txBody>
      </p:sp>
      <p:cxnSp>
        <p:nvCxnSpPr>
          <p:cNvPr id="126" name="Google Shape;126;p18"/>
          <p:cNvCxnSpPr/>
          <p:nvPr/>
        </p:nvCxnSpPr>
        <p:spPr>
          <a:xfrm>
            <a:off x="896025" y="2508450"/>
            <a:ext cx="655200" cy="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3857475" y="2508450"/>
            <a:ext cx="655200" cy="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/>
          <p:nvPr/>
        </p:nvSpPr>
        <p:spPr>
          <a:xfrm>
            <a:off x="1637800" y="1599900"/>
            <a:ext cx="2122375" cy="563075"/>
          </a:xfrm>
          <a:custGeom>
            <a:rect b="b" l="l" r="r" t="t"/>
            <a:pathLst>
              <a:path extrusionOk="0" h="22523" w="84895">
                <a:moveTo>
                  <a:pt x="0" y="22090"/>
                </a:moveTo>
                <a:lnTo>
                  <a:pt x="0" y="0"/>
                </a:lnTo>
                <a:lnTo>
                  <a:pt x="84895" y="0"/>
                </a:lnTo>
                <a:lnTo>
                  <a:pt x="84895" y="22523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9" name="Google Shape;129;p18"/>
          <p:cNvSpPr/>
          <p:nvPr/>
        </p:nvSpPr>
        <p:spPr>
          <a:xfrm>
            <a:off x="1082750" y="1665888"/>
            <a:ext cx="454800" cy="4311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+</a:t>
            </a:r>
            <a:endParaRPr sz="2000"/>
          </a:p>
        </p:txBody>
      </p:sp>
      <p:sp>
        <p:nvSpPr>
          <p:cNvPr id="130" name="Google Shape;130;p18"/>
          <p:cNvSpPr/>
          <p:nvPr/>
        </p:nvSpPr>
        <p:spPr>
          <a:xfrm>
            <a:off x="3860425" y="1665888"/>
            <a:ext cx="454800" cy="4311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-</a:t>
            </a:r>
            <a:endParaRPr sz="2000"/>
          </a:p>
        </p:txBody>
      </p:sp>
      <p:sp>
        <p:nvSpPr>
          <p:cNvPr id="131" name="Google Shape;131;p18"/>
          <p:cNvSpPr/>
          <p:nvPr/>
        </p:nvSpPr>
        <p:spPr>
          <a:xfrm rot="-2103932">
            <a:off x="7420269" y="920705"/>
            <a:ext cx="363960" cy="468831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 rot="-2103932">
            <a:off x="7897544" y="1647030"/>
            <a:ext cx="363960" cy="468831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 rot="-3328322">
            <a:off x="6436489" y="1579594"/>
            <a:ext cx="364144" cy="468993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 rot="-4759168">
            <a:off x="6359678" y="3187420"/>
            <a:ext cx="364210" cy="469236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 rot="-3776964">
            <a:off x="6359544" y="2516878"/>
            <a:ext cx="364134" cy="468921"/>
          </a:xfrm>
          <a:prstGeom prst="ellipse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