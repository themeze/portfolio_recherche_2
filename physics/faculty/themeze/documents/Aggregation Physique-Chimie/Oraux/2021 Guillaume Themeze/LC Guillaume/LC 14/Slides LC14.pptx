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db9bc7457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db9bc7457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db9bc745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db9bc745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db9bc7457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db9bc7457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b9bc7457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db9bc7457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db9bc7457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db9bc7457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db9bc7457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db9bc7457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db9bc7457c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db9bc7457c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s://fr.wikipedia.org/wiki/Oxyg%C3%A8ne" TargetMode="External"/><Relationship Id="rId10" Type="http://schemas.openxmlformats.org/officeDocument/2006/relationships/hyperlink" Target="https://fr.wikipedia.org/wiki/Sulfure" TargetMode="External"/><Relationship Id="rId13" Type="http://schemas.openxmlformats.org/officeDocument/2006/relationships/image" Target="../media/image2.jpg"/><Relationship Id="rId1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fr.wikipedia.org/wiki/Carbone" TargetMode="External"/><Relationship Id="rId4" Type="http://schemas.openxmlformats.org/officeDocument/2006/relationships/hyperlink" Target="https://fr.wikipedia.org/wiki/Hydrog%C3%A8ne" TargetMode="External"/><Relationship Id="rId9" Type="http://schemas.openxmlformats.org/officeDocument/2006/relationships/hyperlink" Target="https://fr.wikipedia.org/wiki/Hydrog%C3%A8ne" TargetMode="External"/><Relationship Id="rId5" Type="http://schemas.openxmlformats.org/officeDocument/2006/relationships/hyperlink" Target="https://fr.wikipedia.org/wiki/Oxyg%C3%A8ne" TargetMode="External"/><Relationship Id="rId6" Type="http://schemas.openxmlformats.org/officeDocument/2006/relationships/hyperlink" Target="https://fr.wikipedia.org/wiki/Carbone" TargetMode="External"/><Relationship Id="rId7" Type="http://schemas.openxmlformats.org/officeDocument/2006/relationships/hyperlink" Target="https://fr.wikipedia.org/wiki/Hydrog%C3%A8ne" TargetMode="External"/><Relationship Id="rId8" Type="http://schemas.openxmlformats.org/officeDocument/2006/relationships/hyperlink" Target="https://fr.wikipedia.org/wiki/Oxyg%C3%A8n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704000"/>
            <a:ext cx="8520600" cy="1735500"/>
          </a:xfrm>
          <a:prstGeom prst="rect">
            <a:avLst/>
          </a:prstGeom>
          <a:solidFill>
            <a:srgbClr val="D9D2E9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500"/>
              <a:t>LC14 Molécules d’intérêt biologique</a:t>
            </a:r>
            <a:endParaRPr sz="3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5388" y="257175"/>
            <a:ext cx="6753225" cy="46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4753438" y="508200"/>
            <a:ext cx="2043000" cy="572700"/>
          </a:xfrm>
          <a:prstGeom prst="rect">
            <a:avLst/>
          </a:prstGeom>
          <a:solidFill>
            <a:srgbClr val="D9D2E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L’aspartame</a:t>
            </a:r>
            <a:endParaRPr/>
          </a:p>
        </p:txBody>
      </p:sp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10117" l="27738" r="27115" t="11265"/>
          <a:stretch/>
        </p:blipFill>
        <p:spPr>
          <a:xfrm>
            <a:off x="282225" y="2388525"/>
            <a:ext cx="1465975" cy="25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225" y="217550"/>
            <a:ext cx="3066874" cy="2044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oogle Shape;67;p15"/>
          <p:cNvGrpSpPr/>
          <p:nvPr/>
        </p:nvGrpSpPr>
        <p:grpSpPr>
          <a:xfrm>
            <a:off x="2811499" y="1458750"/>
            <a:ext cx="5926910" cy="3419372"/>
            <a:chOff x="2154349" y="1655525"/>
            <a:chExt cx="5926910" cy="3419372"/>
          </a:xfrm>
        </p:grpSpPr>
        <p:pic>
          <p:nvPicPr>
            <p:cNvPr id="68" name="Google Shape;68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86375" y="1655525"/>
              <a:ext cx="5125725" cy="3053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5"/>
            <p:cNvSpPr/>
            <p:nvPr/>
          </p:nvSpPr>
          <p:spPr>
            <a:xfrm rot="-2699503">
              <a:off x="2526976" y="3098893"/>
              <a:ext cx="1466045" cy="1660994"/>
            </a:xfrm>
            <a:prstGeom prst="ellipse">
              <a:avLst/>
            </a:prstGeom>
            <a:solidFill>
              <a:srgbClr val="EA9999">
                <a:alpha val="46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rot="1935">
              <a:off x="3946096" y="3916540"/>
              <a:ext cx="1066200" cy="931500"/>
            </a:xfrm>
            <a:prstGeom prst="ellipse">
              <a:avLst/>
            </a:prstGeom>
            <a:solidFill>
              <a:srgbClr val="FFE599">
                <a:alpha val="445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 rot="-2043024">
              <a:off x="5867677" y="3217054"/>
              <a:ext cx="1984562" cy="1424587"/>
            </a:xfrm>
            <a:prstGeom prst="ellipse">
              <a:avLst/>
            </a:prstGeom>
            <a:solidFill>
              <a:srgbClr val="93C47D">
                <a:alpha val="41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 rot="-1206803">
              <a:off x="4523770" y="2596982"/>
              <a:ext cx="1149823" cy="1718801"/>
            </a:xfrm>
            <a:prstGeom prst="ellipse">
              <a:avLst/>
            </a:prstGeom>
            <a:solidFill>
              <a:srgbClr val="9FC5E8">
                <a:alpha val="42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2608950" y="331300"/>
            <a:ext cx="3926100" cy="572700"/>
          </a:xfrm>
          <a:prstGeom prst="rect">
            <a:avLst/>
          </a:prstGeom>
          <a:solidFill>
            <a:srgbClr val="D9D2E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Hydrolyse de l’aspartame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350" y="1660088"/>
            <a:ext cx="3060573" cy="18233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564350" y="3771875"/>
            <a:ext cx="131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+ </a:t>
            </a:r>
            <a:r>
              <a:rPr lang="fr" sz="1800"/>
              <a:t>2 H</a:t>
            </a:r>
            <a:r>
              <a:rPr baseline="-25000" lang="fr" sz="1800"/>
              <a:t>2</a:t>
            </a:r>
            <a:r>
              <a:rPr lang="fr" sz="1800"/>
              <a:t>O</a:t>
            </a:r>
            <a:endParaRPr sz="1800"/>
          </a:p>
        </p:txBody>
      </p:sp>
      <p:grpSp>
        <p:nvGrpSpPr>
          <p:cNvPr id="80" name="Google Shape;80;p16"/>
          <p:cNvGrpSpPr/>
          <p:nvPr/>
        </p:nvGrpSpPr>
        <p:grpSpPr>
          <a:xfrm>
            <a:off x="4774200" y="1265200"/>
            <a:ext cx="2819239" cy="3435700"/>
            <a:chOff x="4572000" y="1265200"/>
            <a:chExt cx="2819239" cy="3435700"/>
          </a:xfrm>
        </p:grpSpPr>
        <p:pic>
          <p:nvPicPr>
            <p:cNvPr id="81" name="Google Shape;81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102800" y="1265200"/>
              <a:ext cx="2211600" cy="130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25961" y="2686200"/>
              <a:ext cx="2365278" cy="1304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16"/>
            <p:cNvSpPr txBox="1"/>
            <p:nvPr/>
          </p:nvSpPr>
          <p:spPr>
            <a:xfrm>
              <a:off x="4572000" y="4208300"/>
              <a:ext cx="151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2000"/>
                <a:t>+    </a:t>
              </a:r>
              <a:r>
                <a:rPr lang="fr" sz="2000"/>
                <a:t>CH</a:t>
              </a:r>
              <a:r>
                <a:rPr baseline="-25000" lang="fr" sz="2000"/>
                <a:t>3</a:t>
              </a:r>
              <a:r>
                <a:rPr lang="fr" sz="2000"/>
                <a:t>OH</a:t>
              </a:r>
              <a:endParaRPr sz="2000"/>
            </a:p>
          </p:txBody>
        </p:sp>
        <p:sp>
          <p:nvSpPr>
            <p:cNvPr id="84" name="Google Shape;84;p16"/>
            <p:cNvSpPr txBox="1"/>
            <p:nvPr/>
          </p:nvSpPr>
          <p:spPr>
            <a:xfrm>
              <a:off x="4572000" y="3323675"/>
              <a:ext cx="341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2000"/>
                <a:t>+</a:t>
              </a:r>
              <a:endParaRPr sz="2000"/>
            </a:p>
          </p:txBody>
        </p:sp>
      </p:grpSp>
      <p:sp>
        <p:nvSpPr>
          <p:cNvPr id="85" name="Google Shape;85;p16"/>
          <p:cNvSpPr/>
          <p:nvPr/>
        </p:nvSpPr>
        <p:spPr>
          <a:xfrm rot="2071471">
            <a:off x="2185422" y="1503907"/>
            <a:ext cx="1439766" cy="2135685"/>
          </a:xfrm>
          <a:prstGeom prst="ellipse">
            <a:avLst/>
          </a:prstGeom>
          <a:solidFill>
            <a:srgbClr val="FFE599">
              <a:alpha val="445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5185625" y="2666525"/>
            <a:ext cx="2464200" cy="1415700"/>
          </a:xfrm>
          <a:prstGeom prst="rect">
            <a:avLst/>
          </a:prstGeom>
          <a:solidFill>
            <a:srgbClr val="FFE599">
              <a:alpha val="445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5219375" y="1265200"/>
            <a:ext cx="2396700" cy="1320900"/>
          </a:xfrm>
          <a:prstGeom prst="rect">
            <a:avLst/>
          </a:prstGeom>
          <a:solidFill>
            <a:srgbClr val="93C47D">
              <a:alpha val="41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 rot="-5400000">
            <a:off x="686650" y="1984125"/>
            <a:ext cx="1415400" cy="1718700"/>
          </a:xfrm>
          <a:prstGeom prst="ellipse">
            <a:avLst/>
          </a:prstGeom>
          <a:solidFill>
            <a:srgbClr val="93C47D">
              <a:alpha val="41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" name="Google Shape;89;p16"/>
          <p:cNvCxnSpPr/>
          <p:nvPr/>
        </p:nvCxnSpPr>
        <p:spPr>
          <a:xfrm>
            <a:off x="1920350" y="2785725"/>
            <a:ext cx="198900" cy="115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6"/>
          <p:cNvSpPr txBox="1"/>
          <p:nvPr/>
        </p:nvSpPr>
        <p:spPr>
          <a:xfrm>
            <a:off x="1741825" y="4239500"/>
            <a:ext cx="188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FF0000"/>
                </a:solidFill>
              </a:rPr>
              <a:t>Liaison peptidique</a:t>
            </a:r>
            <a:endParaRPr sz="1600">
              <a:solidFill>
                <a:srgbClr val="FF0000"/>
              </a:solidFill>
            </a:endParaRPr>
          </a:p>
        </p:txBody>
      </p:sp>
      <p:cxnSp>
        <p:nvCxnSpPr>
          <p:cNvPr id="91" name="Google Shape;91;p16"/>
          <p:cNvCxnSpPr/>
          <p:nvPr/>
        </p:nvCxnSpPr>
        <p:spPr>
          <a:xfrm flipH="1">
            <a:off x="2017575" y="2868600"/>
            <a:ext cx="3300" cy="1408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2" name="Google Shape;92;p16"/>
          <p:cNvCxnSpPr/>
          <p:nvPr/>
        </p:nvCxnSpPr>
        <p:spPr>
          <a:xfrm>
            <a:off x="4035600" y="2590700"/>
            <a:ext cx="771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6"/>
          <p:cNvSpPr txBox="1"/>
          <p:nvPr/>
        </p:nvSpPr>
        <p:spPr>
          <a:xfrm>
            <a:off x="6980025" y="4082225"/>
            <a:ext cx="149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BF9000"/>
                </a:solidFill>
              </a:rPr>
              <a:t>Phénylalanine</a:t>
            </a:r>
            <a:endParaRPr sz="1600">
              <a:solidFill>
                <a:srgbClr val="BF9000"/>
              </a:solidFill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6980025" y="834100"/>
            <a:ext cx="171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6AA84F"/>
                </a:solidFill>
              </a:rPr>
              <a:t>Acide aspartique</a:t>
            </a:r>
            <a:endParaRPr sz="16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2210850" y="293375"/>
            <a:ext cx="4722300" cy="572700"/>
          </a:xfrm>
          <a:prstGeom prst="rect">
            <a:avLst/>
          </a:prstGeom>
          <a:solidFill>
            <a:srgbClr val="D9D2E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Stéréoisomères de l’aspartame</a:t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450" y="1018475"/>
            <a:ext cx="6337093" cy="39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2842788" y="242825"/>
            <a:ext cx="3458400" cy="572700"/>
          </a:xfrm>
          <a:prstGeom prst="rect">
            <a:avLst/>
          </a:prstGeom>
          <a:solidFill>
            <a:srgbClr val="D9D2E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Synthèse de l’aspirine </a:t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383350" y="906950"/>
            <a:ext cx="35892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Réactifs 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Acide salicylique</a:t>
            </a:r>
            <a:r>
              <a:rPr lang="fr" sz="1600">
                <a:solidFill>
                  <a:schemeClr val="dk1"/>
                </a:solidFill>
              </a:rPr>
              <a:t>   </a:t>
            </a:r>
            <a:r>
              <a:rPr lang="fr" sz="16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</a:t>
            </a:r>
            <a:r>
              <a:rPr baseline="-25000" lang="fr" sz="1600">
                <a:solidFill>
                  <a:schemeClr val="dk1"/>
                </a:solidFill>
              </a:rPr>
              <a:t>7</a:t>
            </a:r>
            <a:r>
              <a:rPr lang="fr" sz="16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</a:t>
            </a:r>
            <a:r>
              <a:rPr baseline="-25000" lang="fr" sz="1600">
                <a:solidFill>
                  <a:schemeClr val="dk1"/>
                </a:solidFill>
              </a:rPr>
              <a:t>6</a:t>
            </a:r>
            <a:r>
              <a:rPr lang="fr" sz="16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</a:t>
            </a:r>
            <a:r>
              <a:rPr baseline="-25000" lang="fr" sz="1600">
                <a:solidFill>
                  <a:schemeClr val="dk1"/>
                </a:solidFill>
              </a:rPr>
              <a:t>3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Anhydride éthanoïque   </a:t>
            </a:r>
            <a:r>
              <a:rPr lang="fr" sz="16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</a:t>
            </a:r>
            <a:r>
              <a:rPr baseline="-25000" lang="fr" sz="1600">
                <a:solidFill>
                  <a:schemeClr val="dk1"/>
                </a:solidFill>
              </a:rPr>
              <a:t>4</a:t>
            </a:r>
            <a:r>
              <a:rPr lang="fr" sz="16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</a:t>
            </a:r>
            <a:r>
              <a:rPr baseline="-25000" lang="fr" sz="1600">
                <a:solidFill>
                  <a:schemeClr val="dk1"/>
                </a:solidFill>
              </a:rPr>
              <a:t>6</a:t>
            </a:r>
            <a:r>
              <a:rPr lang="fr" sz="160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</a:t>
            </a:r>
            <a:r>
              <a:rPr baseline="-25000" lang="fr" sz="1600">
                <a:solidFill>
                  <a:schemeClr val="dk1"/>
                </a:solidFill>
              </a:rPr>
              <a:t>3  </a:t>
            </a:r>
            <a:r>
              <a:rPr lang="fr" sz="1600">
                <a:solidFill>
                  <a:schemeClr val="dk1"/>
                </a:solidFill>
              </a:rPr>
              <a:t> 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Catalyseur 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Acide sulfurique </a:t>
            </a:r>
            <a:r>
              <a:rPr lang="fr" sz="1600">
                <a:solidFill>
                  <a:schemeClr val="dk1"/>
                </a:solidFill>
              </a:rPr>
              <a:t>  </a:t>
            </a:r>
            <a:r>
              <a:rPr lang="fr" sz="16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</a:t>
            </a:r>
            <a:r>
              <a:rPr baseline="-25000" lang="fr" sz="1600">
                <a:solidFill>
                  <a:schemeClr val="dk1"/>
                </a:solidFill>
              </a:rPr>
              <a:t>2</a:t>
            </a:r>
            <a:r>
              <a:rPr lang="fr" sz="1600">
                <a:solidFill>
                  <a:schemeClr val="dk1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lang="fr" sz="1600">
                <a:solidFill>
                  <a:schemeClr val="dk1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</a:t>
            </a:r>
            <a:r>
              <a:rPr baseline="-25000" lang="fr" sz="1600">
                <a:solidFill>
                  <a:schemeClr val="dk1"/>
                </a:solidFill>
              </a:rPr>
              <a:t>4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Équation bilan :</a:t>
            </a:r>
            <a:endParaRPr sz="1600"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434300" y="1320700"/>
            <a:ext cx="18669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 rotWithShape="1">
          <a:blip r:embed="rId12">
            <a:alphaModFix/>
          </a:blip>
          <a:srcRect b="0" l="35686" r="34151" t="0"/>
          <a:stretch/>
        </p:blipFill>
        <p:spPr>
          <a:xfrm>
            <a:off x="4508800" y="2034813"/>
            <a:ext cx="56307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2038" y="3061850"/>
            <a:ext cx="8639931" cy="168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/>
          <p:nvPr/>
        </p:nvSpPr>
        <p:spPr>
          <a:xfrm>
            <a:off x="5413100" y="3134125"/>
            <a:ext cx="1567200" cy="1613100"/>
          </a:xfrm>
          <a:prstGeom prst="rect">
            <a:avLst/>
          </a:prstGeom>
          <a:noFill/>
          <a:ln cap="flat" cmpd="sng" w="38100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5583800" y="2653950"/>
            <a:ext cx="122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8E7CC3"/>
                </a:solidFill>
              </a:rPr>
              <a:t>Aspirine</a:t>
            </a:r>
            <a:endParaRPr sz="1600">
              <a:solidFill>
                <a:srgbClr val="8E7CC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196625" y="686738"/>
            <a:ext cx="4014600" cy="572700"/>
          </a:xfrm>
          <a:prstGeom prst="rect">
            <a:avLst/>
          </a:prstGeom>
          <a:solidFill>
            <a:srgbClr val="D9D2E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Réaction de saponification</a:t>
            </a:r>
            <a:endParaRPr/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75" y="2169900"/>
            <a:ext cx="8839200" cy="2269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 rotWithShape="1">
          <a:blip r:embed="rId4">
            <a:alphaModFix/>
          </a:blip>
          <a:srcRect b="10542" l="0" r="25578" t="38154"/>
          <a:stretch/>
        </p:blipFill>
        <p:spPr>
          <a:xfrm>
            <a:off x="215575" y="240125"/>
            <a:ext cx="1559525" cy="146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226763" y="419750"/>
            <a:ext cx="2839200" cy="572700"/>
          </a:xfrm>
          <a:prstGeom prst="rect">
            <a:avLst/>
          </a:prstGeom>
          <a:solidFill>
            <a:srgbClr val="D9D2E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Action d’un savon</a:t>
            </a:r>
            <a:endParaRPr/>
          </a:p>
        </p:txBody>
      </p:sp>
      <p:pic>
        <p:nvPicPr>
          <p:cNvPr id="124" name="Google Shape;124;p20"/>
          <p:cNvPicPr preferRelativeResize="0"/>
          <p:nvPr/>
        </p:nvPicPr>
        <p:blipFill rotWithShape="1">
          <a:blip r:embed="rId3">
            <a:alphaModFix/>
          </a:blip>
          <a:srcRect b="20286" l="0" r="0" t="0"/>
          <a:stretch/>
        </p:blipFill>
        <p:spPr>
          <a:xfrm>
            <a:off x="240875" y="1612450"/>
            <a:ext cx="8810975" cy="307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7093925" y="657150"/>
            <a:ext cx="131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0000FF"/>
                </a:solidFill>
              </a:rPr>
              <a:t>Micelles</a:t>
            </a:r>
            <a:endParaRPr sz="1600">
              <a:solidFill>
                <a:srgbClr val="0000FF"/>
              </a:solidFill>
            </a:endParaRPr>
          </a:p>
        </p:txBody>
      </p:sp>
      <p:cxnSp>
        <p:nvCxnSpPr>
          <p:cNvPr id="126" name="Google Shape;126;p20"/>
          <p:cNvCxnSpPr>
            <a:stCxn id="125" idx="2"/>
          </p:cNvCxnSpPr>
          <p:nvPr/>
        </p:nvCxnSpPr>
        <p:spPr>
          <a:xfrm flipH="1">
            <a:off x="6954875" y="1088250"/>
            <a:ext cx="796200" cy="1338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20"/>
          <p:cNvCxnSpPr/>
          <p:nvPr/>
        </p:nvCxnSpPr>
        <p:spPr>
          <a:xfrm>
            <a:off x="7751075" y="1088250"/>
            <a:ext cx="240000" cy="1502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