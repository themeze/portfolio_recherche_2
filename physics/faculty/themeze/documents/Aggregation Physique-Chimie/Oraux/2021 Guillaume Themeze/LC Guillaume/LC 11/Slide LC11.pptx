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d8976f6c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d8976f6c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d8976f6c7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d8976f6c7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d8976f6c7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d8976f6c7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d8976f6c7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d8976f6c7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d8976f6c7a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d8976f6c7a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d8976f6c7a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d8976f6c7a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d8976f6c7a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d8976f6c7a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d8970fde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d8970fde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d8970fdef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d8970fdef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8970fdef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8970fdef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661550"/>
            <a:ext cx="8520600" cy="1820400"/>
          </a:xfrm>
          <a:prstGeom prst="rect">
            <a:avLst/>
          </a:prstGeom>
          <a:solidFill>
            <a:srgbClr val="CFE2F3"/>
          </a:solidFill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888"/>
              <a:t>LC11 Distillation et diagrammes binaires</a:t>
            </a:r>
            <a:endParaRPr sz="3888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Google Shape;59;p14"/>
          <p:cNvCxnSpPr/>
          <p:nvPr/>
        </p:nvCxnSpPr>
        <p:spPr>
          <a:xfrm>
            <a:off x="4572000" y="324750"/>
            <a:ext cx="0" cy="4494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" name="Google Shape;60;p14"/>
          <p:cNvSpPr txBox="1"/>
          <p:nvPr/>
        </p:nvSpPr>
        <p:spPr>
          <a:xfrm>
            <a:off x="5637850" y="324750"/>
            <a:ext cx="2671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/>
              <a:t>Mélange homogène : une phase</a:t>
            </a:r>
            <a:endParaRPr sz="2000"/>
          </a:p>
        </p:txBody>
      </p:sp>
      <p:sp>
        <p:nvSpPr>
          <p:cNvPr id="61" name="Google Shape;61;p14"/>
          <p:cNvSpPr txBox="1"/>
          <p:nvPr/>
        </p:nvSpPr>
        <p:spPr>
          <a:xfrm>
            <a:off x="865262" y="324750"/>
            <a:ext cx="2747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/>
              <a:t>Mélange hétérogène : deux phases</a:t>
            </a:r>
            <a:endParaRPr sz="2000"/>
          </a:p>
        </p:txBody>
      </p:sp>
      <p:grpSp>
        <p:nvGrpSpPr>
          <p:cNvPr id="62" name="Google Shape;62;p14"/>
          <p:cNvGrpSpPr/>
          <p:nvPr/>
        </p:nvGrpSpPr>
        <p:grpSpPr>
          <a:xfrm>
            <a:off x="1781092" y="1165372"/>
            <a:ext cx="915730" cy="3257756"/>
            <a:chOff x="1875350" y="2538600"/>
            <a:chExt cx="649500" cy="2310629"/>
          </a:xfrm>
        </p:grpSpPr>
        <p:sp>
          <p:nvSpPr>
            <p:cNvPr id="63" name="Google Shape;63;p14"/>
            <p:cNvSpPr/>
            <p:nvPr/>
          </p:nvSpPr>
          <p:spPr>
            <a:xfrm rot="5400000">
              <a:off x="1053750" y="3470150"/>
              <a:ext cx="2289600" cy="468558"/>
            </a:xfrm>
            <a:prstGeom prst="flowChartTerminator">
              <a:avLst/>
            </a:prstGeom>
            <a:solidFill>
              <a:srgbClr val="CFE2F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1875350" y="2538600"/>
              <a:ext cx="649500" cy="400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4"/>
            <p:cNvSpPr/>
            <p:nvPr/>
          </p:nvSpPr>
          <p:spPr>
            <a:xfrm rot="5400000">
              <a:off x="1929253" y="2746027"/>
              <a:ext cx="541800" cy="438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14"/>
          <p:cNvSpPr/>
          <p:nvPr/>
        </p:nvSpPr>
        <p:spPr>
          <a:xfrm rot="5400000">
            <a:off x="1857038" y="2217225"/>
            <a:ext cx="763800" cy="6174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439275" y="2295075"/>
            <a:ext cx="830700" cy="461700"/>
          </a:xfrm>
          <a:prstGeom prst="rect">
            <a:avLst/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Huile</a:t>
            </a:r>
            <a:endParaRPr sz="1800"/>
          </a:p>
        </p:txBody>
      </p:sp>
      <p:cxnSp>
        <p:nvCxnSpPr>
          <p:cNvPr id="68" name="Google Shape;68;p14"/>
          <p:cNvCxnSpPr>
            <a:stCxn id="67" idx="3"/>
            <a:endCxn id="66" idx="2"/>
          </p:cNvCxnSpPr>
          <p:nvPr/>
        </p:nvCxnSpPr>
        <p:spPr>
          <a:xfrm>
            <a:off x="1269975" y="2525925"/>
            <a:ext cx="660300" cy="0"/>
          </a:xfrm>
          <a:prstGeom prst="straightConnector1">
            <a:avLst/>
          </a:prstGeom>
          <a:noFill/>
          <a:ln cap="flat" cmpd="sng" w="28575">
            <a:solidFill>
              <a:srgbClr val="FFD9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14"/>
          <p:cNvSpPr txBox="1"/>
          <p:nvPr/>
        </p:nvSpPr>
        <p:spPr>
          <a:xfrm>
            <a:off x="3197375" y="3330500"/>
            <a:ext cx="777300" cy="461700"/>
          </a:xfrm>
          <a:prstGeom prst="rect">
            <a:avLst/>
          </a:prstGeom>
          <a:noFill/>
          <a:ln cap="flat" cmpd="sng" w="28575">
            <a:solidFill>
              <a:srgbClr val="CFE2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Eau</a:t>
            </a:r>
            <a:endParaRPr sz="1800"/>
          </a:p>
        </p:txBody>
      </p:sp>
      <p:cxnSp>
        <p:nvCxnSpPr>
          <p:cNvPr id="70" name="Google Shape;70;p14"/>
          <p:cNvCxnSpPr/>
          <p:nvPr/>
        </p:nvCxnSpPr>
        <p:spPr>
          <a:xfrm>
            <a:off x="2547650" y="3561350"/>
            <a:ext cx="660300" cy="0"/>
          </a:xfrm>
          <a:prstGeom prst="straightConnector1">
            <a:avLst/>
          </a:prstGeom>
          <a:noFill/>
          <a:ln cap="flat" cmpd="sng" w="28575">
            <a:solidFill>
              <a:srgbClr val="CFE2F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" name="Google Shape;71;p14"/>
          <p:cNvGrpSpPr/>
          <p:nvPr/>
        </p:nvGrpSpPr>
        <p:grpSpPr>
          <a:xfrm>
            <a:off x="6515592" y="1165372"/>
            <a:ext cx="915730" cy="3257756"/>
            <a:chOff x="1875350" y="2538600"/>
            <a:chExt cx="649500" cy="2310629"/>
          </a:xfrm>
        </p:grpSpPr>
        <p:sp>
          <p:nvSpPr>
            <p:cNvPr id="72" name="Google Shape;72;p14"/>
            <p:cNvSpPr/>
            <p:nvPr/>
          </p:nvSpPr>
          <p:spPr>
            <a:xfrm rot="5400000">
              <a:off x="1053750" y="3470150"/>
              <a:ext cx="2289600" cy="468558"/>
            </a:xfrm>
            <a:prstGeom prst="flowChartTerminator">
              <a:avLst/>
            </a:prstGeom>
            <a:solidFill>
              <a:srgbClr val="A7ED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1875350" y="2538600"/>
              <a:ext cx="649500" cy="400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 rot="5400000">
              <a:off x="1929253" y="2746027"/>
              <a:ext cx="541800" cy="438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" name="Google Shape;75;p14"/>
          <p:cNvSpPr txBox="1"/>
          <p:nvPr/>
        </p:nvSpPr>
        <p:spPr>
          <a:xfrm>
            <a:off x="4965125" y="2563400"/>
            <a:ext cx="1384500" cy="461700"/>
          </a:xfrm>
          <a:prstGeom prst="rect">
            <a:avLst/>
          </a:prstGeom>
          <a:noFill/>
          <a:ln cap="flat" cmpd="sng" w="28575">
            <a:solidFill>
              <a:srgbClr val="A7ED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Eau + sirop</a:t>
            </a:r>
            <a:endParaRPr sz="1800"/>
          </a:p>
        </p:txBody>
      </p:sp>
      <p:cxnSp>
        <p:nvCxnSpPr>
          <p:cNvPr id="76" name="Google Shape;76;p14"/>
          <p:cNvCxnSpPr/>
          <p:nvPr/>
        </p:nvCxnSpPr>
        <p:spPr>
          <a:xfrm>
            <a:off x="6349625" y="2794250"/>
            <a:ext cx="660300" cy="0"/>
          </a:xfrm>
          <a:prstGeom prst="straightConnector1">
            <a:avLst/>
          </a:prstGeom>
          <a:noFill/>
          <a:ln cap="flat" cmpd="sng" w="28575">
            <a:solidFill>
              <a:srgbClr val="A7EDC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15"/>
          <p:cNvGrpSpPr/>
          <p:nvPr/>
        </p:nvGrpSpPr>
        <p:grpSpPr>
          <a:xfrm>
            <a:off x="344100" y="499188"/>
            <a:ext cx="2678950" cy="4145125"/>
            <a:chOff x="152400" y="152400"/>
            <a:chExt cx="2678950" cy="4145125"/>
          </a:xfrm>
        </p:grpSpPr>
        <p:pic>
          <p:nvPicPr>
            <p:cNvPr id="82" name="Google Shape;82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152400"/>
              <a:ext cx="2678950" cy="3529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" name="Google Shape;83;p15"/>
            <p:cNvSpPr txBox="1"/>
            <p:nvPr/>
          </p:nvSpPr>
          <p:spPr>
            <a:xfrm>
              <a:off x="464225" y="3681925"/>
              <a:ext cx="2055300" cy="615600"/>
            </a:xfrm>
            <a:prstGeom prst="rect">
              <a:avLst/>
            </a:prstGeom>
            <a:noFill/>
            <a:ln cap="flat" cmpd="sng" w="2857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Colonnes de distillation industrielles</a:t>
              </a:r>
              <a:endParaRPr/>
            </a:p>
          </p:txBody>
        </p:sp>
      </p:grpSp>
      <p:pic>
        <p:nvPicPr>
          <p:cNvPr id="84" name="Google Shape;84;p15"/>
          <p:cNvPicPr preferRelativeResize="0"/>
          <p:nvPr/>
        </p:nvPicPr>
        <p:blipFill rotWithShape="1">
          <a:blip r:embed="rId4">
            <a:alphaModFix/>
          </a:blip>
          <a:srcRect b="8633" l="4797" r="5869" t="7382"/>
          <a:stretch/>
        </p:blipFill>
        <p:spPr>
          <a:xfrm>
            <a:off x="3378400" y="152400"/>
            <a:ext cx="3639859" cy="2419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85438" y="2571750"/>
            <a:ext cx="3225776" cy="241935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/>
        </p:nvSpPr>
        <p:spPr>
          <a:xfrm>
            <a:off x="7018250" y="1554775"/>
            <a:ext cx="1494600" cy="615600"/>
          </a:xfrm>
          <a:prstGeom prst="rect">
            <a:avLst/>
          </a:prstGeom>
          <a:noFill/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Collecte d’huile essentielle</a:t>
            </a:r>
            <a:endParaRPr/>
          </a:p>
        </p:txBody>
      </p:sp>
      <p:sp>
        <p:nvSpPr>
          <p:cNvPr id="87" name="Google Shape;87;p15"/>
          <p:cNvSpPr txBox="1"/>
          <p:nvPr/>
        </p:nvSpPr>
        <p:spPr>
          <a:xfrm>
            <a:off x="6811225" y="4062600"/>
            <a:ext cx="1093200" cy="615600"/>
          </a:xfrm>
          <a:prstGeom prst="rect">
            <a:avLst/>
          </a:prstGeom>
          <a:noFill/>
          <a:ln cap="flat" cmpd="sng" w="2857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Distillation d’alcool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1542450" y="306575"/>
            <a:ext cx="605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Changement d’état d’un corps pur : l’eau</a:t>
            </a:r>
            <a:endParaRPr/>
          </a:p>
        </p:txBody>
      </p:sp>
      <p:grpSp>
        <p:nvGrpSpPr>
          <p:cNvPr id="93" name="Google Shape;93;p16"/>
          <p:cNvGrpSpPr/>
          <p:nvPr/>
        </p:nvGrpSpPr>
        <p:grpSpPr>
          <a:xfrm>
            <a:off x="935250" y="1152125"/>
            <a:ext cx="7273482" cy="3938125"/>
            <a:chOff x="641600" y="1031675"/>
            <a:chExt cx="7273482" cy="3938125"/>
          </a:xfrm>
        </p:grpSpPr>
        <p:pic>
          <p:nvPicPr>
            <p:cNvPr id="94" name="Google Shape;94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28925" y="1031675"/>
              <a:ext cx="6686157" cy="3938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p16"/>
            <p:cNvSpPr txBox="1"/>
            <p:nvPr/>
          </p:nvSpPr>
          <p:spPr>
            <a:xfrm>
              <a:off x="641600" y="2670250"/>
              <a:ext cx="1331100" cy="4617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/>
                <a:t>T</a:t>
              </a:r>
              <a:r>
                <a:rPr baseline="-25000" lang="fr" sz="1800"/>
                <a:t>éb</a:t>
              </a:r>
              <a:r>
                <a:rPr lang="fr" sz="1800"/>
                <a:t>=100°C</a:t>
              </a:r>
              <a:endParaRPr sz="1800"/>
            </a:p>
          </p:txBody>
        </p:sp>
        <p:cxnSp>
          <p:nvCxnSpPr>
            <p:cNvPr id="96" name="Google Shape;96;p16"/>
            <p:cNvCxnSpPr/>
            <p:nvPr/>
          </p:nvCxnSpPr>
          <p:spPr>
            <a:xfrm flipH="1" rot="10800000">
              <a:off x="1972700" y="2897500"/>
              <a:ext cx="5069100" cy="72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146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2520"/>
              <a:t>Courbes d’analyses thermiques pour différentes fractions molaires en acétone :</a:t>
            </a:r>
            <a:endParaRPr sz="2520"/>
          </a:p>
        </p:txBody>
      </p:sp>
      <p:grpSp>
        <p:nvGrpSpPr>
          <p:cNvPr id="102" name="Google Shape;102;p17"/>
          <p:cNvGrpSpPr/>
          <p:nvPr/>
        </p:nvGrpSpPr>
        <p:grpSpPr>
          <a:xfrm>
            <a:off x="311700" y="1158050"/>
            <a:ext cx="7911300" cy="3876300"/>
            <a:chOff x="311700" y="1030250"/>
            <a:chExt cx="7911300" cy="3876300"/>
          </a:xfrm>
        </p:grpSpPr>
        <p:sp>
          <p:nvSpPr>
            <p:cNvPr id="103" name="Google Shape;103;p17"/>
            <p:cNvSpPr txBox="1"/>
            <p:nvPr/>
          </p:nvSpPr>
          <p:spPr>
            <a:xfrm>
              <a:off x="311700" y="1641775"/>
              <a:ext cx="734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>
                  <a:solidFill>
                    <a:srgbClr val="FF0000"/>
                  </a:solidFill>
                </a:rPr>
                <a:t>100 °C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104" name="Google Shape;104;p17"/>
            <p:cNvSpPr txBox="1"/>
            <p:nvPr/>
          </p:nvSpPr>
          <p:spPr>
            <a:xfrm>
              <a:off x="375600" y="3569250"/>
              <a:ext cx="670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>
                  <a:solidFill>
                    <a:srgbClr val="0000FF"/>
                  </a:solidFill>
                </a:rPr>
                <a:t>56 °C</a:t>
              </a:r>
              <a:endParaRPr>
                <a:solidFill>
                  <a:srgbClr val="0000FF"/>
                </a:solidFill>
              </a:endParaRPr>
            </a:p>
          </p:txBody>
        </p:sp>
        <p:grpSp>
          <p:nvGrpSpPr>
            <p:cNvPr id="105" name="Google Shape;105;p17"/>
            <p:cNvGrpSpPr/>
            <p:nvPr/>
          </p:nvGrpSpPr>
          <p:grpSpPr>
            <a:xfrm>
              <a:off x="921000" y="1030250"/>
              <a:ext cx="7302000" cy="3876300"/>
              <a:chOff x="261550" y="1030250"/>
              <a:chExt cx="7302000" cy="3876300"/>
            </a:xfrm>
          </p:grpSpPr>
          <p:cxnSp>
            <p:nvCxnSpPr>
              <p:cNvPr id="106" name="Google Shape;106;p17"/>
              <p:cNvCxnSpPr/>
              <p:nvPr/>
            </p:nvCxnSpPr>
            <p:spPr>
              <a:xfrm rot="10800000">
                <a:off x="716150" y="1030250"/>
                <a:ext cx="0" cy="3876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07" name="Google Shape;107;p17"/>
              <p:cNvCxnSpPr/>
              <p:nvPr/>
            </p:nvCxnSpPr>
            <p:spPr>
              <a:xfrm>
                <a:off x="261550" y="4718175"/>
                <a:ext cx="7302000" cy="180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grpSp>
            <p:nvGrpSpPr>
              <p:cNvPr id="108" name="Google Shape;108;p17"/>
              <p:cNvGrpSpPr/>
              <p:nvPr/>
            </p:nvGrpSpPr>
            <p:grpSpPr>
              <a:xfrm>
                <a:off x="1184700" y="1132125"/>
                <a:ext cx="1448275" cy="3290575"/>
                <a:chOff x="875875" y="1158075"/>
                <a:chExt cx="1448275" cy="3290575"/>
              </a:xfrm>
            </p:grpSpPr>
            <p:cxnSp>
              <p:nvCxnSpPr>
                <p:cNvPr id="109" name="Google Shape;109;p17"/>
                <p:cNvCxnSpPr/>
                <p:nvPr/>
              </p:nvCxnSpPr>
              <p:spPr>
                <a:xfrm flipH="1" rot="10800000">
                  <a:off x="875875" y="1860850"/>
                  <a:ext cx="489900" cy="25878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0" name="Google Shape;110;p17"/>
                <p:cNvCxnSpPr/>
                <p:nvPr/>
              </p:nvCxnSpPr>
              <p:spPr>
                <a:xfrm rot="10800000">
                  <a:off x="1376175" y="1861075"/>
                  <a:ext cx="820200" cy="105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1" name="Google Shape;111;p17"/>
                <p:cNvCxnSpPr/>
                <p:nvPr/>
              </p:nvCxnSpPr>
              <p:spPr>
                <a:xfrm flipH="1">
                  <a:off x="2196350" y="1158075"/>
                  <a:ext cx="127800" cy="7242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12" name="Google Shape;112;p17"/>
              <p:cNvSpPr txBox="1"/>
              <p:nvPr/>
            </p:nvSpPr>
            <p:spPr>
              <a:xfrm>
                <a:off x="1685325" y="1275225"/>
                <a:ext cx="6708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>
                    <a:solidFill>
                      <a:srgbClr val="FF0000"/>
                    </a:solidFill>
                  </a:rPr>
                  <a:t>x</a:t>
                </a:r>
                <a:r>
                  <a:rPr baseline="-25000" lang="fr">
                    <a:solidFill>
                      <a:srgbClr val="FF0000"/>
                    </a:solidFill>
                  </a:rPr>
                  <a:t>a </a:t>
                </a:r>
                <a:r>
                  <a:rPr lang="fr">
                    <a:solidFill>
                      <a:srgbClr val="FF0000"/>
                    </a:solidFill>
                  </a:rPr>
                  <a:t>= 0</a:t>
                </a:r>
                <a:endParaRPr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13" name="Google Shape;113;p17"/>
              <p:cNvCxnSpPr/>
              <p:nvPr/>
            </p:nvCxnSpPr>
            <p:spPr>
              <a:xfrm flipH="1" rot="10800000">
                <a:off x="407325" y="1839775"/>
                <a:ext cx="1278000" cy="10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14" name="Google Shape;114;p17"/>
              <p:cNvGrpSpPr/>
              <p:nvPr/>
            </p:nvGrpSpPr>
            <p:grpSpPr>
              <a:xfrm>
                <a:off x="2366850" y="1083300"/>
                <a:ext cx="1565175" cy="3376000"/>
                <a:chOff x="2366850" y="1083300"/>
                <a:chExt cx="1565175" cy="3376000"/>
              </a:xfrm>
            </p:grpSpPr>
            <p:cxnSp>
              <p:nvCxnSpPr>
                <p:cNvPr id="115" name="Google Shape;115;p17"/>
                <p:cNvCxnSpPr/>
                <p:nvPr/>
              </p:nvCxnSpPr>
              <p:spPr>
                <a:xfrm flipH="1" rot="10800000">
                  <a:off x="2366850" y="2680900"/>
                  <a:ext cx="606900" cy="17784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6AA84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6" name="Google Shape;116;p17"/>
                <p:cNvCxnSpPr/>
                <p:nvPr/>
              </p:nvCxnSpPr>
              <p:spPr>
                <a:xfrm flipH="1" rot="10800000">
                  <a:off x="2973750" y="2095300"/>
                  <a:ext cx="756000" cy="5856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6AA84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7" name="Google Shape;117;p17"/>
                <p:cNvCxnSpPr/>
                <p:nvPr/>
              </p:nvCxnSpPr>
              <p:spPr>
                <a:xfrm flipH="1" rot="10800000">
                  <a:off x="3729825" y="1083300"/>
                  <a:ext cx="202200" cy="10119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6AA84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18" name="Google Shape;118;p17"/>
              <p:cNvGrpSpPr/>
              <p:nvPr/>
            </p:nvGrpSpPr>
            <p:grpSpPr>
              <a:xfrm>
                <a:off x="5817050" y="1190025"/>
                <a:ext cx="1331125" cy="3322525"/>
                <a:chOff x="6796775" y="1190025"/>
                <a:chExt cx="1331125" cy="3322525"/>
              </a:xfrm>
            </p:grpSpPr>
            <p:cxnSp>
              <p:nvCxnSpPr>
                <p:cNvPr id="119" name="Google Shape;119;p17"/>
                <p:cNvCxnSpPr/>
                <p:nvPr/>
              </p:nvCxnSpPr>
              <p:spPr>
                <a:xfrm flipH="1" rot="10800000">
                  <a:off x="6796775" y="3809650"/>
                  <a:ext cx="276900" cy="7029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0" name="Google Shape;120;p17"/>
                <p:cNvCxnSpPr/>
                <p:nvPr/>
              </p:nvCxnSpPr>
              <p:spPr>
                <a:xfrm>
                  <a:off x="7073675" y="3809650"/>
                  <a:ext cx="6708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1" name="Google Shape;121;p17"/>
                <p:cNvCxnSpPr/>
                <p:nvPr/>
              </p:nvCxnSpPr>
              <p:spPr>
                <a:xfrm flipH="1">
                  <a:off x="7744500" y="1190025"/>
                  <a:ext cx="383400" cy="26196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22" name="Google Shape;122;p17"/>
              <p:cNvCxnSpPr/>
              <p:nvPr/>
            </p:nvCxnSpPr>
            <p:spPr>
              <a:xfrm rot="10800000">
                <a:off x="417925" y="3788400"/>
                <a:ext cx="5697300" cy="21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FF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3" name="Google Shape;123;p17"/>
              <p:cNvSpPr txBox="1"/>
              <p:nvPr/>
            </p:nvSpPr>
            <p:spPr>
              <a:xfrm>
                <a:off x="6392100" y="1275225"/>
                <a:ext cx="6708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>
                    <a:solidFill>
                      <a:srgbClr val="0000FF"/>
                    </a:solidFill>
                  </a:rPr>
                  <a:t>x</a:t>
                </a:r>
                <a:r>
                  <a:rPr baseline="-25000" lang="fr">
                    <a:solidFill>
                      <a:srgbClr val="0000FF"/>
                    </a:solidFill>
                  </a:rPr>
                  <a:t>a </a:t>
                </a:r>
                <a:r>
                  <a:rPr lang="fr">
                    <a:solidFill>
                      <a:srgbClr val="0000FF"/>
                    </a:solidFill>
                  </a:rPr>
                  <a:t>= 1</a:t>
                </a:r>
                <a:endParaRPr>
                  <a:solidFill>
                    <a:srgbClr val="0000FF"/>
                  </a:solidFill>
                </a:endParaRPr>
              </a:p>
            </p:txBody>
          </p:sp>
          <p:grpSp>
            <p:nvGrpSpPr>
              <p:cNvPr id="124" name="Google Shape;124;p17"/>
              <p:cNvGrpSpPr/>
              <p:nvPr/>
            </p:nvGrpSpPr>
            <p:grpSpPr>
              <a:xfrm>
                <a:off x="3876775" y="1132125"/>
                <a:ext cx="1676200" cy="3290575"/>
                <a:chOff x="4135500" y="1132125"/>
                <a:chExt cx="1676200" cy="3290575"/>
              </a:xfrm>
            </p:grpSpPr>
            <p:cxnSp>
              <p:nvCxnSpPr>
                <p:cNvPr id="125" name="Google Shape;125;p17"/>
                <p:cNvCxnSpPr/>
                <p:nvPr/>
              </p:nvCxnSpPr>
              <p:spPr>
                <a:xfrm flipH="1" rot="10800000">
                  <a:off x="4135500" y="3283300"/>
                  <a:ext cx="436500" cy="11394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38761D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6" name="Google Shape;126;p17"/>
                <p:cNvCxnSpPr/>
                <p:nvPr/>
              </p:nvCxnSpPr>
              <p:spPr>
                <a:xfrm flipH="1" rot="10800000">
                  <a:off x="4572000" y="2755600"/>
                  <a:ext cx="627300" cy="5277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38761D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7" name="Google Shape;127;p17"/>
                <p:cNvCxnSpPr/>
                <p:nvPr/>
              </p:nvCxnSpPr>
              <p:spPr>
                <a:xfrm flipH="1" rot="10800000">
                  <a:off x="5194000" y="1132125"/>
                  <a:ext cx="617700" cy="16188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38761D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28" name="Google Shape;128;p17"/>
              <p:cNvSpPr txBox="1"/>
              <p:nvPr/>
            </p:nvSpPr>
            <p:spPr>
              <a:xfrm>
                <a:off x="4659625" y="1275225"/>
                <a:ext cx="7752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>
                    <a:solidFill>
                      <a:srgbClr val="38761D"/>
                    </a:solidFill>
                  </a:rPr>
                  <a:t>x</a:t>
                </a:r>
                <a:r>
                  <a:rPr baseline="-25000" lang="fr">
                    <a:solidFill>
                      <a:srgbClr val="38761D"/>
                    </a:solidFill>
                  </a:rPr>
                  <a:t>a </a:t>
                </a:r>
                <a:r>
                  <a:rPr lang="fr">
                    <a:solidFill>
                      <a:srgbClr val="38761D"/>
                    </a:solidFill>
                  </a:rPr>
                  <a:t>= 0,7</a:t>
                </a:r>
                <a:endParaRPr>
                  <a:solidFill>
                    <a:srgbClr val="38761D"/>
                  </a:solidFill>
                </a:endParaRPr>
              </a:p>
            </p:txBody>
          </p:sp>
          <p:sp>
            <p:nvSpPr>
              <p:cNvPr id="129" name="Google Shape;129;p17"/>
              <p:cNvSpPr txBox="1"/>
              <p:nvPr/>
            </p:nvSpPr>
            <p:spPr>
              <a:xfrm>
                <a:off x="3037625" y="1275225"/>
                <a:ext cx="7752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>
                    <a:solidFill>
                      <a:srgbClr val="6AA84F"/>
                    </a:solidFill>
                  </a:rPr>
                  <a:t>x</a:t>
                </a:r>
                <a:r>
                  <a:rPr baseline="-25000" lang="fr">
                    <a:solidFill>
                      <a:srgbClr val="6AA84F"/>
                    </a:solidFill>
                  </a:rPr>
                  <a:t>a </a:t>
                </a:r>
                <a:r>
                  <a:rPr lang="fr">
                    <a:solidFill>
                      <a:srgbClr val="6AA84F"/>
                    </a:solidFill>
                  </a:rPr>
                  <a:t>= 0,3</a:t>
                </a:r>
                <a:endParaRPr>
                  <a:solidFill>
                    <a:srgbClr val="6AA84F"/>
                  </a:solidFill>
                </a:endParaRPr>
              </a:p>
            </p:txBody>
          </p:sp>
        </p:grpSp>
      </p:grpSp>
      <p:sp>
        <p:nvSpPr>
          <p:cNvPr id="130" name="Google Shape;130;p17"/>
          <p:cNvSpPr txBox="1"/>
          <p:nvPr/>
        </p:nvSpPr>
        <p:spPr>
          <a:xfrm>
            <a:off x="684200" y="1072900"/>
            <a:ext cx="71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 (°C)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8223000" y="4634150"/>
            <a:ext cx="71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Temps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>
            <p:ph type="title"/>
          </p:nvPr>
        </p:nvSpPr>
        <p:spPr>
          <a:xfrm>
            <a:off x="290400" y="295925"/>
            <a:ext cx="3013500" cy="10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Diagramme binaire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eau - acétone :</a:t>
            </a:r>
            <a:endParaRPr/>
          </a:p>
        </p:txBody>
      </p:sp>
      <p:pic>
        <p:nvPicPr>
          <p:cNvPr id="137" name="Google Shape;13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6600" y="64200"/>
            <a:ext cx="4668726" cy="501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03825"/>
            <a:ext cx="8839202" cy="329620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9"/>
          <p:cNvSpPr txBox="1"/>
          <p:nvPr/>
        </p:nvSpPr>
        <p:spPr>
          <a:xfrm>
            <a:off x="5689275" y="3979163"/>
            <a:ext cx="259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/>
              <a:t>Azéotrope minimum</a:t>
            </a:r>
            <a:endParaRPr sz="2000"/>
          </a:p>
        </p:txBody>
      </p:sp>
      <p:sp>
        <p:nvSpPr>
          <p:cNvPr id="144" name="Google Shape;144;p19"/>
          <p:cNvSpPr txBox="1"/>
          <p:nvPr/>
        </p:nvSpPr>
        <p:spPr>
          <a:xfrm>
            <a:off x="1038950" y="3979175"/>
            <a:ext cx="259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/>
              <a:t>Azéotrope maximum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type="title"/>
          </p:nvPr>
        </p:nvSpPr>
        <p:spPr>
          <a:xfrm>
            <a:off x="274275" y="265900"/>
            <a:ext cx="3252300" cy="5727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Distillation simple :</a:t>
            </a:r>
            <a:endParaRPr/>
          </a:p>
        </p:txBody>
      </p:sp>
      <p:grpSp>
        <p:nvGrpSpPr>
          <p:cNvPr id="150" name="Google Shape;150;p20"/>
          <p:cNvGrpSpPr/>
          <p:nvPr/>
        </p:nvGrpSpPr>
        <p:grpSpPr>
          <a:xfrm>
            <a:off x="274275" y="934450"/>
            <a:ext cx="7331803" cy="3903650"/>
            <a:chOff x="1141150" y="934450"/>
            <a:chExt cx="7331803" cy="3903650"/>
          </a:xfrm>
        </p:grpSpPr>
        <p:pic>
          <p:nvPicPr>
            <p:cNvPr id="151" name="Google Shape;151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63228" y="934450"/>
              <a:ext cx="4109725" cy="39036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52" name="Google Shape;152;p20"/>
            <p:cNvCxnSpPr/>
            <p:nvPr/>
          </p:nvCxnSpPr>
          <p:spPr>
            <a:xfrm>
              <a:off x="3254925" y="4054625"/>
              <a:ext cx="2257200" cy="69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3" name="Google Shape;153;p20"/>
            <p:cNvSpPr txBox="1"/>
            <p:nvPr/>
          </p:nvSpPr>
          <p:spPr>
            <a:xfrm>
              <a:off x="1141150" y="3806675"/>
              <a:ext cx="23214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600"/>
                <a:t>Bouilleur </a:t>
              </a:r>
              <a:endParaRPr sz="16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600"/>
                <a:t>(ici chauffe-ballon)</a:t>
              </a:r>
              <a:endParaRPr sz="1600"/>
            </a:p>
          </p:txBody>
        </p:sp>
        <p:cxnSp>
          <p:nvCxnSpPr>
            <p:cNvPr id="154" name="Google Shape;154;p20"/>
            <p:cNvCxnSpPr/>
            <p:nvPr/>
          </p:nvCxnSpPr>
          <p:spPr>
            <a:xfrm flipH="1" rot="10800000">
              <a:off x="3233625" y="2868975"/>
              <a:ext cx="3350100" cy="249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5" name="Google Shape;155;p20"/>
            <p:cNvSpPr txBox="1"/>
            <p:nvPr/>
          </p:nvSpPr>
          <p:spPr>
            <a:xfrm>
              <a:off x="1391350" y="2670725"/>
              <a:ext cx="1821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600"/>
                <a:t>Réfrigérant à eau</a:t>
              </a:r>
              <a:endParaRPr sz="1600"/>
            </a:p>
          </p:txBody>
        </p:sp>
        <p:cxnSp>
          <p:nvCxnSpPr>
            <p:cNvPr id="156" name="Google Shape;156;p20"/>
            <p:cNvCxnSpPr/>
            <p:nvPr/>
          </p:nvCxnSpPr>
          <p:spPr>
            <a:xfrm flipH="1">
              <a:off x="6338700" y="3245300"/>
              <a:ext cx="53400" cy="2235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7" name="Google Shape;157;p20"/>
            <p:cNvCxnSpPr/>
            <p:nvPr/>
          </p:nvCxnSpPr>
          <p:spPr>
            <a:xfrm flipH="1" rot="10800000">
              <a:off x="7158825" y="3447625"/>
              <a:ext cx="42900" cy="2130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8" name="Google Shape;158;p20"/>
            <p:cNvSpPr txBox="1"/>
            <p:nvPr/>
          </p:nvSpPr>
          <p:spPr>
            <a:xfrm>
              <a:off x="6466463" y="3287900"/>
              <a:ext cx="618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600">
                  <a:solidFill>
                    <a:schemeClr val="accent1"/>
                  </a:solidFill>
                </a:rPr>
                <a:t>Eau</a:t>
              </a:r>
              <a:endParaRPr sz="1600">
                <a:solidFill>
                  <a:schemeClr val="accent1"/>
                </a:solidFill>
              </a:endParaRPr>
            </a:p>
          </p:txBody>
        </p:sp>
        <p:cxnSp>
          <p:nvCxnSpPr>
            <p:cNvPr id="159" name="Google Shape;159;p20"/>
            <p:cNvCxnSpPr/>
            <p:nvPr/>
          </p:nvCxnSpPr>
          <p:spPr>
            <a:xfrm flipH="1" rot="10800000">
              <a:off x="3212350" y="1682900"/>
              <a:ext cx="2490900" cy="183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0" name="Google Shape;160;p20"/>
            <p:cNvSpPr txBox="1"/>
            <p:nvPr/>
          </p:nvSpPr>
          <p:spPr>
            <a:xfrm>
              <a:off x="1721350" y="1476500"/>
              <a:ext cx="1491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600"/>
                <a:t>Thermomètre</a:t>
              </a:r>
              <a:endParaRPr sz="1600"/>
            </a:p>
          </p:txBody>
        </p:sp>
      </p:grpSp>
      <p:sp>
        <p:nvSpPr>
          <p:cNvPr id="161" name="Google Shape;161;p20"/>
          <p:cNvSpPr txBox="1"/>
          <p:nvPr/>
        </p:nvSpPr>
        <p:spPr>
          <a:xfrm>
            <a:off x="7765825" y="4352800"/>
            <a:ext cx="947700" cy="431100"/>
          </a:xfrm>
          <a:prstGeom prst="rect">
            <a:avLst/>
          </a:prstGeom>
          <a:solidFill>
            <a:srgbClr val="EAD1DC"/>
          </a:solidFill>
          <a:ln cap="flat" cmpd="sng" w="2857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Distillat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6212" y="168725"/>
            <a:ext cx="4551575" cy="480604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1"/>
          <p:cNvSpPr txBox="1"/>
          <p:nvPr/>
        </p:nvSpPr>
        <p:spPr>
          <a:xfrm>
            <a:off x="3612700" y="4480625"/>
            <a:ext cx="23322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fraction molaire en acétone</a:t>
            </a:r>
            <a:endParaRPr/>
          </a:p>
        </p:txBody>
      </p:sp>
      <p:sp>
        <p:nvSpPr>
          <p:cNvPr id="168" name="Google Shape;168;p21"/>
          <p:cNvSpPr txBox="1"/>
          <p:nvPr/>
        </p:nvSpPr>
        <p:spPr>
          <a:xfrm>
            <a:off x="2025975" y="561775"/>
            <a:ext cx="8412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</a:t>
            </a:r>
            <a:r>
              <a:rPr baseline="-25000" lang="fr"/>
              <a:t>éb</a:t>
            </a:r>
            <a:r>
              <a:rPr lang="fr"/>
              <a:t>(eau)</a:t>
            </a:r>
            <a:endParaRPr/>
          </a:p>
        </p:txBody>
      </p:sp>
      <p:sp>
        <p:nvSpPr>
          <p:cNvPr id="169" name="Google Shape;169;p21"/>
          <p:cNvSpPr txBox="1"/>
          <p:nvPr/>
        </p:nvSpPr>
        <p:spPr>
          <a:xfrm>
            <a:off x="2388050" y="1786350"/>
            <a:ext cx="3834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</a:t>
            </a:r>
            <a:r>
              <a:rPr baseline="-25000" lang="fr"/>
              <a:t>0</a:t>
            </a:r>
            <a:endParaRPr baseline="-25000"/>
          </a:p>
        </p:txBody>
      </p:sp>
      <p:sp>
        <p:nvSpPr>
          <p:cNvPr id="170" name="Google Shape;170;p21"/>
          <p:cNvSpPr txBox="1"/>
          <p:nvPr/>
        </p:nvSpPr>
        <p:spPr>
          <a:xfrm>
            <a:off x="2388050" y="1232625"/>
            <a:ext cx="3834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</a:t>
            </a:r>
            <a:r>
              <a:rPr baseline="-25000" lang="fr"/>
              <a:t>1</a:t>
            </a:r>
            <a:endParaRPr baseline="-25000"/>
          </a:p>
        </p:txBody>
      </p:sp>
      <p:sp>
        <p:nvSpPr>
          <p:cNvPr id="171" name="Google Shape;171;p21"/>
          <p:cNvSpPr txBox="1"/>
          <p:nvPr/>
        </p:nvSpPr>
        <p:spPr>
          <a:xfrm>
            <a:off x="3644650" y="4171775"/>
            <a:ext cx="3834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1"/>
          <p:cNvSpPr txBox="1"/>
          <p:nvPr/>
        </p:nvSpPr>
        <p:spPr>
          <a:xfrm>
            <a:off x="6374125" y="3440300"/>
            <a:ext cx="12993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</a:t>
            </a:r>
            <a:r>
              <a:rPr baseline="-25000" lang="fr"/>
              <a:t>éb</a:t>
            </a:r>
            <a:r>
              <a:rPr lang="fr"/>
              <a:t>(acétone)</a:t>
            </a:r>
            <a:endParaRPr/>
          </a:p>
        </p:txBody>
      </p:sp>
      <p:sp>
        <p:nvSpPr>
          <p:cNvPr id="173" name="Google Shape;173;p21"/>
          <p:cNvSpPr txBox="1"/>
          <p:nvPr/>
        </p:nvSpPr>
        <p:spPr>
          <a:xfrm>
            <a:off x="3644650" y="4171775"/>
            <a:ext cx="383400" cy="431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x</a:t>
            </a:r>
            <a:r>
              <a:rPr baseline="-25000" lang="fr" sz="1600"/>
              <a:t>0</a:t>
            </a:r>
            <a:endParaRPr baseline="-25000" sz="1600"/>
          </a:p>
        </p:txBody>
      </p:sp>
      <p:sp>
        <p:nvSpPr>
          <p:cNvPr id="174" name="Google Shape;174;p21"/>
          <p:cNvSpPr txBox="1"/>
          <p:nvPr/>
        </p:nvSpPr>
        <p:spPr>
          <a:xfrm>
            <a:off x="3186700" y="4171775"/>
            <a:ext cx="383400" cy="431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x</a:t>
            </a:r>
            <a:r>
              <a:rPr baseline="-25000" lang="fr" sz="1600"/>
              <a:t>1</a:t>
            </a:r>
            <a:endParaRPr baseline="-25000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 txBox="1"/>
          <p:nvPr>
            <p:ph type="title"/>
          </p:nvPr>
        </p:nvSpPr>
        <p:spPr>
          <a:xfrm>
            <a:off x="191675" y="208375"/>
            <a:ext cx="2590500" cy="10092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Distillation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fractionnée :</a:t>
            </a:r>
            <a:endParaRPr/>
          </a:p>
        </p:txBody>
      </p:sp>
      <p:pic>
        <p:nvPicPr>
          <p:cNvPr id="180" name="Google Shape;180;p22"/>
          <p:cNvPicPr preferRelativeResize="0"/>
          <p:nvPr/>
        </p:nvPicPr>
        <p:blipFill rotWithShape="1">
          <a:blip r:embed="rId3">
            <a:alphaModFix/>
          </a:blip>
          <a:srcRect b="0" l="40230" r="33497" t="0"/>
          <a:stretch/>
        </p:blipFill>
        <p:spPr>
          <a:xfrm>
            <a:off x="1034500" y="1419875"/>
            <a:ext cx="904850" cy="3444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81;p22"/>
          <p:cNvGrpSpPr/>
          <p:nvPr/>
        </p:nvGrpSpPr>
        <p:grpSpPr>
          <a:xfrm>
            <a:off x="3208000" y="233888"/>
            <a:ext cx="5814525" cy="4675728"/>
            <a:chOff x="3687225" y="467775"/>
            <a:chExt cx="5814525" cy="4675728"/>
          </a:xfrm>
        </p:grpSpPr>
        <p:pic>
          <p:nvPicPr>
            <p:cNvPr id="182" name="Google Shape;182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967550" y="467775"/>
              <a:ext cx="5066625" cy="46757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" name="Google Shape;183;p22"/>
            <p:cNvSpPr txBox="1"/>
            <p:nvPr/>
          </p:nvSpPr>
          <p:spPr>
            <a:xfrm>
              <a:off x="4975775" y="4565775"/>
              <a:ext cx="436500" cy="40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x</a:t>
              </a:r>
              <a:r>
                <a:rPr baseline="-25000" lang="fr"/>
                <a:t>0</a:t>
              </a:r>
              <a:endParaRPr baseline="-25000"/>
            </a:p>
          </p:txBody>
        </p:sp>
        <p:sp>
          <p:nvSpPr>
            <p:cNvPr id="184" name="Google Shape;184;p22"/>
            <p:cNvSpPr txBox="1"/>
            <p:nvPr/>
          </p:nvSpPr>
          <p:spPr>
            <a:xfrm>
              <a:off x="3687225" y="923850"/>
              <a:ext cx="841200" cy="40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T</a:t>
              </a:r>
              <a:r>
                <a:rPr baseline="-25000" lang="fr"/>
                <a:t>éb</a:t>
              </a:r>
              <a:r>
                <a:rPr lang="fr"/>
                <a:t>(eau)</a:t>
              </a:r>
              <a:endParaRPr/>
            </a:p>
          </p:txBody>
        </p:sp>
        <p:sp>
          <p:nvSpPr>
            <p:cNvPr id="185" name="Google Shape;185;p22"/>
            <p:cNvSpPr txBox="1"/>
            <p:nvPr/>
          </p:nvSpPr>
          <p:spPr>
            <a:xfrm>
              <a:off x="8202450" y="3887575"/>
              <a:ext cx="1299300" cy="40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T</a:t>
              </a:r>
              <a:r>
                <a:rPr baseline="-25000" lang="fr"/>
                <a:t>éb</a:t>
              </a:r>
              <a:r>
                <a:rPr lang="fr"/>
                <a:t>(acétone)</a:t>
              </a:r>
              <a:endParaRPr/>
            </a:p>
          </p:txBody>
        </p:sp>
      </p:grpSp>
      <p:sp>
        <p:nvSpPr>
          <p:cNvPr id="186" name="Google Shape;186;p22"/>
          <p:cNvSpPr txBox="1"/>
          <p:nvPr/>
        </p:nvSpPr>
        <p:spPr>
          <a:xfrm>
            <a:off x="7723225" y="1094150"/>
            <a:ext cx="10011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</a:t>
            </a:r>
            <a:r>
              <a:rPr baseline="-25000" lang="fr"/>
              <a:t>0</a:t>
            </a:r>
            <a:endParaRPr baseline="-25000"/>
          </a:p>
        </p:txBody>
      </p:sp>
      <p:sp>
        <p:nvSpPr>
          <p:cNvPr id="187" name="Google Shape;187;p22"/>
          <p:cNvSpPr txBox="1"/>
          <p:nvPr/>
        </p:nvSpPr>
        <p:spPr>
          <a:xfrm>
            <a:off x="4869300" y="4342175"/>
            <a:ext cx="23322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fraction molaire en acétone</a:t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7723225" y="1494350"/>
            <a:ext cx="10011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</a:t>
            </a:r>
            <a:r>
              <a:rPr baseline="-25000" lang="fr"/>
              <a:t>1</a:t>
            </a:r>
            <a:endParaRPr baseline="-25000"/>
          </a:p>
        </p:txBody>
      </p:sp>
      <p:sp>
        <p:nvSpPr>
          <p:cNvPr id="189" name="Google Shape;189;p22"/>
          <p:cNvSpPr txBox="1"/>
          <p:nvPr/>
        </p:nvSpPr>
        <p:spPr>
          <a:xfrm>
            <a:off x="7723225" y="2261525"/>
            <a:ext cx="10011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</a:t>
            </a:r>
            <a:r>
              <a:rPr baseline="-25000" lang="fr"/>
              <a:t>2</a:t>
            </a:r>
            <a:endParaRPr baseline="-25000"/>
          </a:p>
        </p:txBody>
      </p:sp>
      <p:sp>
        <p:nvSpPr>
          <p:cNvPr id="190" name="Google Shape;190;p22"/>
          <p:cNvSpPr txBox="1"/>
          <p:nvPr/>
        </p:nvSpPr>
        <p:spPr>
          <a:xfrm>
            <a:off x="7723225" y="3116800"/>
            <a:ext cx="10011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</a:t>
            </a:r>
            <a:r>
              <a:rPr baseline="-25000" lang="fr"/>
              <a:t>tête</a:t>
            </a:r>
            <a:endParaRPr baseline="-25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/>
          <p:nvPr>
            <p:ph type="title"/>
          </p:nvPr>
        </p:nvSpPr>
        <p:spPr>
          <a:xfrm>
            <a:off x="237150" y="242675"/>
            <a:ext cx="858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Distillation fractionnée : cas d’un mélange avec azéotrope :</a:t>
            </a:r>
            <a:endParaRPr/>
          </a:p>
        </p:txBody>
      </p:sp>
      <p:pic>
        <p:nvPicPr>
          <p:cNvPr id="196" name="Google Shape;19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250" y="1233300"/>
            <a:ext cx="4205751" cy="373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3"/>
          <p:cNvPicPr preferRelativeResize="0"/>
          <p:nvPr/>
        </p:nvPicPr>
        <p:blipFill rotWithShape="1">
          <a:blip r:embed="rId4">
            <a:alphaModFix/>
          </a:blip>
          <a:srcRect b="2340" l="0" r="4260" t="8651"/>
          <a:stretch/>
        </p:blipFill>
        <p:spPr>
          <a:xfrm>
            <a:off x="4497450" y="1233299"/>
            <a:ext cx="4528573" cy="3563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