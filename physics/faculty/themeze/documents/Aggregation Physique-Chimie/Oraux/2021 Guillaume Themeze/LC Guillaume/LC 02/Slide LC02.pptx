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 showComments="0">
  <p:normalViewPr>
    <p:restoredLeft sz="15611"/>
    <p:restoredTop sz="94644"/>
  </p:normalViewPr>
  <p:slideViewPr>
    <p:cSldViewPr snapToGrid="0">
      <p:cViewPr varScale="1">
        <p:scale>
          <a:sx n="119" d="100"/>
          <a:sy n="119" d="100"/>
        </p:scale>
        <p:origin x="80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4237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7840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db9df80d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db9df80d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287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db9df80dc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db9df80dc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24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db9df80dc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db9df80dc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4892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b9df80dc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b9df80dc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4851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db9df80dcf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db9df80dcf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1207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db9df80dcf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db9df80dcf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851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db9df80dcf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db9df80dcf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7184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db9df80dcf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db9df80dcf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5854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db9df80dcf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db9df80dcf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3804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db9df80dcf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db9df80dcf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993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485300" y="1732500"/>
            <a:ext cx="6173400" cy="16785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500"/>
              <a:t>LC02 Énergie chimique</a:t>
            </a:r>
            <a:endParaRPr sz="3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414150" y="239275"/>
            <a:ext cx="2315700" cy="5727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combustion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975" y="951575"/>
            <a:ext cx="3918047" cy="39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681750" y="413075"/>
            <a:ext cx="7780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Tests caractéristiques de la combustion de l’éthanol : </a:t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t="3670"/>
          <a:stretch/>
        </p:blipFill>
        <p:spPr>
          <a:xfrm>
            <a:off x="945575" y="1147425"/>
            <a:ext cx="7252850" cy="368062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271925" y="2819350"/>
            <a:ext cx="12468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Lampe à éthanol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02850" y="419325"/>
            <a:ext cx="8538300" cy="5727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200"/>
              <a:t>Pouvoir calorifique massique de certains combustibles usuels</a:t>
            </a:r>
            <a:endParaRPr sz="2200"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1650" y="1478750"/>
            <a:ext cx="4900700" cy="29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1408200" y="393575"/>
            <a:ext cx="6327600" cy="5727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Diagramme énergétique de la combustion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75" y="1260125"/>
            <a:ext cx="8248650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041250" y="290725"/>
            <a:ext cx="3061500" cy="5727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Énergies de liaison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299" y="1208675"/>
            <a:ext cx="5399400" cy="339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1800900" y="291725"/>
            <a:ext cx="5542200" cy="5727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0000"/>
                </a:solidFill>
              </a:rPr>
              <a:t>Rappel</a:t>
            </a:r>
            <a:r>
              <a:rPr lang="fr"/>
              <a:t> : Critère d’évolution spontané</a:t>
            </a:r>
            <a:endParaRPr/>
          </a:p>
        </p:txBody>
      </p:sp>
      <p:sp>
        <p:nvSpPr>
          <p:cNvPr id="91" name="Google Shape;91;p19"/>
          <p:cNvSpPr txBox="1"/>
          <p:nvPr/>
        </p:nvSpPr>
        <p:spPr>
          <a:xfrm>
            <a:off x="503175" y="1360463"/>
            <a:ext cx="81360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 sz="1800"/>
              <a:t>Q</a:t>
            </a:r>
            <a:r>
              <a:rPr lang="fr" sz="1800" baseline="-25000"/>
              <a:t>1</a:t>
            </a:r>
            <a:r>
              <a:rPr lang="fr" sz="1800"/>
              <a:t> &lt; K  🠆 </a:t>
            </a:r>
            <a:r>
              <a:rPr lang="fr" sz="1800">
                <a:solidFill>
                  <a:schemeClr val="dk1"/>
                </a:solidFill>
              </a:rPr>
              <a:t> </a:t>
            </a:r>
            <a:r>
              <a:rPr lang="fr" sz="1800">
                <a:solidFill>
                  <a:srgbClr val="6AA84F"/>
                </a:solidFill>
              </a:rPr>
              <a:t>Sens 1</a:t>
            </a:r>
            <a:r>
              <a:rPr lang="fr" sz="1800"/>
              <a:t> 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Q</a:t>
            </a:r>
            <a:r>
              <a:rPr lang="fr" sz="1800" baseline="-25000"/>
              <a:t>1</a:t>
            </a:r>
            <a:r>
              <a:rPr lang="fr" sz="1800"/>
              <a:t> augmente jusqu’à K.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Q</a:t>
            </a:r>
            <a:r>
              <a:rPr lang="fr" sz="1800" baseline="-25000">
                <a:solidFill>
                  <a:schemeClr val="dk1"/>
                </a:solidFill>
              </a:rPr>
              <a:t>2</a:t>
            </a:r>
            <a:r>
              <a:rPr lang="fr" sz="1800">
                <a:solidFill>
                  <a:schemeClr val="dk1"/>
                </a:solidFill>
              </a:rPr>
              <a:t> &lt; K  🠆  </a:t>
            </a:r>
            <a:r>
              <a:rPr lang="fr" sz="1800">
                <a:solidFill>
                  <a:srgbClr val="FF0000"/>
                </a:solidFill>
              </a:rPr>
              <a:t>Sens 2</a:t>
            </a:r>
            <a:r>
              <a:rPr lang="fr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Q</a:t>
            </a:r>
            <a:r>
              <a:rPr lang="fr" sz="1800" baseline="-25000">
                <a:solidFill>
                  <a:schemeClr val="dk1"/>
                </a:solidFill>
              </a:rPr>
              <a:t>2</a:t>
            </a:r>
            <a:r>
              <a:rPr lang="fr" sz="1800">
                <a:solidFill>
                  <a:schemeClr val="dk1"/>
                </a:solidFill>
              </a:rPr>
              <a:t> diminue jusqu’à K.</a:t>
            </a:r>
            <a:endParaRPr sz="1800"/>
          </a:p>
        </p:txBody>
      </p:sp>
      <p:grpSp>
        <p:nvGrpSpPr>
          <p:cNvPr id="92" name="Google Shape;92;p19"/>
          <p:cNvGrpSpPr/>
          <p:nvPr/>
        </p:nvGrpSpPr>
        <p:grpSpPr>
          <a:xfrm>
            <a:off x="825825" y="3316075"/>
            <a:ext cx="7490700" cy="1477150"/>
            <a:chOff x="825825" y="3443850"/>
            <a:chExt cx="7490700" cy="1477150"/>
          </a:xfrm>
        </p:grpSpPr>
        <p:cxnSp>
          <p:nvCxnSpPr>
            <p:cNvPr id="93" name="Google Shape;93;p19"/>
            <p:cNvCxnSpPr/>
            <p:nvPr/>
          </p:nvCxnSpPr>
          <p:spPr>
            <a:xfrm>
              <a:off x="825825" y="4246325"/>
              <a:ext cx="7490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4" name="Google Shape;94;p19"/>
            <p:cNvCxnSpPr/>
            <p:nvPr/>
          </p:nvCxnSpPr>
          <p:spPr>
            <a:xfrm>
              <a:off x="1046275" y="4086575"/>
              <a:ext cx="0" cy="319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5" name="Google Shape;95;p19"/>
            <p:cNvSpPr txBox="1"/>
            <p:nvPr/>
          </p:nvSpPr>
          <p:spPr>
            <a:xfrm>
              <a:off x="833275" y="4459300"/>
              <a:ext cx="426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0</a:t>
              </a:r>
              <a:endParaRPr sz="1800"/>
            </a:p>
          </p:txBody>
        </p:sp>
        <p:cxnSp>
          <p:nvCxnSpPr>
            <p:cNvPr id="96" name="Google Shape;96;p19"/>
            <p:cNvCxnSpPr/>
            <p:nvPr/>
          </p:nvCxnSpPr>
          <p:spPr>
            <a:xfrm>
              <a:off x="4776775" y="4086575"/>
              <a:ext cx="0" cy="319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7" name="Google Shape;97;p19"/>
            <p:cNvSpPr txBox="1"/>
            <p:nvPr/>
          </p:nvSpPr>
          <p:spPr>
            <a:xfrm>
              <a:off x="4563775" y="4459300"/>
              <a:ext cx="426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K</a:t>
              </a:r>
              <a:endParaRPr sz="1800"/>
            </a:p>
          </p:txBody>
        </p:sp>
        <p:cxnSp>
          <p:nvCxnSpPr>
            <p:cNvPr id="98" name="Google Shape;98;p19"/>
            <p:cNvCxnSpPr/>
            <p:nvPr/>
          </p:nvCxnSpPr>
          <p:spPr>
            <a:xfrm>
              <a:off x="2252950" y="4086575"/>
              <a:ext cx="0" cy="319500"/>
            </a:xfrm>
            <a:prstGeom prst="straightConnector1">
              <a:avLst/>
            </a:prstGeom>
            <a:noFill/>
            <a:ln w="1905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19"/>
            <p:cNvCxnSpPr/>
            <p:nvPr/>
          </p:nvCxnSpPr>
          <p:spPr>
            <a:xfrm>
              <a:off x="6483950" y="4086575"/>
              <a:ext cx="0" cy="319500"/>
            </a:xfrm>
            <a:prstGeom prst="straightConnector1">
              <a:avLst/>
            </a:prstGeom>
            <a:noFill/>
            <a:ln w="1905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0" name="Google Shape;100;p19"/>
            <p:cNvSpPr txBox="1"/>
            <p:nvPr/>
          </p:nvSpPr>
          <p:spPr>
            <a:xfrm>
              <a:off x="1880200" y="4459300"/>
              <a:ext cx="74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rgbClr val="FF9900"/>
                  </a:solidFill>
                </a:rPr>
                <a:t>Q</a:t>
              </a:r>
              <a:r>
                <a:rPr lang="fr" sz="1800" baseline="-25000">
                  <a:solidFill>
                    <a:srgbClr val="FF9900"/>
                  </a:solidFill>
                </a:rPr>
                <a:t>1</a:t>
              </a:r>
              <a:endParaRPr>
                <a:solidFill>
                  <a:srgbClr val="FF9900"/>
                </a:solidFill>
              </a:endParaRPr>
            </a:p>
          </p:txBody>
        </p:sp>
        <p:sp>
          <p:nvSpPr>
            <p:cNvPr id="101" name="Google Shape;101;p19"/>
            <p:cNvSpPr txBox="1"/>
            <p:nvPr/>
          </p:nvSpPr>
          <p:spPr>
            <a:xfrm>
              <a:off x="6111200" y="4406075"/>
              <a:ext cx="745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rgbClr val="FF9900"/>
                  </a:solidFill>
                </a:rPr>
                <a:t>Q</a:t>
              </a:r>
              <a:r>
                <a:rPr lang="fr" sz="1800" baseline="-25000">
                  <a:solidFill>
                    <a:srgbClr val="FF9900"/>
                  </a:solidFill>
                </a:rPr>
                <a:t>2</a:t>
              </a:r>
              <a:endParaRPr>
                <a:solidFill>
                  <a:srgbClr val="FF9900"/>
                </a:solidFill>
              </a:endParaRPr>
            </a:p>
          </p:txBody>
        </p:sp>
        <p:cxnSp>
          <p:nvCxnSpPr>
            <p:cNvPr id="102" name="Google Shape;102;p19"/>
            <p:cNvCxnSpPr/>
            <p:nvPr/>
          </p:nvCxnSpPr>
          <p:spPr>
            <a:xfrm>
              <a:off x="2252950" y="3905550"/>
              <a:ext cx="2545200" cy="0"/>
            </a:xfrm>
            <a:prstGeom prst="straightConnector1">
              <a:avLst/>
            </a:prstGeom>
            <a:noFill/>
            <a:ln w="28575" cap="flat" cmpd="sng">
              <a:solidFill>
                <a:srgbClr val="6AA84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3" name="Google Shape;103;p19"/>
            <p:cNvSpPr txBox="1"/>
            <p:nvPr/>
          </p:nvSpPr>
          <p:spPr>
            <a:xfrm>
              <a:off x="2961100" y="3443850"/>
              <a:ext cx="1128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rgbClr val="6AA84F"/>
                  </a:solidFill>
                </a:rPr>
                <a:t>Sens 1</a:t>
              </a:r>
              <a:r>
                <a:rPr lang="fr" sz="1800">
                  <a:solidFill>
                    <a:schemeClr val="dk1"/>
                  </a:solidFill>
                </a:rPr>
                <a:t> </a:t>
              </a:r>
              <a:endParaRPr/>
            </a:p>
          </p:txBody>
        </p:sp>
        <p:cxnSp>
          <p:nvCxnSpPr>
            <p:cNvPr id="104" name="Google Shape;104;p19"/>
            <p:cNvCxnSpPr/>
            <p:nvPr/>
          </p:nvCxnSpPr>
          <p:spPr>
            <a:xfrm rot="10800000">
              <a:off x="4798150" y="3904500"/>
              <a:ext cx="1700400" cy="2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5" name="Google Shape;105;p19"/>
            <p:cNvSpPr txBox="1"/>
            <p:nvPr/>
          </p:nvSpPr>
          <p:spPr>
            <a:xfrm>
              <a:off x="5083900" y="3444900"/>
              <a:ext cx="1128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>
                  <a:solidFill>
                    <a:srgbClr val="FF0000"/>
                  </a:solidFill>
                </a:rPr>
                <a:t>Sens 1 </a:t>
              </a:r>
              <a:endParaRPr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461950" y="242825"/>
            <a:ext cx="2068500" cy="5727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Pile Daniell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l="14191" t="13366" r="13255" b="9905"/>
          <a:stretch/>
        </p:blipFill>
        <p:spPr>
          <a:xfrm>
            <a:off x="1147200" y="815525"/>
            <a:ext cx="6849576" cy="407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3940138" y="935150"/>
            <a:ext cx="111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4A86E8"/>
                </a:solidFill>
              </a:rPr>
              <a:t>Multimètre</a:t>
            </a:r>
            <a:endParaRPr>
              <a:solidFill>
                <a:srgbClr val="4A86E8"/>
              </a:solidFill>
            </a:endParaRPr>
          </a:p>
        </p:txBody>
      </p:sp>
      <p:cxnSp>
        <p:nvCxnSpPr>
          <p:cNvPr id="113" name="Google Shape;113;p20"/>
          <p:cNvCxnSpPr/>
          <p:nvPr/>
        </p:nvCxnSpPr>
        <p:spPr>
          <a:xfrm rot="10800000">
            <a:off x="2190400" y="935175"/>
            <a:ext cx="568800" cy="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4" name="Google Shape;114;p20"/>
          <p:cNvSpPr txBox="1"/>
          <p:nvPr/>
        </p:nvSpPr>
        <p:spPr>
          <a:xfrm>
            <a:off x="2342050" y="534975"/>
            <a:ext cx="568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6AA84F"/>
                </a:solidFill>
              </a:rPr>
              <a:t>e</a:t>
            </a:r>
            <a:r>
              <a:rPr lang="fr" sz="1600" baseline="30000">
                <a:solidFill>
                  <a:srgbClr val="6AA84F"/>
                </a:solidFill>
              </a:rPr>
              <a:t>-</a:t>
            </a:r>
            <a:endParaRPr sz="1600" baseline="30000">
              <a:solidFill>
                <a:srgbClr val="6AA84F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5905975" y="719625"/>
            <a:ext cx="29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F0000"/>
                </a:solidFill>
              </a:rPr>
              <a:t>I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1440300" y="367875"/>
            <a:ext cx="6263400" cy="5727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Fonctionnement du téléphone sur batterie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375" y="1159175"/>
            <a:ext cx="605725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1127850" y="213550"/>
            <a:ext cx="6888300" cy="5727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Électrolyse de l’eau : H</a:t>
            </a:r>
            <a:r>
              <a:rPr lang="fr" baseline="-25000"/>
              <a:t>2</a:t>
            </a:r>
            <a:r>
              <a:rPr lang="fr"/>
              <a:t>O</a:t>
            </a:r>
            <a:r>
              <a:rPr lang="fr" baseline="-25000"/>
              <a:t>(l)</a:t>
            </a:r>
            <a:r>
              <a:rPr lang="fr"/>
              <a:t> = 2H</a:t>
            </a:r>
            <a:r>
              <a:rPr lang="fr" baseline="-25000"/>
              <a:t>2 (g)</a:t>
            </a:r>
            <a:r>
              <a:rPr lang="fr"/>
              <a:t> + O</a:t>
            </a:r>
            <a:r>
              <a:rPr lang="fr" baseline="-25000"/>
              <a:t>2 (g)</a:t>
            </a:r>
            <a:endParaRPr baseline="-25000"/>
          </a:p>
        </p:txBody>
      </p:sp>
      <p:grpSp>
        <p:nvGrpSpPr>
          <p:cNvPr id="127" name="Google Shape;127;p22"/>
          <p:cNvGrpSpPr/>
          <p:nvPr/>
        </p:nvGrpSpPr>
        <p:grpSpPr>
          <a:xfrm>
            <a:off x="1917203" y="1260148"/>
            <a:ext cx="6271088" cy="3779292"/>
            <a:chOff x="1209850" y="951550"/>
            <a:chExt cx="6724306" cy="4052425"/>
          </a:xfrm>
        </p:grpSpPr>
        <p:pic>
          <p:nvPicPr>
            <p:cNvPr id="128" name="Google Shape;128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09850" y="1028700"/>
              <a:ext cx="6724306" cy="397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22"/>
            <p:cNvSpPr txBox="1"/>
            <p:nvPr/>
          </p:nvSpPr>
          <p:spPr>
            <a:xfrm>
              <a:off x="5392100" y="951550"/>
              <a:ext cx="758700" cy="49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H</a:t>
              </a:r>
              <a:r>
                <a:rPr lang="fr" sz="1800" baseline="-25000"/>
                <a:t>2 (g)</a:t>
              </a:r>
              <a:endParaRPr sz="1800" baseline="-25000"/>
            </a:p>
          </p:txBody>
        </p:sp>
        <p:sp>
          <p:nvSpPr>
            <p:cNvPr id="130" name="Google Shape;130;p22"/>
            <p:cNvSpPr txBox="1"/>
            <p:nvPr/>
          </p:nvSpPr>
          <p:spPr>
            <a:xfrm>
              <a:off x="2651300" y="951550"/>
              <a:ext cx="758700" cy="49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O</a:t>
              </a:r>
              <a:r>
                <a:rPr lang="fr" sz="1800" baseline="-25000"/>
                <a:t>2 (g)</a:t>
              </a:r>
              <a:endParaRPr sz="1800" baseline="-25000"/>
            </a:p>
          </p:txBody>
        </p:sp>
      </p:grpSp>
      <p:sp>
        <p:nvSpPr>
          <p:cNvPr id="131" name="Google Shape;131;p22"/>
          <p:cNvSpPr txBox="1"/>
          <p:nvPr/>
        </p:nvSpPr>
        <p:spPr>
          <a:xfrm>
            <a:off x="480750" y="1165300"/>
            <a:ext cx="2743200" cy="6771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0000FF"/>
                </a:solidFill>
              </a:rPr>
              <a:t>Anode</a:t>
            </a:r>
            <a:endParaRPr sz="1600">
              <a:solidFill>
                <a:srgbClr val="0000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0000FF"/>
                </a:solidFill>
              </a:rPr>
              <a:t>2H</a:t>
            </a:r>
            <a:r>
              <a:rPr lang="fr" sz="1600" baseline="-25000">
                <a:solidFill>
                  <a:srgbClr val="0000FF"/>
                </a:solidFill>
              </a:rPr>
              <a:t>2</a:t>
            </a:r>
            <a:r>
              <a:rPr lang="fr" sz="1600">
                <a:solidFill>
                  <a:srgbClr val="0000FF"/>
                </a:solidFill>
              </a:rPr>
              <a:t>O</a:t>
            </a:r>
            <a:r>
              <a:rPr lang="fr" sz="1600" baseline="-25000">
                <a:solidFill>
                  <a:srgbClr val="0000FF"/>
                </a:solidFill>
              </a:rPr>
              <a:t>(l) </a:t>
            </a:r>
            <a:r>
              <a:rPr lang="fr" sz="1600">
                <a:solidFill>
                  <a:srgbClr val="0000FF"/>
                </a:solidFill>
              </a:rPr>
              <a:t>🠆 O</a:t>
            </a:r>
            <a:r>
              <a:rPr lang="fr" sz="1600" baseline="-25000">
                <a:solidFill>
                  <a:srgbClr val="0000FF"/>
                </a:solidFill>
              </a:rPr>
              <a:t>2(g)</a:t>
            </a:r>
            <a:r>
              <a:rPr lang="fr" sz="1600">
                <a:solidFill>
                  <a:srgbClr val="0000FF"/>
                </a:solidFill>
              </a:rPr>
              <a:t> + 4H⁺</a:t>
            </a:r>
            <a:r>
              <a:rPr lang="fr" sz="1600" baseline="-25000">
                <a:solidFill>
                  <a:srgbClr val="0000FF"/>
                </a:solidFill>
              </a:rPr>
              <a:t>(aq)</a:t>
            </a:r>
            <a:r>
              <a:rPr lang="fr" sz="1600">
                <a:solidFill>
                  <a:srgbClr val="0000FF"/>
                </a:solidFill>
              </a:rPr>
              <a:t> + 4e⁻</a:t>
            </a:r>
            <a:endParaRPr sz="1600" baseline="-25000">
              <a:solidFill>
                <a:srgbClr val="0000FF"/>
              </a:solidFill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6522450" y="1165300"/>
            <a:ext cx="2140800" cy="677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F0000"/>
                </a:solidFill>
              </a:rPr>
              <a:t>Cathode</a:t>
            </a:r>
            <a:endParaRPr sz="1600"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F0000"/>
                </a:solidFill>
              </a:rPr>
              <a:t>2H⁺</a:t>
            </a:r>
            <a:r>
              <a:rPr lang="fr" sz="1600" baseline="-25000">
                <a:solidFill>
                  <a:srgbClr val="FF0000"/>
                </a:solidFill>
              </a:rPr>
              <a:t>(aq)</a:t>
            </a:r>
            <a:r>
              <a:rPr lang="fr" sz="1600">
                <a:solidFill>
                  <a:srgbClr val="FF0000"/>
                </a:solidFill>
              </a:rPr>
              <a:t> + 2e⁻ = H</a:t>
            </a:r>
            <a:r>
              <a:rPr lang="fr" sz="1600" baseline="-25000">
                <a:solidFill>
                  <a:srgbClr val="FF0000"/>
                </a:solidFill>
              </a:rPr>
              <a:t>2 (g)</a:t>
            </a:r>
            <a:endParaRPr sz="1600" baseline="-25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2282550" y="329300"/>
            <a:ext cx="4578900" cy="572700"/>
          </a:xfrm>
          <a:prstGeom prst="rect">
            <a:avLst/>
          </a:prstGeom>
          <a:solidFill>
            <a:srgbClr val="FFF2CC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Téléphone en charge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8488" y="1206800"/>
            <a:ext cx="5007013" cy="393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Macintosh PowerPoint</Application>
  <PresentationFormat>Présentation à l'écran (16:9)</PresentationFormat>
  <Paragraphs>33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LC02 Énergie chimique </vt:lpstr>
      <vt:lpstr>La combustion</vt:lpstr>
      <vt:lpstr>Tests caractéristiques de la combustion de l’éthanol : </vt:lpstr>
      <vt:lpstr>Pouvoir calorifique massique de certains combustibles usuels</vt:lpstr>
      <vt:lpstr>Diagramme énergétique de la combustion</vt:lpstr>
      <vt:lpstr>Énergies de liaison</vt:lpstr>
      <vt:lpstr>Rappel : Critère d’évolution spontané</vt:lpstr>
      <vt:lpstr>Pile Daniell</vt:lpstr>
      <vt:lpstr>Fonctionnement du téléphone sur batterie</vt:lpstr>
      <vt:lpstr>Électrolyse de l’eau : H2O(l) = 2H2 (g) + O2 (g)</vt:lpstr>
      <vt:lpstr>Téléphone en charge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LC02 Énergie chimique </dc:title>
  <cp:lastModifiedBy>Utilisateur de Microsoft Office</cp:lastModifiedBy>
  <cp:revision>1</cp:revision>
  <dcterms:modified xsi:type="dcterms:W3CDTF">2021-06-25T20:16:09Z</dcterms:modified>
</cp:coreProperties>
</file>