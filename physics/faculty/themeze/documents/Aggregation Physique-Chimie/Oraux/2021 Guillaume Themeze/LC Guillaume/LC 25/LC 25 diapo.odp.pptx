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4"/>
  </p:notesMasterIdLst>
  <p:sldIdLst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4"/>
  </p:normalViewPr>
  <p:slideViewPr>
    <p:cSldViewPr snapToGrid="0">
      <p:cViewPr varScale="1">
        <p:scale>
          <a:sx n="119" d="100"/>
          <a:sy n="119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CBF42-708B-4E44-B726-068829AEE595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3259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A7C32FB1-E2FF-4CF3-95D1-5E311C2865EA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</a:t>
            </a:r>
            <a:r>
              <a:rPr lang="en-US" sz="900" baseline="0" dirty="0" smtClean="0">
                <a:solidFill>
                  <a:schemeClr val="bg1"/>
                </a:solidFill>
                <a:latin typeface="+mj-lt"/>
              </a:rPr>
              <a:t>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563" y="1634016"/>
            <a:ext cx="7543800" cy="108840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Corrosion humide des métaux</a:t>
            </a: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3B83D904-4171-4827-BB95-1CF19AF5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A06126F7-EC17-4A3B-89F6-3304F4D24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7" y="144379"/>
            <a:ext cx="7734315" cy="694497"/>
          </a:xfrm>
        </p:spPr>
        <p:txBody>
          <a:bodyPr/>
          <a:lstStyle/>
          <a:p>
            <a:r>
              <a:rPr lang="fr-FR" dirty="0"/>
              <a:t>Corrosion humide d’une épave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FAE8FEE5-63F8-413B-98BF-AE78B5BABCF7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444033" y="808027"/>
            <a:ext cx="5733144" cy="379680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61205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663471E0-5741-4667-B12D-1E54BE2D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EDC992A2-4359-4818-A108-CE7180FBE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825"/>
            <a:ext cx="9144000" cy="694497"/>
          </a:xfrm>
        </p:spPr>
        <p:txBody>
          <a:bodyPr/>
          <a:lstStyle/>
          <a:p>
            <a:pPr algn="ctr"/>
            <a:r>
              <a:rPr lang="fr-FR" sz="4000" dirty="0"/>
              <a:t>Etude thermodynamique du fer dans l’eau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B287C1B8-BB30-4902-89D8-285E0B97A4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480"/>
          <a:stretch/>
        </p:blipFill>
        <p:spPr>
          <a:xfrm>
            <a:off x="2148028" y="901643"/>
            <a:ext cx="4847944" cy="3724275"/>
          </a:xfrm>
          <a:prstGeom prst="rect">
            <a:avLst/>
          </a:prstGeom>
        </p:spPr>
      </p:pic>
      <p:sp>
        <p:nvSpPr>
          <p:cNvPr id="6" name="ZoneTexte 4">
            <a:extLst>
              <a:ext uri="{FF2B5EF4-FFF2-40B4-BE49-F238E27FC236}">
                <a16:creationId xmlns:a16="http://schemas.microsoft.com/office/drawing/2014/main" xmlns="" id="{B0DD03C1-3784-41CA-BB6A-4E2DFE073CD6}"/>
              </a:ext>
            </a:extLst>
          </p:cNvPr>
          <p:cNvSpPr txBox="1"/>
          <p:nvPr/>
        </p:nvSpPr>
        <p:spPr>
          <a:xfrm>
            <a:off x="5224157" y="4808239"/>
            <a:ext cx="2829863" cy="31202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Tout </a:t>
            </a:r>
            <a:r>
              <a:rPr lang="en-US" sz="12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en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-un </a:t>
            </a:r>
            <a:r>
              <a:rPr lang="en-US" sz="12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Chimie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PSI/PSI*,</a:t>
            </a:r>
            <a:r>
              <a:rPr lang="en-US" sz="12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Dunot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(2017</a:t>
            </a:r>
            <a:r>
              <a:rPr lang="en-US" sz="15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128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1BB13D7-1B62-4ED2-9E44-86B7AEA6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EE42D620-0E74-4212-BAD9-89404A77B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4379"/>
            <a:ext cx="9144000" cy="694497"/>
          </a:xfrm>
        </p:spPr>
        <p:txBody>
          <a:bodyPr/>
          <a:lstStyle/>
          <a:p>
            <a:pPr algn="ctr"/>
            <a:r>
              <a:rPr lang="fr-FR" sz="4000" dirty="0"/>
              <a:t>Courbe intensité potentielle du fer dans l’eau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F8E49B2D-CAFD-4331-A50E-5CF79FE4D3D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567259" y="1018064"/>
            <a:ext cx="6009482" cy="310896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ZoneTexte 3">
            <a:extLst>
              <a:ext uri="{FF2B5EF4-FFF2-40B4-BE49-F238E27FC236}">
                <a16:creationId xmlns:a16="http://schemas.microsoft.com/office/drawing/2014/main" xmlns="" id="{32D4E16E-6226-483F-A2BE-4D8C29C6CF65}"/>
              </a:ext>
            </a:extLst>
          </p:cNvPr>
          <p:cNvSpPr txBox="1"/>
          <p:nvPr/>
        </p:nvSpPr>
        <p:spPr>
          <a:xfrm>
            <a:off x="206426" y="4819664"/>
            <a:ext cx="3496318" cy="3005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Tout </a:t>
            </a:r>
            <a:r>
              <a:rPr lang="en-US" sz="15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en</a:t>
            </a:r>
            <a:r>
              <a:rPr lang="en-US" sz="15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-un </a:t>
            </a:r>
            <a:r>
              <a:rPr lang="en-US" sz="15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Chimie</a:t>
            </a:r>
            <a:r>
              <a:rPr lang="en-US" sz="15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PSI/PSI*,</a:t>
            </a:r>
            <a:r>
              <a:rPr lang="en-US" sz="15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Dunot</a:t>
            </a:r>
            <a:r>
              <a:rPr lang="en-US" sz="15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(2017)</a:t>
            </a:r>
          </a:p>
        </p:txBody>
      </p:sp>
    </p:spTree>
    <p:extLst>
      <p:ext uri="{BB962C8B-B14F-4D97-AF65-F5344CB8AC3E}">
        <p14:creationId xmlns:p14="http://schemas.microsoft.com/office/powerpoint/2010/main" val="75233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06793EF1-6ECC-455A-93BA-C4FC15F5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3826EA00-051A-47E9-B61C-2D4F6D60C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Corrosion différentielle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718A83CB-7637-4A1A-82EB-45725666F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115219"/>
            <a:ext cx="6496050" cy="291465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B58EAD27-5B83-4F8B-B747-76A0A3EC07F7}"/>
              </a:ext>
            </a:extLst>
          </p:cNvPr>
          <p:cNvSpPr txBox="1"/>
          <p:nvPr/>
        </p:nvSpPr>
        <p:spPr>
          <a:xfrm>
            <a:off x="255360" y="4809961"/>
            <a:ext cx="5061962" cy="346676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http://leroy.pe.free.fr/psi_new/tp/tp_corrosion.pdf</a:t>
            </a:r>
          </a:p>
        </p:txBody>
      </p:sp>
    </p:spTree>
    <p:extLst>
      <p:ext uri="{BB962C8B-B14F-4D97-AF65-F5344CB8AC3E}">
        <p14:creationId xmlns:p14="http://schemas.microsoft.com/office/powerpoint/2010/main" val="9929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4691522-B9FA-487E-8AFB-480A1EDA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C7ACAF45-9EC1-4322-9F0B-B23ED01B5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Corrosion galvanique</a:t>
            </a:r>
          </a:p>
        </p:txBody>
      </p:sp>
      <p:pic>
        <p:nvPicPr>
          <p:cNvPr id="4" name="Image 9">
            <a:extLst>
              <a:ext uri="{FF2B5EF4-FFF2-40B4-BE49-F238E27FC236}">
                <a16:creationId xmlns:a16="http://schemas.microsoft.com/office/drawing/2014/main" xmlns="" id="{CD6044B7-62B4-4D9E-88DC-3ABBAE964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89" y="1758151"/>
            <a:ext cx="3026802" cy="222784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1737B520-9CB0-411A-896A-336E9416421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16234" y="1370625"/>
            <a:ext cx="5059277" cy="279797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ZoneTexte 3">
            <a:extLst>
              <a:ext uri="{FF2B5EF4-FFF2-40B4-BE49-F238E27FC236}">
                <a16:creationId xmlns:a16="http://schemas.microsoft.com/office/drawing/2014/main" xmlns="" id="{FCFB56DB-F25E-4874-BA08-A04763DB21B2}"/>
              </a:ext>
            </a:extLst>
          </p:cNvPr>
          <p:cNvSpPr txBox="1"/>
          <p:nvPr/>
        </p:nvSpPr>
        <p:spPr>
          <a:xfrm>
            <a:off x="3508549" y="984863"/>
            <a:ext cx="5635451" cy="3857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Courbe</a:t>
            </a:r>
            <a:r>
              <a:rPr lang="en-US" sz="2000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</a:t>
            </a:r>
            <a:r>
              <a:rPr lang="en-US" sz="2000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intensité-potentiel</a:t>
            </a:r>
            <a:r>
              <a:rPr lang="en-US" sz="2000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de </a:t>
            </a:r>
            <a:r>
              <a:rPr lang="en-US" sz="2000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l’eau</a:t>
            </a:r>
            <a:r>
              <a:rPr lang="en-US" sz="2000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et du </a:t>
            </a:r>
            <a:r>
              <a:rPr lang="en-US" sz="2000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fer</a:t>
            </a:r>
            <a:r>
              <a:rPr lang="en-US" sz="2000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et </a:t>
            </a:r>
            <a:r>
              <a:rPr lang="en-US" sz="2000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cuivre</a:t>
            </a:r>
            <a:endParaRPr lang="en-US" sz="2000" b="0" i="0" u="sng" strike="noStrike" kern="1200" cap="none" spc="0" baseline="0" dirty="0">
              <a:solidFill>
                <a:srgbClr val="000000"/>
              </a:solidFill>
              <a:uFillTx/>
              <a:latin typeface="Liberation Serif" pitchFamily="18"/>
              <a:ea typeface="Microsoft YaHei" pitchFamily="2"/>
              <a:cs typeface="Mangal" pitchFamily="2"/>
            </a:endParaRPr>
          </a:p>
        </p:txBody>
      </p:sp>
      <p:sp>
        <p:nvSpPr>
          <p:cNvPr id="7" name="ZoneTexte 2">
            <a:extLst>
              <a:ext uri="{FF2B5EF4-FFF2-40B4-BE49-F238E27FC236}">
                <a16:creationId xmlns:a16="http://schemas.microsoft.com/office/drawing/2014/main" xmlns="" id="{A5D5F6A8-91E0-448F-9E06-3F7703C95506}"/>
              </a:ext>
            </a:extLst>
          </p:cNvPr>
          <p:cNvSpPr txBox="1"/>
          <p:nvPr/>
        </p:nvSpPr>
        <p:spPr>
          <a:xfrm>
            <a:off x="4962779" y="4822923"/>
            <a:ext cx="3256069" cy="297340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Tout </a:t>
            </a:r>
            <a:r>
              <a:rPr lang="en-US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en</a:t>
            </a: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-un </a:t>
            </a:r>
            <a:r>
              <a:rPr lang="en-US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Chimie</a:t>
            </a: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PSI/PSI*,</a:t>
            </a:r>
            <a:r>
              <a:rPr lang="en-US" sz="14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Dunot</a:t>
            </a: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(2017)</a:t>
            </a:r>
          </a:p>
        </p:txBody>
      </p:sp>
      <p:sp>
        <p:nvSpPr>
          <p:cNvPr id="8" name="ZoneTexte 5">
            <a:extLst>
              <a:ext uri="{FF2B5EF4-FFF2-40B4-BE49-F238E27FC236}">
                <a16:creationId xmlns:a16="http://schemas.microsoft.com/office/drawing/2014/main" xmlns="" id="{942A2C7C-B742-4246-9C1C-4A643F4C2AAE}"/>
              </a:ext>
            </a:extLst>
          </p:cNvPr>
          <p:cNvSpPr txBox="1"/>
          <p:nvPr/>
        </p:nvSpPr>
        <p:spPr>
          <a:xfrm>
            <a:off x="-66060" y="4517619"/>
            <a:ext cx="10057677" cy="60264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http://www.apper-solaire.org/Pages/Fiches/Ballons/Preconisations d installation </a:t>
            </a:r>
            <a:r>
              <a:rPr lang="en-US" sz="12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ballon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ECS face a la corrosion </a:t>
            </a:r>
            <a:r>
              <a:rPr lang="en-US" sz="1200" b="0" i="0" u="none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galvanique</a:t>
            </a:r>
            <a:r>
              <a:rPr lang="en-US" sz="1200" b="0" i="0" u="none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/index.pdf</a:t>
            </a:r>
          </a:p>
        </p:txBody>
      </p:sp>
    </p:spTree>
    <p:extLst>
      <p:ext uri="{BB962C8B-B14F-4D97-AF65-F5344CB8AC3E}">
        <p14:creationId xmlns:p14="http://schemas.microsoft.com/office/powerpoint/2010/main" val="80297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2FF9E38A-E4A0-4541-85E0-44C255B3D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6661CACA-E5ED-45DB-81C5-C7021FAC7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Aération différentielle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CC515022-9216-44EF-AE8B-9A8EBA6778F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189228" y="838876"/>
            <a:ext cx="4515440" cy="3612354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025461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EF65DBD-6AF1-4D1A-B13C-4FD6DF15E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D2DD3140-3791-4A7A-B731-776F0393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Protection par isolement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F8F96F92-C3C4-41F4-8F0E-95889895EC5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675048" y="1376776"/>
            <a:ext cx="2746735" cy="202203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C84205F5-B26D-4BD3-9F6D-7F7ECBBFF3F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56405" y="3398808"/>
            <a:ext cx="984019" cy="12641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xmlns="" id="{CC549CF3-D957-4213-B38A-E3E5F30B9A66}"/>
              </a:ext>
            </a:extLst>
          </p:cNvPr>
          <p:cNvSpPr txBox="1"/>
          <p:nvPr/>
        </p:nvSpPr>
        <p:spPr>
          <a:xfrm>
            <a:off x="914400" y="921704"/>
            <a:ext cx="2926080" cy="372243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manchon</a:t>
            </a:r>
            <a:r>
              <a:rPr lang="en-US" sz="2000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 </a:t>
            </a:r>
            <a:r>
              <a:rPr lang="en-US" sz="2000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galvanique</a:t>
            </a:r>
            <a:endParaRPr lang="en-US" sz="2000" b="0" i="0" u="sng" strike="noStrike" kern="1200" cap="none" spc="0" baseline="0" dirty="0">
              <a:solidFill>
                <a:srgbClr val="000000"/>
              </a:solidFill>
              <a:uFillTx/>
              <a:latin typeface="Liberation Serif" pitchFamily="18"/>
              <a:ea typeface="Microsoft YaHei" pitchFamily="2"/>
              <a:cs typeface="Mangal" pitchFamily="2"/>
            </a:endParaRPr>
          </a:p>
        </p:txBody>
      </p:sp>
      <p:pic>
        <p:nvPicPr>
          <p:cNvPr id="7" name="Image 13">
            <a:extLst>
              <a:ext uri="{FF2B5EF4-FFF2-40B4-BE49-F238E27FC236}">
                <a16:creationId xmlns:a16="http://schemas.microsoft.com/office/drawing/2014/main" xmlns="" id="{A48E904A-1000-4228-8459-7A9892133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140" y="1372394"/>
            <a:ext cx="4010028" cy="24003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F299BC6C-B094-4205-86B4-0D29276CD2EA}"/>
              </a:ext>
            </a:extLst>
          </p:cNvPr>
          <p:cNvSpPr txBox="1"/>
          <p:nvPr/>
        </p:nvSpPr>
        <p:spPr>
          <a:xfrm>
            <a:off x="5303522" y="925348"/>
            <a:ext cx="2216158" cy="372243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sng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Passivation du fer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xmlns="" id="{4A26AB2B-F4BC-4384-9E3A-6FCF2A188386}"/>
              </a:ext>
            </a:extLst>
          </p:cNvPr>
          <p:cNvSpPr txBox="1"/>
          <p:nvPr/>
        </p:nvSpPr>
        <p:spPr>
          <a:xfrm>
            <a:off x="3840480" y="3643096"/>
            <a:ext cx="5901327" cy="259195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DURUPTHY et al. </a:t>
            </a:r>
            <a:r>
              <a:rPr lang="fr-FR" sz="12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Hprépa</a:t>
            </a:r>
            <a:r>
              <a:rPr lang="fr-FR" sz="12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Chimie 2ème année MP-MP*-PT-PT*. Hachette,2004</a:t>
            </a:r>
            <a:endParaRPr lang="en-US" sz="1100" b="0" i="0" u="none" strike="noStrike" kern="1200" cap="none" spc="0" baseline="0" dirty="0">
              <a:solidFill>
                <a:srgbClr val="000000"/>
              </a:solidFill>
              <a:uFillTx/>
              <a:latin typeface="Liberation Serif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4602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E7B1A15-3821-4BB9-9974-97419679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36E3E042-A773-4B43-9F7C-369C0055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Anode sacrificielle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34E5C7F2-41E6-49BD-BD61-C82E6C59F86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 l="11740" t="9050" b="16758"/>
          <a:stretch>
            <a:fillRect/>
          </a:stretch>
        </p:blipFill>
        <p:spPr>
          <a:xfrm>
            <a:off x="890655" y="1358726"/>
            <a:ext cx="2604503" cy="29199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C6548057-3BD8-4BFB-9A6C-8D576778AD0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11221" y="1358726"/>
            <a:ext cx="4719761" cy="304578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ZoneTexte 3">
            <a:extLst>
              <a:ext uri="{FF2B5EF4-FFF2-40B4-BE49-F238E27FC236}">
                <a16:creationId xmlns:a16="http://schemas.microsoft.com/office/drawing/2014/main" xmlns="" id="{A53D8FD6-F9A8-40B3-B931-F4F497C6AAD4}"/>
              </a:ext>
            </a:extLst>
          </p:cNvPr>
          <p:cNvSpPr txBox="1"/>
          <p:nvPr/>
        </p:nvSpPr>
        <p:spPr>
          <a:xfrm>
            <a:off x="3633846" y="1002396"/>
            <a:ext cx="5510154" cy="3563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1" compatLnSpc="0">
            <a:sp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Courbe</a:t>
            </a:r>
            <a:r>
              <a:rPr lang="en-US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</a:t>
            </a:r>
            <a:r>
              <a:rPr lang="en-US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itensité</a:t>
            </a:r>
            <a:r>
              <a:rPr lang="en-US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</a:t>
            </a:r>
            <a:r>
              <a:rPr lang="en-US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potentiel</a:t>
            </a:r>
            <a:r>
              <a:rPr lang="en-US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de </a:t>
            </a:r>
            <a:r>
              <a:rPr lang="en-US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l’eau,du</a:t>
            </a:r>
            <a:r>
              <a:rPr lang="en-US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</a:t>
            </a:r>
            <a:r>
              <a:rPr lang="en-US" b="0" i="0" u="sng" strike="noStrike" kern="1200" cap="none" spc="0" baseline="0" dirty="0" err="1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fer</a:t>
            </a:r>
            <a:r>
              <a:rPr lang="en-US" b="0" i="0" u="sng" strike="noStrike" kern="1200" cap="none" spc="0" baseline="0" dirty="0">
                <a:solidFill>
                  <a:srgbClr val="000000"/>
                </a:solidFill>
                <a:uFillTx/>
                <a:latin typeface="Liberation Serif" pitchFamily="18"/>
                <a:ea typeface="Microsoft YaHei" pitchFamily="2"/>
                <a:cs typeface="Mangal" pitchFamily="2"/>
              </a:rPr>
              <a:t> et du zinc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xmlns="" id="{85C100A0-BC97-4C20-AF69-5F72B7C95B24}"/>
              </a:ext>
            </a:extLst>
          </p:cNvPr>
          <p:cNvCxnSpPr/>
          <p:nvPr/>
        </p:nvCxnSpPr>
        <p:spPr>
          <a:xfrm>
            <a:off x="425302" y="2806995"/>
            <a:ext cx="1052624" cy="25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xmlns="" id="{F3BE7994-7750-494A-AB65-E0DD57E1FA52}"/>
              </a:ext>
            </a:extLst>
          </p:cNvPr>
          <p:cNvCxnSpPr/>
          <p:nvPr/>
        </p:nvCxnSpPr>
        <p:spPr>
          <a:xfrm>
            <a:off x="425302" y="3415257"/>
            <a:ext cx="1052624" cy="25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071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F6C02A0F-B62D-4E79-BAF4-8C8E402C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81C31423-DAB8-4243-9518-84AF504A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586891280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122</Words>
  <Application>Microsoft Macintosh PowerPoint</Application>
  <PresentationFormat>Personnalisé</PresentationFormat>
  <Paragraphs>31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Calibri</vt:lpstr>
      <vt:lpstr>Calibri Light</vt:lpstr>
      <vt:lpstr>Liberation Serif</vt:lpstr>
      <vt:lpstr>Mangal</vt:lpstr>
      <vt:lpstr>Microsoft YaHei</vt:lpstr>
      <vt:lpstr>Titre</vt:lpstr>
      <vt:lpstr>texte</vt:lpstr>
      <vt:lpstr>Merci</vt:lpstr>
      <vt:lpstr>Corrosion humide des métaux</vt:lpstr>
      <vt:lpstr>Corrosion humide d’une épave</vt:lpstr>
      <vt:lpstr>Etude thermodynamique du fer dans l’eau</vt:lpstr>
      <vt:lpstr>Courbe intensité potentielle du fer dans l’eau</vt:lpstr>
      <vt:lpstr>Corrosion différentielle </vt:lpstr>
      <vt:lpstr>Corrosion galvanique</vt:lpstr>
      <vt:lpstr>Aération différentielle</vt:lpstr>
      <vt:lpstr>Protection par isolement</vt:lpstr>
      <vt:lpstr>Anode sacrificielle</vt:lpstr>
      <vt:lpstr>Merci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25</cp:revision>
  <cp:lastPrinted>2015-03-31T14:07:15Z</cp:lastPrinted>
  <dcterms:created xsi:type="dcterms:W3CDTF">2020-03-24T08:48:58Z</dcterms:created>
  <dcterms:modified xsi:type="dcterms:W3CDTF">2021-06-23T13:44:25Z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