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20"/>
  </p:notesMasterIdLst>
  <p:sldIdLst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58" r:id="rId19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92" autoAdjust="0"/>
    <p:restoredTop sz="94644"/>
  </p:normalViewPr>
  <p:slideViewPr>
    <p:cSldViewPr snapToGrid="0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21" y="1616763"/>
            <a:ext cx="7543800" cy="1088404"/>
          </a:xfrm>
        </p:spPr>
        <p:txBody>
          <a:bodyPr>
            <a:normAutofit/>
          </a:bodyPr>
          <a:lstStyle/>
          <a:p>
            <a:r>
              <a:rPr lang="fr-FR" dirty="0"/>
              <a:t>Liaisons chimiques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32F299C-45A2-42CC-8ADB-1AC281A3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E0727A64-ABE8-4925-B0CA-265708F79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932" y="42078"/>
            <a:ext cx="7543800" cy="694497"/>
          </a:xfrm>
        </p:spPr>
        <p:txBody>
          <a:bodyPr/>
          <a:lstStyle/>
          <a:p>
            <a:r>
              <a:rPr lang="fr-FR" dirty="0"/>
              <a:t>Énergie des liaisons covalentes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xmlns="" id="{6B23E28C-CB60-4E9D-9FB5-A864F21A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853698"/>
              </p:ext>
            </p:extLst>
          </p:nvPr>
        </p:nvGraphicFramePr>
        <p:xfrm>
          <a:off x="290842" y="1421714"/>
          <a:ext cx="8562316" cy="23016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0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92144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Type de liaison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Exemple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Énergie typique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4290">
                <a:tc rowSpan="3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covalente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+mj-lt"/>
                        </a:rPr>
                        <a:t>C — C  </a:t>
                      </a:r>
                      <a:endParaRPr lang="fr-FR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300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429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C = 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600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52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triple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 ≡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+mj-lt"/>
                        </a:rPr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900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655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E7A9D2DA-CFC9-4113-A49B-4926830F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716DA51-EB31-4302-BC53-E3CD129D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du paracétamol</a:t>
            </a:r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xmlns="" id="{131C4300-EF63-4EB6-8860-4B3C7F9AF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89896"/>
              </p:ext>
            </p:extLst>
          </p:nvPr>
        </p:nvGraphicFramePr>
        <p:xfrm>
          <a:off x="115094" y="963212"/>
          <a:ext cx="8892209" cy="335572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8147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73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844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947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0547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636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2910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385537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398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Para-</a:t>
                      </a:r>
                      <a:r>
                        <a:rPr lang="fr-FR" dirty="0" err="1"/>
                        <a:t>aminophénol</a:t>
                      </a:r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Anhydride acétique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Paracétamol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Acide acétique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320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29364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sz="1600" dirty="0"/>
                    </a:p>
                    <a:p>
                      <a:pPr algn="ctr"/>
                      <a:endParaRPr lang="fr-FR" sz="1600" dirty="0"/>
                    </a:p>
                    <a:p>
                      <a:pPr algn="ctr"/>
                      <a:endParaRPr lang="fr-FR" sz="1600" i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6" name="Groupe 5">
            <a:extLst>
              <a:ext uri="{FF2B5EF4-FFF2-40B4-BE49-F238E27FC236}">
                <a16:creationId xmlns:a16="http://schemas.microsoft.com/office/drawing/2014/main" xmlns="" id="{39CCE95C-801C-46C8-9D36-97E6277EB4F8}"/>
              </a:ext>
            </a:extLst>
          </p:cNvPr>
          <p:cNvGrpSpPr/>
          <p:nvPr/>
        </p:nvGrpSpPr>
        <p:grpSpPr>
          <a:xfrm>
            <a:off x="115094" y="1021737"/>
            <a:ext cx="8919234" cy="3274647"/>
            <a:chOff x="193675" y="1501775"/>
            <a:chExt cx="11586268" cy="3922713"/>
          </a:xfrm>
        </p:grpSpPr>
        <p:pic>
          <p:nvPicPr>
            <p:cNvPr id="7" name="Picture 10" descr="RÃ©sultat de recherche d'images pour &quot;anhydride acÃ©tique&quot;">
              <a:extLst>
                <a:ext uri="{FF2B5EF4-FFF2-40B4-BE49-F238E27FC236}">
                  <a16:creationId xmlns:a16="http://schemas.microsoft.com/office/drawing/2014/main" xmlns="" id="{E6812FE2-FE8C-4D77-B869-091A3BAF8F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5163" y="1679575"/>
              <a:ext cx="2009775" cy="121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6" descr="RÃ©sultat de recherche d'images pour &quot;acetic acid formula&quot;">
              <a:extLst>
                <a:ext uri="{FF2B5EF4-FFF2-40B4-BE49-F238E27FC236}">
                  <a16:creationId xmlns:a16="http://schemas.microsoft.com/office/drawing/2014/main" xmlns="" id="{EA4F46FC-5C80-4C1C-A4E8-006BF41FDB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5850" y="1560513"/>
              <a:ext cx="1665288" cy="143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8AAA6E4C-AEB1-42DB-AD4C-B5AD3530CB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9" t="64494" r="68137" b="8167"/>
            <a:stretch>
              <a:fillRect/>
            </a:stretch>
          </p:blipFill>
          <p:spPr bwMode="auto">
            <a:xfrm>
              <a:off x="1438276" y="4484688"/>
              <a:ext cx="927101" cy="93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FFE49CC9-A6F7-4AB2-A589-A2FA9F308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9" t="64494" r="68137" b="8167"/>
            <a:stretch>
              <a:fillRect/>
            </a:stretch>
          </p:blipFill>
          <p:spPr bwMode="auto">
            <a:xfrm>
              <a:off x="3453561" y="4467226"/>
              <a:ext cx="927101" cy="93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6D0ADAEB-7649-49D8-A051-6AFE9871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69" t="32262" r="35597" b="40401"/>
            <a:stretch>
              <a:fillRect/>
            </a:stretch>
          </p:blipFill>
          <p:spPr bwMode="auto">
            <a:xfrm>
              <a:off x="3842499" y="4046538"/>
              <a:ext cx="952500" cy="938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4F4EA700-5533-452B-A950-D821C449F2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69" t="1834" r="35597" b="72176"/>
            <a:stretch>
              <a:fillRect/>
            </a:stretch>
          </p:blipFill>
          <p:spPr bwMode="auto">
            <a:xfrm>
              <a:off x="4277473" y="4532313"/>
              <a:ext cx="954086" cy="89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15" descr="Image associÃ©e">
              <a:extLst>
                <a:ext uri="{FF2B5EF4-FFF2-40B4-BE49-F238E27FC236}">
                  <a16:creationId xmlns:a16="http://schemas.microsoft.com/office/drawing/2014/main" xmlns="" id="{21BF66F3-E45B-4C21-ACCF-95AA063A26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8281" y="4403082"/>
              <a:ext cx="884237" cy="884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7" descr="Image associÃ©e">
              <a:extLst>
                <a:ext uri="{FF2B5EF4-FFF2-40B4-BE49-F238E27FC236}">
                  <a16:creationId xmlns:a16="http://schemas.microsoft.com/office/drawing/2014/main" xmlns="" id="{84988A52-946F-47FF-9E89-C9C4AC8D2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95706" y="4396732"/>
              <a:ext cx="884237" cy="884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2" descr="RÃ©sultat de recherche d'images pour &quot;para-aminophÃ©nol&quot;">
              <a:extLst>
                <a:ext uri="{FF2B5EF4-FFF2-40B4-BE49-F238E27FC236}">
                  <a16:creationId xmlns:a16="http://schemas.microsoft.com/office/drawing/2014/main" xmlns="" id="{83B135DD-B2C5-4562-85B9-3A09E57D2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675" y="1620838"/>
              <a:ext cx="2495550" cy="1314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4" descr="RÃ©sultat de recherche d'images pour &quot;paracÃ©tamol&quot;">
              <a:extLst>
                <a:ext uri="{FF2B5EF4-FFF2-40B4-BE49-F238E27FC236}">
                  <a16:creationId xmlns:a16="http://schemas.microsoft.com/office/drawing/2014/main" xmlns="" id="{301C585B-71CC-4A6C-ABB9-412F62A0E2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8475" y="1501775"/>
              <a:ext cx="2890838" cy="155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AC2D9813-1319-4E99-9E30-FF454B1773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9" t="64494" r="68137" b="8167"/>
            <a:stretch>
              <a:fillRect/>
            </a:stretch>
          </p:blipFill>
          <p:spPr bwMode="auto">
            <a:xfrm>
              <a:off x="7830344" y="4278999"/>
              <a:ext cx="927101" cy="938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Image 33">
              <a:extLst>
                <a:ext uri="{FF2B5EF4-FFF2-40B4-BE49-F238E27FC236}">
                  <a16:creationId xmlns:a16="http://schemas.microsoft.com/office/drawing/2014/main" xmlns="" id="{DE3B5BE5-B3B2-4483-B95E-A24FCC0A3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863" y="4132263"/>
              <a:ext cx="774699" cy="777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26300DC8-8A2C-4169-B298-FC3FDBD69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941" t="64494" r="1920" b="8167"/>
            <a:stretch>
              <a:fillRect/>
            </a:stretch>
          </p:blipFill>
          <p:spPr bwMode="auto">
            <a:xfrm>
              <a:off x="439738" y="4459287"/>
              <a:ext cx="1066800" cy="938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5F08D389-A943-4880-820E-BC5EE8A47F04}"/>
              </a:ext>
            </a:extLst>
          </p:cNvPr>
          <p:cNvSpPr txBox="1"/>
          <p:nvPr/>
        </p:nvSpPr>
        <p:spPr>
          <a:xfrm>
            <a:off x="106795" y="2760971"/>
            <a:ext cx="217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5,50g = 5,04.10</a:t>
            </a:r>
            <a:r>
              <a:rPr lang="fr-FR" baseline="30000" dirty="0">
                <a:latin typeface="+mj-lt"/>
              </a:rPr>
              <a:t>-2</a:t>
            </a:r>
            <a:r>
              <a:rPr lang="fr-FR" dirty="0">
                <a:latin typeface="+mj-lt"/>
              </a:rPr>
              <a:t>mol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EDB17CF1-30AB-4A68-81A7-6F7CEA3A1D55}"/>
              </a:ext>
            </a:extLst>
          </p:cNvPr>
          <p:cNvSpPr txBox="1"/>
          <p:nvPr/>
        </p:nvSpPr>
        <p:spPr>
          <a:xfrm>
            <a:off x="2383589" y="2739623"/>
            <a:ext cx="217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~7,0mL = 7,4.10</a:t>
            </a:r>
            <a:r>
              <a:rPr lang="fr-FR" baseline="30000" dirty="0">
                <a:latin typeface="+mj-lt"/>
              </a:rPr>
              <a:t>-2</a:t>
            </a:r>
            <a:r>
              <a:rPr lang="fr-FR" dirty="0">
                <a:latin typeface="+mj-lt"/>
              </a:rPr>
              <a:t>mol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xmlns="" id="{4AFACA08-65F0-4682-9636-6769E27E0FAA}"/>
              </a:ext>
            </a:extLst>
          </p:cNvPr>
          <p:cNvCxnSpPr>
            <a:cxnSpLocks/>
          </p:cNvCxnSpPr>
          <p:nvPr/>
        </p:nvCxnSpPr>
        <p:spPr>
          <a:xfrm>
            <a:off x="4210493" y="1626781"/>
            <a:ext cx="92503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6A0ACE59-119A-487F-9849-9DE24F7B35DF}"/>
              </a:ext>
            </a:extLst>
          </p:cNvPr>
          <p:cNvSpPr txBox="1"/>
          <p:nvPr/>
        </p:nvSpPr>
        <p:spPr>
          <a:xfrm>
            <a:off x="1786893" y="1377387"/>
            <a:ext cx="398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+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E6AA66D6-6921-4949-BA60-D95624DD1557}"/>
              </a:ext>
            </a:extLst>
          </p:cNvPr>
          <p:cNvSpPr txBox="1"/>
          <p:nvPr/>
        </p:nvSpPr>
        <p:spPr>
          <a:xfrm>
            <a:off x="7366493" y="1487764"/>
            <a:ext cx="398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556333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4F4BADA-D7EE-4B4B-B76D-064C32BC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1E628DE2-4E1B-42BE-A2CA-3488EBE3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Spectroscopie infrarouge</a:t>
            </a:r>
          </a:p>
        </p:txBody>
      </p:sp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xmlns="" id="{22FEA5AC-5473-4BEA-8F57-82EFD8FE9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6" b="2762"/>
          <a:stretch>
            <a:fillRect/>
          </a:stretch>
        </p:blipFill>
        <p:spPr>
          <a:xfrm>
            <a:off x="2358188" y="1068986"/>
            <a:ext cx="6785811" cy="32693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C58AC30-2C68-47C0-A26D-61F039DE7065}"/>
              </a:ext>
            </a:extLst>
          </p:cNvPr>
          <p:cNvSpPr/>
          <p:nvPr/>
        </p:nvSpPr>
        <p:spPr>
          <a:xfrm>
            <a:off x="6283280" y="1141234"/>
            <a:ext cx="2673998" cy="3056297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D2969CEB-40EE-4DCE-8105-DAF24EAC28B9}"/>
              </a:ext>
            </a:extLst>
          </p:cNvPr>
          <p:cNvSpPr txBox="1"/>
          <p:nvPr/>
        </p:nvSpPr>
        <p:spPr>
          <a:xfrm>
            <a:off x="7425344" y="3493878"/>
            <a:ext cx="1531934" cy="70788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Empreinte digitale</a:t>
            </a:r>
            <a:endParaRPr lang="fr-FR" sz="1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999EE2E3-C996-4B79-9975-33AF2822A104}"/>
              </a:ext>
            </a:extLst>
          </p:cNvPr>
          <p:cNvSpPr txBox="1"/>
          <p:nvPr/>
        </p:nvSpPr>
        <p:spPr>
          <a:xfrm>
            <a:off x="4160036" y="3217696"/>
            <a:ext cx="1261232" cy="646331"/>
          </a:xfrm>
          <a:prstGeom prst="rect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fr-FR" dirty="0"/>
              <a:t>N-H amine primaire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xmlns="" id="{DCA89E48-FB68-4ACD-BBE3-08C5BAEAAFAC}"/>
              </a:ext>
            </a:extLst>
          </p:cNvPr>
          <p:cNvCxnSpPr>
            <a:cxnSpLocks/>
          </p:cNvCxnSpPr>
          <p:nvPr/>
        </p:nvCxnSpPr>
        <p:spPr>
          <a:xfrm flipH="1" flipV="1">
            <a:off x="3471910" y="3337208"/>
            <a:ext cx="713157" cy="11520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xmlns="" id="{CC2DF0B1-AE09-455E-994B-210389EFCF2E}"/>
              </a:ext>
            </a:extLst>
          </p:cNvPr>
          <p:cNvCxnSpPr>
            <a:cxnSpLocks/>
          </p:cNvCxnSpPr>
          <p:nvPr/>
        </p:nvCxnSpPr>
        <p:spPr>
          <a:xfrm flipH="1" flipV="1">
            <a:off x="3446879" y="3597442"/>
            <a:ext cx="713157" cy="11520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RÃ©sultat de recherche d'images pour &quot;para-aminophÃ©nol&quot;">
            <a:extLst>
              <a:ext uri="{FF2B5EF4-FFF2-40B4-BE49-F238E27FC236}">
                <a16:creationId xmlns:a16="http://schemas.microsoft.com/office/drawing/2014/main" xmlns="" id="{E46A052A-E441-4229-8D38-E41118752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22" y="1266174"/>
            <a:ext cx="2021223" cy="106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ZoneTexte 11">
            <a:extLst>
              <a:ext uri="{FF2B5EF4-FFF2-40B4-BE49-F238E27FC236}">
                <a16:creationId xmlns:a16="http://schemas.microsoft.com/office/drawing/2014/main" xmlns="" id="{DE7E69E6-AEF8-4D84-AA03-414E2369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701" y="2631999"/>
            <a:ext cx="299307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fr-FR" altLang="fr-FR" sz="2400" dirty="0"/>
              <a:t>Para-aminophénol</a:t>
            </a:r>
          </a:p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138165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B2C76B4-057A-440E-8A3A-E9AF36E5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2B35316-2E97-4013-B6E6-467E86C2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infrarouge</a:t>
            </a:r>
          </a:p>
        </p:txBody>
      </p:sp>
      <p:pic>
        <p:nvPicPr>
          <p:cNvPr id="4" name="Image 14">
            <a:extLst>
              <a:ext uri="{FF2B5EF4-FFF2-40B4-BE49-F238E27FC236}">
                <a16:creationId xmlns:a16="http://schemas.microsoft.com/office/drawing/2014/main" xmlns="" id="{6AE7877E-351A-4009-80C1-EE337A6C1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5" b="21806"/>
          <a:stretch>
            <a:fillRect/>
          </a:stretch>
        </p:blipFill>
        <p:spPr bwMode="auto">
          <a:xfrm>
            <a:off x="343567" y="753109"/>
            <a:ext cx="8206761" cy="3934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A5C1BA6-135D-4873-9425-8A413D645DA5}"/>
              </a:ext>
            </a:extLst>
          </p:cNvPr>
          <p:cNvSpPr/>
          <p:nvPr/>
        </p:nvSpPr>
        <p:spPr>
          <a:xfrm>
            <a:off x="5367192" y="807041"/>
            <a:ext cx="3183135" cy="3679234"/>
          </a:xfrm>
          <a:prstGeom prst="rect">
            <a:avLst/>
          </a:prstGeom>
          <a:solidFill>
            <a:schemeClr val="bg2">
              <a:lumMod val="75000"/>
              <a:alpha val="30196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Empreinte digitale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1EA19F9-C2E0-4F13-91F8-0989101734C9}"/>
              </a:ext>
            </a:extLst>
          </p:cNvPr>
          <p:cNvSpPr/>
          <p:nvPr/>
        </p:nvSpPr>
        <p:spPr>
          <a:xfrm>
            <a:off x="727291" y="807040"/>
            <a:ext cx="4639902" cy="367923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solidFill>
                  <a:srgbClr val="C00000"/>
                </a:solidFill>
              </a:rPr>
              <a:t>Bandes caractéristiques</a:t>
            </a:r>
          </a:p>
        </p:txBody>
      </p:sp>
      <p:pic>
        <p:nvPicPr>
          <p:cNvPr id="7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xmlns="" id="{469FDCED-2995-4BA0-B073-9A953E9D0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251" y="24825"/>
            <a:ext cx="1356044" cy="72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399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CEF2383-1A3B-4697-9B8F-FC0A61AD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7B3C812B-81DA-4765-B2B4-D5FA6909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infrarouge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A0260340-F54E-44A4-8DD2-EBB0C244B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65" y="769938"/>
            <a:ext cx="8576166" cy="3973801"/>
          </a:xfrm>
          <a:prstGeom prst="rect">
            <a:avLst/>
          </a:prstGeom>
        </p:spPr>
      </p:pic>
      <p:pic>
        <p:nvPicPr>
          <p:cNvPr id="5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xmlns="" id="{F0ED04DD-D3FA-4521-BF95-6A86049F6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251" y="24825"/>
            <a:ext cx="1356044" cy="72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76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E5C0867-FABC-4ACD-BCE1-A4057FA8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6BBC4DBC-E292-41F5-B43B-7D56F6B30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Sites donneurs et accepteurs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A9376C26-C24E-4A72-9FBA-D1574E311670}"/>
              </a:ext>
            </a:extLst>
          </p:cNvPr>
          <p:cNvSpPr txBox="1"/>
          <p:nvPr/>
        </p:nvSpPr>
        <p:spPr>
          <a:xfrm>
            <a:off x="373553" y="1034827"/>
            <a:ext cx="75438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Site donneur de doublet d’électrons </a:t>
            </a:r>
            <a:r>
              <a:rPr lang="fr-FR" sz="2400" dirty="0"/>
              <a:t>(nucléophile) </a:t>
            </a:r>
            <a:r>
              <a:rPr lang="fr-FR" sz="2400" b="1" dirty="0"/>
              <a:t>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fr-FR" altLang="fr-FR" sz="2400" dirty="0"/>
              <a:t>Atome porteur de doublet non liant</a:t>
            </a:r>
            <a:endParaRPr lang="fr-FR" altLang="fr-FR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altLang="fr-FR" sz="2400" dirty="0">
                <a:solidFill>
                  <a:srgbClr val="00B050"/>
                </a:solidFill>
              </a:rPr>
              <a:t> </a:t>
            </a:r>
            <a:r>
              <a:rPr lang="fr-FR" altLang="fr-FR" sz="2400" dirty="0"/>
              <a:t>Atome</a:t>
            </a:r>
            <a:r>
              <a:rPr lang="fr-FR" altLang="fr-FR" sz="2400" dirty="0">
                <a:solidFill>
                  <a:srgbClr val="00B050"/>
                </a:solidFill>
              </a:rPr>
              <a:t> </a:t>
            </a:r>
            <a:r>
              <a:rPr lang="fr-FR" altLang="fr-FR" sz="2400" dirty="0"/>
              <a:t>porteur d’une charge négative (potentiellement partielle)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fr-FR" sz="2400" dirty="0"/>
              <a:t>Liaison multiple </a:t>
            </a:r>
          </a:p>
          <a:p>
            <a:endParaRPr lang="fr-FR" sz="1200" dirty="0"/>
          </a:p>
          <a:p>
            <a:r>
              <a:rPr lang="fr-FR" sz="2400" b="1" dirty="0"/>
              <a:t>Site accepteur de doublet d’électrons </a:t>
            </a:r>
            <a:r>
              <a:rPr lang="fr-FR" sz="2400" dirty="0"/>
              <a:t>(électrophile) 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400" dirty="0">
                <a:solidFill>
                  <a:srgbClr val="00B050"/>
                </a:solidFill>
              </a:rPr>
              <a:t> </a:t>
            </a:r>
            <a:r>
              <a:rPr lang="fr-FR" altLang="fr-FR" sz="2400" dirty="0"/>
              <a:t>Atome porteur d’une charge positive (potentiellement partielle)</a:t>
            </a:r>
            <a:endParaRPr lang="fr-FR" sz="2400" dirty="0">
              <a:solidFill>
                <a:srgbClr val="00B050"/>
              </a:solidFill>
            </a:endParaRP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28086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7601492-E9FB-4BD3-B462-7BCCBF07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F7BF399-0448-47C6-8931-6EE497A3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Cristal ionique : </a:t>
            </a:r>
            <a:r>
              <a:rPr lang="fr-FR" dirty="0" err="1"/>
              <a:t>NaCl</a:t>
            </a:r>
            <a:endParaRPr lang="fr-FR" dirty="0"/>
          </a:p>
        </p:txBody>
      </p:sp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xmlns="" id="{7BC6928B-2BC2-43EB-8FD9-8F8709CD1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098"/>
          <a:stretch/>
        </p:blipFill>
        <p:spPr>
          <a:xfrm>
            <a:off x="915800" y="1324607"/>
            <a:ext cx="7312400" cy="266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5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78E8E17-E069-45B5-83F5-D66C41E5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76BB3A0-337A-48EE-9A84-787513C5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Énergie liaison ionique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C6DAC017-B5DA-4D9D-A2EC-DD10A97DE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21004"/>
              </p:ext>
            </p:extLst>
          </p:nvPr>
        </p:nvGraphicFramePr>
        <p:xfrm>
          <a:off x="290842" y="1193114"/>
          <a:ext cx="8562316" cy="27588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0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92144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Type de liaison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Exemple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Énergie typique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4290">
                <a:tc rowSpan="3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covalente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+mj-lt"/>
                        </a:rPr>
                        <a:t>C — C  </a:t>
                      </a:r>
                      <a:endParaRPr lang="fr-FR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300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429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C = 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600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52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triple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 ≡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+mj-lt"/>
                        </a:rPr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900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4525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ionique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NaCl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700 – 100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00988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34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78E8E17-E069-45B5-83F5-D66C41E5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76BB3A0-337A-48EE-9A84-787513C5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Énergie liaison Van der Waals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C6DAC017-B5DA-4D9D-A2EC-DD10A97DE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141660"/>
              </p:ext>
            </p:extLst>
          </p:nvPr>
        </p:nvGraphicFramePr>
        <p:xfrm>
          <a:off x="290842" y="964514"/>
          <a:ext cx="8562316" cy="32160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0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92144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Type de liaison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Exemple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Énergie typique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4290">
                <a:tc rowSpan="3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covalente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+mj-lt"/>
                        </a:rPr>
                        <a:t>C — C  </a:t>
                      </a:r>
                      <a:endParaRPr lang="fr-FR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300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429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C = 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600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52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triple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 ≡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+mj-lt"/>
                        </a:rPr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900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4525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ionique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NaCl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700 – 100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00988078"/>
                  </a:ext>
                </a:extLst>
              </a:tr>
              <a:tr h="384525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de Van der Waals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Gecko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33197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862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CCA3B19-CE81-4262-B996-24BE3FE5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095AD071-9F2E-412C-BDF3-D889823C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524" y="182479"/>
            <a:ext cx="8468952" cy="694497"/>
          </a:xfrm>
        </p:spPr>
        <p:txBody>
          <a:bodyPr/>
          <a:lstStyle/>
          <a:p>
            <a:r>
              <a:rPr lang="fr-FR" dirty="0"/>
              <a:t>Gecko et liaison de Van der Waals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xmlns="" id="{A62F0A70-7B0C-4A92-9DB6-918A10DCE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1150" y="847843"/>
            <a:ext cx="5614194" cy="38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3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89B4316D-0374-45F7-99F7-D4C88403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6372255D-D979-4435-8CA3-F536D94D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Températures d’ébullition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xmlns="" id="{4A85823B-2187-487A-9B3D-971A055368AB}"/>
              </a:ext>
            </a:extLst>
          </p:cNvPr>
          <p:cNvGrpSpPr/>
          <p:nvPr/>
        </p:nvGrpSpPr>
        <p:grpSpPr>
          <a:xfrm>
            <a:off x="2427648" y="838875"/>
            <a:ext cx="4484196" cy="3764619"/>
            <a:chOff x="5041901" y="325081"/>
            <a:chExt cx="5732462" cy="4883150"/>
          </a:xfrm>
        </p:grpSpPr>
        <p:sp>
          <p:nvSpPr>
            <p:cNvPr id="5" name="ZoneTexte 9">
              <a:extLst>
                <a:ext uri="{FF2B5EF4-FFF2-40B4-BE49-F238E27FC236}">
                  <a16:creationId xmlns:a16="http://schemas.microsoft.com/office/drawing/2014/main" xmlns="" id="{87A1E552-1044-4398-8182-80A370337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0401" y="4631676"/>
              <a:ext cx="249396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fr-FR" altLang="fr-FR" dirty="0"/>
                <a:t>Rayon atomique</a:t>
              </a:r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xmlns="" id="{2873A7D5-42DD-49D9-A233-2C2274B0C7C9}"/>
                </a:ext>
              </a:extLst>
            </p:cNvPr>
            <p:cNvGrpSpPr/>
            <p:nvPr/>
          </p:nvGrpSpPr>
          <p:grpSpPr>
            <a:xfrm>
              <a:off x="5041901" y="325081"/>
              <a:ext cx="3238500" cy="4883150"/>
              <a:chOff x="5972209" y="990761"/>
              <a:chExt cx="3238500" cy="4883150"/>
            </a:xfrm>
          </p:grpSpPr>
          <p:pic>
            <p:nvPicPr>
              <p:cNvPr id="8" name="Espace réservé du contenu 5">
                <a:extLst>
                  <a:ext uri="{FF2B5EF4-FFF2-40B4-BE49-F238E27FC236}">
                    <a16:creationId xmlns:a16="http://schemas.microsoft.com/office/drawing/2014/main" xmlns="" id="{0CCE25A0-3306-4F84-9D0C-48237074A3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72209" y="990761"/>
                <a:ext cx="3238500" cy="488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8959A9AD-478D-4F9A-896F-459F532440D7}"/>
                  </a:ext>
                </a:extLst>
              </p:cNvPr>
              <p:cNvSpPr/>
              <p:nvPr/>
            </p:nvSpPr>
            <p:spPr>
              <a:xfrm>
                <a:off x="6387549" y="1303338"/>
                <a:ext cx="954156" cy="4464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7" name="Connecteur droit avec flèche 6">
              <a:extLst>
                <a:ext uri="{FF2B5EF4-FFF2-40B4-BE49-F238E27FC236}">
                  <a16:creationId xmlns:a16="http://schemas.microsoft.com/office/drawing/2014/main" xmlns="" id="{229F5D01-A175-4FE5-B36B-CB6A0C3FB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2299" y="5127522"/>
              <a:ext cx="3240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1228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1725BFA-1895-4FEB-8BC7-38DE26D7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CAC68440-15DD-4103-999C-BF42D2C7E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919"/>
            <a:ext cx="9144000" cy="694497"/>
          </a:xfrm>
        </p:spPr>
        <p:txBody>
          <a:bodyPr/>
          <a:lstStyle/>
          <a:p>
            <a:r>
              <a:rPr lang="fr-FR" sz="4400" dirty="0"/>
              <a:t>Température d’ébullition, cas de l’eau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64E43B98-B82B-472A-821F-02E83B783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483" y="915291"/>
            <a:ext cx="2513067" cy="385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0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D42A961-1084-4ED8-9CE2-53010138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CAEC1F61-DDC8-47B1-ADB8-80EFE2897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Énergie liaison hydrogène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18721D2A-240F-4FD4-AC98-E768789CC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50855"/>
              </p:ext>
            </p:extLst>
          </p:nvPr>
        </p:nvGraphicFramePr>
        <p:xfrm>
          <a:off x="290842" y="873302"/>
          <a:ext cx="8562316" cy="36732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0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405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92144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Type de liaison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Exemple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Énergie typique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4290">
                <a:tc rowSpan="3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covalente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+mj-lt"/>
                        </a:rPr>
                        <a:t>C — C  </a:t>
                      </a:r>
                      <a:endParaRPr lang="fr-FR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300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429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C = 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600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52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triple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 ≡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+mj-lt"/>
                        </a:rPr>
                        <a:t> </a:t>
                      </a: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900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4525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ionique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NaCl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700 – 100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00988078"/>
                  </a:ext>
                </a:extLst>
              </a:tr>
              <a:tr h="384525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de Van der Waals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Gecko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33197533"/>
                  </a:ext>
                </a:extLst>
              </a:tr>
              <a:tr h="384525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Liaison hydrogène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glace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50 kJ/mol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18642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57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BBE84F2-28D2-4F08-BDD1-80901EB1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2ED290BF-E658-4D3E-B988-4FE4F900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4379"/>
            <a:ext cx="8915400" cy="694497"/>
          </a:xfrm>
        </p:spPr>
        <p:txBody>
          <a:bodyPr/>
          <a:lstStyle/>
          <a:p>
            <a:r>
              <a:rPr lang="fr-FR" sz="4400" dirty="0"/>
              <a:t>Différence de température de fusion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CCE64918-9E98-4A52-800E-5F4CA8E4E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86" y="1356610"/>
            <a:ext cx="2546209" cy="207168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81E8EB09-A4C4-4DEE-A4E1-A7BB90D5B8C5}"/>
              </a:ext>
            </a:extLst>
          </p:cNvPr>
          <p:cNvSpPr txBox="1"/>
          <p:nvPr/>
        </p:nvSpPr>
        <p:spPr>
          <a:xfrm>
            <a:off x="919531" y="3484367"/>
            <a:ext cx="2546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+mj-lt"/>
              </a:rPr>
              <a:t>Acide fumarique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05E6319C-A245-47F3-A3B1-A00F3767C7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301"/>
          <a:stretch/>
        </p:blipFill>
        <p:spPr>
          <a:xfrm>
            <a:off x="6416879" y="1282646"/>
            <a:ext cx="1508787" cy="231298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296A450F-B6B4-4F5D-885A-58D2AD1E249D}"/>
              </a:ext>
            </a:extLst>
          </p:cNvPr>
          <p:cNvSpPr txBox="1"/>
          <p:nvPr/>
        </p:nvSpPr>
        <p:spPr>
          <a:xfrm>
            <a:off x="5898167" y="3484367"/>
            <a:ext cx="2546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+mj-lt"/>
              </a:rPr>
              <a:t>Acide maléique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F56ECAA-2C32-4C64-99B1-716166F7CF78}"/>
              </a:ext>
            </a:extLst>
          </p:cNvPr>
          <p:cNvSpPr/>
          <p:nvPr/>
        </p:nvSpPr>
        <p:spPr>
          <a:xfrm>
            <a:off x="5879250" y="3998944"/>
            <a:ext cx="2565126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1800" baseline="30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fus</a:t>
            </a:r>
            <a:r>
              <a:rPr lang="fr-FR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(maléique)= 131°C </a:t>
            </a:r>
            <a:endParaRPr lang="fr-FR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E504150-4B96-4294-8F55-86C5C190C143}"/>
              </a:ext>
            </a:extLst>
          </p:cNvPr>
          <p:cNvSpPr/>
          <p:nvPr/>
        </p:nvSpPr>
        <p:spPr>
          <a:xfrm>
            <a:off x="764386" y="4003689"/>
            <a:ext cx="2667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1800" baseline="30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fus</a:t>
            </a:r>
            <a:r>
              <a:rPr lang="fr-FR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(fumarique)= 287°C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0825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</TotalTime>
  <Words>333</Words>
  <Application>Microsoft Macintosh PowerPoint</Application>
  <PresentationFormat>Personnalisé</PresentationFormat>
  <Paragraphs>145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Calibri</vt:lpstr>
      <vt:lpstr>Calibri Light</vt:lpstr>
      <vt:lpstr>Times New Roman</vt:lpstr>
      <vt:lpstr>Wingdings</vt:lpstr>
      <vt:lpstr>Titre</vt:lpstr>
      <vt:lpstr>texte</vt:lpstr>
      <vt:lpstr>Merci</vt:lpstr>
      <vt:lpstr>Liaisons chimiques</vt:lpstr>
      <vt:lpstr>Énergie des liaisons covalentes</vt:lpstr>
      <vt:lpstr>Synthèse du paracétamol</vt:lpstr>
      <vt:lpstr>Spectroscopie infrarouge</vt:lpstr>
      <vt:lpstr>Spectre infrarouge</vt:lpstr>
      <vt:lpstr>Spectre infrarouge </vt:lpstr>
      <vt:lpstr>Sites donneurs et accepteurs</vt:lpstr>
      <vt:lpstr>Cristal ionique : NaCl</vt:lpstr>
      <vt:lpstr>Énergie liaison ionique</vt:lpstr>
      <vt:lpstr>Énergie liaison Van der Waals</vt:lpstr>
      <vt:lpstr>Gecko et liaison de Van der Waals</vt:lpstr>
      <vt:lpstr>Températures d’ébullition</vt:lpstr>
      <vt:lpstr>Température d’ébullition, cas de l’eau</vt:lpstr>
      <vt:lpstr>Énergie liaison hydrogène</vt:lpstr>
      <vt:lpstr>Différence de température de fusion 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41</cp:revision>
  <cp:lastPrinted>2015-03-31T14:07:15Z</cp:lastPrinted>
  <dcterms:created xsi:type="dcterms:W3CDTF">2020-03-24T08:48:58Z</dcterms:created>
  <dcterms:modified xsi:type="dcterms:W3CDTF">2021-06-23T12:41:34Z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