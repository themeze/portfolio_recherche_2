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4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23DC3-CCEC-4185-AA7B-00ED73C37C7B}" type="datetimeFigureOut">
              <a:rPr lang="fr-FR" smtClean="0"/>
              <a:t>27/06/2021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BD19F-E4CF-4C7C-90CC-9FDBC3F9AE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0740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6/27/2021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8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6/27/2021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5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6/27/2021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417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6/27/2021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268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6/27/2021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22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98834"/>
            <a:ext cx="10058400" cy="99805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6/27/2021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828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6/27/2021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70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smtClean="0"/>
              <a:t>6/27/2021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20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6/27/2021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6/27/2021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407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6/27/2021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434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6/27/2021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93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tmp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LC 14 : Molécules d’intérêt biologique</a:t>
            </a:r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cap="none" dirty="0"/>
              <a:t>F</a:t>
            </a:r>
            <a:r>
              <a:rPr lang="fr-FR" cap="none" dirty="0" smtClean="0"/>
              <a:t>rédéric </a:t>
            </a:r>
            <a:r>
              <a:rPr lang="fr-FR" cap="none" dirty="0" err="1" smtClean="0"/>
              <a:t>Assémat</a:t>
            </a:r>
            <a:endParaRPr lang="fr-FR" cap="none" dirty="0"/>
          </a:p>
        </p:txBody>
      </p:sp>
    </p:spTree>
    <p:extLst>
      <p:ext uri="{BB962C8B-B14F-4D97-AF65-F5344CB8AC3E}">
        <p14:creationId xmlns:p14="http://schemas.microsoft.com/office/powerpoint/2010/main" val="2179739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2324" y="-266142"/>
            <a:ext cx="10058400" cy="1450976"/>
          </a:xfrm>
        </p:spPr>
        <p:txBody>
          <a:bodyPr/>
          <a:lstStyle/>
          <a:p>
            <a:r>
              <a:rPr lang="fr-FR" dirty="0" smtClean="0"/>
              <a:t>Acides aminés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0097853" y="6456402"/>
            <a:ext cx="1801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Frédéric </a:t>
            </a:r>
            <a:r>
              <a:rPr lang="fr-FR" dirty="0" err="1"/>
              <a:t>Assémat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21035" y="6456402"/>
            <a:ext cx="690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LC 15</a:t>
            </a:r>
            <a:endParaRPr lang="fr-FR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575921" y="1219104"/>
            <a:ext cx="109027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https://s1.studylibfr.com/store/data/001010550_1-aa11163cca1f84cba1a6155a85bea444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9" t="7378" r="3381" b="16510"/>
          <a:stretch/>
        </p:blipFill>
        <p:spPr bwMode="auto">
          <a:xfrm>
            <a:off x="2290443" y="1431646"/>
            <a:ext cx="7473673" cy="4743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855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2324" y="-266142"/>
            <a:ext cx="10058400" cy="1450976"/>
          </a:xfrm>
        </p:spPr>
        <p:txBody>
          <a:bodyPr/>
          <a:lstStyle/>
          <a:p>
            <a:r>
              <a:rPr lang="fr-FR" dirty="0" smtClean="0"/>
              <a:t>Aspartame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0097853" y="6456402"/>
            <a:ext cx="1801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Frédéric </a:t>
            </a:r>
            <a:r>
              <a:rPr lang="fr-FR" dirty="0" err="1"/>
              <a:t>Assémat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21035" y="6456402"/>
            <a:ext cx="690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LC 15</a:t>
            </a:r>
            <a:endParaRPr lang="fr-FR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575921" y="1219104"/>
            <a:ext cx="109027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lipse 7"/>
          <p:cNvSpPr/>
          <p:nvPr/>
        </p:nvSpPr>
        <p:spPr>
          <a:xfrm>
            <a:off x="4611385" y="4430664"/>
            <a:ext cx="880893" cy="8198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5"/>
          <p:cNvSpPr/>
          <p:nvPr/>
        </p:nvSpPr>
        <p:spPr>
          <a:xfrm>
            <a:off x="6826819" y="3195894"/>
            <a:ext cx="2185993" cy="204171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4"/>
          <p:cNvSpPr/>
          <p:nvPr/>
        </p:nvSpPr>
        <p:spPr>
          <a:xfrm>
            <a:off x="2758203" y="3119120"/>
            <a:ext cx="1590278" cy="203767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6"/>
          <p:cNvSpPr/>
          <p:nvPr/>
        </p:nvSpPr>
        <p:spPr>
          <a:xfrm rot="19879130">
            <a:off x="5094594" y="2550435"/>
            <a:ext cx="1296675" cy="253130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3" name="Picture 2" descr="RÃ©sultat de recherche d'images pour &quot;aspartame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523" y="1436255"/>
            <a:ext cx="6141957" cy="3659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60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2324" y="-266142"/>
            <a:ext cx="10058400" cy="1450976"/>
          </a:xfrm>
        </p:spPr>
        <p:txBody>
          <a:bodyPr/>
          <a:lstStyle/>
          <a:p>
            <a:r>
              <a:rPr lang="fr-FR" dirty="0" smtClean="0"/>
              <a:t>Hydrolyse de l’aspartame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0097853" y="6456402"/>
            <a:ext cx="1801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Frédéric </a:t>
            </a:r>
            <a:r>
              <a:rPr lang="fr-FR" dirty="0" err="1"/>
              <a:t>Assémat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21035" y="6456402"/>
            <a:ext cx="690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LC 15</a:t>
            </a:r>
            <a:endParaRPr lang="fr-FR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575921" y="1219104"/>
            <a:ext cx="109027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504492" y="2815501"/>
            <a:ext cx="8029575" cy="3025534"/>
            <a:chOff x="2068278" y="2290715"/>
            <a:chExt cx="8029575" cy="302553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b="59751"/>
            <a:stretch/>
          </p:blipFill>
          <p:spPr>
            <a:xfrm>
              <a:off x="2068278" y="2294510"/>
              <a:ext cx="8029575" cy="1196113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2237173" y="3653903"/>
              <a:ext cx="7860680" cy="16623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51899" y="2290715"/>
              <a:ext cx="1420428" cy="16623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31096" y="3171457"/>
              <a:ext cx="1420428" cy="16623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Rectangle 14"/>
            <p:cNvSpPr/>
            <p:nvPr/>
          </p:nvSpPr>
          <p:spPr>
            <a:xfrm rot="3080035">
              <a:off x="6472523" y="3055509"/>
              <a:ext cx="108000" cy="10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Rectangle 15"/>
            <p:cNvSpPr/>
            <p:nvPr/>
          </p:nvSpPr>
          <p:spPr>
            <a:xfrm rot="3080035">
              <a:off x="7218375" y="2966805"/>
              <a:ext cx="108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2666693" y="3630440"/>
            <a:ext cx="82800" cy="708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/>
          <p:cNvSpPr/>
          <p:nvPr/>
        </p:nvSpPr>
        <p:spPr>
          <a:xfrm>
            <a:off x="7196182" y="3230076"/>
            <a:ext cx="325121" cy="449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088113" y="3561059"/>
            <a:ext cx="12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197" y="3225521"/>
            <a:ext cx="431832" cy="2914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21222" y="33610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/>
              <a:t>+</a:t>
            </a:r>
            <a:endParaRPr lang="fr-FR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2194022" y="4255278"/>
            <a:ext cx="1204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Aspartame</a:t>
            </a:r>
            <a:endParaRPr lang="fr-FR" dirty="0"/>
          </a:p>
        </p:txBody>
      </p:sp>
      <p:sp>
        <p:nvSpPr>
          <p:cNvPr id="30" name="TextBox 29"/>
          <p:cNvSpPr txBox="1"/>
          <p:nvPr/>
        </p:nvSpPr>
        <p:spPr>
          <a:xfrm>
            <a:off x="5694937" y="4255278"/>
            <a:ext cx="1501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Phénylanaline</a:t>
            </a:r>
            <a:endParaRPr lang="fr-FR" dirty="0"/>
          </a:p>
        </p:txBody>
      </p:sp>
      <p:sp>
        <p:nvSpPr>
          <p:cNvPr id="31" name="TextBox 30"/>
          <p:cNvSpPr txBox="1"/>
          <p:nvPr/>
        </p:nvSpPr>
        <p:spPr>
          <a:xfrm>
            <a:off x="7701027" y="4255278"/>
            <a:ext cx="176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Acide aspartique</a:t>
            </a:r>
            <a:endParaRPr lang="fr-FR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90" y="3435059"/>
            <a:ext cx="363540" cy="252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95124" y="33610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/>
              <a:t>+</a:t>
            </a:r>
            <a:endParaRPr lang="fr-FR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3381" y="3410002"/>
            <a:ext cx="854053" cy="30211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91259" y="33610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/>
              <a:t>+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29033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2324" y="-266142"/>
            <a:ext cx="10058400" cy="1450976"/>
          </a:xfrm>
        </p:spPr>
        <p:txBody>
          <a:bodyPr/>
          <a:lstStyle/>
          <a:p>
            <a:r>
              <a:rPr lang="fr-FR" dirty="0" smtClean="0"/>
              <a:t>Aspartame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0097853" y="6456402"/>
            <a:ext cx="1801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Frédéric </a:t>
            </a:r>
            <a:r>
              <a:rPr lang="fr-FR" dirty="0" err="1"/>
              <a:t>Assémat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21035" y="6456402"/>
            <a:ext cx="690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LC 15</a:t>
            </a:r>
            <a:endParaRPr lang="fr-FR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575921" y="1219104"/>
            <a:ext cx="109027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755" y="1893720"/>
            <a:ext cx="61150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49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2324" y="-266142"/>
            <a:ext cx="10058400" cy="1450976"/>
          </a:xfrm>
        </p:spPr>
        <p:txBody>
          <a:bodyPr/>
          <a:lstStyle/>
          <a:p>
            <a:r>
              <a:rPr lang="fr-FR" dirty="0" smtClean="0"/>
              <a:t>Synthèse de l’aspirine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0097853" y="6456402"/>
            <a:ext cx="1801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Frédéric </a:t>
            </a:r>
            <a:r>
              <a:rPr lang="fr-FR" dirty="0" err="1"/>
              <a:t>Assémat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21035" y="6456402"/>
            <a:ext cx="690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LC 15</a:t>
            </a:r>
            <a:endParaRPr lang="fr-FR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575921" y="1219104"/>
            <a:ext cx="109027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70363" y="1686757"/>
            <a:ext cx="11958880" cy="3510628"/>
            <a:chOff x="70363" y="1686757"/>
            <a:chExt cx="11958880" cy="3510628"/>
          </a:xfrm>
        </p:grpSpPr>
        <p:pic>
          <p:nvPicPr>
            <p:cNvPr id="7" name="table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00B05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51791" y="1817350"/>
              <a:ext cx="11688418" cy="3223300"/>
            </a:xfrm>
            <a:prstGeom prst="rect">
              <a:avLst/>
            </a:prstGeom>
          </p:spPr>
        </p:pic>
        <p:pic>
          <p:nvPicPr>
            <p:cNvPr id="8" name="Picture 7" descr="RÃ©sultat de recherche d'images pour &quot;salicylic acid formula&quot;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323794F6-E249-4DAB-8741-A712F2345B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38" r="4623"/>
            <a:stretch/>
          </p:blipFill>
          <p:spPr bwMode="auto">
            <a:xfrm>
              <a:off x="399700" y="1993407"/>
              <a:ext cx="2230795" cy="1659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RÃ©sultat de recherche d'images pour &quot;anhydride acÃ©tique&quot;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CDBCD379-CC58-44FE-BFC8-372F5DDBB8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7930" y="2223971"/>
              <a:ext cx="2009315" cy="1212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Image 23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CE12FE15-94DE-429A-BE04-CB22A8B18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0651" y="1878309"/>
              <a:ext cx="2252810" cy="1890026"/>
            </a:xfrm>
            <a:prstGeom prst="rect">
              <a:avLst/>
            </a:prstGeom>
          </p:spPr>
        </p:pic>
        <p:pic>
          <p:nvPicPr>
            <p:cNvPr id="13" name="Picture 12" descr="RÃ©sultat de recherche d'images pour &quot;acetic acid formula&quot;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E2C55041-B10C-4F65-A729-862BA09060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63405" y="2112685"/>
              <a:ext cx="1666030" cy="1434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Connecteur droit avec flèche 25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46F6D53B-D128-48F4-AD89-CE75C5BBEE77}"/>
                </a:ext>
              </a:extLst>
            </p:cNvPr>
            <p:cNvCxnSpPr>
              <a:cxnSpLocks/>
            </p:cNvCxnSpPr>
            <p:nvPr/>
          </p:nvCxnSpPr>
          <p:spPr>
            <a:xfrm>
              <a:off x="5569226" y="2823322"/>
              <a:ext cx="14212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/>
            <p:cNvSpPr/>
            <p:nvPr/>
          </p:nvSpPr>
          <p:spPr>
            <a:xfrm>
              <a:off x="115410" y="1686757"/>
              <a:ext cx="11913833" cy="191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363" y="5005833"/>
              <a:ext cx="11913833" cy="191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9" name="Rectangle 8"/>
          <p:cNvSpPr/>
          <p:nvPr/>
        </p:nvSpPr>
        <p:spPr>
          <a:xfrm>
            <a:off x="3622089" y="4412202"/>
            <a:ext cx="275208" cy="2219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43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2324" y="-266142"/>
            <a:ext cx="10058400" cy="1450976"/>
          </a:xfrm>
        </p:spPr>
        <p:txBody>
          <a:bodyPr/>
          <a:lstStyle/>
          <a:p>
            <a:r>
              <a:rPr lang="fr-FR" dirty="0" smtClean="0"/>
              <a:t>pH du système digestif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0097853" y="6456402"/>
            <a:ext cx="1801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Frédéric </a:t>
            </a:r>
            <a:r>
              <a:rPr lang="fr-FR" dirty="0" err="1"/>
              <a:t>Assémat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21035" y="6456402"/>
            <a:ext cx="690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LC 15</a:t>
            </a:r>
            <a:endParaRPr lang="fr-FR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575921" y="1219104"/>
            <a:ext cx="109027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Espace réservé du contenu 6">
            <a:extLst>
              <a:ext uri="{FF2B5EF4-FFF2-40B4-BE49-F238E27FC236}">
                <a16:creationId xmlns="" xmlns:a16="http://schemas.microsoft.com/office/drawing/2014/main" xmlns:lc="http://schemas.openxmlformats.org/drawingml/2006/lockedCanvas" id="{EEE425AF-4DD3-4FEC-819A-BA5CCCD5867F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307" y="1674707"/>
            <a:ext cx="4030606" cy="43260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975" y="3571134"/>
            <a:ext cx="2040404" cy="12671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64" b="13914"/>
          <a:stretch/>
        </p:blipFill>
        <p:spPr>
          <a:xfrm>
            <a:off x="7262628" y="2317072"/>
            <a:ext cx="2762624" cy="146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10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2324" y="-266142"/>
            <a:ext cx="10058400" cy="1450976"/>
          </a:xfrm>
        </p:spPr>
        <p:txBody>
          <a:bodyPr/>
          <a:lstStyle/>
          <a:p>
            <a:r>
              <a:rPr lang="fr-FR" dirty="0"/>
              <a:t>T</a:t>
            </a:r>
            <a:r>
              <a:rPr lang="fr-FR" dirty="0" smtClean="0"/>
              <a:t>halidomide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0097853" y="6456402"/>
            <a:ext cx="1801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Frédéric </a:t>
            </a:r>
            <a:r>
              <a:rPr lang="fr-FR" dirty="0" err="1"/>
              <a:t>Assémat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21035" y="6456402"/>
            <a:ext cx="690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LC 15</a:t>
            </a:r>
            <a:endParaRPr lang="fr-FR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575921" y="1219104"/>
            <a:ext cx="109027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134" y="1955444"/>
            <a:ext cx="7047453" cy="2119405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8471537" y="4074849"/>
            <a:ext cx="230820" cy="878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95638" y="4953739"/>
            <a:ext cx="2702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Protège contre les nausées</a:t>
            </a:r>
            <a:endParaRPr lang="fr-FR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595456" y="4182860"/>
            <a:ext cx="284809" cy="878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93143" y="5138405"/>
            <a:ext cx="1231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Tératogène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813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815</TotalTime>
  <Words>63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Retrospect</vt:lpstr>
      <vt:lpstr>LC 14 : Molécules d’intérêt biologique</vt:lpstr>
      <vt:lpstr>Acides aminés</vt:lpstr>
      <vt:lpstr>Aspartame</vt:lpstr>
      <vt:lpstr>Hydrolyse de l’aspartame</vt:lpstr>
      <vt:lpstr>Aspartame</vt:lpstr>
      <vt:lpstr>Synthèse de l’aspirine</vt:lpstr>
      <vt:lpstr>pH du système digestif</vt:lpstr>
      <vt:lpstr>Thalidomide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LC 15 : Solvants</dc:title>
  <dc:creator>Fred</dc:creator>
  <cp:lastModifiedBy>Fred</cp:lastModifiedBy>
  <cp:revision>75</cp:revision>
  <dcterms:created xsi:type="dcterms:W3CDTF">2020-11-17T08:22:47Z</dcterms:created>
  <dcterms:modified xsi:type="dcterms:W3CDTF">2021-06-27T11:37:30Z</dcterms:modified>
</cp:coreProperties>
</file>