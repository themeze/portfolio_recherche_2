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23AF89-0766-44EE-B7B9-9F3346F221EB}">
  <a:tblStyle styleId="{6123AF89-0766-44EE-B7B9-9F3346F221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d7adae02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d7adae02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d7adae02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d7adae02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dd7adae02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dd7adae02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d7adae02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d7adae02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d7adae02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d7adae02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d7adae02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d7adae02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d7adae0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d7adae0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13900" y="1731350"/>
            <a:ext cx="7995300" cy="1546200"/>
          </a:xfrm>
          <a:prstGeom prst="rect">
            <a:avLst/>
          </a:prstGeom>
          <a:solidFill>
            <a:srgbClr val="D9EAD3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LC13 Stratégie de synthèse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4"/>
          <p:cNvGrpSpPr/>
          <p:nvPr/>
        </p:nvGrpSpPr>
        <p:grpSpPr>
          <a:xfrm>
            <a:off x="330750" y="159700"/>
            <a:ext cx="8352601" cy="1641000"/>
            <a:chOff x="140300" y="376275"/>
            <a:chExt cx="8352601" cy="1641000"/>
          </a:xfrm>
        </p:grpSpPr>
        <p:grpSp>
          <p:nvGrpSpPr>
            <p:cNvPr id="60" name="Google Shape;60;p14"/>
            <p:cNvGrpSpPr/>
            <p:nvPr/>
          </p:nvGrpSpPr>
          <p:grpSpPr>
            <a:xfrm>
              <a:off x="140300" y="376275"/>
              <a:ext cx="8352601" cy="1425600"/>
              <a:chOff x="140300" y="376275"/>
              <a:chExt cx="8352601" cy="1425600"/>
            </a:xfrm>
          </p:grpSpPr>
          <p:sp>
            <p:nvSpPr>
              <p:cNvPr id="61" name="Google Shape;61;p14"/>
              <p:cNvSpPr txBox="1"/>
              <p:nvPr/>
            </p:nvSpPr>
            <p:spPr>
              <a:xfrm>
                <a:off x="140300" y="601275"/>
                <a:ext cx="2547900" cy="800400"/>
              </a:xfrm>
              <a:prstGeom prst="rect">
                <a:avLst/>
              </a:prstGeom>
              <a:solidFill>
                <a:srgbClr val="D9EAD3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000"/>
                  <a:t>Synthèse de </a:t>
                </a:r>
                <a:endParaRPr sz="20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000"/>
                  <a:t>l’acétate d’éthyle</a:t>
                </a:r>
                <a:endParaRPr sz="2000"/>
              </a:p>
            </p:txBody>
          </p:sp>
          <p:pic>
            <p:nvPicPr>
              <p:cNvPr id="62" name="Google Shape;62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16900" y="376275"/>
                <a:ext cx="5676001" cy="102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" name="Google Shape;63;p14"/>
              <p:cNvSpPr txBox="1"/>
              <p:nvPr/>
            </p:nvSpPr>
            <p:spPr>
              <a:xfrm>
                <a:off x="3201825" y="1401675"/>
                <a:ext cx="833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/>
                  <a:t>éthanol</a:t>
                </a:r>
                <a:endParaRPr/>
              </a:p>
            </p:txBody>
          </p:sp>
        </p:grpSp>
        <p:sp>
          <p:nvSpPr>
            <p:cNvPr id="64" name="Google Shape;64;p14"/>
            <p:cNvSpPr txBox="1"/>
            <p:nvPr/>
          </p:nvSpPr>
          <p:spPr>
            <a:xfrm>
              <a:off x="4474250" y="1401675"/>
              <a:ext cx="1201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acide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éthanoïque</a:t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5962575" y="1401675"/>
              <a:ext cx="186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éthanoate d’éthyle</a:t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7951400" y="1401675"/>
              <a:ext cx="54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eau</a:t>
              </a:r>
              <a:endParaRPr/>
            </a:p>
          </p:txBody>
        </p:sp>
      </p:grpSp>
      <p:graphicFrame>
        <p:nvGraphicFramePr>
          <p:cNvPr id="67" name="Google Shape;67;p14"/>
          <p:cNvGraphicFramePr/>
          <p:nvPr/>
        </p:nvGraphicFramePr>
        <p:xfrm>
          <a:off x="887550" y="186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{6123AF89-0766-44EE-B7B9-9F3346F221EB}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Protocole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Protocole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Protocole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Protocole 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Réactifs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10 mL d’éthanol + 10 mL d’acide éthanoïque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Ajout d’acide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Aucun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0,5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 ml d’acide sulfurique concentré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Aucun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0,5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 ml d’acide sulfurique concentré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Température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Ambiante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Ambiante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60°C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60°C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Volume équivalent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V</a:t>
                      </a:r>
                      <a:r>
                        <a:rPr baseline="-25000" lang="fr"/>
                        <a:t>E1 </a:t>
                      </a:r>
                      <a:r>
                        <a:rPr lang="fr"/>
                        <a:t>=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E2 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E3 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E4 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Avancement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x</a:t>
                      </a:r>
                      <a:r>
                        <a:rPr baseline="-25000" lang="fr"/>
                        <a:t>1</a:t>
                      </a:r>
                      <a:r>
                        <a:rPr lang="fr"/>
                        <a:t> 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73368" t="0"/>
          <a:stretch/>
        </p:blipFill>
        <p:spPr>
          <a:xfrm>
            <a:off x="923275" y="1864075"/>
            <a:ext cx="2354049" cy="14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26480" r="54790" t="0"/>
          <a:stretch/>
        </p:blipFill>
        <p:spPr>
          <a:xfrm>
            <a:off x="4098825" y="183325"/>
            <a:ext cx="1655501" cy="14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44894" r="37072" t="0"/>
          <a:stretch/>
        </p:blipFill>
        <p:spPr>
          <a:xfrm>
            <a:off x="6424125" y="944950"/>
            <a:ext cx="1593994" cy="14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81841" r="0" t="0"/>
          <a:stretch/>
        </p:blipFill>
        <p:spPr>
          <a:xfrm>
            <a:off x="6393375" y="2685525"/>
            <a:ext cx="1655501" cy="1459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b="0" l="62623" r="17932" t="0"/>
          <a:stretch/>
        </p:blipFill>
        <p:spPr>
          <a:xfrm>
            <a:off x="4067214" y="3497675"/>
            <a:ext cx="1718726" cy="141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5"/>
          <p:cNvCxnSpPr>
            <a:endCxn id="73" idx="2"/>
          </p:cNvCxnSpPr>
          <p:nvPr/>
        </p:nvCxnSpPr>
        <p:spPr>
          <a:xfrm flipH="1" rot="10800000">
            <a:off x="3277176" y="1598675"/>
            <a:ext cx="1649400" cy="97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5"/>
          <p:cNvCxnSpPr>
            <a:endCxn id="74" idx="1"/>
          </p:cNvCxnSpPr>
          <p:nvPr/>
        </p:nvCxnSpPr>
        <p:spPr>
          <a:xfrm flipH="1" rot="10800000">
            <a:off x="3277425" y="1652625"/>
            <a:ext cx="3146700" cy="9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5"/>
          <p:cNvCxnSpPr>
            <a:endCxn id="75" idx="1"/>
          </p:cNvCxnSpPr>
          <p:nvPr/>
        </p:nvCxnSpPr>
        <p:spPr>
          <a:xfrm>
            <a:off x="3277275" y="2571824"/>
            <a:ext cx="31161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5"/>
          <p:cNvCxnSpPr>
            <a:stCxn id="72" idx="3"/>
            <a:endCxn id="76" idx="0"/>
          </p:cNvCxnSpPr>
          <p:nvPr/>
        </p:nvCxnSpPr>
        <p:spPr>
          <a:xfrm>
            <a:off x="3277324" y="2571750"/>
            <a:ext cx="1649400" cy="9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/>
        </p:nvSpPr>
        <p:spPr>
          <a:xfrm>
            <a:off x="591150" y="214850"/>
            <a:ext cx="7961700" cy="569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Réaction chimiosélective : la synthèse du paracétamol</a:t>
            </a:r>
            <a:endParaRPr sz="2500"/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3935" l="3798" r="4458" t="3907"/>
          <a:stretch/>
        </p:blipFill>
        <p:spPr>
          <a:xfrm>
            <a:off x="1340299" y="899300"/>
            <a:ext cx="6463401" cy="41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3042900" y="290675"/>
            <a:ext cx="3058200" cy="56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Étape 1 : Protection</a:t>
            </a:r>
            <a:endParaRPr sz="2500"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288" y="1341050"/>
            <a:ext cx="7245425" cy="30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2695363" y="442325"/>
            <a:ext cx="3753300" cy="56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Étape 2 : Transformation</a:t>
            </a:r>
            <a:endParaRPr sz="2500"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38" y="1554425"/>
            <a:ext cx="8840725" cy="24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2830813" y="505500"/>
            <a:ext cx="3482400" cy="56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Étape 3 : Déprotection</a:t>
            </a:r>
            <a:endParaRPr sz="2500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38" y="1454775"/>
            <a:ext cx="8817926" cy="26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2114700" y="242825"/>
            <a:ext cx="4914600" cy="452400"/>
          </a:xfrm>
          <a:prstGeom prst="rect">
            <a:avLst/>
          </a:prstGeom>
          <a:solidFill>
            <a:srgbClr val="D9EAD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fr" sz="2018"/>
              <a:t>Les 12 principes de la chimie verte</a:t>
            </a:r>
            <a:endParaRPr sz="2018"/>
          </a:p>
        </p:txBody>
      </p:sp>
      <p:grpSp>
        <p:nvGrpSpPr>
          <p:cNvPr id="110" name="Google Shape;110;p20"/>
          <p:cNvGrpSpPr/>
          <p:nvPr/>
        </p:nvGrpSpPr>
        <p:grpSpPr>
          <a:xfrm>
            <a:off x="2363979" y="871937"/>
            <a:ext cx="4995088" cy="4195048"/>
            <a:chOff x="2354800" y="1144850"/>
            <a:chExt cx="4549675" cy="3820975"/>
          </a:xfrm>
        </p:grpSpPr>
        <p:pic>
          <p:nvPicPr>
            <p:cNvPr id="111" name="Google Shape;11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40963" y="1144850"/>
              <a:ext cx="4262077" cy="3820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20"/>
            <p:cNvSpPr/>
            <p:nvPr/>
          </p:nvSpPr>
          <p:spPr>
            <a:xfrm>
              <a:off x="5438375" y="4536900"/>
              <a:ext cx="1466100" cy="40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0"/>
            <p:cNvSpPr/>
            <p:nvPr/>
          </p:nvSpPr>
          <p:spPr>
            <a:xfrm>
              <a:off x="2354800" y="1984100"/>
              <a:ext cx="303300" cy="30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0"/>
            <p:cNvSpPr/>
            <p:nvPr/>
          </p:nvSpPr>
          <p:spPr>
            <a:xfrm>
              <a:off x="2354800" y="3380150"/>
              <a:ext cx="303300" cy="30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0"/>
            <p:cNvSpPr/>
            <p:nvPr/>
          </p:nvSpPr>
          <p:spPr>
            <a:xfrm>
              <a:off x="2354800" y="4233600"/>
              <a:ext cx="505500" cy="30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