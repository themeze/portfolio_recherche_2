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jpg" ContentType="image/jpeg"/>
  <Default Extension="emf" ContentType="image/x-emf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  <p:sldMasterId id="2147483707" r:id="rId2"/>
    <p:sldMasterId id="2147483709" r:id="rId3"/>
  </p:sldMasterIdLst>
  <p:notesMasterIdLst>
    <p:notesMasterId r:id="rId13"/>
  </p:notesMasterIdLst>
  <p:sldIdLst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58" r:id="rId12"/>
  </p:sldIdLst>
  <p:sldSz cx="9144000" cy="5145088"/>
  <p:notesSz cx="7559675" cy="106918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50"/>
    <a:srgbClr val="08A5EF"/>
    <a:srgbClr val="C1DF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4"/>
  </p:normalViewPr>
  <p:slideViewPr>
    <p:cSldViewPr snapToGrid="0">
      <p:cViewPr>
        <p:scale>
          <a:sx n="94" d="100"/>
          <a:sy n="94" d="100"/>
        </p:scale>
        <p:origin x="512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2782F5-A916-4653-9283-0B21DAE59FD2}" type="datetimeFigureOut">
              <a:rPr lang="fr-FR" smtClean="0"/>
              <a:t>23/06/2021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574675" y="1336675"/>
            <a:ext cx="64103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5CBF42-708B-4E44-B726-068829AEE59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1636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CBF42-708B-4E44-B726-068829AEE595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5121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2382" y="4802082"/>
            <a:ext cx="9141619" cy="3430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2204"/>
            <a:ext cx="9141619" cy="4802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31F701-4968-46AE-B777-6FB50F0714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xmlns="" id="{0AEBC926-49BC-4890-ADE2-C02F78541D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8921" y="1616763"/>
            <a:ext cx="7543800" cy="108840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sz="6000"/>
            </a:lvl1pPr>
          </a:lstStyle>
          <a:p>
            <a:r>
              <a:rPr lang="fr-FR" dirty="0"/>
              <a:t>Titre</a:t>
            </a:r>
            <a:endParaRPr lang="en-US" dirty="0"/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xmlns="" id="{83F3BEDD-3280-49C7-BA47-A9F8858CDC01}"/>
              </a:ext>
            </a:extLst>
          </p:cNvPr>
          <p:cNvCxnSpPr/>
          <p:nvPr userDrawn="1"/>
        </p:nvCxnSpPr>
        <p:spPr>
          <a:xfrm>
            <a:off x="798921" y="2710731"/>
            <a:ext cx="7543800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xmlns="" id="{893E4BC1-6F4E-4747-84E8-D99E0587545F}"/>
              </a:ext>
            </a:extLst>
          </p:cNvPr>
          <p:cNvSpPr txBox="1"/>
          <p:nvPr userDrawn="1"/>
        </p:nvSpPr>
        <p:spPr>
          <a:xfrm>
            <a:off x="4140254" y="4846335"/>
            <a:ext cx="112883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 smtClean="0">
                <a:solidFill>
                  <a:schemeClr val="bg1"/>
                </a:solidFill>
                <a:latin typeface="+mj-lt"/>
              </a:rPr>
              <a:t>THEMEZE Guillaume</a:t>
            </a:r>
            <a:endParaRPr lang="en-US" sz="900" dirty="0">
              <a:solidFill>
                <a:schemeClr val="bg1"/>
              </a:solidFill>
              <a:latin typeface="+mj-lt"/>
            </a:endParaRPr>
          </a:p>
          <a:p>
            <a:endParaRPr lang="fr-FR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9504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2382" y="4802082"/>
            <a:ext cx="9141619" cy="3430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2204"/>
            <a:ext cx="9141619" cy="4802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xmlns="" id="{C9E5BD84-DC66-4CA9-B14F-F778A3BA3AF2}"/>
              </a:ext>
            </a:extLst>
          </p:cNvPr>
          <p:cNvCxnSpPr/>
          <p:nvPr userDrawn="1"/>
        </p:nvCxnSpPr>
        <p:spPr>
          <a:xfrm>
            <a:off x="675048" y="716623"/>
            <a:ext cx="7543800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itle Placeholder 1">
            <a:extLst>
              <a:ext uri="{FF2B5EF4-FFF2-40B4-BE49-F238E27FC236}">
                <a16:creationId xmlns:a16="http://schemas.microsoft.com/office/drawing/2014/main" xmlns="" id="{5FE470C6-3407-4B39-9256-D7CBAE76B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048" y="144379"/>
            <a:ext cx="7543800" cy="69449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sz="4800"/>
            </a:lvl1pPr>
          </a:lstStyle>
          <a:p>
            <a:r>
              <a:rPr lang="fr-FR" dirty="0"/>
              <a:t>Titre</a:t>
            </a:r>
            <a:endParaRPr lang="en-US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xmlns="" id="{893E4BC1-6F4E-4747-84E8-D99E0587545F}"/>
              </a:ext>
            </a:extLst>
          </p:cNvPr>
          <p:cNvSpPr txBox="1"/>
          <p:nvPr userDrawn="1"/>
        </p:nvSpPr>
        <p:spPr>
          <a:xfrm>
            <a:off x="4140254" y="4846335"/>
            <a:ext cx="112883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 smtClean="0">
                <a:solidFill>
                  <a:schemeClr val="bg1"/>
                </a:solidFill>
                <a:latin typeface="+mj-lt"/>
              </a:rPr>
              <a:t>THEMEZE Guillaume</a:t>
            </a:r>
            <a:endParaRPr lang="en-US" sz="900" dirty="0">
              <a:solidFill>
                <a:schemeClr val="bg1"/>
              </a:solidFill>
              <a:latin typeface="+mj-lt"/>
            </a:endParaRPr>
          </a:p>
          <a:p>
            <a:endParaRPr lang="fr-FR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83207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2381" y="-1"/>
            <a:ext cx="9141619" cy="38444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0" y="3844412"/>
            <a:ext cx="9141619" cy="4802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xmlns="" id="{C9E5BD84-DC66-4CA9-B14F-F778A3BA3AF2}"/>
              </a:ext>
            </a:extLst>
          </p:cNvPr>
          <p:cNvCxnSpPr/>
          <p:nvPr userDrawn="1"/>
        </p:nvCxnSpPr>
        <p:spPr>
          <a:xfrm>
            <a:off x="659006" y="572244"/>
            <a:ext cx="7543800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itle Placeholder 1">
            <a:extLst>
              <a:ext uri="{FF2B5EF4-FFF2-40B4-BE49-F238E27FC236}">
                <a16:creationId xmlns:a16="http://schemas.microsoft.com/office/drawing/2014/main" xmlns="" id="{5FE470C6-3407-4B39-9256-D7CBAE76B6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844412"/>
            <a:ext cx="7543800" cy="45774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sz="9600" b="1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Merci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4967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2082"/>
            <a:ext cx="9144000" cy="3430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4752204"/>
            <a:ext cx="9144001" cy="495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96586" y="1611199"/>
            <a:ext cx="7543800" cy="108840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6335"/>
            <a:ext cx="984019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xmlns="" id="{5F6E0C2E-DB01-42C5-AD9A-A992C3E17B5B}"/>
              </a:ext>
            </a:extLst>
          </p:cNvPr>
          <p:cNvCxnSpPr/>
          <p:nvPr userDrawn="1"/>
        </p:nvCxnSpPr>
        <p:spPr>
          <a:xfrm>
            <a:off x="1196586" y="2699603"/>
            <a:ext cx="7543800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xmlns="" id="{893E4BC1-6F4E-4747-84E8-D99E0587545F}"/>
              </a:ext>
            </a:extLst>
          </p:cNvPr>
          <p:cNvSpPr txBox="1"/>
          <p:nvPr userDrawn="1"/>
        </p:nvSpPr>
        <p:spPr>
          <a:xfrm>
            <a:off x="4140254" y="4846335"/>
            <a:ext cx="112883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 smtClean="0">
                <a:solidFill>
                  <a:schemeClr val="bg1"/>
                </a:solidFill>
                <a:latin typeface="+mj-lt"/>
              </a:rPr>
              <a:t>THEMEZE Guillaume</a:t>
            </a:r>
            <a:endParaRPr lang="en-US" sz="900" dirty="0">
              <a:solidFill>
                <a:schemeClr val="bg1"/>
              </a:solidFill>
              <a:latin typeface="+mj-lt"/>
            </a:endParaRPr>
          </a:p>
          <a:p>
            <a:endParaRPr lang="fr-FR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55611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hf hdr="0" ft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2082"/>
            <a:ext cx="9144000" cy="3430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4752204"/>
            <a:ext cx="9144001" cy="495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67321" y="114496"/>
            <a:ext cx="7543800" cy="4577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 dirty="0"/>
              <a:t>Titre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6335"/>
            <a:ext cx="984019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xmlns="" id="{5F6E0C2E-DB01-42C5-AD9A-A992C3E17B5B}"/>
              </a:ext>
            </a:extLst>
          </p:cNvPr>
          <p:cNvCxnSpPr/>
          <p:nvPr userDrawn="1"/>
        </p:nvCxnSpPr>
        <p:spPr>
          <a:xfrm>
            <a:off x="659006" y="572244"/>
            <a:ext cx="7543800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xmlns="" id="{893E4BC1-6F4E-4747-84E8-D99E0587545F}"/>
              </a:ext>
            </a:extLst>
          </p:cNvPr>
          <p:cNvSpPr txBox="1"/>
          <p:nvPr userDrawn="1"/>
        </p:nvSpPr>
        <p:spPr>
          <a:xfrm>
            <a:off x="4140254" y="4846335"/>
            <a:ext cx="112883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 smtClean="0">
                <a:solidFill>
                  <a:schemeClr val="bg1"/>
                </a:solidFill>
                <a:latin typeface="+mj-lt"/>
              </a:rPr>
              <a:t>THEMEZE Guillaume</a:t>
            </a:r>
            <a:endParaRPr lang="en-US" sz="900" dirty="0">
              <a:solidFill>
                <a:schemeClr val="bg1"/>
              </a:solidFill>
              <a:latin typeface="+mj-lt"/>
            </a:endParaRPr>
          </a:p>
          <a:p>
            <a:endParaRPr lang="fr-FR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44376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hf hdr="0" ft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28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2082"/>
            <a:ext cx="9144000" cy="3430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4752204"/>
            <a:ext cx="9144001" cy="495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6335"/>
            <a:ext cx="984019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xmlns="" id="{893E4BC1-6F4E-4747-84E8-D99E0587545F}"/>
              </a:ext>
            </a:extLst>
          </p:cNvPr>
          <p:cNvSpPr txBox="1"/>
          <p:nvPr userDrawn="1"/>
        </p:nvSpPr>
        <p:spPr>
          <a:xfrm>
            <a:off x="4140254" y="4846335"/>
            <a:ext cx="112883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 smtClean="0">
                <a:solidFill>
                  <a:schemeClr val="bg1"/>
                </a:solidFill>
                <a:latin typeface="+mj-lt"/>
              </a:rPr>
              <a:t>THEMEZE Guillaume</a:t>
            </a:r>
            <a:endParaRPr lang="en-US" sz="900" dirty="0">
              <a:solidFill>
                <a:schemeClr val="bg1"/>
              </a:solidFill>
              <a:latin typeface="+mj-lt"/>
            </a:endParaRPr>
          </a:p>
          <a:p>
            <a:endParaRPr lang="fr-FR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04997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</p:sldLayoutIdLst>
  <p:hf hdr="0" ft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28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png"/><Relationship Id="rId6" Type="http://schemas.openxmlformats.org/officeDocument/2006/relationships/image" Target="../media/image5.jpg"/><Relationship Id="rId7" Type="http://schemas.openxmlformats.org/officeDocument/2006/relationships/image" Target="../media/image6.png"/><Relationship Id="rId8" Type="http://schemas.openxmlformats.org/officeDocument/2006/relationships/image" Target="../media/image7.jpeg"/><Relationship Id="rId9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4" Type="http://schemas.openxmlformats.org/officeDocument/2006/relationships/image" Target="../media/image2.jpeg"/><Relationship Id="rId5" Type="http://schemas.openxmlformats.org/officeDocument/2006/relationships/image" Target="../media/image10.png"/><Relationship Id="rId6" Type="http://schemas.openxmlformats.org/officeDocument/2006/relationships/image" Target="../media/image1.jpeg"/><Relationship Id="rId7" Type="http://schemas.openxmlformats.org/officeDocument/2006/relationships/image" Target="../media/image3.jpeg"/><Relationship Id="rId8" Type="http://schemas.openxmlformats.org/officeDocument/2006/relationships/image" Target="../media/image11.png"/><Relationship Id="rId9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C3A679E2-BCF3-45FF-9846-55A224C82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4846335"/>
            <a:ext cx="984019" cy="273928"/>
          </a:xfrm>
        </p:spPr>
        <p:txBody>
          <a:bodyPr/>
          <a:lstStyle/>
          <a:p>
            <a:fld id="{9A31F701-4968-46AE-B777-6FB50F0714C3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xmlns="" id="{C649B183-356E-41EB-B214-68910814D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460" y="1695451"/>
            <a:ext cx="8345079" cy="1088404"/>
          </a:xfrm>
        </p:spPr>
        <p:txBody>
          <a:bodyPr>
            <a:noAutofit/>
          </a:bodyPr>
          <a:lstStyle/>
          <a:p>
            <a:pPr algn="ctr"/>
            <a:r>
              <a:rPr lang="fr-FR" sz="4800" dirty="0"/>
              <a:t>Acides et Bases 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xmlns="" id="{07AC654D-D0E1-4F64-B9D3-25446D986FCD}"/>
              </a:ext>
            </a:extLst>
          </p:cNvPr>
          <p:cNvSpPr txBox="1"/>
          <p:nvPr/>
        </p:nvSpPr>
        <p:spPr>
          <a:xfrm>
            <a:off x="5418767" y="2783855"/>
            <a:ext cx="29239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Agrégation</a:t>
            </a:r>
          </a:p>
        </p:txBody>
      </p:sp>
    </p:spTree>
    <p:extLst>
      <p:ext uri="{BB962C8B-B14F-4D97-AF65-F5344CB8AC3E}">
        <p14:creationId xmlns:p14="http://schemas.microsoft.com/office/powerpoint/2010/main" val="2241335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29E01CB6-CDBD-48E1-B1E9-C7B19AC31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1F701-4968-46AE-B777-6FB50F0714C3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xmlns="" id="{D7668A3A-2883-4D6A-A5DD-A41C77F54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478" y="39869"/>
            <a:ext cx="8926161" cy="694497"/>
          </a:xfrm>
        </p:spPr>
        <p:txBody>
          <a:bodyPr/>
          <a:lstStyle/>
          <a:p>
            <a:r>
              <a:rPr lang="fr-FR" sz="4400" dirty="0"/>
              <a:t>Notion d’acidité et basicité au quotidien</a:t>
            </a:r>
          </a:p>
        </p:txBody>
      </p:sp>
      <p:pic>
        <p:nvPicPr>
          <p:cNvPr id="5" name="Picture 2" descr="Vinaigre d'alcool 12% BIO 1L - Mes courses en vrac">
            <a:extLst>
              <a:ext uri="{FF2B5EF4-FFF2-40B4-BE49-F238E27FC236}">
                <a16:creationId xmlns:a16="http://schemas.microsoft.com/office/drawing/2014/main" xmlns="" id="{49B42E29-D6BD-45A4-B644-C5AE46D105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83" r="29845"/>
          <a:stretch/>
        </p:blipFill>
        <p:spPr bwMode="auto">
          <a:xfrm>
            <a:off x="1107283" y="1363486"/>
            <a:ext cx="649802" cy="1826762"/>
          </a:xfrm>
          <a:prstGeom prst="rect">
            <a:avLst/>
          </a:prstGeom>
          <a:noFill/>
          <a:extLst>
            <a:ext uri="{909E8E84-426E-40dd-AFC4-6F175D3DCCD1}">
              <a14:hiddenFill xmlns:lc="http://schemas.openxmlformats.org/drawingml/2006/lockedCanvas"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Vrai ou faux ? Sept idées reçues sur les bienfaits du citron ...">
            <a:extLst>
              <a:ext uri="{FF2B5EF4-FFF2-40B4-BE49-F238E27FC236}">
                <a16:creationId xmlns:a16="http://schemas.microsoft.com/office/drawing/2014/main" xmlns="" id="{E7D7A420-696E-46DF-BB8D-67BF0A8257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516"/>
          <a:stretch/>
        </p:blipFill>
        <p:spPr bwMode="auto">
          <a:xfrm>
            <a:off x="1985831" y="2133725"/>
            <a:ext cx="1230706" cy="1067063"/>
          </a:xfrm>
          <a:prstGeom prst="rect">
            <a:avLst/>
          </a:prstGeom>
          <a:noFill/>
          <a:extLst>
            <a:ext uri="{909E8E84-426E-40dd-AFC4-6F175D3DCCD1}">
              <a14:hiddenFill xmlns:lc="http://schemas.openxmlformats.org/drawingml/2006/lockedCanvas"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 descr="Limonade artisanale arôme citron LORINA : la bouteille d'1L à Prix ...">
            <a:extLst>
              <a:ext uri="{FF2B5EF4-FFF2-40B4-BE49-F238E27FC236}">
                <a16:creationId xmlns:a16="http://schemas.microsoft.com/office/drawing/2014/main" xmlns="" id="{F6DB467F-E8EC-48D7-8B58-FE067FEE12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06" r="31037"/>
          <a:stretch/>
        </p:blipFill>
        <p:spPr bwMode="auto">
          <a:xfrm>
            <a:off x="0" y="1583065"/>
            <a:ext cx="1052806" cy="2702512"/>
          </a:xfrm>
          <a:prstGeom prst="rect">
            <a:avLst/>
          </a:prstGeom>
          <a:noFill/>
          <a:extLst>
            <a:ext uri="{909E8E84-426E-40dd-AFC4-6F175D3DCCD1}">
              <a14:hiddenFill xmlns:lc="http://schemas.openxmlformats.org/drawingml/2006/lockedCanvas"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ZoneTexte 2">
            <a:extLst>
              <a:ext uri="{FF2B5EF4-FFF2-40B4-BE49-F238E27FC236}">
                <a16:creationId xmlns:a16="http://schemas.microsoft.com/office/drawing/2014/main" xmlns="" id="{45DCE0B0-0425-4FB4-9AC9-018875003443}"/>
              </a:ext>
            </a:extLst>
          </p:cNvPr>
          <p:cNvSpPr txBox="1"/>
          <p:nvPr/>
        </p:nvSpPr>
        <p:spPr>
          <a:xfrm>
            <a:off x="526403" y="845239"/>
            <a:ext cx="2313698" cy="461665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2400" dirty="0"/>
              <a:t>Solutions acides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xmlns="" id="{102240A8-0A2C-45FC-91B2-C9EAB4809DFC}"/>
              </a:ext>
            </a:extLst>
          </p:cNvPr>
          <p:cNvSpPr txBox="1"/>
          <p:nvPr/>
        </p:nvSpPr>
        <p:spPr>
          <a:xfrm>
            <a:off x="3510748" y="1490619"/>
            <a:ext cx="2363917" cy="461665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fr-FR" sz="2400" dirty="0"/>
              <a:t>Solutions neutres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xmlns="" id="{13B8BA2D-D114-42B7-A6A1-3791015C0AA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8165" r="29540"/>
          <a:stretch/>
        </p:blipFill>
        <p:spPr>
          <a:xfrm>
            <a:off x="3830967" y="2473972"/>
            <a:ext cx="861739" cy="2037449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xmlns="" id="{8C53A0F7-886D-492E-BABD-3798145F6B2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1637" y="3649682"/>
            <a:ext cx="861739" cy="861739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xmlns="" id="{5E5284CB-1621-4BFA-A59C-1E52C972AE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120" y="2709762"/>
            <a:ext cx="1951775" cy="1951775"/>
          </a:xfrm>
          <a:prstGeom prst="rect">
            <a:avLst/>
          </a:prstGeom>
        </p:spPr>
      </p:pic>
      <p:pic>
        <p:nvPicPr>
          <p:cNvPr id="15" name="Picture 10" descr="Déboucheur liquide canalisations surpuissant 1L Destop - Delcourt ...">
            <a:extLst>
              <a:ext uri="{FF2B5EF4-FFF2-40B4-BE49-F238E27FC236}">
                <a16:creationId xmlns:a16="http://schemas.microsoft.com/office/drawing/2014/main" xmlns="" id="{A3C95CCA-9D44-4AC8-A8D2-02FEA021D3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00" r="26002"/>
          <a:stretch/>
        </p:blipFill>
        <p:spPr bwMode="auto">
          <a:xfrm>
            <a:off x="8193609" y="1982218"/>
            <a:ext cx="869030" cy="2167226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xmlns="" id="{C0DBDB6B-8A4B-495D-ADC7-FD3FF89EFCCA}"/>
              </a:ext>
            </a:extLst>
          </p:cNvPr>
          <p:cNvSpPr txBox="1"/>
          <p:nvPr/>
        </p:nvSpPr>
        <p:spPr>
          <a:xfrm>
            <a:off x="6443517" y="845239"/>
            <a:ext cx="2585519" cy="461665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2400" dirty="0"/>
              <a:t>Solutions basiques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xmlns="" id="{1299FF65-9051-4CBC-847A-461D2D3B7C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5578" y="3335290"/>
            <a:ext cx="1701950" cy="127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4467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D3462C95-F9FC-49F1-B7E3-220C608AE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="" id="{06144961-E291-4E7C-9E19-78B0BCA2F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Echelle de pH 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xmlns="" id="{5D96E517-65C5-40F1-98EB-A0EE350B9F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9425" y="838876"/>
            <a:ext cx="3105150" cy="390463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7FFAC724-65BD-46C0-BB33-A22AF45A7506}"/>
              </a:ext>
            </a:extLst>
          </p:cNvPr>
          <p:cNvSpPr/>
          <p:nvPr/>
        </p:nvSpPr>
        <p:spPr>
          <a:xfrm>
            <a:off x="0" y="4466516"/>
            <a:ext cx="685245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fr-FR" sz="1200" i="1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Valéry PRÉVOST et al. Physique Chimie, seconde générale.Nathan,2017.</a:t>
            </a:r>
          </a:p>
        </p:txBody>
      </p:sp>
    </p:spTree>
    <p:extLst>
      <p:ext uri="{BB962C8B-B14F-4D97-AF65-F5344CB8AC3E}">
        <p14:creationId xmlns:p14="http://schemas.microsoft.com/office/powerpoint/2010/main" val="1889380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A09232CE-33CD-48B6-9380-A6BEE439E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="" id="{F66DD76D-9943-4803-8052-036ED2B1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048" y="125135"/>
            <a:ext cx="8468952" cy="694497"/>
          </a:xfrm>
        </p:spPr>
        <p:txBody>
          <a:bodyPr/>
          <a:lstStyle/>
          <a:p>
            <a:r>
              <a:rPr lang="fr-FR" dirty="0"/>
              <a:t>Les acides et bases du quotidien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xmlns="" id="{045B068C-14A7-4626-B519-1BC283CFDE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028" y="2019021"/>
            <a:ext cx="1707373" cy="1707373"/>
          </a:xfrm>
          <a:prstGeom prst="rect">
            <a:avLst/>
          </a:prstGeom>
        </p:spPr>
      </p:pic>
      <p:pic>
        <p:nvPicPr>
          <p:cNvPr id="5" name="Picture 10" descr="Déboucheur liquide canalisations surpuissant 1L Destop - Delcourt ...">
            <a:extLst>
              <a:ext uri="{FF2B5EF4-FFF2-40B4-BE49-F238E27FC236}">
                <a16:creationId xmlns:a16="http://schemas.microsoft.com/office/drawing/2014/main" xmlns="" id="{EC228389-7A2C-415E-8A9C-5D11E23AD3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00" r="26002"/>
          <a:stretch/>
        </p:blipFill>
        <p:spPr bwMode="auto">
          <a:xfrm>
            <a:off x="7960954" y="1507088"/>
            <a:ext cx="875880" cy="2184307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xmlns="" id="{616C7105-7148-4A12-AC2C-93E038DE01B7}"/>
              </a:ext>
            </a:extLst>
          </p:cNvPr>
          <p:cNvSpPr txBox="1"/>
          <p:nvPr/>
        </p:nvSpPr>
        <p:spPr>
          <a:xfrm>
            <a:off x="6658984" y="4053661"/>
            <a:ext cx="2177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Base : hydroxyde HO</a:t>
            </a:r>
            <a:r>
              <a:rPr lang="fr-FR" baseline="30000" dirty="0"/>
              <a:t>-</a:t>
            </a:r>
            <a:endParaRPr lang="fr-FR" dirty="0"/>
          </a:p>
        </p:txBody>
      </p:sp>
      <p:sp>
        <p:nvSpPr>
          <p:cNvPr id="8" name="Accolade fermante 7">
            <a:extLst>
              <a:ext uri="{FF2B5EF4-FFF2-40B4-BE49-F238E27FC236}">
                <a16:creationId xmlns:a16="http://schemas.microsoft.com/office/drawing/2014/main" xmlns="" id="{5A0B82FA-17EF-44B6-8933-8C8F52BAFA9D}"/>
              </a:ext>
            </a:extLst>
          </p:cNvPr>
          <p:cNvSpPr/>
          <p:nvPr/>
        </p:nvSpPr>
        <p:spPr>
          <a:xfrm rot="5400000">
            <a:off x="7389027" y="2453352"/>
            <a:ext cx="694497" cy="2585518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xmlns="" id="{F4BCA07E-6A5D-49EB-8A38-A42ACA555ECA}"/>
              </a:ext>
            </a:extLst>
          </p:cNvPr>
          <p:cNvSpPr txBox="1"/>
          <p:nvPr/>
        </p:nvSpPr>
        <p:spPr>
          <a:xfrm>
            <a:off x="4221769" y="1194490"/>
            <a:ext cx="1589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u="sng" dirty="0"/>
              <a:t>Acide citrique :</a:t>
            </a:r>
          </a:p>
        </p:txBody>
      </p:sp>
      <p:pic>
        <p:nvPicPr>
          <p:cNvPr id="11" name="Picture 4" descr="Vrai ou faux ? Sept idées reçues sur les bienfaits du citron ...">
            <a:extLst>
              <a:ext uri="{FF2B5EF4-FFF2-40B4-BE49-F238E27FC236}">
                <a16:creationId xmlns:a16="http://schemas.microsoft.com/office/drawing/2014/main" xmlns="" id="{73B97E6A-A821-4FEE-9098-E921EF4B79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516"/>
          <a:stretch/>
        </p:blipFill>
        <p:spPr bwMode="auto">
          <a:xfrm>
            <a:off x="2833712" y="1631624"/>
            <a:ext cx="1157167" cy="100330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xmlns="" id="{102DA933-0B84-46CF-BE3D-1E14B9F6C4C9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5213" y="1743399"/>
            <a:ext cx="1966562" cy="9148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2" descr="Vinaigre d'alcool 12% BIO 1L - Mes courses en vrac">
            <a:extLst>
              <a:ext uri="{FF2B5EF4-FFF2-40B4-BE49-F238E27FC236}">
                <a16:creationId xmlns:a16="http://schemas.microsoft.com/office/drawing/2014/main" xmlns="" id="{BB490B5F-C52B-459D-A94C-C108E29821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83" r="29845"/>
          <a:stretch/>
        </p:blipFill>
        <p:spPr bwMode="auto">
          <a:xfrm>
            <a:off x="197976" y="942272"/>
            <a:ext cx="508329" cy="1429044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8" descr="Limonade artisanale arôme citron LORINA : la bouteille d'1L à Prix ...">
            <a:extLst>
              <a:ext uri="{FF2B5EF4-FFF2-40B4-BE49-F238E27FC236}">
                <a16:creationId xmlns:a16="http://schemas.microsoft.com/office/drawing/2014/main" xmlns="" id="{7D7C0A90-9E29-49F2-8A08-D531EE9268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06" r="31037"/>
          <a:stretch/>
        </p:blipFill>
        <p:spPr bwMode="auto">
          <a:xfrm>
            <a:off x="97066" y="2516956"/>
            <a:ext cx="710148" cy="182292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xmlns="" id="{98F6FC38-4C74-4263-B973-E1CDF4F98341}"/>
              </a:ext>
            </a:extLst>
          </p:cNvPr>
          <p:cNvSpPr txBox="1"/>
          <p:nvPr/>
        </p:nvSpPr>
        <p:spPr>
          <a:xfrm>
            <a:off x="1005453" y="1319842"/>
            <a:ext cx="18345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u="sng" dirty="0"/>
              <a:t>Acide éthanoïque</a:t>
            </a:r>
          </a:p>
          <a:p>
            <a:pPr algn="ctr"/>
            <a:r>
              <a:rPr lang="fr-FR" dirty="0"/>
              <a:t>CH</a:t>
            </a:r>
            <a:r>
              <a:rPr lang="fr-FR" baseline="-25000" dirty="0"/>
              <a:t>3</a:t>
            </a:r>
            <a:r>
              <a:rPr lang="fr-FR" dirty="0"/>
              <a:t>COOH</a:t>
            </a:r>
          </a:p>
        </p:txBody>
      </p:sp>
      <p:sp>
        <p:nvSpPr>
          <p:cNvPr id="18" name="Accolade fermante 17">
            <a:extLst>
              <a:ext uri="{FF2B5EF4-FFF2-40B4-BE49-F238E27FC236}">
                <a16:creationId xmlns:a16="http://schemas.microsoft.com/office/drawing/2014/main" xmlns="" id="{CC2A5530-1F5B-4EC3-A074-F4FDE98FBEE6}"/>
              </a:ext>
            </a:extLst>
          </p:cNvPr>
          <p:cNvSpPr/>
          <p:nvPr/>
        </p:nvSpPr>
        <p:spPr>
          <a:xfrm>
            <a:off x="1834452" y="2981743"/>
            <a:ext cx="497313" cy="1707373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Accolade fermante 18">
            <a:extLst>
              <a:ext uri="{FF2B5EF4-FFF2-40B4-BE49-F238E27FC236}">
                <a16:creationId xmlns:a16="http://schemas.microsoft.com/office/drawing/2014/main" xmlns="" id="{9454EFA1-D3ED-4C00-B521-82BE3CDC0425}"/>
              </a:ext>
            </a:extLst>
          </p:cNvPr>
          <p:cNvSpPr/>
          <p:nvPr/>
        </p:nvSpPr>
        <p:spPr>
          <a:xfrm>
            <a:off x="728902" y="946330"/>
            <a:ext cx="356696" cy="1485224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xmlns="" id="{87FF708E-F39C-4995-A3FF-21CE4B6392A8}"/>
              </a:ext>
            </a:extLst>
          </p:cNvPr>
          <p:cNvSpPr txBox="1"/>
          <p:nvPr/>
        </p:nvSpPr>
        <p:spPr>
          <a:xfrm>
            <a:off x="2270329" y="3032956"/>
            <a:ext cx="1903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u="sng" dirty="0"/>
              <a:t>Acide ascorbique : </a:t>
            </a: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xmlns="" id="{5B0FAB7A-1CBE-4FE6-A2FE-D70E6A431083}"/>
              </a:ext>
            </a:extLst>
          </p:cNvPr>
          <p:cNvPicPr/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4067" y="3442461"/>
            <a:ext cx="1796415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Picture 2">
            <a:extLst>
              <a:ext uri="{FF2B5EF4-FFF2-40B4-BE49-F238E27FC236}">
                <a16:creationId xmlns:a16="http://schemas.microsoft.com/office/drawing/2014/main" xmlns="" id="{409BFE46-608F-4DE4-BE03-7CF3D71278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048" y="3644253"/>
            <a:ext cx="1394946" cy="1044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ZoneTexte 2">
            <a:extLst>
              <a:ext uri="{FF2B5EF4-FFF2-40B4-BE49-F238E27FC236}">
                <a16:creationId xmlns:a16="http://schemas.microsoft.com/office/drawing/2014/main" xmlns="" id="{13E36794-3C1C-413D-87BC-741367C1CC82}"/>
              </a:ext>
            </a:extLst>
          </p:cNvPr>
          <p:cNvSpPr txBox="1"/>
          <p:nvPr/>
        </p:nvSpPr>
        <p:spPr>
          <a:xfrm>
            <a:off x="2160400" y="796460"/>
            <a:ext cx="2313698" cy="461665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2400" dirty="0"/>
              <a:t>Solutions acides</a:t>
            </a:r>
          </a:p>
        </p:txBody>
      </p:sp>
      <p:sp>
        <p:nvSpPr>
          <p:cNvPr id="24" name="Accolade fermante 23">
            <a:extLst>
              <a:ext uri="{FF2B5EF4-FFF2-40B4-BE49-F238E27FC236}">
                <a16:creationId xmlns:a16="http://schemas.microsoft.com/office/drawing/2014/main" xmlns="" id="{DA2B85C5-E0AF-4061-841B-2743FA53A192}"/>
              </a:ext>
            </a:extLst>
          </p:cNvPr>
          <p:cNvSpPr/>
          <p:nvPr/>
        </p:nvSpPr>
        <p:spPr>
          <a:xfrm>
            <a:off x="3916038" y="1600235"/>
            <a:ext cx="356696" cy="111761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xmlns="" id="{C0B8A5B1-9398-4325-917C-6FB357A58B49}"/>
              </a:ext>
            </a:extLst>
          </p:cNvPr>
          <p:cNvCxnSpPr>
            <a:cxnSpLocks/>
          </p:cNvCxnSpPr>
          <p:nvPr/>
        </p:nvCxnSpPr>
        <p:spPr>
          <a:xfrm>
            <a:off x="6081775" y="983864"/>
            <a:ext cx="0" cy="352539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ZoneTexte 27">
            <a:extLst>
              <a:ext uri="{FF2B5EF4-FFF2-40B4-BE49-F238E27FC236}">
                <a16:creationId xmlns:a16="http://schemas.microsoft.com/office/drawing/2014/main" xmlns="" id="{4DEEE1AA-016E-4F75-BDD3-2851FA3F69F5}"/>
              </a:ext>
            </a:extLst>
          </p:cNvPr>
          <p:cNvSpPr txBox="1"/>
          <p:nvPr/>
        </p:nvSpPr>
        <p:spPr>
          <a:xfrm>
            <a:off x="6443517" y="845239"/>
            <a:ext cx="2585519" cy="461665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2400" dirty="0"/>
              <a:t>Solutions basiques</a:t>
            </a:r>
          </a:p>
        </p:txBody>
      </p:sp>
    </p:spTree>
    <p:extLst>
      <p:ext uri="{BB962C8B-B14F-4D97-AF65-F5344CB8AC3E}">
        <p14:creationId xmlns:p14="http://schemas.microsoft.com/office/powerpoint/2010/main" val="3328599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7A246569-48A5-481B-8F01-830BF357F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="" id="{AEC7A3A8-2993-4B71-A1E4-0B9F17543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Acide éthanoïque dans l’eau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au 3">
                <a:extLst>
                  <a:ext uri="{FF2B5EF4-FFF2-40B4-BE49-F238E27FC236}">
                    <a16:creationId xmlns:a16="http://schemas.microsoft.com/office/drawing/2014/main" xmlns="" id="{694BAC7C-A675-459C-A5DF-B21AC6853BC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30421773"/>
                  </p:ext>
                </p:extLst>
              </p:nvPr>
            </p:nvGraphicFramePr>
            <p:xfrm>
              <a:off x="832022" y="1368713"/>
              <a:ext cx="6772651" cy="1233484"/>
            </p:xfrm>
            <a:graphic>
              <a:graphicData uri="http://schemas.openxmlformats.org/drawingml/2006/table">
                <a:tbl>
                  <a:tblPr firstRow="1" firstCol="1" bandRow="1">
                    <a:tableStyleId>{21E4AEA4-8DFA-4A89-87EB-49C32662AFE0}</a:tableStyleId>
                  </a:tblPr>
                  <a:tblGrid>
                    <a:gridCol w="1037325">
                      <a:extLst>
                        <a:ext uri="{9D8B030D-6E8A-4147-A177-3AD203B41FA5}">
                          <a16:colId xmlns:a16="http://schemas.microsoft.com/office/drawing/2014/main" xmlns="" val="3107626932"/>
                        </a:ext>
                      </a:extLst>
                    </a:gridCol>
                    <a:gridCol w="1150078">
                      <a:extLst>
                        <a:ext uri="{9D8B030D-6E8A-4147-A177-3AD203B41FA5}">
                          <a16:colId xmlns:a16="http://schemas.microsoft.com/office/drawing/2014/main" xmlns="" val="3604411998"/>
                        </a:ext>
                      </a:extLst>
                    </a:gridCol>
                    <a:gridCol w="1157532">
                      <a:extLst>
                        <a:ext uri="{9D8B030D-6E8A-4147-A177-3AD203B41FA5}">
                          <a16:colId xmlns:a16="http://schemas.microsoft.com/office/drawing/2014/main" xmlns="" val="3427747760"/>
                        </a:ext>
                      </a:extLst>
                    </a:gridCol>
                    <a:gridCol w="1072489">
                      <a:extLst>
                        <a:ext uri="{9D8B030D-6E8A-4147-A177-3AD203B41FA5}">
                          <a16:colId xmlns:a16="http://schemas.microsoft.com/office/drawing/2014/main" xmlns="" val="2697508845"/>
                        </a:ext>
                      </a:extLst>
                    </a:gridCol>
                    <a:gridCol w="1195562">
                      <a:extLst>
                        <a:ext uri="{9D8B030D-6E8A-4147-A177-3AD203B41FA5}">
                          <a16:colId xmlns:a16="http://schemas.microsoft.com/office/drawing/2014/main" xmlns="" val="1862895456"/>
                        </a:ext>
                      </a:extLst>
                    </a:gridCol>
                    <a:gridCol w="1159665">
                      <a:extLst>
                        <a:ext uri="{9D8B030D-6E8A-4147-A177-3AD203B41FA5}">
                          <a16:colId xmlns:a16="http://schemas.microsoft.com/office/drawing/2014/main" xmlns="" val="754401626"/>
                        </a:ext>
                      </a:extLst>
                    </a:gridCol>
                  </a:tblGrid>
                  <a:tr h="380044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fr-FR" sz="1400" dirty="0">
                              <a:effectLst/>
                            </a:rPr>
                            <a:t> </a:t>
                          </a:r>
                          <a:endParaRPr lang="fr-FR" sz="14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fr-FR" sz="1350" b="0" i="1" kern="1200" dirty="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CH</a:t>
                          </a:r>
                          <a:r>
                            <a:rPr lang="fr-FR" sz="1350" b="0" i="1" kern="1200" baseline="-25000" dirty="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3</a:t>
                          </a:r>
                          <a:r>
                            <a:rPr lang="fr-FR" sz="1350" b="0" i="1" kern="1200" dirty="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COOH (aq) </a:t>
                          </a:r>
                          <a:endParaRPr lang="fr-FR" sz="1400" b="0" i="1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400" i="1">
                                        <a:effectLst/>
                                        <a:latin typeface="Cambria Math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fr-FR" sz="1400" i="1">
                                            <a:effectLst/>
                                            <a:latin typeface="Cambria Math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sz="1400">
                                            <a:effectLst/>
                                            <a:latin typeface="Cambria Math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fr-FR" sz="1400">
                                            <a:effectLst/>
                                            <a:latin typeface="Cambria Math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fr-FR" sz="1400">
                                        <a:effectLst/>
                                        <a:latin typeface="Cambria Math" charset="0"/>
                                      </a:rPr>
                                      <m:t>𝑂</m:t>
                                    </m:r>
                                  </m:e>
                                  <m:sub>
                                    <m:r>
                                      <a:rPr lang="fr-FR" sz="1400">
                                        <a:effectLst/>
                                        <a:latin typeface="Cambria Math" charset="0"/>
                                      </a:rPr>
                                      <m:t>(</m:t>
                                    </m:r>
                                    <m:r>
                                      <a:rPr lang="fr-FR" sz="1400">
                                        <a:effectLst/>
                                        <a:latin typeface="Cambria Math" charset="0"/>
                                      </a:rPr>
                                      <m:t>𝑙</m:t>
                                    </m:r>
                                    <m:r>
                                      <a:rPr lang="fr-FR" sz="1400">
                                        <a:effectLst/>
                                        <a:latin typeface="Cambria Math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14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fr-FR" sz="14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400" i="1">
                                        <a:effectLst/>
                                        <a:latin typeface="Cambria Math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fr-FR" sz="1400" i="1">
                                            <a:effectLst/>
                                            <a:latin typeface="Cambria Math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sz="1400">
                                            <a:effectLst/>
                                            <a:latin typeface="Cambria Math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fr-FR" sz="1400">
                                            <a:effectLst/>
                                            <a:latin typeface="Cambria Math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sSup>
                                      <m:sSupPr>
                                        <m:ctrlPr>
                                          <a:rPr lang="fr-FR" sz="1400" i="1">
                                            <a:effectLst/>
                                            <a:latin typeface="Cambria Math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fr-FR" sz="1400">
                                            <a:effectLst/>
                                            <a:latin typeface="Cambria Math" charset="0"/>
                                          </a:rPr>
                                          <m:t>𝑂</m:t>
                                        </m:r>
                                      </m:e>
                                      <m:sup>
                                        <m:r>
                                          <a:rPr lang="fr-FR" sz="1400">
                                            <a:effectLst/>
                                            <a:latin typeface="Cambria Math" charset="0"/>
                                          </a:rPr>
                                          <m:t>+</m:t>
                                        </m:r>
                                      </m:sup>
                                    </m:sSup>
                                  </m:e>
                                  <m:sub>
                                    <m:r>
                                      <a:rPr lang="fr-FR" sz="1400">
                                        <a:effectLst/>
                                        <a:latin typeface="Cambria Math" charset="0"/>
                                      </a:rPr>
                                      <m:t>(</m:t>
                                    </m:r>
                                    <m:r>
                                      <a:rPr lang="fr-FR" sz="1400">
                                        <a:effectLst/>
                                        <a:latin typeface="Cambria Math" charset="0"/>
                                      </a:rPr>
                                      <m:t>𝑎𝑞</m:t>
                                    </m:r>
                                    <m:r>
                                      <a:rPr lang="fr-FR" sz="1400">
                                        <a:effectLst/>
                                        <a:latin typeface="Cambria Math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14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fr-FR" sz="1350" b="0" i="1" kern="1200" dirty="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CH</a:t>
                          </a:r>
                          <a:r>
                            <a:rPr lang="fr-FR" sz="1350" b="0" i="1" kern="1200" baseline="-25000" dirty="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3</a:t>
                          </a:r>
                          <a:r>
                            <a:rPr lang="fr-FR" sz="1350" b="0" i="1" kern="1200" dirty="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COO</a:t>
                          </a:r>
                          <a:r>
                            <a:rPr lang="fr-FR" sz="1350" b="0" i="1" kern="1200" baseline="30000" dirty="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</a:t>
                          </a:r>
                          <a:r>
                            <a:rPr lang="fr-FR" sz="1350" b="0" i="1" kern="1200" dirty="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(aq)</a:t>
                          </a:r>
                          <a:endParaRPr lang="fr-FR" sz="1400" b="0" i="1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xmlns="" val="623486994"/>
                      </a:ext>
                    </a:extLst>
                  </a:tr>
                  <a:tr h="422303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fr-FR" sz="1400" dirty="0">
                            <a:effectLst/>
                          </a:endParaRPr>
                        </a:p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fr-FR" sz="1400" dirty="0">
                              <a:effectLst/>
                            </a:rPr>
                            <a:t>Etat initial</a:t>
                          </a:r>
                          <a:endParaRPr lang="fr-FR" sz="14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fr-FR" sz="1400" dirty="0">
                              <a:effectLst/>
                            </a:rPr>
                            <a:t>C</a:t>
                          </a:r>
                          <a:endParaRPr lang="fr-FR" sz="14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fr-FR" sz="1400" dirty="0">
                              <a:effectLst/>
                            </a:rPr>
                            <a:t>Excès</a:t>
                          </a:r>
                          <a:endParaRPr lang="fr-FR" sz="14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fr-FR" sz="1400" dirty="0">
                              <a:effectLst/>
                            </a:rPr>
                            <a:t> </a:t>
                          </a:r>
                          <a:endParaRPr lang="fr-FR" sz="14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fr-FR" sz="1400">
                              <a:effectLst/>
                            </a:rPr>
                            <a:t>0</a:t>
                          </a:r>
                          <a:endParaRPr lang="fr-FR" sz="140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fr-FR" sz="1400">
                              <a:effectLst/>
                            </a:rPr>
                            <a:t>0</a:t>
                          </a:r>
                          <a:endParaRPr lang="fr-FR" sz="140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xmlns="" val="4192013731"/>
                      </a:ext>
                    </a:extLst>
                  </a:tr>
                  <a:tr h="422303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fr-FR" sz="1400" dirty="0">
                            <a:effectLst/>
                          </a:endParaRPr>
                        </a:p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fr-FR" sz="1400" dirty="0">
                              <a:effectLst/>
                            </a:rPr>
                            <a:t>Etat final</a:t>
                          </a:r>
                          <a:endParaRPr lang="fr-FR" sz="14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400">
                                    <a:effectLst/>
                                    <a:latin typeface="Cambria Math" charset="0"/>
                                  </a:rPr>
                                  <m:t>𝐶</m:t>
                                </m:r>
                                <m:r>
                                  <a:rPr lang="fr-FR" sz="1400">
                                    <a:effectLst/>
                                    <a:latin typeface="Cambria Math" charset="0"/>
                                  </a:rPr>
                                  <m:t>(1−</m:t>
                                </m:r>
                                <m:r>
                                  <a:rPr lang="fr-FR" sz="1400">
                                    <a:effectLst/>
                                    <a:latin typeface="Cambria Math" charset="0"/>
                                  </a:rPr>
                                  <m:t>𝛼</m:t>
                                </m:r>
                                <m:r>
                                  <a:rPr lang="fr-FR" sz="1400">
                                    <a:effectLst/>
                                    <a:latin typeface="Cambria Math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fr-FR" sz="140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fr-FR" sz="1400">
                              <a:effectLst/>
                            </a:rPr>
                            <a:t>Excès</a:t>
                          </a:r>
                          <a:endParaRPr lang="fr-FR" sz="140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fr-FR" sz="1400" dirty="0">
                              <a:effectLst/>
                            </a:rPr>
                            <a:t> </a:t>
                          </a:r>
                          <a:endParaRPr lang="fr-FR" sz="14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400">
                                    <a:effectLst/>
                                    <a:latin typeface="Cambria Math" charset="0"/>
                                  </a:rPr>
                                  <m:t>𝐶</m:t>
                                </m:r>
                                <m:r>
                                  <a:rPr lang="fr-FR" sz="1400">
                                    <a:effectLst/>
                                    <a:latin typeface="Cambria Math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fr-FR" sz="14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400">
                                    <a:effectLst/>
                                    <a:latin typeface="Cambria Math" charset="0"/>
                                  </a:rPr>
                                  <m:t>𝐶</m:t>
                                </m:r>
                                <m:r>
                                  <a:rPr lang="fr-FR" sz="1400">
                                    <a:effectLst/>
                                    <a:latin typeface="Cambria Math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fr-FR" sz="14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xmlns="" val="379540334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au 3">
                <a:extLst>
                  <a:ext uri="{FF2B5EF4-FFF2-40B4-BE49-F238E27FC236}">
                    <a16:creationId xmlns:a16="http://schemas.microsoft.com/office/drawing/2014/main" id="{694BAC7C-A675-459C-A5DF-B21AC6853BC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30421773"/>
                  </p:ext>
                </p:extLst>
              </p:nvPr>
            </p:nvGraphicFramePr>
            <p:xfrm>
              <a:off x="832022" y="1368713"/>
              <a:ext cx="6772651" cy="1233484"/>
            </p:xfrm>
            <a:graphic>
              <a:graphicData uri="http://schemas.openxmlformats.org/drawingml/2006/table">
                <a:tbl>
                  <a:tblPr firstRow="1" firstCol="1" bandRow="1">
                    <a:tableStyleId>{21E4AEA4-8DFA-4A89-87EB-49C32662AFE0}</a:tableStyleId>
                  </a:tblPr>
                  <a:tblGrid>
                    <a:gridCol w="1037325">
                      <a:extLst>
                        <a:ext uri="{9D8B030D-6E8A-4147-A177-3AD203B41FA5}">
                          <a16:colId xmlns:a16="http://schemas.microsoft.com/office/drawing/2014/main" val="3107626932"/>
                        </a:ext>
                      </a:extLst>
                    </a:gridCol>
                    <a:gridCol w="1150078">
                      <a:extLst>
                        <a:ext uri="{9D8B030D-6E8A-4147-A177-3AD203B41FA5}">
                          <a16:colId xmlns:a16="http://schemas.microsoft.com/office/drawing/2014/main" val="3604411998"/>
                        </a:ext>
                      </a:extLst>
                    </a:gridCol>
                    <a:gridCol w="1157532">
                      <a:extLst>
                        <a:ext uri="{9D8B030D-6E8A-4147-A177-3AD203B41FA5}">
                          <a16:colId xmlns:a16="http://schemas.microsoft.com/office/drawing/2014/main" val="3427747760"/>
                        </a:ext>
                      </a:extLst>
                    </a:gridCol>
                    <a:gridCol w="1072489">
                      <a:extLst>
                        <a:ext uri="{9D8B030D-6E8A-4147-A177-3AD203B41FA5}">
                          <a16:colId xmlns:a16="http://schemas.microsoft.com/office/drawing/2014/main" val="2697508845"/>
                        </a:ext>
                      </a:extLst>
                    </a:gridCol>
                    <a:gridCol w="1195562">
                      <a:extLst>
                        <a:ext uri="{9D8B030D-6E8A-4147-A177-3AD203B41FA5}">
                          <a16:colId xmlns:a16="http://schemas.microsoft.com/office/drawing/2014/main" val="1862895456"/>
                        </a:ext>
                      </a:extLst>
                    </a:gridCol>
                    <a:gridCol w="1159665">
                      <a:extLst>
                        <a:ext uri="{9D8B030D-6E8A-4147-A177-3AD203B41FA5}">
                          <a16:colId xmlns:a16="http://schemas.microsoft.com/office/drawing/2014/main" val="754401626"/>
                        </a:ext>
                      </a:extLst>
                    </a:gridCol>
                  </a:tblGrid>
                  <a:tr h="380044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fr-FR" sz="1400" dirty="0">
                              <a:effectLst/>
                            </a:rPr>
                            <a:t> </a:t>
                          </a:r>
                          <a:endParaRPr lang="fr-FR" sz="14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fr-FR" sz="1350" b="0" i="1" kern="1200" dirty="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CH</a:t>
                          </a:r>
                          <a:r>
                            <a:rPr lang="fr-FR" sz="1350" b="0" i="1" kern="1200" baseline="-25000" dirty="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3</a:t>
                          </a:r>
                          <a:r>
                            <a:rPr lang="fr-FR" sz="1350" b="0" i="1" kern="1200" dirty="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COOH (aq) </a:t>
                          </a:r>
                          <a:endParaRPr lang="fr-FR" sz="1400" b="0" i="1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189474" t="-11111" r="-298421" b="-2523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fr-FR" sz="14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368528" t="-11111" r="-98477" b="-2523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fr-FR" sz="1350" b="0" i="1" kern="1200" dirty="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CH</a:t>
                          </a:r>
                          <a:r>
                            <a:rPr lang="fr-FR" sz="1350" b="0" i="1" kern="1200" baseline="-25000" dirty="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3</a:t>
                          </a:r>
                          <a:r>
                            <a:rPr lang="fr-FR" sz="1350" b="0" i="1" kern="1200" dirty="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COO</a:t>
                          </a:r>
                          <a:r>
                            <a:rPr lang="fr-FR" sz="1350" b="0" i="1" kern="1200" baseline="30000" dirty="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</a:t>
                          </a:r>
                          <a:r>
                            <a:rPr lang="fr-FR" sz="1350" b="0" i="1" kern="1200" dirty="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(aq)</a:t>
                          </a:r>
                          <a:endParaRPr lang="fr-FR" sz="1400" b="0" i="1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623486994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fr-FR" sz="1400" dirty="0">
                            <a:effectLst/>
                          </a:endParaRPr>
                        </a:p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fr-FR" sz="1400" dirty="0">
                              <a:effectLst/>
                            </a:rPr>
                            <a:t>Etat initial</a:t>
                          </a:r>
                          <a:endParaRPr lang="fr-FR" sz="14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fr-FR" sz="1400" dirty="0">
                              <a:effectLst/>
                            </a:rPr>
                            <a:t>C</a:t>
                          </a:r>
                          <a:endParaRPr lang="fr-FR" sz="14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fr-FR" sz="1400" dirty="0">
                              <a:effectLst/>
                            </a:rPr>
                            <a:t>Excès</a:t>
                          </a:r>
                          <a:endParaRPr lang="fr-FR" sz="14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fr-FR" sz="1400" dirty="0">
                              <a:effectLst/>
                            </a:rPr>
                            <a:t> </a:t>
                          </a:r>
                          <a:endParaRPr lang="fr-FR" sz="14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fr-FR" sz="1400">
                              <a:effectLst/>
                            </a:rPr>
                            <a:t>0</a:t>
                          </a:r>
                          <a:endParaRPr lang="fr-FR" sz="140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fr-FR" sz="1400">
                              <a:effectLst/>
                            </a:rPr>
                            <a:t>0</a:t>
                          </a:r>
                          <a:endParaRPr lang="fr-FR" sz="140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192013731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fr-FR" sz="1400" dirty="0">
                            <a:effectLst/>
                          </a:endParaRPr>
                        </a:p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fr-FR" sz="1400" dirty="0">
                              <a:effectLst/>
                            </a:rPr>
                            <a:t>Etat final</a:t>
                          </a:r>
                          <a:endParaRPr lang="fr-FR" sz="14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90476" t="-200000" r="-400529" b="-2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fr-FR" sz="1400">
                              <a:effectLst/>
                            </a:rPr>
                            <a:t>Excès</a:t>
                          </a:r>
                          <a:endParaRPr lang="fr-FR" sz="140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fr-FR" sz="1400" dirty="0">
                              <a:effectLst/>
                            </a:rPr>
                            <a:t> </a:t>
                          </a:r>
                          <a:endParaRPr lang="fr-FR" sz="14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368528" t="-200000" r="-98477" b="-2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485789" t="-200000" r="-2105" b="-27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95403347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xmlns="" id="{8A2025D5-024B-420A-8F7D-234EA35627F1}"/>
              </a:ext>
            </a:extLst>
          </p:cNvPr>
          <p:cNvCxnSpPr/>
          <p:nvPr/>
        </p:nvCxnSpPr>
        <p:spPr>
          <a:xfrm>
            <a:off x="4446948" y="1562100"/>
            <a:ext cx="590550" cy="0"/>
          </a:xfrm>
          <a:prstGeom prst="straightConnector1">
            <a:avLst/>
          </a:prstGeom>
          <a:ln>
            <a:solidFill>
              <a:schemeClr val="bg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xmlns="" id="{8E32D6F8-21E2-42A0-92B3-973B4B877AA0}"/>
                  </a:ext>
                </a:extLst>
              </p:cNvPr>
              <p:cNvSpPr/>
              <p:nvPr/>
            </p:nvSpPr>
            <p:spPr>
              <a:xfrm>
                <a:off x="2658862" y="2886232"/>
                <a:ext cx="357617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𝒑𝑯</m:t>
                      </m:r>
                      <m:r>
                        <a:rPr lang="fr-FR" b="0" i="0">
                          <a:latin typeface="Cambria Math" panose="02040503050406030204" pitchFamily="18" charset="0"/>
                        </a:rPr>
                        <m:t>= −</m:t>
                      </m:r>
                      <m:func>
                        <m:funcPr>
                          <m:ctrlPr>
                            <a:rPr lang="fr-FR" b="0" i="1">
                              <a:latin typeface="Cambria Math" charset="0"/>
                            </a:rPr>
                          </m:ctrlPr>
                        </m:funcPr>
                        <m:fName>
                          <m:r>
                            <a:rPr lang="fr-FR" b="1" i="0">
                              <a:latin typeface="Cambria Math" panose="02040503050406030204" pitchFamily="18" charset="0"/>
                            </a:rPr>
                            <m:t>𝐥𝐨𝐠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fr-FR" b="0" i="1">
                                  <a:latin typeface="Cambria Math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fr-FR" b="0" i="1">
                                      <a:latin typeface="Cambria Math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fr-FR" b="0" i="1">
                                          <a:latin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b="1" i="1">
                                          <a:latin typeface="Cambria Math" panose="02040503050406030204" pitchFamily="18" charset="0"/>
                                        </a:rPr>
                                        <m:t>𝑯</m:t>
                                      </m:r>
                                    </m:e>
                                    <m:sub>
                                      <m:r>
                                        <a:rPr lang="fr-FR" b="0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  <m:t>𝑶</m:t>
                                  </m:r>
                                </m:e>
                                <m:sup>
                                  <m:r>
                                    <a:rPr lang="fr-FR" b="0" i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p>
                            </m:e>
                          </m:d>
                          <m:r>
                            <a:rPr lang="fr-FR" b="0" i="0">
                              <a:latin typeface="Cambria Math" panose="02040503050406030204" pitchFamily="18" charset="0"/>
                            </a:rPr>
                            <m:t>= −</m:t>
                          </m:r>
                          <m:func>
                            <m:funcPr>
                              <m:ctrlPr>
                                <a:rPr lang="fr-FR" b="0" i="1">
                                  <a:latin typeface="Cambria Math" charset="0"/>
                                </a:rPr>
                              </m:ctrlPr>
                            </m:funcPr>
                            <m:fName>
                              <m:r>
                                <a:rPr lang="fr-FR" b="1" i="0">
                                  <a:latin typeface="Cambria Math" panose="02040503050406030204" pitchFamily="18" charset="0"/>
                                </a:rPr>
                                <m:t>𝐥𝐨𝐠</m:t>
                              </m:r>
                            </m:fName>
                            <m:e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l-GR" b="1" i="1" smtClean="0"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E32D6F8-21E2-42A0-92B3-973B4B877A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8862" y="2886232"/>
                <a:ext cx="3576172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ZoneTexte 7">
            <a:extLst>
              <a:ext uri="{FF2B5EF4-FFF2-40B4-BE49-F238E27FC236}">
                <a16:creationId xmlns:a16="http://schemas.microsoft.com/office/drawing/2014/main" xmlns="" id="{B69FA06F-4C38-4CA6-A06D-A3A179AB2E06}"/>
              </a:ext>
            </a:extLst>
          </p:cNvPr>
          <p:cNvSpPr txBox="1"/>
          <p:nvPr/>
        </p:nvSpPr>
        <p:spPr>
          <a:xfrm>
            <a:off x="5422899" y="3787250"/>
            <a:ext cx="3576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0&lt;</a:t>
            </a:r>
            <a:r>
              <a:rPr lang="el-GR" dirty="0"/>
              <a:t>α</a:t>
            </a:r>
            <a:r>
              <a:rPr lang="fr-FR" dirty="0"/>
              <a:t>&lt;1, le coefficient de dissociation</a:t>
            </a:r>
          </a:p>
        </p:txBody>
      </p:sp>
    </p:spTree>
    <p:extLst>
      <p:ext uri="{BB962C8B-B14F-4D97-AF65-F5344CB8AC3E}">
        <p14:creationId xmlns:p14="http://schemas.microsoft.com/office/powerpoint/2010/main" val="3790897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7A246569-48A5-481B-8F01-830BF357F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="" id="{AEC7A3A8-2993-4B71-A1E4-0B9F17543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1" y="144379"/>
            <a:ext cx="8865720" cy="694497"/>
          </a:xfrm>
        </p:spPr>
        <p:txBody>
          <a:bodyPr/>
          <a:lstStyle/>
          <a:p>
            <a:pPr algn="ctr"/>
            <a:r>
              <a:rPr lang="fr-FR" sz="2800" dirty="0"/>
              <a:t>Détermination de la constante de dissociation de l’acide éthanoïque dans l’eau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au 3">
                <a:extLst>
                  <a:ext uri="{FF2B5EF4-FFF2-40B4-BE49-F238E27FC236}">
                    <a16:creationId xmlns:a16="http://schemas.microsoft.com/office/drawing/2014/main" xmlns="" id="{694BAC7C-A675-459C-A5DF-B21AC6853BC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32022" y="1368713"/>
              <a:ext cx="6772651" cy="1233484"/>
            </p:xfrm>
            <a:graphic>
              <a:graphicData uri="http://schemas.openxmlformats.org/drawingml/2006/table">
                <a:tbl>
                  <a:tblPr firstRow="1" firstCol="1" bandRow="1">
                    <a:tableStyleId>{21E4AEA4-8DFA-4A89-87EB-49C32662AFE0}</a:tableStyleId>
                  </a:tblPr>
                  <a:tblGrid>
                    <a:gridCol w="1037325">
                      <a:extLst>
                        <a:ext uri="{9D8B030D-6E8A-4147-A177-3AD203B41FA5}">
                          <a16:colId xmlns:a16="http://schemas.microsoft.com/office/drawing/2014/main" xmlns="" val="3107626932"/>
                        </a:ext>
                      </a:extLst>
                    </a:gridCol>
                    <a:gridCol w="1150078">
                      <a:extLst>
                        <a:ext uri="{9D8B030D-6E8A-4147-A177-3AD203B41FA5}">
                          <a16:colId xmlns:a16="http://schemas.microsoft.com/office/drawing/2014/main" xmlns="" val="3604411998"/>
                        </a:ext>
                      </a:extLst>
                    </a:gridCol>
                    <a:gridCol w="1157532">
                      <a:extLst>
                        <a:ext uri="{9D8B030D-6E8A-4147-A177-3AD203B41FA5}">
                          <a16:colId xmlns:a16="http://schemas.microsoft.com/office/drawing/2014/main" xmlns="" val="3427747760"/>
                        </a:ext>
                      </a:extLst>
                    </a:gridCol>
                    <a:gridCol w="1072489">
                      <a:extLst>
                        <a:ext uri="{9D8B030D-6E8A-4147-A177-3AD203B41FA5}">
                          <a16:colId xmlns:a16="http://schemas.microsoft.com/office/drawing/2014/main" xmlns="" val="2697508845"/>
                        </a:ext>
                      </a:extLst>
                    </a:gridCol>
                    <a:gridCol w="1195562">
                      <a:extLst>
                        <a:ext uri="{9D8B030D-6E8A-4147-A177-3AD203B41FA5}">
                          <a16:colId xmlns:a16="http://schemas.microsoft.com/office/drawing/2014/main" xmlns="" val="1862895456"/>
                        </a:ext>
                      </a:extLst>
                    </a:gridCol>
                    <a:gridCol w="1159665">
                      <a:extLst>
                        <a:ext uri="{9D8B030D-6E8A-4147-A177-3AD203B41FA5}">
                          <a16:colId xmlns:a16="http://schemas.microsoft.com/office/drawing/2014/main" xmlns="" val="754401626"/>
                        </a:ext>
                      </a:extLst>
                    </a:gridCol>
                  </a:tblGrid>
                  <a:tr h="380044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fr-FR" sz="1400" dirty="0">
                              <a:effectLst/>
                            </a:rPr>
                            <a:t> </a:t>
                          </a:r>
                          <a:endParaRPr lang="fr-FR" sz="14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fr-FR" sz="1350" b="0" i="1" kern="1200" dirty="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CH</a:t>
                          </a:r>
                          <a:r>
                            <a:rPr lang="fr-FR" sz="1350" b="0" i="1" kern="1200" baseline="-25000" dirty="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3</a:t>
                          </a:r>
                          <a:r>
                            <a:rPr lang="fr-FR" sz="1350" b="0" i="1" kern="1200" dirty="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COOH (aq) </a:t>
                          </a:r>
                          <a:endParaRPr lang="fr-FR" sz="1400" b="0" i="1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400" i="1">
                                        <a:effectLst/>
                                        <a:latin typeface="Cambria Math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fr-FR" sz="1400" i="1">
                                            <a:effectLst/>
                                            <a:latin typeface="Cambria Math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sz="1400">
                                            <a:effectLst/>
                                            <a:latin typeface="Cambria Math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fr-FR" sz="1400">
                                            <a:effectLst/>
                                            <a:latin typeface="Cambria Math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fr-FR" sz="1400">
                                        <a:effectLst/>
                                        <a:latin typeface="Cambria Math" charset="0"/>
                                      </a:rPr>
                                      <m:t>𝑂</m:t>
                                    </m:r>
                                  </m:e>
                                  <m:sub>
                                    <m:r>
                                      <a:rPr lang="fr-FR" sz="1400">
                                        <a:effectLst/>
                                        <a:latin typeface="Cambria Math" charset="0"/>
                                      </a:rPr>
                                      <m:t>(</m:t>
                                    </m:r>
                                    <m:r>
                                      <a:rPr lang="fr-FR" sz="1400">
                                        <a:effectLst/>
                                        <a:latin typeface="Cambria Math" charset="0"/>
                                      </a:rPr>
                                      <m:t>𝑙</m:t>
                                    </m:r>
                                    <m:r>
                                      <a:rPr lang="fr-FR" sz="1400">
                                        <a:effectLst/>
                                        <a:latin typeface="Cambria Math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14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fr-FR" sz="14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400" i="1">
                                        <a:effectLst/>
                                        <a:latin typeface="Cambria Math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fr-FR" sz="1400" i="1">
                                            <a:effectLst/>
                                            <a:latin typeface="Cambria Math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sz="1400">
                                            <a:effectLst/>
                                            <a:latin typeface="Cambria Math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fr-FR" sz="1400">
                                            <a:effectLst/>
                                            <a:latin typeface="Cambria Math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sSup>
                                      <m:sSupPr>
                                        <m:ctrlPr>
                                          <a:rPr lang="fr-FR" sz="1400" i="1">
                                            <a:effectLst/>
                                            <a:latin typeface="Cambria Math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fr-FR" sz="1400">
                                            <a:effectLst/>
                                            <a:latin typeface="Cambria Math" charset="0"/>
                                          </a:rPr>
                                          <m:t>𝑂</m:t>
                                        </m:r>
                                      </m:e>
                                      <m:sup>
                                        <m:r>
                                          <a:rPr lang="fr-FR" sz="1400">
                                            <a:effectLst/>
                                            <a:latin typeface="Cambria Math" charset="0"/>
                                          </a:rPr>
                                          <m:t>+</m:t>
                                        </m:r>
                                      </m:sup>
                                    </m:sSup>
                                  </m:e>
                                  <m:sub>
                                    <m:r>
                                      <a:rPr lang="fr-FR" sz="1400">
                                        <a:effectLst/>
                                        <a:latin typeface="Cambria Math" charset="0"/>
                                      </a:rPr>
                                      <m:t>(</m:t>
                                    </m:r>
                                    <m:r>
                                      <a:rPr lang="fr-FR" sz="1400">
                                        <a:effectLst/>
                                        <a:latin typeface="Cambria Math" charset="0"/>
                                      </a:rPr>
                                      <m:t>𝑎𝑞</m:t>
                                    </m:r>
                                    <m:r>
                                      <a:rPr lang="fr-FR" sz="1400">
                                        <a:effectLst/>
                                        <a:latin typeface="Cambria Math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14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fr-FR" sz="1350" b="0" i="1" kern="1200" dirty="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CH</a:t>
                          </a:r>
                          <a:r>
                            <a:rPr lang="fr-FR" sz="1350" b="0" i="1" kern="1200" baseline="-25000" dirty="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3</a:t>
                          </a:r>
                          <a:r>
                            <a:rPr lang="fr-FR" sz="1350" b="0" i="1" kern="1200" dirty="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COO</a:t>
                          </a:r>
                          <a:r>
                            <a:rPr lang="fr-FR" sz="1350" b="0" i="1" kern="1200" baseline="30000" dirty="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</a:t>
                          </a:r>
                          <a:r>
                            <a:rPr lang="fr-FR" sz="1350" b="0" i="1" kern="1200" dirty="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(aq)</a:t>
                          </a:r>
                          <a:endParaRPr lang="fr-FR" sz="1400" b="0" i="1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xmlns="" val="623486994"/>
                      </a:ext>
                    </a:extLst>
                  </a:tr>
                  <a:tr h="422303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fr-FR" sz="1400" dirty="0">
                            <a:effectLst/>
                          </a:endParaRPr>
                        </a:p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fr-FR" sz="1400" dirty="0">
                              <a:effectLst/>
                            </a:rPr>
                            <a:t>Etat initial</a:t>
                          </a:r>
                          <a:endParaRPr lang="fr-FR" sz="14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fr-FR" sz="1400" dirty="0">
                              <a:effectLst/>
                            </a:rPr>
                            <a:t>C</a:t>
                          </a:r>
                          <a:endParaRPr lang="fr-FR" sz="14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fr-FR" sz="1400" dirty="0">
                              <a:effectLst/>
                            </a:rPr>
                            <a:t>Excès</a:t>
                          </a:r>
                          <a:endParaRPr lang="fr-FR" sz="14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fr-FR" sz="1400" dirty="0">
                              <a:effectLst/>
                            </a:rPr>
                            <a:t> </a:t>
                          </a:r>
                          <a:endParaRPr lang="fr-FR" sz="14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fr-FR" sz="1400">
                              <a:effectLst/>
                            </a:rPr>
                            <a:t>0</a:t>
                          </a:r>
                          <a:endParaRPr lang="fr-FR" sz="140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fr-FR" sz="1400">
                              <a:effectLst/>
                            </a:rPr>
                            <a:t>0</a:t>
                          </a:r>
                          <a:endParaRPr lang="fr-FR" sz="140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xmlns="" val="4192013731"/>
                      </a:ext>
                    </a:extLst>
                  </a:tr>
                  <a:tr h="422303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fr-FR" sz="1400" dirty="0">
                            <a:effectLst/>
                          </a:endParaRPr>
                        </a:p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fr-FR" sz="1400" dirty="0">
                              <a:effectLst/>
                            </a:rPr>
                            <a:t>Etat final</a:t>
                          </a:r>
                          <a:endParaRPr lang="fr-FR" sz="14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400">
                                    <a:effectLst/>
                                    <a:latin typeface="Cambria Math" charset="0"/>
                                  </a:rPr>
                                  <m:t>𝐶</m:t>
                                </m:r>
                                <m:r>
                                  <a:rPr lang="fr-FR" sz="1400">
                                    <a:effectLst/>
                                    <a:latin typeface="Cambria Math" charset="0"/>
                                  </a:rPr>
                                  <m:t>(1−</m:t>
                                </m:r>
                                <m:r>
                                  <a:rPr lang="fr-FR" sz="1400">
                                    <a:effectLst/>
                                    <a:latin typeface="Cambria Math" charset="0"/>
                                  </a:rPr>
                                  <m:t>𝛼</m:t>
                                </m:r>
                                <m:r>
                                  <a:rPr lang="fr-FR" sz="1400">
                                    <a:effectLst/>
                                    <a:latin typeface="Cambria Math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fr-FR" sz="140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fr-FR" sz="1400">
                              <a:effectLst/>
                            </a:rPr>
                            <a:t>Excès</a:t>
                          </a:r>
                          <a:endParaRPr lang="fr-FR" sz="140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fr-FR" sz="1400" dirty="0">
                              <a:effectLst/>
                            </a:rPr>
                            <a:t> </a:t>
                          </a:r>
                          <a:endParaRPr lang="fr-FR" sz="14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400">
                                    <a:effectLst/>
                                    <a:latin typeface="Cambria Math" charset="0"/>
                                  </a:rPr>
                                  <m:t>𝐶</m:t>
                                </m:r>
                                <m:r>
                                  <a:rPr lang="fr-FR" sz="1400">
                                    <a:effectLst/>
                                    <a:latin typeface="Cambria Math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fr-FR" sz="14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400">
                                    <a:effectLst/>
                                    <a:latin typeface="Cambria Math" charset="0"/>
                                  </a:rPr>
                                  <m:t>𝐶</m:t>
                                </m:r>
                                <m:r>
                                  <a:rPr lang="fr-FR" sz="1400">
                                    <a:effectLst/>
                                    <a:latin typeface="Cambria Math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fr-FR" sz="14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xmlns="" val="379540334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au 3">
                <a:extLst>
                  <a:ext uri="{FF2B5EF4-FFF2-40B4-BE49-F238E27FC236}">
                    <a16:creationId xmlns:a16="http://schemas.microsoft.com/office/drawing/2014/main" id="{694BAC7C-A675-459C-A5DF-B21AC6853BC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32022" y="1368713"/>
              <a:ext cx="6772651" cy="1233484"/>
            </p:xfrm>
            <a:graphic>
              <a:graphicData uri="http://schemas.openxmlformats.org/drawingml/2006/table">
                <a:tbl>
                  <a:tblPr firstRow="1" firstCol="1" bandRow="1">
                    <a:tableStyleId>{21E4AEA4-8DFA-4A89-87EB-49C32662AFE0}</a:tableStyleId>
                  </a:tblPr>
                  <a:tblGrid>
                    <a:gridCol w="1037325">
                      <a:extLst>
                        <a:ext uri="{9D8B030D-6E8A-4147-A177-3AD203B41FA5}">
                          <a16:colId xmlns:a16="http://schemas.microsoft.com/office/drawing/2014/main" val="3107626932"/>
                        </a:ext>
                      </a:extLst>
                    </a:gridCol>
                    <a:gridCol w="1150078">
                      <a:extLst>
                        <a:ext uri="{9D8B030D-6E8A-4147-A177-3AD203B41FA5}">
                          <a16:colId xmlns:a16="http://schemas.microsoft.com/office/drawing/2014/main" val="3604411998"/>
                        </a:ext>
                      </a:extLst>
                    </a:gridCol>
                    <a:gridCol w="1157532">
                      <a:extLst>
                        <a:ext uri="{9D8B030D-6E8A-4147-A177-3AD203B41FA5}">
                          <a16:colId xmlns:a16="http://schemas.microsoft.com/office/drawing/2014/main" val="3427747760"/>
                        </a:ext>
                      </a:extLst>
                    </a:gridCol>
                    <a:gridCol w="1072489">
                      <a:extLst>
                        <a:ext uri="{9D8B030D-6E8A-4147-A177-3AD203B41FA5}">
                          <a16:colId xmlns:a16="http://schemas.microsoft.com/office/drawing/2014/main" val="2697508845"/>
                        </a:ext>
                      </a:extLst>
                    </a:gridCol>
                    <a:gridCol w="1195562">
                      <a:extLst>
                        <a:ext uri="{9D8B030D-6E8A-4147-A177-3AD203B41FA5}">
                          <a16:colId xmlns:a16="http://schemas.microsoft.com/office/drawing/2014/main" val="1862895456"/>
                        </a:ext>
                      </a:extLst>
                    </a:gridCol>
                    <a:gridCol w="1159665">
                      <a:extLst>
                        <a:ext uri="{9D8B030D-6E8A-4147-A177-3AD203B41FA5}">
                          <a16:colId xmlns:a16="http://schemas.microsoft.com/office/drawing/2014/main" val="754401626"/>
                        </a:ext>
                      </a:extLst>
                    </a:gridCol>
                  </a:tblGrid>
                  <a:tr h="380044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fr-FR" sz="1400" dirty="0">
                              <a:effectLst/>
                            </a:rPr>
                            <a:t> </a:t>
                          </a:r>
                          <a:endParaRPr lang="fr-FR" sz="14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fr-FR" sz="1350" b="0" i="1" kern="1200" dirty="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CH</a:t>
                          </a:r>
                          <a:r>
                            <a:rPr lang="fr-FR" sz="1350" b="0" i="1" kern="1200" baseline="-25000" dirty="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3</a:t>
                          </a:r>
                          <a:r>
                            <a:rPr lang="fr-FR" sz="1350" b="0" i="1" kern="1200" dirty="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COOH (aq) </a:t>
                          </a:r>
                          <a:endParaRPr lang="fr-FR" sz="1400" b="0" i="1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189474" t="-11111" r="-298421" b="-2523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fr-FR" sz="14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368528" t="-11111" r="-98477" b="-2523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fr-FR" sz="1350" b="0" i="1" kern="1200" dirty="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CH</a:t>
                          </a:r>
                          <a:r>
                            <a:rPr lang="fr-FR" sz="1350" b="0" i="1" kern="1200" baseline="-25000" dirty="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3</a:t>
                          </a:r>
                          <a:r>
                            <a:rPr lang="fr-FR" sz="1350" b="0" i="1" kern="1200" dirty="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COO</a:t>
                          </a:r>
                          <a:r>
                            <a:rPr lang="fr-FR" sz="1350" b="0" i="1" kern="1200" baseline="30000" dirty="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</a:t>
                          </a:r>
                          <a:r>
                            <a:rPr lang="fr-FR" sz="1350" b="0" i="1" kern="1200" dirty="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(aq)</a:t>
                          </a:r>
                          <a:endParaRPr lang="fr-FR" sz="1400" b="0" i="1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623486994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fr-FR" sz="1400" dirty="0">
                            <a:effectLst/>
                          </a:endParaRPr>
                        </a:p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fr-FR" sz="1400" dirty="0">
                              <a:effectLst/>
                            </a:rPr>
                            <a:t>Etat initial</a:t>
                          </a:r>
                          <a:endParaRPr lang="fr-FR" sz="14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fr-FR" sz="1400" dirty="0">
                              <a:effectLst/>
                            </a:rPr>
                            <a:t>C</a:t>
                          </a:r>
                          <a:endParaRPr lang="fr-FR" sz="14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fr-FR" sz="1400" dirty="0">
                              <a:effectLst/>
                            </a:rPr>
                            <a:t>Excès</a:t>
                          </a:r>
                          <a:endParaRPr lang="fr-FR" sz="14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fr-FR" sz="1400" dirty="0">
                              <a:effectLst/>
                            </a:rPr>
                            <a:t> </a:t>
                          </a:r>
                          <a:endParaRPr lang="fr-FR" sz="14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fr-FR" sz="1400">
                              <a:effectLst/>
                            </a:rPr>
                            <a:t>0</a:t>
                          </a:r>
                          <a:endParaRPr lang="fr-FR" sz="140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fr-FR" sz="1400">
                              <a:effectLst/>
                            </a:rPr>
                            <a:t>0</a:t>
                          </a:r>
                          <a:endParaRPr lang="fr-FR" sz="140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192013731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fr-FR" sz="1400" dirty="0">
                            <a:effectLst/>
                          </a:endParaRPr>
                        </a:p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fr-FR" sz="1400" dirty="0">
                              <a:effectLst/>
                            </a:rPr>
                            <a:t>Etat final</a:t>
                          </a:r>
                          <a:endParaRPr lang="fr-FR" sz="14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90476" t="-200000" r="-400529" b="-2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fr-FR" sz="1400">
                              <a:effectLst/>
                            </a:rPr>
                            <a:t>Excès</a:t>
                          </a:r>
                          <a:endParaRPr lang="fr-FR" sz="140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fr-FR" sz="1400" dirty="0">
                              <a:effectLst/>
                            </a:rPr>
                            <a:t> </a:t>
                          </a:r>
                          <a:endParaRPr lang="fr-FR" sz="14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368528" t="-200000" r="-98477" b="-2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485789" t="-200000" r="-2105" b="-27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95403347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xmlns="" id="{8A2025D5-024B-420A-8F7D-234EA35627F1}"/>
              </a:ext>
            </a:extLst>
          </p:cNvPr>
          <p:cNvCxnSpPr/>
          <p:nvPr/>
        </p:nvCxnSpPr>
        <p:spPr>
          <a:xfrm>
            <a:off x="4446948" y="1562100"/>
            <a:ext cx="590550" cy="0"/>
          </a:xfrm>
          <a:prstGeom prst="straightConnector1">
            <a:avLst/>
          </a:prstGeom>
          <a:ln>
            <a:solidFill>
              <a:schemeClr val="bg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xmlns="" id="{B69FA06F-4C38-4CA6-A06D-A3A179AB2E06}"/>
              </a:ext>
            </a:extLst>
          </p:cNvPr>
          <p:cNvSpPr txBox="1"/>
          <p:nvPr/>
        </p:nvSpPr>
        <p:spPr>
          <a:xfrm>
            <a:off x="5567828" y="3539600"/>
            <a:ext cx="3576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0&lt;</a:t>
            </a:r>
            <a:r>
              <a:rPr lang="el-GR" dirty="0"/>
              <a:t>α</a:t>
            </a:r>
            <a:r>
              <a:rPr lang="fr-FR" dirty="0"/>
              <a:t>&lt;1, le coefficient de dissociation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xmlns="" id="{F836197E-BB09-4E22-9AA1-D80C2844BBD5}"/>
                  </a:ext>
                </a:extLst>
              </p:cNvPr>
              <p:cNvSpPr txBox="1"/>
              <p:nvPr/>
            </p:nvSpPr>
            <p:spPr>
              <a:xfrm>
                <a:off x="133351" y="2871558"/>
                <a:ext cx="6496049" cy="19084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b="1" u="sng" dirty="0">
                    <a:latin typeface="+mj-lt"/>
                  </a:rPr>
                  <a:t>Loi de Kohlrausch : </a:t>
                </a:r>
                <a:r>
                  <a:rPr lang="fr-FR" b="1" dirty="0">
                    <a:latin typeface="+mj-lt"/>
                  </a:rPr>
                  <a:t> </a:t>
                </a:r>
                <a:r>
                  <a:rPr lang="fr-FR" dirty="0">
                    <a:latin typeface="+mj-lt"/>
                  </a:rPr>
                  <a:t>σ =λ(H</a:t>
                </a:r>
                <a:r>
                  <a:rPr lang="fr-FR" baseline="-25000" dirty="0">
                    <a:latin typeface="+mj-lt"/>
                  </a:rPr>
                  <a:t>3</a:t>
                </a:r>
                <a:r>
                  <a:rPr lang="fr-FR" dirty="0">
                    <a:latin typeface="+mj-lt"/>
                  </a:rPr>
                  <a:t>O</a:t>
                </a:r>
                <a:r>
                  <a:rPr lang="fr-FR" baseline="30000" dirty="0">
                    <a:latin typeface="+mj-lt"/>
                  </a:rPr>
                  <a:t>+</a:t>
                </a:r>
                <a:r>
                  <a:rPr lang="fr-FR" dirty="0">
                    <a:latin typeface="+mj-lt"/>
                  </a:rPr>
                  <a:t>)</a:t>
                </a:r>
                <a:r>
                  <a:rPr lang="fr-FR" baseline="30000" dirty="0">
                    <a:latin typeface="+mj-lt"/>
                  </a:rPr>
                  <a:t>° </a:t>
                </a:r>
                <a:r>
                  <a:rPr lang="fr-FR" dirty="0">
                    <a:latin typeface="+mj-lt"/>
                  </a:rPr>
                  <a:t>[H</a:t>
                </a:r>
                <a:r>
                  <a:rPr lang="fr-FR" baseline="-25000" dirty="0">
                    <a:latin typeface="+mj-lt"/>
                  </a:rPr>
                  <a:t>3</a:t>
                </a:r>
                <a:r>
                  <a:rPr lang="fr-FR" dirty="0">
                    <a:latin typeface="+mj-lt"/>
                  </a:rPr>
                  <a:t>O</a:t>
                </a:r>
                <a:r>
                  <a:rPr lang="fr-FR" baseline="30000" dirty="0">
                    <a:latin typeface="+mj-lt"/>
                  </a:rPr>
                  <a:t>+</a:t>
                </a:r>
                <a:r>
                  <a:rPr lang="fr-FR" dirty="0">
                    <a:latin typeface="+mj-lt"/>
                  </a:rPr>
                  <a:t>] + λ(CH</a:t>
                </a:r>
                <a:r>
                  <a:rPr lang="fr-FR" baseline="-25000" dirty="0">
                    <a:latin typeface="+mj-lt"/>
                  </a:rPr>
                  <a:t>3</a:t>
                </a:r>
                <a:r>
                  <a:rPr lang="fr-FR" dirty="0">
                    <a:latin typeface="+mj-lt"/>
                  </a:rPr>
                  <a:t>COO</a:t>
                </a:r>
                <a:r>
                  <a:rPr lang="fr-FR" baseline="30000" dirty="0">
                    <a:latin typeface="+mj-lt"/>
                  </a:rPr>
                  <a:t>-</a:t>
                </a:r>
                <a:r>
                  <a:rPr lang="fr-FR" dirty="0">
                    <a:latin typeface="+mj-lt"/>
                  </a:rPr>
                  <a:t>)</a:t>
                </a:r>
                <a:r>
                  <a:rPr lang="fr-FR" baseline="30000" dirty="0">
                    <a:latin typeface="+mj-lt"/>
                  </a:rPr>
                  <a:t>° </a:t>
                </a:r>
                <a:r>
                  <a:rPr lang="fr-FR" dirty="0">
                    <a:latin typeface="+mj-lt"/>
                  </a:rPr>
                  <a:t>[CH</a:t>
                </a:r>
                <a:r>
                  <a:rPr lang="fr-FR" baseline="-25000" dirty="0">
                    <a:latin typeface="+mj-lt"/>
                  </a:rPr>
                  <a:t>3</a:t>
                </a:r>
                <a:r>
                  <a:rPr lang="fr-FR" dirty="0">
                    <a:latin typeface="+mj-lt"/>
                  </a:rPr>
                  <a:t>COO</a:t>
                </a:r>
                <a:r>
                  <a:rPr lang="fr-FR" baseline="30000" dirty="0">
                    <a:latin typeface="+mj-lt"/>
                  </a:rPr>
                  <a:t>-</a:t>
                </a:r>
                <a:r>
                  <a:rPr lang="fr-FR" dirty="0">
                    <a:latin typeface="+mj-lt"/>
                  </a:rPr>
                  <a:t>]</a:t>
                </a:r>
              </a:p>
              <a:p>
                <a:endParaRPr lang="fr-FR" dirty="0"/>
              </a:p>
              <a:p>
                <a:r>
                  <a:rPr lang="fr-FR" b="1" dirty="0">
                    <a:latin typeface="+mj-lt"/>
                  </a:rPr>
                  <a:t>A l’état final : </a:t>
                </a:r>
                <a:r>
                  <a:rPr lang="fr-FR" dirty="0">
                    <a:latin typeface="+mj-lt"/>
                  </a:rPr>
                  <a:t> σ = [λ(H</a:t>
                </a:r>
                <a:r>
                  <a:rPr lang="fr-FR" baseline="-25000" dirty="0">
                    <a:latin typeface="+mj-lt"/>
                  </a:rPr>
                  <a:t>3</a:t>
                </a:r>
                <a:r>
                  <a:rPr lang="fr-FR" dirty="0">
                    <a:latin typeface="+mj-lt"/>
                  </a:rPr>
                  <a:t>O</a:t>
                </a:r>
                <a:r>
                  <a:rPr lang="fr-FR" baseline="30000" dirty="0">
                    <a:latin typeface="+mj-lt"/>
                  </a:rPr>
                  <a:t>+</a:t>
                </a:r>
                <a:r>
                  <a:rPr lang="fr-FR" dirty="0">
                    <a:latin typeface="+mj-lt"/>
                  </a:rPr>
                  <a:t>)</a:t>
                </a:r>
                <a:r>
                  <a:rPr lang="fr-FR" baseline="30000" dirty="0">
                    <a:latin typeface="+mj-lt"/>
                  </a:rPr>
                  <a:t>° </a:t>
                </a:r>
                <a:r>
                  <a:rPr lang="fr-FR" dirty="0">
                    <a:latin typeface="+mj-lt"/>
                  </a:rPr>
                  <a:t>+ λ(CH</a:t>
                </a:r>
                <a:r>
                  <a:rPr lang="fr-FR" baseline="-25000" dirty="0">
                    <a:latin typeface="+mj-lt"/>
                  </a:rPr>
                  <a:t>3</a:t>
                </a:r>
                <a:r>
                  <a:rPr lang="fr-FR" dirty="0">
                    <a:latin typeface="+mj-lt"/>
                  </a:rPr>
                  <a:t>COO</a:t>
                </a:r>
                <a:r>
                  <a:rPr lang="fr-FR" baseline="30000" dirty="0">
                    <a:latin typeface="+mj-lt"/>
                  </a:rPr>
                  <a:t>-</a:t>
                </a:r>
                <a:r>
                  <a:rPr lang="fr-FR" dirty="0">
                    <a:latin typeface="+mj-lt"/>
                  </a:rPr>
                  <a:t>)</a:t>
                </a:r>
                <a:r>
                  <a:rPr lang="fr-FR" baseline="30000" dirty="0">
                    <a:latin typeface="+mj-lt"/>
                  </a:rPr>
                  <a:t>° </a:t>
                </a:r>
                <a:r>
                  <a:rPr lang="fr-FR" dirty="0">
                    <a:latin typeface="+mj-lt"/>
                  </a:rPr>
                  <a:t>]. C</a:t>
                </a:r>
                <a:r>
                  <a:rPr lang="fr-FR" baseline="-25000" dirty="0">
                    <a:latin typeface="+mj-lt"/>
                  </a:rPr>
                  <a:t>.</a:t>
                </a:r>
                <a:r>
                  <a:rPr lang="fr-FR" dirty="0">
                    <a:latin typeface="+mj-lt"/>
                  </a:rPr>
                  <a:t>α</a:t>
                </a:r>
              </a:p>
              <a:p>
                <a:endParaRPr lang="fr-FR" dirty="0">
                  <a:latin typeface="+mj-lt"/>
                </a:endParaRPr>
              </a:p>
              <a:p>
                <a:r>
                  <a:rPr lang="fr-FR" dirty="0">
                    <a:latin typeface="+mj-lt"/>
                  </a:rPr>
                  <a:t>D’où </a:t>
                </a:r>
                <a:r>
                  <a:rPr lang="fr-FR" baseline="-25000" dirty="0"/>
                  <a:t>.</a:t>
                </a:r>
                <a:r>
                  <a:rPr lang="fr-FR" dirty="0"/>
                  <a:t>α =</a:t>
                </a:r>
                <a:r>
                  <a:rPr lang="fr-FR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fr-FR" dirty="0">
                            <a:latin typeface="+mj-lt"/>
                          </a:rPr>
                          <m:t>σ</m:t>
                        </m:r>
                      </m:num>
                      <m:den>
                        <m:r>
                          <m:rPr>
                            <m:nor/>
                          </m:rPr>
                          <a:rPr lang="fr-FR" dirty="0"/>
                          <m:t>[</m:t>
                        </m:r>
                        <m:r>
                          <m:rPr>
                            <m:nor/>
                          </m:rPr>
                          <a:rPr lang="fr-FR" dirty="0"/>
                          <m:t>λ</m:t>
                        </m:r>
                        <m:r>
                          <m:rPr>
                            <m:nor/>
                          </m:rPr>
                          <a:rPr lang="fr-FR" dirty="0"/>
                          <m:t>(</m:t>
                        </m:r>
                        <m:r>
                          <m:rPr>
                            <m:nor/>
                          </m:rPr>
                          <a:rPr lang="fr-FR" dirty="0"/>
                          <m:t>H</m:t>
                        </m:r>
                        <m:r>
                          <m:rPr>
                            <m:nor/>
                          </m:rPr>
                          <a:rPr lang="fr-FR" baseline="-25000" dirty="0"/>
                          <m:t>3</m:t>
                        </m:r>
                        <m:r>
                          <m:rPr>
                            <m:nor/>
                          </m:rPr>
                          <a:rPr lang="fr-FR" dirty="0"/>
                          <m:t>O</m:t>
                        </m:r>
                        <m:r>
                          <m:rPr>
                            <m:nor/>
                          </m:rPr>
                          <a:rPr lang="fr-FR" baseline="30000" dirty="0"/>
                          <m:t>+</m:t>
                        </m:r>
                        <m:r>
                          <m:rPr>
                            <m:nor/>
                          </m:rPr>
                          <a:rPr lang="fr-FR" dirty="0"/>
                          <m:t>)</m:t>
                        </m:r>
                        <m:r>
                          <m:rPr>
                            <m:nor/>
                          </m:rPr>
                          <a:rPr lang="fr-FR" baseline="30000" dirty="0"/>
                          <m:t>° </m:t>
                        </m:r>
                        <m:r>
                          <m:rPr>
                            <m:nor/>
                          </m:rPr>
                          <a:rPr lang="fr-FR" dirty="0"/>
                          <m:t>+ </m:t>
                        </m:r>
                        <m:r>
                          <m:rPr>
                            <m:nor/>
                          </m:rPr>
                          <a:rPr lang="fr-FR" dirty="0"/>
                          <m:t>λ</m:t>
                        </m:r>
                        <m:r>
                          <m:rPr>
                            <m:nor/>
                          </m:rPr>
                          <a:rPr lang="fr-FR" dirty="0"/>
                          <m:t>(</m:t>
                        </m:r>
                        <m:r>
                          <m:rPr>
                            <m:nor/>
                          </m:rPr>
                          <a:rPr lang="fr-FR" dirty="0"/>
                          <m:t>CH</m:t>
                        </m:r>
                        <m:r>
                          <m:rPr>
                            <m:nor/>
                          </m:rPr>
                          <a:rPr lang="fr-FR" baseline="-25000" dirty="0"/>
                          <m:t>3</m:t>
                        </m:r>
                        <m:r>
                          <m:rPr>
                            <m:nor/>
                          </m:rPr>
                          <a:rPr lang="fr-FR" dirty="0"/>
                          <m:t>COO</m:t>
                        </m:r>
                        <m:r>
                          <m:rPr>
                            <m:nor/>
                          </m:rPr>
                          <a:rPr lang="fr-FR" baseline="30000" dirty="0"/>
                          <m:t>−</m:t>
                        </m:r>
                        <m:r>
                          <m:rPr>
                            <m:nor/>
                          </m:rPr>
                          <a:rPr lang="fr-FR" dirty="0"/>
                          <m:t>)</m:t>
                        </m:r>
                        <m:r>
                          <m:rPr>
                            <m:nor/>
                          </m:rPr>
                          <a:rPr lang="fr-FR" baseline="30000" dirty="0"/>
                          <m:t>° </m:t>
                        </m:r>
                        <m:r>
                          <m:rPr>
                            <m:nor/>
                          </m:rPr>
                          <a:rPr lang="fr-FR" dirty="0"/>
                          <m:t>].</m:t>
                        </m:r>
                        <m:r>
                          <m:rPr>
                            <m:nor/>
                          </m:rPr>
                          <a:rPr lang="fr-FR" b="0" i="0" dirty="0" smtClean="0"/>
                          <m:t>C</m:t>
                        </m:r>
                      </m:den>
                    </m:f>
                  </m:oMath>
                </a14:m>
                <a:r>
                  <a:rPr lang="fr-FR" dirty="0">
                    <a:latin typeface="+mj-lt"/>
                  </a:rPr>
                  <a:t> </a:t>
                </a:r>
              </a:p>
              <a:p>
                <a:r>
                  <a:rPr lang="fr-FR" u="sng" dirty="0"/>
                  <a:t>  </a:t>
                </a:r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F836197E-BB09-4E22-9AA1-D80C2844BB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351" y="2871558"/>
                <a:ext cx="6496049" cy="1908408"/>
              </a:xfrm>
              <a:prstGeom prst="rect">
                <a:avLst/>
              </a:prstGeom>
              <a:blipFill>
                <a:blip r:embed="rId3"/>
                <a:stretch>
                  <a:fillRect l="-844" t="-159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ZoneTexte 8">
            <a:extLst>
              <a:ext uri="{FF2B5EF4-FFF2-40B4-BE49-F238E27FC236}">
                <a16:creationId xmlns:a16="http://schemas.microsoft.com/office/drawing/2014/main" xmlns="" id="{3CD68CDE-FC12-4F47-8385-88A5DEBED335}"/>
              </a:ext>
            </a:extLst>
          </p:cNvPr>
          <p:cNvSpPr txBox="1"/>
          <p:nvPr/>
        </p:nvSpPr>
        <p:spPr>
          <a:xfrm>
            <a:off x="5567828" y="3919262"/>
            <a:ext cx="3221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 = 10</a:t>
            </a:r>
            <a:r>
              <a:rPr lang="fr-FR" baseline="30000" dirty="0"/>
              <a:t>-3</a:t>
            </a:r>
            <a:r>
              <a:rPr lang="fr-FR" dirty="0"/>
              <a:t>mol/L</a:t>
            </a:r>
          </a:p>
        </p:txBody>
      </p:sp>
    </p:spTree>
    <p:extLst>
      <p:ext uri="{BB962C8B-B14F-4D97-AF65-F5344CB8AC3E}">
        <p14:creationId xmlns:p14="http://schemas.microsoft.com/office/powerpoint/2010/main" val="816407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8149E7A3-87E8-4FE7-9857-2246BAFFC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="" id="{9D323E9D-B501-4709-9620-B2ED737D0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15" y="24825"/>
            <a:ext cx="9021170" cy="694497"/>
          </a:xfrm>
        </p:spPr>
        <p:txBody>
          <a:bodyPr/>
          <a:lstStyle/>
          <a:p>
            <a:r>
              <a:rPr lang="fr-FR" sz="3600" dirty="0"/>
              <a:t>Un indicateur coloré : le bleu de bromothymol </a:t>
            </a:r>
            <a:r>
              <a:rPr lang="fr-FR" sz="1800" dirty="0"/>
              <a:t>(BBT) </a:t>
            </a:r>
            <a:endParaRPr lang="fr-FR" sz="3600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xmlns="" id="{662418C1-0D65-4552-9985-3A71EE1E0D7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769" b="10130"/>
          <a:stretch/>
        </p:blipFill>
        <p:spPr>
          <a:xfrm>
            <a:off x="677660" y="926112"/>
            <a:ext cx="8225408" cy="3713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859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5239855A-4CD1-468B-83FA-D2AF43C91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="" id="{2695B8F2-B103-4CFD-B7EB-B8F7A05CC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Détermination du </a:t>
            </a:r>
            <a:r>
              <a:rPr lang="fr-FR" dirty="0" err="1"/>
              <a:t>pKa</a:t>
            </a:r>
            <a:r>
              <a:rPr lang="fr-FR" dirty="0"/>
              <a:t> du BBT</a:t>
            </a: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xmlns="" id="{BF113A85-A9FE-406B-886B-AD4A47C8A30E}"/>
              </a:ext>
            </a:extLst>
          </p:cNvPr>
          <p:cNvCxnSpPr/>
          <p:nvPr/>
        </p:nvCxnSpPr>
        <p:spPr>
          <a:xfrm>
            <a:off x="244549" y="2434856"/>
            <a:ext cx="8612372" cy="0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ZoneTexte 6">
            <a:extLst>
              <a:ext uri="{FF2B5EF4-FFF2-40B4-BE49-F238E27FC236}">
                <a16:creationId xmlns:a16="http://schemas.microsoft.com/office/drawing/2014/main" xmlns="" id="{AC71912C-966E-42C1-A545-FCC7BDCEAA7E}"/>
              </a:ext>
            </a:extLst>
          </p:cNvPr>
          <p:cNvSpPr txBox="1"/>
          <p:nvPr/>
        </p:nvSpPr>
        <p:spPr>
          <a:xfrm>
            <a:off x="3333087" y="827733"/>
            <a:ext cx="3070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BBT : couple (BBTH/BBT-)</a:t>
            </a:r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xmlns="" id="{E9AB6953-F19A-4C50-8FBC-69F85872E0D0}"/>
              </a:ext>
            </a:extLst>
          </p:cNvPr>
          <p:cNvGrpSpPr/>
          <p:nvPr/>
        </p:nvGrpSpPr>
        <p:grpSpPr>
          <a:xfrm>
            <a:off x="207188" y="968410"/>
            <a:ext cx="295201" cy="764573"/>
            <a:chOff x="1535075" y="1134074"/>
            <a:chExt cx="1147165" cy="277498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xmlns="" id="{67DBDC10-A052-454A-8796-9DCA31F2270C}"/>
                </a:ext>
              </a:extLst>
            </p:cNvPr>
            <p:cNvSpPr/>
            <p:nvPr/>
          </p:nvSpPr>
          <p:spPr>
            <a:xfrm>
              <a:off x="1535075" y="1134074"/>
              <a:ext cx="1147165" cy="277498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A1802F17-CCA3-48D4-86B5-712CC400D9E2}"/>
                </a:ext>
              </a:extLst>
            </p:cNvPr>
            <p:cNvSpPr/>
            <p:nvPr/>
          </p:nvSpPr>
          <p:spPr>
            <a:xfrm>
              <a:off x="1571017" y="2019301"/>
              <a:ext cx="1075273" cy="1889754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grpSp>
        <p:nvGrpSpPr>
          <p:cNvPr id="17" name="Groupe 16">
            <a:extLst>
              <a:ext uri="{FF2B5EF4-FFF2-40B4-BE49-F238E27FC236}">
                <a16:creationId xmlns:a16="http://schemas.microsoft.com/office/drawing/2014/main" xmlns="" id="{2A165297-AFD6-49C4-996D-428D9914AC04}"/>
              </a:ext>
            </a:extLst>
          </p:cNvPr>
          <p:cNvGrpSpPr/>
          <p:nvPr/>
        </p:nvGrpSpPr>
        <p:grpSpPr>
          <a:xfrm>
            <a:off x="1193682" y="975373"/>
            <a:ext cx="295201" cy="764573"/>
            <a:chOff x="1535075" y="1134074"/>
            <a:chExt cx="1147165" cy="2774981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xmlns="" id="{46E8CDEE-0E8A-4EA3-B6C3-34B7B526ACF5}"/>
                </a:ext>
              </a:extLst>
            </p:cNvPr>
            <p:cNvSpPr/>
            <p:nvPr/>
          </p:nvSpPr>
          <p:spPr>
            <a:xfrm>
              <a:off x="1535075" y="1134074"/>
              <a:ext cx="1147165" cy="277498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xmlns="" id="{42DD0513-D248-48EB-9E53-21D4D17C67BC}"/>
                </a:ext>
              </a:extLst>
            </p:cNvPr>
            <p:cNvSpPr/>
            <p:nvPr/>
          </p:nvSpPr>
          <p:spPr>
            <a:xfrm>
              <a:off x="1571017" y="2019301"/>
              <a:ext cx="1075273" cy="1889754"/>
            </a:xfrm>
            <a:prstGeom prst="rect">
              <a:avLst/>
            </a:prstGeom>
            <a:solidFill>
              <a:srgbClr val="C1DF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grpSp>
        <p:nvGrpSpPr>
          <p:cNvPr id="20" name="Groupe 19">
            <a:extLst>
              <a:ext uri="{FF2B5EF4-FFF2-40B4-BE49-F238E27FC236}">
                <a16:creationId xmlns:a16="http://schemas.microsoft.com/office/drawing/2014/main" xmlns="" id="{166937B4-A9E4-4CB4-9784-6132500711A7}"/>
              </a:ext>
            </a:extLst>
          </p:cNvPr>
          <p:cNvGrpSpPr/>
          <p:nvPr/>
        </p:nvGrpSpPr>
        <p:grpSpPr>
          <a:xfrm>
            <a:off x="2086600" y="986169"/>
            <a:ext cx="295201" cy="764573"/>
            <a:chOff x="1535075" y="1134074"/>
            <a:chExt cx="1147165" cy="2774981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xmlns="" id="{D57C8671-ECA5-49F5-9A82-4AD621E9B53A}"/>
                </a:ext>
              </a:extLst>
            </p:cNvPr>
            <p:cNvSpPr/>
            <p:nvPr/>
          </p:nvSpPr>
          <p:spPr>
            <a:xfrm>
              <a:off x="1535075" y="1134074"/>
              <a:ext cx="1147165" cy="277498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xmlns="" id="{4DF37779-555F-4D2C-8E50-4FC99A32CDB2}"/>
                </a:ext>
              </a:extLst>
            </p:cNvPr>
            <p:cNvSpPr/>
            <p:nvPr/>
          </p:nvSpPr>
          <p:spPr>
            <a:xfrm>
              <a:off x="1571017" y="2019301"/>
              <a:ext cx="1075273" cy="188975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sp>
        <p:nvSpPr>
          <p:cNvPr id="23" name="ZoneTexte 22">
            <a:extLst>
              <a:ext uri="{FF2B5EF4-FFF2-40B4-BE49-F238E27FC236}">
                <a16:creationId xmlns:a16="http://schemas.microsoft.com/office/drawing/2014/main" xmlns="" id="{9CFB84C9-A911-4210-BF63-37D6CD8DD19C}"/>
              </a:ext>
            </a:extLst>
          </p:cNvPr>
          <p:cNvSpPr txBox="1"/>
          <p:nvPr/>
        </p:nvSpPr>
        <p:spPr>
          <a:xfrm>
            <a:off x="222651" y="701434"/>
            <a:ext cx="268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1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xmlns="" id="{94E2270C-F348-4377-8D10-0CDDB2983286}"/>
              </a:ext>
            </a:extLst>
          </p:cNvPr>
          <p:cNvSpPr txBox="1"/>
          <p:nvPr/>
        </p:nvSpPr>
        <p:spPr>
          <a:xfrm>
            <a:off x="1202931" y="690577"/>
            <a:ext cx="268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2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xmlns="" id="{AE89E1FB-E61B-400B-8920-443070525EF4}"/>
              </a:ext>
            </a:extLst>
          </p:cNvPr>
          <p:cNvSpPr txBox="1"/>
          <p:nvPr/>
        </p:nvSpPr>
        <p:spPr>
          <a:xfrm>
            <a:off x="2080772" y="710193"/>
            <a:ext cx="268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3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xmlns="" id="{F7CFA62E-EF71-46D2-90CE-D52D32E1C1F4}"/>
              </a:ext>
            </a:extLst>
          </p:cNvPr>
          <p:cNvSpPr txBox="1"/>
          <p:nvPr/>
        </p:nvSpPr>
        <p:spPr>
          <a:xfrm>
            <a:off x="-76245" y="1730776"/>
            <a:ext cx="8927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/>
              <a:t>BBT+ </a:t>
            </a:r>
            <a:r>
              <a:rPr lang="fr-FR" sz="1100" dirty="0" err="1"/>
              <a:t>HCl</a:t>
            </a:r>
            <a:endParaRPr lang="fr-FR" sz="1100" dirty="0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xmlns="" id="{D487E56C-225B-40AB-8100-2B11DAC37D7A}"/>
              </a:ext>
            </a:extLst>
          </p:cNvPr>
          <p:cNvSpPr txBox="1"/>
          <p:nvPr/>
        </p:nvSpPr>
        <p:spPr>
          <a:xfrm>
            <a:off x="783895" y="1689766"/>
            <a:ext cx="10914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/>
              <a:t>BBT + solution tampon pH</a:t>
            </a:r>
            <a:r>
              <a:rPr lang="fr-FR" sz="1100" baseline="-25000" dirty="0"/>
              <a:t>2</a:t>
            </a:r>
            <a:r>
              <a:rPr lang="fr-FR" sz="1100" dirty="0"/>
              <a:t> = 7 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xmlns="" id="{CEE353A8-CB06-468F-80A4-CF0E4B98B416}"/>
              </a:ext>
            </a:extLst>
          </p:cNvPr>
          <p:cNvSpPr txBox="1"/>
          <p:nvPr/>
        </p:nvSpPr>
        <p:spPr>
          <a:xfrm>
            <a:off x="1845686" y="1753338"/>
            <a:ext cx="9032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/>
              <a:t>BBT + </a:t>
            </a:r>
            <a:r>
              <a:rPr lang="fr-FR" sz="1100" dirty="0" err="1"/>
              <a:t>NaOH</a:t>
            </a:r>
            <a:endParaRPr lang="fr-FR" sz="1100" dirty="0"/>
          </a:p>
        </p:txBody>
      </p: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xmlns="" id="{70FDABDE-5B35-4050-86C0-FFF1B0AF1D37}"/>
              </a:ext>
            </a:extLst>
          </p:cNvPr>
          <p:cNvCxnSpPr/>
          <p:nvPr/>
        </p:nvCxnSpPr>
        <p:spPr>
          <a:xfrm>
            <a:off x="2902688" y="1023542"/>
            <a:ext cx="0" cy="1438251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2" name="Connecteur droit avec flèche 31">
            <a:extLst>
              <a:ext uri="{FF2B5EF4-FFF2-40B4-BE49-F238E27FC236}">
                <a16:creationId xmlns:a16="http://schemas.microsoft.com/office/drawing/2014/main" xmlns="" id="{98550765-50C1-457C-A88D-85B2B3CE0C42}"/>
              </a:ext>
            </a:extLst>
          </p:cNvPr>
          <p:cNvCxnSpPr>
            <a:cxnSpLocks/>
          </p:cNvCxnSpPr>
          <p:nvPr/>
        </p:nvCxnSpPr>
        <p:spPr>
          <a:xfrm>
            <a:off x="3171162" y="1742667"/>
            <a:ext cx="2867156" cy="1615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Connecteur droit 33">
            <a:extLst>
              <a:ext uri="{FF2B5EF4-FFF2-40B4-BE49-F238E27FC236}">
                <a16:creationId xmlns:a16="http://schemas.microsoft.com/office/drawing/2014/main" xmlns="" id="{D7FD9BB8-D746-4B4D-B7A5-6DAA56D2DC78}"/>
              </a:ext>
            </a:extLst>
          </p:cNvPr>
          <p:cNvCxnSpPr/>
          <p:nvPr/>
        </p:nvCxnSpPr>
        <p:spPr>
          <a:xfrm>
            <a:off x="4436528" y="1636866"/>
            <a:ext cx="0" cy="10580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ZoneTexte 34">
            <a:extLst>
              <a:ext uri="{FF2B5EF4-FFF2-40B4-BE49-F238E27FC236}">
                <a16:creationId xmlns:a16="http://schemas.microsoft.com/office/drawing/2014/main" xmlns="" id="{374CFA8B-F6C7-47A0-817E-BF9548D3EAB2}"/>
              </a:ext>
            </a:extLst>
          </p:cNvPr>
          <p:cNvSpPr txBox="1"/>
          <p:nvPr/>
        </p:nvSpPr>
        <p:spPr>
          <a:xfrm>
            <a:off x="4182109" y="1808063"/>
            <a:ext cx="5296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err="1"/>
              <a:t>pKa</a:t>
            </a:r>
            <a:endParaRPr lang="fr-FR" sz="1600" dirty="0"/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xmlns="" id="{54F1A30E-67BD-418B-AAA4-85C40F0649AC}"/>
              </a:ext>
            </a:extLst>
          </p:cNvPr>
          <p:cNvSpPr txBox="1"/>
          <p:nvPr/>
        </p:nvSpPr>
        <p:spPr>
          <a:xfrm>
            <a:off x="5977153" y="1581465"/>
            <a:ext cx="5296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pH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xmlns="" id="{293927E2-9E73-46C6-BD57-BBC80CD72772}"/>
              </a:ext>
            </a:extLst>
          </p:cNvPr>
          <p:cNvSpPr/>
          <p:nvPr/>
        </p:nvSpPr>
        <p:spPr>
          <a:xfrm>
            <a:off x="2901618" y="1342424"/>
            <a:ext cx="141667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="1" dirty="0">
                <a:latin typeface="+mj-lt"/>
                <a:ea typeface="Arial" panose="020B0604020202020204" pitchFamily="34" charset="0"/>
              </a:rPr>
              <a:t>[BBTH] &gt;&gt; [BBT </a:t>
            </a:r>
            <a:r>
              <a:rPr lang="fr-FR" sz="1400" b="1" baseline="30000" dirty="0">
                <a:latin typeface="+mj-lt"/>
                <a:ea typeface="Arial" panose="020B0604020202020204" pitchFamily="34" charset="0"/>
              </a:rPr>
              <a:t>-</a:t>
            </a:r>
            <a:r>
              <a:rPr lang="fr-FR" sz="1400" b="1" dirty="0">
                <a:latin typeface="+mj-lt"/>
                <a:ea typeface="Arial" panose="020B0604020202020204" pitchFamily="34" charset="0"/>
              </a:rPr>
              <a:t>] </a:t>
            </a:r>
            <a:endParaRPr lang="fr-FR" sz="1400" dirty="0">
              <a:latin typeface="+mj-lt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xmlns="" id="{EE4003EE-310A-4317-963D-BE00D8EB0395}"/>
              </a:ext>
            </a:extLst>
          </p:cNvPr>
          <p:cNvSpPr/>
          <p:nvPr/>
        </p:nvSpPr>
        <p:spPr>
          <a:xfrm>
            <a:off x="4442243" y="1360490"/>
            <a:ext cx="141667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="1" dirty="0">
                <a:latin typeface="+mj-lt"/>
                <a:ea typeface="Arial" panose="020B0604020202020204" pitchFamily="34" charset="0"/>
              </a:rPr>
              <a:t>[BBTH] &lt;&lt; [BBT </a:t>
            </a:r>
            <a:r>
              <a:rPr lang="fr-FR" sz="1400" b="1" baseline="30000" dirty="0">
                <a:latin typeface="+mj-lt"/>
                <a:ea typeface="Arial" panose="020B0604020202020204" pitchFamily="34" charset="0"/>
              </a:rPr>
              <a:t>-</a:t>
            </a:r>
            <a:r>
              <a:rPr lang="fr-FR" sz="1400" b="1" dirty="0">
                <a:latin typeface="+mj-lt"/>
                <a:ea typeface="Arial" panose="020B0604020202020204" pitchFamily="34" charset="0"/>
              </a:rPr>
              <a:t>] </a:t>
            </a:r>
            <a:endParaRPr lang="fr-FR" sz="1400" dirty="0">
              <a:latin typeface="+mj-lt"/>
            </a:endParaRP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xmlns="" id="{7CC44C1C-0605-4877-B220-82EA76E4D8E3}"/>
              </a:ext>
            </a:extLst>
          </p:cNvPr>
          <p:cNvSpPr txBox="1"/>
          <p:nvPr/>
        </p:nvSpPr>
        <p:spPr>
          <a:xfrm>
            <a:off x="2975817" y="1843508"/>
            <a:ext cx="1076941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fr-FR" sz="1400" dirty="0">
                <a:highlight>
                  <a:srgbClr val="FFFF00"/>
                </a:highlight>
              </a:rPr>
              <a:t>Milieu acide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xmlns="" id="{B94DE82C-EBE3-41D7-AAF0-CA3D5A5119AE}"/>
              </a:ext>
            </a:extLst>
          </p:cNvPr>
          <p:cNvSpPr txBox="1"/>
          <p:nvPr/>
        </p:nvSpPr>
        <p:spPr>
          <a:xfrm>
            <a:off x="4791836" y="1865264"/>
            <a:ext cx="1311277" cy="30777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1400" dirty="0"/>
              <a:t>Milieu basique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xmlns="" id="{4F5BC78F-C578-4236-AADF-68F0618FAA93}"/>
              </a:ext>
            </a:extLst>
          </p:cNvPr>
          <p:cNvCxnSpPr/>
          <p:nvPr/>
        </p:nvCxnSpPr>
        <p:spPr>
          <a:xfrm>
            <a:off x="6438901" y="1012466"/>
            <a:ext cx="0" cy="1438251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4" name="ZoneTexte 43">
            <a:extLst>
              <a:ext uri="{FF2B5EF4-FFF2-40B4-BE49-F238E27FC236}">
                <a16:creationId xmlns:a16="http://schemas.microsoft.com/office/drawing/2014/main" xmlns="" id="{49A91784-8F07-414D-8151-A940E1C6C72F}"/>
              </a:ext>
            </a:extLst>
          </p:cNvPr>
          <p:cNvSpPr txBox="1"/>
          <p:nvPr/>
        </p:nvSpPr>
        <p:spPr>
          <a:xfrm>
            <a:off x="7141673" y="781911"/>
            <a:ext cx="1351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u="sng" dirty="0"/>
              <a:t>solution 2 </a:t>
            </a:r>
          </a:p>
        </p:txBody>
      </p:sp>
      <p:pic>
        <p:nvPicPr>
          <p:cNvPr id="45" name="Image 44">
            <a:extLst>
              <a:ext uri="{FF2B5EF4-FFF2-40B4-BE49-F238E27FC236}">
                <a16:creationId xmlns:a16="http://schemas.microsoft.com/office/drawing/2014/main" xmlns="" id="{D80C0C10-CC10-4193-BFDF-E0EB3F47D69D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21" r="23414"/>
          <a:stretch/>
        </p:blipFill>
        <p:spPr bwMode="auto">
          <a:xfrm>
            <a:off x="6597638" y="1376585"/>
            <a:ext cx="2319503" cy="55916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6" name="ZoneTexte 45">
            <a:extLst>
              <a:ext uri="{FF2B5EF4-FFF2-40B4-BE49-F238E27FC236}">
                <a16:creationId xmlns:a16="http://schemas.microsoft.com/office/drawing/2014/main" xmlns="" id="{3EE1E558-8D4B-4ABC-BD67-2C29AFF87B2A}"/>
              </a:ext>
            </a:extLst>
          </p:cNvPr>
          <p:cNvSpPr txBox="1"/>
          <p:nvPr/>
        </p:nvSpPr>
        <p:spPr>
          <a:xfrm>
            <a:off x="37394" y="2111064"/>
            <a:ext cx="28652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+mj-lt"/>
              </a:rPr>
              <a:t>[BBT]</a:t>
            </a:r>
            <a:r>
              <a:rPr lang="fr-FR" sz="1600" baseline="-25000" dirty="0">
                <a:latin typeface="+mj-lt"/>
              </a:rPr>
              <a:t>1,2,3</a:t>
            </a:r>
            <a:r>
              <a:rPr lang="fr-FR" sz="1600" dirty="0">
                <a:latin typeface="+mj-lt"/>
              </a:rPr>
              <a:t> = C = [BBTH]</a:t>
            </a:r>
            <a:r>
              <a:rPr lang="fr-FR" sz="1600" baseline="-25000" dirty="0">
                <a:latin typeface="+mj-lt"/>
              </a:rPr>
              <a:t>2</a:t>
            </a:r>
            <a:r>
              <a:rPr lang="fr-FR" sz="1600" dirty="0">
                <a:latin typeface="+mj-lt"/>
              </a:rPr>
              <a:t> + [BBT</a:t>
            </a:r>
            <a:r>
              <a:rPr lang="fr-FR" sz="1600" baseline="30000" dirty="0">
                <a:latin typeface="+mj-lt"/>
              </a:rPr>
              <a:t>-</a:t>
            </a:r>
            <a:r>
              <a:rPr lang="fr-FR" sz="1600" dirty="0">
                <a:latin typeface="+mj-lt"/>
              </a:rPr>
              <a:t>]</a:t>
            </a:r>
            <a:r>
              <a:rPr lang="fr-FR" sz="1600" baseline="-25000" dirty="0">
                <a:latin typeface="+mj-lt"/>
              </a:rPr>
              <a:t>2</a:t>
            </a:r>
            <a:endParaRPr lang="fr-FR" sz="1600" dirty="0">
              <a:latin typeface="+mj-lt"/>
            </a:endParaRP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xmlns="" id="{93373227-ADB4-4A71-A299-B7890E874EC0}"/>
              </a:ext>
            </a:extLst>
          </p:cNvPr>
          <p:cNvSpPr txBox="1"/>
          <p:nvPr/>
        </p:nvSpPr>
        <p:spPr>
          <a:xfrm>
            <a:off x="71907" y="2554259"/>
            <a:ext cx="4524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u="sng" dirty="0"/>
              <a:t>Loi de Beer- Lambert pour les 3 solutions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xmlns="" id="{5517CC83-5F38-42BE-8DEC-DC9A52172249}"/>
                  </a:ext>
                </a:extLst>
              </p:cNvPr>
              <p:cNvSpPr/>
              <p:nvPr/>
            </p:nvSpPr>
            <p:spPr>
              <a:xfrm>
                <a:off x="244549" y="2859843"/>
                <a:ext cx="4648084" cy="3760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15000"/>
                  </a:lnSpc>
                  <a:spcAft>
                    <a:spcPts val="0"/>
                  </a:spcAft>
                </a:pPr>
                <a:r>
                  <a:rPr lang="fr-FR" sz="1600" dirty="0">
                    <a:solidFill>
                      <a:schemeClr val="tx1"/>
                    </a:solidFill>
                    <a:latin typeface="+mj-lt"/>
                    <a:ea typeface="Arial" panose="020B0604020202020204" pitchFamily="34" charset="0"/>
                    <a:cs typeface="Arial" panose="020B0604020202020204" pitchFamily="34" charset="0"/>
                  </a:rPr>
                  <a:t>A</a:t>
                </a:r>
                <a:r>
                  <a:rPr lang="fr-FR" sz="1600" baseline="-25000" dirty="0">
                    <a:solidFill>
                      <a:schemeClr val="tx1"/>
                    </a:solidFill>
                    <a:latin typeface="+mj-lt"/>
                    <a:ea typeface="Arial" panose="020B0604020202020204" pitchFamily="34" charset="0"/>
                    <a:cs typeface="Arial" panose="020B0604020202020204" pitchFamily="34" charset="0"/>
                  </a:rPr>
                  <a:t>i</a:t>
                </a:r>
                <a:r>
                  <a:rPr lang="fr-FR" sz="1600" dirty="0">
                    <a:solidFill>
                      <a:schemeClr val="tx1"/>
                    </a:solidFill>
                    <a:latin typeface="+mj-lt"/>
                    <a:ea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sz="1600">
                        <a:solidFill>
                          <a:schemeClr val="tx1"/>
                        </a:solidFill>
                        <a:latin typeface="Cambria Math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fr-FR" sz="1600" i="1">
                            <a:solidFill>
                              <a:schemeClr val="tx1"/>
                            </a:solidFill>
                            <a:latin typeface="Cambria Math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1600">
                            <a:solidFill>
                              <a:schemeClr val="tx1"/>
                            </a:solidFill>
                            <a:latin typeface="Cambria Math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ε</m:t>
                        </m:r>
                      </m:e>
                      <m:sub>
                        <m:sSup>
                          <m:sSupPr>
                            <m:ctrlPr>
                              <a:rPr lang="fr-FR" sz="1600" i="1">
                                <a:solidFill>
                                  <a:schemeClr val="tx1"/>
                                </a:solidFill>
                                <a:latin typeface="Cambria Math" charset="0"/>
                                <a:ea typeface="Arial" panose="020B06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fr-FR" sz="1600">
                                <a:solidFill>
                                  <a:schemeClr val="tx1"/>
                                </a:solidFill>
                                <a:latin typeface="Cambria Math" charset="0"/>
                                <a:ea typeface="Arial" panose="020B0604020202020204" pitchFamily="34" charset="0"/>
                                <a:cs typeface="Times New Roman" panose="02020603050405020304" pitchFamily="18" charset="0"/>
                              </a:rPr>
                              <m:t>BBT</m:t>
                            </m:r>
                          </m:e>
                          <m:sup>
                            <m:r>
                              <a:rPr lang="fr-FR" sz="1600">
                                <a:solidFill>
                                  <a:schemeClr val="tx1"/>
                                </a:solidFill>
                                <a:latin typeface="Cambria Math" charset="0"/>
                                <a:ea typeface="Arial" panose="020B0604020202020204" pitchFamily="34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</m:sup>
                        </m:sSup>
                        <m:r>
                          <a:rPr lang="fr-FR" sz="1600">
                            <a:solidFill>
                              <a:schemeClr val="tx1"/>
                            </a:solidFill>
                            <a:latin typeface="Cambria Math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fr-FR" sz="1600">
                            <a:solidFill>
                              <a:schemeClr val="tx1"/>
                            </a:solidFill>
                            <a:latin typeface="Cambria Math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λ</m:t>
                        </m:r>
                      </m:sub>
                    </m:sSub>
                    <m:r>
                      <a:rPr lang="fr-FR" sz="1600">
                        <a:solidFill>
                          <a:schemeClr val="tx1"/>
                        </a:solidFill>
                        <a:latin typeface="Cambria Math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fr-FR" sz="1600">
                        <a:solidFill>
                          <a:schemeClr val="tx1"/>
                        </a:solidFill>
                        <a:latin typeface="Cambria Math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l</m:t>
                    </m:r>
                    <m:r>
                      <a:rPr lang="fr-FR" sz="1600">
                        <a:solidFill>
                          <a:schemeClr val="tx1"/>
                        </a:solidFill>
                        <a:latin typeface="Cambria Math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.</m:t>
                    </m:r>
                    <m:sSub>
                      <m:sSubPr>
                        <m:ctrlPr>
                          <a:rPr lang="fr-FR" sz="1600" i="1">
                            <a:solidFill>
                              <a:schemeClr val="tx1"/>
                            </a:solidFill>
                            <a:latin typeface="Cambria Math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fr-FR" sz="1600">
                            <a:solidFill>
                              <a:schemeClr val="tx1"/>
                            </a:solidFill>
                            <a:latin typeface="Cambria Math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[</m:t>
                        </m:r>
                        <m:sSup>
                          <m:sSupPr>
                            <m:ctrlPr>
                              <a:rPr lang="fr-FR" sz="1600" i="1">
                                <a:solidFill>
                                  <a:schemeClr val="tx1"/>
                                </a:solidFill>
                                <a:latin typeface="Cambria Math" charset="0"/>
                                <a:ea typeface="Arial" panose="020B06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fr-FR" sz="1600">
                                <a:solidFill>
                                  <a:schemeClr val="tx1"/>
                                </a:solidFill>
                                <a:latin typeface="Cambria Math" charset="0"/>
                                <a:ea typeface="Arial" panose="020B0604020202020204" pitchFamily="34" charset="0"/>
                                <a:cs typeface="Times New Roman" panose="02020603050405020304" pitchFamily="18" charset="0"/>
                              </a:rPr>
                              <m:t>BBT</m:t>
                            </m:r>
                          </m:e>
                          <m:sup>
                            <m:r>
                              <a:rPr lang="fr-FR" sz="1600">
                                <a:solidFill>
                                  <a:schemeClr val="tx1"/>
                                </a:solidFill>
                                <a:latin typeface="Cambria Math" charset="0"/>
                                <a:ea typeface="Arial" panose="020B0604020202020204" pitchFamily="34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</m:sup>
                        </m:sSup>
                        <m:r>
                          <a:rPr lang="fr-FR" sz="1600">
                            <a:solidFill>
                              <a:schemeClr val="tx1"/>
                            </a:solidFill>
                            <a:latin typeface="Cambria Math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]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 sz="1600">
                            <a:solidFill>
                              <a:schemeClr val="tx1"/>
                            </a:solidFill>
                            <a:latin typeface="Cambria Math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i</m:t>
                        </m:r>
                      </m:sub>
                    </m:sSub>
                    <m:r>
                      <a:rPr lang="fr-FR" sz="1600">
                        <a:solidFill>
                          <a:schemeClr val="tx1"/>
                        </a:solidFill>
                        <a:latin typeface="Cambria Math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fr-FR" sz="1600" i="1">
                            <a:solidFill>
                              <a:schemeClr val="tx1"/>
                            </a:solidFill>
                            <a:latin typeface="Cambria Math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1600">
                            <a:solidFill>
                              <a:schemeClr val="tx1"/>
                            </a:solidFill>
                            <a:latin typeface="Cambria Math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ε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 sz="1600">
                            <a:solidFill>
                              <a:schemeClr val="tx1"/>
                            </a:solidFill>
                            <a:latin typeface="Cambria Math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BBTH</m:t>
                        </m:r>
                        <m:r>
                          <a:rPr lang="fr-FR" sz="1600">
                            <a:solidFill>
                              <a:schemeClr val="tx1"/>
                            </a:solidFill>
                            <a:latin typeface="Cambria Math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fr-FR" sz="1600">
                            <a:solidFill>
                              <a:schemeClr val="tx1"/>
                            </a:solidFill>
                            <a:latin typeface="Cambria Math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λ</m:t>
                        </m:r>
                      </m:sub>
                    </m:sSub>
                    <m:r>
                      <a:rPr lang="fr-FR" sz="1600">
                        <a:solidFill>
                          <a:schemeClr val="tx1"/>
                        </a:solidFill>
                        <a:latin typeface="Cambria Math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fr-FR" sz="1600">
                        <a:solidFill>
                          <a:schemeClr val="tx1"/>
                        </a:solidFill>
                        <a:latin typeface="Cambria Math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l</m:t>
                    </m:r>
                    <m:r>
                      <a:rPr lang="fr-FR" sz="1600">
                        <a:solidFill>
                          <a:schemeClr val="tx1"/>
                        </a:solidFill>
                        <a:latin typeface="Cambria Math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.</m:t>
                    </m:r>
                    <m:sSub>
                      <m:sSubPr>
                        <m:ctrlPr>
                          <a:rPr lang="fr-FR" sz="1600" i="1">
                            <a:solidFill>
                              <a:schemeClr val="tx1"/>
                            </a:solidFill>
                            <a:latin typeface="Cambria Math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fr-FR" sz="1600">
                            <a:solidFill>
                              <a:schemeClr val="tx1"/>
                            </a:solidFill>
                            <a:latin typeface="Cambria Math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[</m:t>
                        </m:r>
                        <m:r>
                          <m:rPr>
                            <m:sty m:val="p"/>
                          </m:rPr>
                          <a:rPr lang="fr-FR" sz="1600">
                            <a:solidFill>
                              <a:schemeClr val="tx1"/>
                            </a:solidFill>
                            <a:latin typeface="Cambria Math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BBTH</m:t>
                        </m:r>
                        <m:r>
                          <a:rPr lang="fr-FR" sz="1600">
                            <a:solidFill>
                              <a:schemeClr val="tx1"/>
                            </a:solidFill>
                            <a:latin typeface="Cambria Math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]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 sz="1600">
                            <a:solidFill>
                              <a:schemeClr val="tx1"/>
                            </a:solidFill>
                            <a:latin typeface="Cambria Math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i</m:t>
                        </m:r>
                      </m:sub>
                    </m:sSub>
                  </m:oMath>
                </a14:m>
                <a:endParaRPr lang="fr-FR" b="1" i="1" dirty="0">
                  <a:solidFill>
                    <a:srgbClr val="800080"/>
                  </a:solidFill>
                  <a:effectLst/>
                  <a:latin typeface="+mj-lt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5517CC83-5F38-42BE-8DEC-DC9A521722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549" y="2859843"/>
                <a:ext cx="4648084" cy="376000"/>
              </a:xfrm>
              <a:prstGeom prst="rect">
                <a:avLst/>
              </a:prstGeom>
              <a:blipFill>
                <a:blip r:embed="rId3"/>
                <a:stretch>
                  <a:fillRect l="-655" b="-1774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ZoneTexte 48">
            <a:extLst>
              <a:ext uri="{FF2B5EF4-FFF2-40B4-BE49-F238E27FC236}">
                <a16:creationId xmlns:a16="http://schemas.microsoft.com/office/drawing/2014/main" xmlns="" id="{222C2472-503F-4D2B-9C4F-825C2F771DF4}"/>
              </a:ext>
            </a:extLst>
          </p:cNvPr>
          <p:cNvSpPr txBox="1"/>
          <p:nvPr/>
        </p:nvSpPr>
        <p:spPr>
          <a:xfrm>
            <a:off x="23619" y="3246181"/>
            <a:ext cx="47682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Or avec les approximations déduites du diagramme de prédominance : 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xmlns="" id="{C1D29EFA-F138-4C36-AD03-E6F9ED53130A}"/>
              </a:ext>
            </a:extLst>
          </p:cNvPr>
          <p:cNvSpPr txBox="1"/>
          <p:nvPr/>
        </p:nvSpPr>
        <p:spPr>
          <a:xfrm>
            <a:off x="244549" y="3816630"/>
            <a:ext cx="3712555" cy="338554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fr-FR" sz="1600" dirty="0"/>
              <a:t>Dans 1: </a:t>
            </a:r>
            <a:r>
              <a:rPr lang="fr-FR" sz="1600" i="1" dirty="0"/>
              <a:t>[BBTH]</a:t>
            </a:r>
            <a:r>
              <a:rPr lang="fr-FR" sz="1600" i="1" baseline="-25000" dirty="0"/>
              <a:t>1</a:t>
            </a:r>
            <a:r>
              <a:rPr lang="fr-FR" sz="1600" i="1" dirty="0"/>
              <a:t>≈C       </a:t>
            </a:r>
            <a:r>
              <a:rPr lang="fr-FR" sz="1600" dirty="0"/>
              <a:t>([BBT-] &lt;&lt; [BBTH])</a:t>
            </a:r>
            <a:r>
              <a:rPr lang="fr-FR" sz="1600" i="1" dirty="0"/>
              <a:t>   </a:t>
            </a:r>
            <a:r>
              <a:rPr lang="fr-FR" sz="1600" dirty="0"/>
              <a:t> 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xmlns="" id="{C75D3F27-CDE9-420B-8D57-BDCF86839EE2}"/>
              </a:ext>
            </a:extLst>
          </p:cNvPr>
          <p:cNvSpPr/>
          <p:nvPr/>
        </p:nvSpPr>
        <p:spPr>
          <a:xfrm>
            <a:off x="244549" y="4153546"/>
            <a:ext cx="3712555" cy="339920"/>
          </a:xfrm>
          <a:prstGeom prst="rect">
            <a:avLst/>
          </a:prstGeom>
          <a:solidFill>
            <a:srgbClr val="08A5EF"/>
          </a:solidFill>
        </p:spPr>
        <p:txBody>
          <a:bodyPr wrap="square">
            <a:spAutoFit/>
          </a:bodyPr>
          <a:lstStyle/>
          <a:p>
            <a:r>
              <a:rPr lang="fr-FR" sz="1600" dirty="0"/>
              <a:t>Dans 3: </a:t>
            </a:r>
            <a:r>
              <a:rPr lang="fr-FR" sz="1600" i="1" dirty="0"/>
              <a:t>[BBT-]</a:t>
            </a:r>
            <a:r>
              <a:rPr lang="fr-FR" sz="1600" i="1" baseline="-25000" dirty="0"/>
              <a:t>3</a:t>
            </a:r>
            <a:r>
              <a:rPr lang="fr-FR" sz="1600" i="1" dirty="0"/>
              <a:t>≈C       </a:t>
            </a:r>
            <a:r>
              <a:rPr lang="fr-FR" sz="1600" dirty="0"/>
              <a:t>([BBTH] &lt;&lt; [BBT</a:t>
            </a:r>
            <a:r>
              <a:rPr lang="fr-FR" sz="1600" i="1" dirty="0"/>
              <a:t>-</a:t>
            </a:r>
            <a:r>
              <a:rPr lang="fr-FR" sz="1600" dirty="0"/>
              <a:t>])</a:t>
            </a:r>
            <a:r>
              <a:rPr lang="fr-FR" sz="1600" i="1" dirty="0"/>
              <a:t>   </a:t>
            </a:r>
            <a:r>
              <a:rPr lang="fr-FR" sz="1600" dirty="0"/>
              <a:t> </a:t>
            </a:r>
          </a:p>
        </p:txBody>
      </p:sp>
      <p:sp>
        <p:nvSpPr>
          <p:cNvPr id="54" name="Accolade fermante 53">
            <a:extLst>
              <a:ext uri="{FF2B5EF4-FFF2-40B4-BE49-F238E27FC236}">
                <a16:creationId xmlns:a16="http://schemas.microsoft.com/office/drawing/2014/main" xmlns="" id="{DC5CF957-B544-4A5D-B277-7ABE0F015C47}"/>
              </a:ext>
            </a:extLst>
          </p:cNvPr>
          <p:cNvSpPr/>
          <p:nvPr/>
        </p:nvSpPr>
        <p:spPr>
          <a:xfrm>
            <a:off x="4596282" y="2859843"/>
            <a:ext cx="115505" cy="1741182"/>
          </a:xfrm>
          <a:prstGeom prst="rightBrace">
            <a:avLst/>
          </a:prstGeom>
          <a:ln w="28575"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xmlns="" id="{792AD081-6CC7-4B39-BD67-4C7AD9DEB16C}"/>
              </a:ext>
            </a:extLst>
          </p:cNvPr>
          <p:cNvSpPr txBox="1"/>
          <p:nvPr/>
        </p:nvSpPr>
        <p:spPr>
          <a:xfrm>
            <a:off x="5727916" y="2763281"/>
            <a:ext cx="39334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dirty="0">
                <a:latin typeface="+mj-lt"/>
                <a:ea typeface="Arial" panose="020B0604020202020204" pitchFamily="34" charset="0"/>
                <a:cs typeface="Times New Roman" panose="02020603050405020304" pitchFamily="18" charset="0"/>
              </a:rPr>
              <a:t>A</a:t>
            </a:r>
            <a:r>
              <a:rPr lang="fr-FR" altLang="fr-FR" baseline="-30000" dirty="0">
                <a:latin typeface="+mj-lt"/>
                <a:ea typeface="Arial" panose="020B0604020202020204" pitchFamily="34" charset="0"/>
                <a:cs typeface="Times New Roman" panose="02020603050405020304" pitchFamily="18" charset="0"/>
              </a:rPr>
              <a:t>1</a:t>
            </a:r>
            <a:r>
              <a:rPr lang="fr-FR" altLang="fr-FR" dirty="0">
                <a:latin typeface="+mj-lt"/>
                <a:ea typeface="Arial" panose="020B0604020202020204" pitchFamily="34" charset="0"/>
                <a:cs typeface="Times New Roman" panose="02020603050405020304" pitchFamily="18" charset="0"/>
              </a:rPr>
              <a:t> =</a:t>
            </a:r>
            <a:r>
              <a:rPr lang="fr-FR" altLang="fr-FR" dirty="0" err="1">
                <a:latin typeface="+mj-lt"/>
                <a:ea typeface="Arial" panose="020B0604020202020204" pitchFamily="34" charset="0"/>
                <a:cs typeface="Times New Roman" panose="02020603050405020304" pitchFamily="18" charset="0"/>
              </a:rPr>
              <a:t>ε</a:t>
            </a:r>
            <a:r>
              <a:rPr lang="fr-FR" altLang="fr-FR" baseline="-25000" dirty="0" err="1">
                <a:latin typeface="+mj-lt"/>
                <a:ea typeface="Arial" panose="020B0604020202020204" pitchFamily="34" charset="0"/>
                <a:cs typeface="Times New Roman" panose="02020603050405020304" pitchFamily="18" charset="0"/>
              </a:rPr>
              <a:t>BBTH,λ</a:t>
            </a:r>
            <a:r>
              <a:rPr lang="fr-FR" altLang="fr-FR" dirty="0" err="1">
                <a:latin typeface="+mj-lt"/>
                <a:ea typeface="Arial" panose="020B0604020202020204" pitchFamily="34" charset="0"/>
                <a:cs typeface="Times New Roman" panose="02020603050405020304" pitchFamily="18" charset="0"/>
              </a:rPr>
              <a:t>.l</a:t>
            </a:r>
            <a:r>
              <a:rPr lang="fr-FR" altLang="fr-FR" dirty="0">
                <a:latin typeface="+mj-lt"/>
                <a:ea typeface="Arial" panose="020B0604020202020204" pitchFamily="34" charset="0"/>
                <a:cs typeface="Times New Roman" panose="02020603050405020304" pitchFamily="18" charset="0"/>
              </a:rPr>
              <a:t>. ([BBT </a:t>
            </a:r>
            <a:r>
              <a:rPr lang="fr-FR" altLang="fr-FR" baseline="30000" dirty="0">
                <a:latin typeface="+mj-lt"/>
                <a:ea typeface="Arial" panose="020B0604020202020204" pitchFamily="34" charset="0"/>
                <a:cs typeface="Times New Roman" panose="02020603050405020304" pitchFamily="18" charset="0"/>
              </a:rPr>
              <a:t>-</a:t>
            </a:r>
            <a:r>
              <a:rPr lang="fr-FR" altLang="fr-FR" dirty="0">
                <a:latin typeface="+mj-lt"/>
                <a:ea typeface="Arial" panose="020B0604020202020204" pitchFamily="34" charset="0"/>
                <a:cs typeface="Times New Roman" panose="02020603050405020304" pitchFamily="18" charset="0"/>
              </a:rPr>
              <a:t>]</a:t>
            </a:r>
            <a:r>
              <a:rPr lang="fr-FR" altLang="fr-FR" baseline="-30000" dirty="0">
                <a:latin typeface="+mj-lt"/>
                <a:ea typeface="Arial" panose="020B0604020202020204" pitchFamily="34" charset="0"/>
                <a:cs typeface="Times New Roman" panose="02020603050405020304" pitchFamily="18" charset="0"/>
              </a:rPr>
              <a:t>2</a:t>
            </a:r>
            <a:r>
              <a:rPr lang="fr-FR" altLang="fr-FR" b="1" dirty="0">
                <a:solidFill>
                  <a:srgbClr val="800080"/>
                </a:solidFill>
                <a:latin typeface="+mj-lt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altLang="fr-FR" dirty="0">
                <a:latin typeface="+mj-lt"/>
                <a:ea typeface="Arial" panose="020B0604020202020204" pitchFamily="34" charset="0"/>
                <a:cs typeface="Times New Roman" panose="02020603050405020304" pitchFamily="18" charset="0"/>
              </a:rPr>
              <a:t>+ [BBTH]</a:t>
            </a:r>
            <a:r>
              <a:rPr lang="fr-FR" altLang="fr-FR" baseline="-30000" dirty="0">
                <a:latin typeface="+mj-lt"/>
                <a:ea typeface="Arial" panose="020B0604020202020204" pitchFamily="34" charset="0"/>
                <a:cs typeface="Times New Roman" panose="02020603050405020304" pitchFamily="18" charset="0"/>
              </a:rPr>
              <a:t>2</a:t>
            </a:r>
            <a:r>
              <a:rPr lang="fr-FR" altLang="fr-FR" dirty="0">
                <a:latin typeface="+mj-lt"/>
                <a:ea typeface="Arial" panose="020B0604020202020204" pitchFamily="34" charset="0"/>
                <a:cs typeface="Times New Roman" panose="02020603050405020304" pitchFamily="18" charset="0"/>
              </a:rPr>
              <a:t>)</a:t>
            </a:r>
            <a:endParaRPr lang="fr-FR" altLang="fr-FR" dirty="0"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dirty="0">
                <a:latin typeface="+mj-lt"/>
                <a:ea typeface="Arial" panose="020B0604020202020204" pitchFamily="34" charset="0"/>
                <a:cs typeface="Times New Roman" panose="02020603050405020304" pitchFamily="18" charset="0"/>
              </a:rPr>
              <a:t>A</a:t>
            </a:r>
            <a:r>
              <a:rPr lang="fr-FR" altLang="fr-FR" baseline="-30000" dirty="0">
                <a:latin typeface="+mj-lt"/>
                <a:ea typeface="Arial" panose="020B0604020202020204" pitchFamily="34" charset="0"/>
                <a:cs typeface="Times New Roman" panose="02020603050405020304" pitchFamily="18" charset="0"/>
              </a:rPr>
              <a:t>2</a:t>
            </a:r>
            <a:r>
              <a:rPr lang="fr-FR" altLang="fr-FR" dirty="0">
                <a:latin typeface="+mj-lt"/>
                <a:ea typeface="Arial" panose="020B0604020202020204" pitchFamily="34" charset="0"/>
                <a:cs typeface="Times New Roman" panose="02020603050405020304" pitchFamily="18" charset="0"/>
              </a:rPr>
              <a:t> =ε</a:t>
            </a:r>
            <a:r>
              <a:rPr lang="fr-FR" altLang="fr-FR" baseline="-25000" dirty="0">
                <a:latin typeface="+mj-lt"/>
                <a:ea typeface="Arial" panose="020B0604020202020204" pitchFamily="34" charset="0"/>
                <a:cs typeface="Times New Roman" panose="02020603050405020304" pitchFamily="18" charset="0"/>
              </a:rPr>
              <a:t>BBT-,</a:t>
            </a:r>
            <a:r>
              <a:rPr lang="fr-FR" altLang="fr-FR" baseline="-25000" dirty="0" err="1">
                <a:latin typeface="+mj-lt"/>
                <a:ea typeface="Arial" panose="020B0604020202020204" pitchFamily="34" charset="0"/>
                <a:cs typeface="Times New Roman" panose="02020603050405020304" pitchFamily="18" charset="0"/>
              </a:rPr>
              <a:t>λ</a:t>
            </a:r>
            <a:r>
              <a:rPr lang="fr-FR" altLang="fr-FR" dirty="0" err="1">
                <a:latin typeface="+mj-lt"/>
                <a:ea typeface="Arial" panose="020B0604020202020204" pitchFamily="34" charset="0"/>
                <a:cs typeface="Times New Roman" panose="02020603050405020304" pitchFamily="18" charset="0"/>
              </a:rPr>
              <a:t>.l</a:t>
            </a:r>
            <a:r>
              <a:rPr lang="fr-FR" altLang="fr-FR" dirty="0">
                <a:latin typeface="+mj-lt"/>
                <a:ea typeface="Arial" panose="020B0604020202020204" pitchFamily="34" charset="0"/>
                <a:cs typeface="Times New Roman" panose="02020603050405020304" pitchFamily="18" charset="0"/>
              </a:rPr>
              <a:t>.[BBT-]</a:t>
            </a:r>
            <a:r>
              <a:rPr lang="fr-FR" altLang="fr-FR" baseline="-25000" dirty="0">
                <a:latin typeface="+mj-lt"/>
                <a:ea typeface="Arial" panose="020B0604020202020204" pitchFamily="34" charset="0"/>
                <a:cs typeface="Times New Roman" panose="02020603050405020304" pitchFamily="18" charset="0"/>
              </a:rPr>
              <a:t>2</a:t>
            </a:r>
            <a:r>
              <a:rPr lang="fr-FR" altLang="fr-FR" dirty="0">
                <a:latin typeface="+mj-lt"/>
                <a:ea typeface="Arial" panose="020B0604020202020204" pitchFamily="34" charset="0"/>
                <a:cs typeface="Times New Roman" panose="02020603050405020304" pitchFamily="18" charset="0"/>
              </a:rPr>
              <a:t>+ε</a:t>
            </a:r>
            <a:r>
              <a:rPr lang="fr-FR" altLang="fr-FR" baseline="-25000" dirty="0">
                <a:latin typeface="+mj-lt"/>
                <a:ea typeface="Arial" panose="020B0604020202020204" pitchFamily="34" charset="0"/>
                <a:cs typeface="Times New Roman" panose="02020603050405020304" pitchFamily="18" charset="0"/>
              </a:rPr>
              <a:t>BBTH,λ</a:t>
            </a:r>
            <a:r>
              <a:rPr lang="fr-FR" altLang="fr-FR" dirty="0">
                <a:latin typeface="+mj-lt"/>
                <a:ea typeface="Arial" panose="020B0604020202020204" pitchFamily="34" charset="0"/>
                <a:cs typeface="Times New Roman" panose="02020603050405020304" pitchFamily="18" charset="0"/>
              </a:rPr>
              <a:t>.l.[BBTH]</a:t>
            </a:r>
            <a:r>
              <a:rPr lang="fr-FR" altLang="fr-FR" baseline="-25000" dirty="0">
                <a:latin typeface="+mj-lt"/>
                <a:ea typeface="Arial" panose="020B0604020202020204" pitchFamily="34" charset="0"/>
                <a:cs typeface="Times New Roman" panose="02020603050405020304" pitchFamily="18" charset="0"/>
              </a:rPr>
              <a:t>2</a:t>
            </a:r>
            <a:endParaRPr lang="fr-FR" altLang="fr-FR" baseline="-25000" dirty="0"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dirty="0">
                <a:latin typeface="+mj-lt"/>
                <a:ea typeface="Arial" panose="020B0604020202020204" pitchFamily="34" charset="0"/>
                <a:cs typeface="Times New Roman" panose="02020603050405020304" pitchFamily="18" charset="0"/>
              </a:rPr>
              <a:t>A</a:t>
            </a:r>
            <a:r>
              <a:rPr lang="fr-FR" altLang="fr-FR" baseline="-30000" dirty="0">
                <a:latin typeface="+mj-lt"/>
                <a:ea typeface="Arial" panose="020B0604020202020204" pitchFamily="34" charset="0"/>
                <a:cs typeface="Times New Roman" panose="02020603050405020304" pitchFamily="18" charset="0"/>
              </a:rPr>
              <a:t>3 </a:t>
            </a:r>
            <a:r>
              <a:rPr lang="fr-FR" altLang="fr-FR" dirty="0">
                <a:latin typeface="+mj-lt"/>
                <a:ea typeface="Arial" panose="020B0604020202020204" pitchFamily="34" charset="0"/>
                <a:cs typeface="Times New Roman" panose="02020603050405020304" pitchFamily="18" charset="0"/>
              </a:rPr>
              <a:t>= ε</a:t>
            </a:r>
            <a:r>
              <a:rPr lang="fr-FR" altLang="fr-FR" baseline="-25000" dirty="0">
                <a:latin typeface="+mj-lt"/>
                <a:ea typeface="Arial" panose="020B0604020202020204" pitchFamily="34" charset="0"/>
                <a:cs typeface="Times New Roman" panose="02020603050405020304" pitchFamily="18" charset="0"/>
              </a:rPr>
              <a:t>BBT-,</a:t>
            </a:r>
            <a:r>
              <a:rPr lang="fr-FR" altLang="fr-FR" baseline="-25000" dirty="0" err="1">
                <a:latin typeface="+mj-lt"/>
                <a:ea typeface="Arial" panose="020B0604020202020204" pitchFamily="34" charset="0"/>
                <a:cs typeface="Times New Roman" panose="02020603050405020304" pitchFamily="18" charset="0"/>
              </a:rPr>
              <a:t>λ</a:t>
            </a:r>
            <a:r>
              <a:rPr lang="fr-FR" altLang="fr-FR" dirty="0" err="1">
                <a:latin typeface="+mj-lt"/>
                <a:ea typeface="Arial" panose="020B0604020202020204" pitchFamily="34" charset="0"/>
                <a:cs typeface="Times New Roman" panose="02020603050405020304" pitchFamily="18" charset="0"/>
              </a:rPr>
              <a:t>.l</a:t>
            </a:r>
            <a:r>
              <a:rPr lang="fr-FR" altLang="fr-FR" dirty="0">
                <a:latin typeface="+mj-lt"/>
                <a:ea typeface="Arial" panose="020B0604020202020204" pitchFamily="34" charset="0"/>
                <a:cs typeface="Times New Roman" panose="02020603050405020304" pitchFamily="18" charset="0"/>
              </a:rPr>
              <a:t>.([BBT </a:t>
            </a:r>
            <a:r>
              <a:rPr lang="fr-FR" altLang="fr-FR" baseline="30000" dirty="0">
                <a:latin typeface="+mj-lt"/>
                <a:ea typeface="Arial" panose="020B0604020202020204" pitchFamily="34" charset="0"/>
                <a:cs typeface="Times New Roman" panose="02020603050405020304" pitchFamily="18" charset="0"/>
              </a:rPr>
              <a:t>-</a:t>
            </a:r>
            <a:r>
              <a:rPr lang="fr-FR" altLang="fr-FR" dirty="0">
                <a:latin typeface="+mj-lt"/>
                <a:ea typeface="Arial" panose="020B0604020202020204" pitchFamily="34" charset="0"/>
                <a:cs typeface="Times New Roman" panose="02020603050405020304" pitchFamily="18" charset="0"/>
              </a:rPr>
              <a:t>]</a:t>
            </a:r>
            <a:r>
              <a:rPr lang="fr-FR" altLang="fr-FR" baseline="-30000" dirty="0">
                <a:latin typeface="+mj-lt"/>
                <a:ea typeface="Arial" panose="020B0604020202020204" pitchFamily="34" charset="0"/>
                <a:cs typeface="Times New Roman" panose="02020603050405020304" pitchFamily="18" charset="0"/>
              </a:rPr>
              <a:t>2</a:t>
            </a:r>
            <a:r>
              <a:rPr lang="fr-FR" altLang="fr-FR" b="1" dirty="0">
                <a:solidFill>
                  <a:srgbClr val="800080"/>
                </a:solidFill>
                <a:latin typeface="+mj-lt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altLang="fr-FR" dirty="0">
                <a:latin typeface="+mj-lt"/>
                <a:ea typeface="Arial" panose="020B0604020202020204" pitchFamily="34" charset="0"/>
                <a:cs typeface="Times New Roman" panose="02020603050405020304" pitchFamily="18" charset="0"/>
              </a:rPr>
              <a:t>+ [BBTH]</a:t>
            </a:r>
            <a:r>
              <a:rPr lang="fr-FR" altLang="fr-FR" baseline="-30000" dirty="0">
                <a:latin typeface="+mj-lt"/>
                <a:ea typeface="Arial" panose="020B0604020202020204" pitchFamily="34" charset="0"/>
                <a:cs typeface="Times New Roman" panose="02020603050405020304" pitchFamily="18" charset="0"/>
              </a:rPr>
              <a:t>2</a:t>
            </a:r>
            <a:r>
              <a:rPr lang="fr-FR" altLang="fr-FR" dirty="0">
                <a:latin typeface="+mj-lt"/>
                <a:ea typeface="Arial" panose="020B0604020202020204" pitchFamily="34" charset="0"/>
                <a:cs typeface="Times New Roman" panose="02020603050405020304" pitchFamily="18" charset="0"/>
              </a:rPr>
              <a:t>)</a:t>
            </a:r>
            <a:endParaRPr lang="fr-FR" dirty="0">
              <a:latin typeface="+mj-lt"/>
            </a:endParaRPr>
          </a:p>
        </p:txBody>
      </p:sp>
      <p:sp>
        <p:nvSpPr>
          <p:cNvPr id="59" name="Accolade ouvrante 58">
            <a:extLst>
              <a:ext uri="{FF2B5EF4-FFF2-40B4-BE49-F238E27FC236}">
                <a16:creationId xmlns:a16="http://schemas.microsoft.com/office/drawing/2014/main" xmlns="" id="{95E9B601-581B-4274-9CE6-17AF3BB2EC91}"/>
              </a:ext>
            </a:extLst>
          </p:cNvPr>
          <p:cNvSpPr/>
          <p:nvPr/>
        </p:nvSpPr>
        <p:spPr>
          <a:xfrm>
            <a:off x="5579601" y="2738925"/>
            <a:ext cx="148315" cy="1048617"/>
          </a:xfrm>
          <a:prstGeom prst="leftBrace">
            <a:avLst/>
          </a:prstGeom>
          <a:ln w="285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61" name="Connecteur droit avec flèche 60">
            <a:extLst>
              <a:ext uri="{FF2B5EF4-FFF2-40B4-BE49-F238E27FC236}">
                <a16:creationId xmlns:a16="http://schemas.microsoft.com/office/drawing/2014/main" xmlns="" id="{CAD45950-ED94-4A1F-B931-098917C12E6C}"/>
              </a:ext>
            </a:extLst>
          </p:cNvPr>
          <p:cNvCxnSpPr>
            <a:cxnSpLocks/>
          </p:cNvCxnSpPr>
          <p:nvPr/>
        </p:nvCxnSpPr>
        <p:spPr>
          <a:xfrm flipV="1">
            <a:off x="4892633" y="3354797"/>
            <a:ext cx="586171" cy="33181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ZoneTexte 62">
                <a:extLst>
                  <a:ext uri="{FF2B5EF4-FFF2-40B4-BE49-F238E27FC236}">
                    <a16:creationId xmlns:a16="http://schemas.microsoft.com/office/drawing/2014/main" xmlns="" id="{5BB39074-9B35-4706-B1C9-EEDA9C6AD027}"/>
                  </a:ext>
                </a:extLst>
              </p:cNvPr>
              <p:cNvSpPr txBox="1"/>
              <p:nvPr/>
            </p:nvSpPr>
            <p:spPr>
              <a:xfrm>
                <a:off x="7141673" y="3959089"/>
                <a:ext cx="1636567" cy="534377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fr-FR" i="1" smtClean="0">
                            <a:latin typeface="Cambria Math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i="1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𝐵𝐵</m:t>
                            </m:r>
                            <m:sSup>
                              <m:sSupPr>
                                <m:ctrlPr>
                                  <a:rPr lang="fr-FR" b="0" i="1" smtClean="0">
                                    <a:latin typeface="Cambria Math" charset="0"/>
                                  </a:rPr>
                                </m:ctrlPr>
                              </m:sSup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p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sup>
                            </m:sSup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fr-FR" i="1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𝐵𝐵𝑇𝐻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fr-FR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 smtClean="0">
                            <a:latin typeface="Cambria Math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i="1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fr-FR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fr-FR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fr-FR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fr-FR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63" name="ZoneTexte 62">
                <a:extLst>
                  <a:ext uri="{FF2B5EF4-FFF2-40B4-BE49-F238E27FC236}">
                    <a16:creationId xmlns:a16="http://schemas.microsoft.com/office/drawing/2014/main" id="{5BB39074-9B35-4706-B1C9-EEDA9C6AD0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1673" y="3959089"/>
                <a:ext cx="1636567" cy="534377"/>
              </a:xfrm>
              <a:prstGeom prst="rect">
                <a:avLst/>
              </a:prstGeom>
              <a:blipFill>
                <a:blip r:embed="rId4"/>
                <a:stretch>
                  <a:fillRect b="-2151"/>
                </a:stretch>
              </a:blipFill>
              <a:ln w="28575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96" name="Flèche : droite 4095">
            <a:extLst>
              <a:ext uri="{FF2B5EF4-FFF2-40B4-BE49-F238E27FC236}">
                <a16:creationId xmlns:a16="http://schemas.microsoft.com/office/drawing/2014/main" xmlns="" id="{B220CF91-1397-46CC-A54E-2D2279257E7B}"/>
              </a:ext>
            </a:extLst>
          </p:cNvPr>
          <p:cNvSpPr/>
          <p:nvPr/>
        </p:nvSpPr>
        <p:spPr>
          <a:xfrm>
            <a:off x="5832809" y="4031878"/>
            <a:ext cx="1129814" cy="388798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53909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C9C74BCE-62DB-40DC-A8F3-8FC6B33BE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xmlns="" id="{122CE3E9-4D1D-42DD-9752-E63C37E94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Merci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27819929"/>
      </p:ext>
    </p:extLst>
  </p:cSld>
  <p:clrMapOvr>
    <a:masterClrMapping/>
  </p:clrMapOvr>
</p:sld>
</file>

<file path=ppt/theme/theme1.xml><?xml version="1.0" encoding="utf-8"?>
<a:theme xmlns:a="http://schemas.openxmlformats.org/drawingml/2006/main" name="Titre">
  <a:themeElements>
    <a:clrScheme name="Personnalisé 1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C1DF87"/>
      </a:accent1>
      <a:accent2>
        <a:srgbClr val="00B050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texte">
  <a:themeElements>
    <a:clrScheme name="Personnalisé 1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C1DF87"/>
      </a:accent1>
      <a:accent2>
        <a:srgbClr val="00B050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3.xml><?xml version="1.0" encoding="utf-8"?>
<a:theme xmlns:a="http://schemas.openxmlformats.org/drawingml/2006/main" name="Merci">
  <a:themeElements>
    <a:clrScheme name="Personnalisé 1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C1DF87"/>
      </a:accent1>
      <a:accent2>
        <a:srgbClr val="00B050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887</TotalTime>
  <Words>347</Words>
  <Application>Microsoft Macintosh PowerPoint</Application>
  <PresentationFormat>Personnalisé</PresentationFormat>
  <Paragraphs>103</Paragraphs>
  <Slides>9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3</vt:i4>
      </vt:variant>
      <vt:variant>
        <vt:lpstr>Titres des diapositives</vt:lpstr>
      </vt:variant>
      <vt:variant>
        <vt:i4>9</vt:i4>
      </vt:variant>
    </vt:vector>
  </HeadingPairs>
  <TitlesOfParts>
    <vt:vector size="17" baseType="lpstr">
      <vt:lpstr>Calibri</vt:lpstr>
      <vt:lpstr>Calibri Light</vt:lpstr>
      <vt:lpstr>Cambria Math</vt:lpstr>
      <vt:lpstr>Times New Roman</vt:lpstr>
      <vt:lpstr>Arial</vt:lpstr>
      <vt:lpstr>Titre</vt:lpstr>
      <vt:lpstr>texte</vt:lpstr>
      <vt:lpstr>Merci</vt:lpstr>
      <vt:lpstr>Acides et Bases </vt:lpstr>
      <vt:lpstr>Notion d’acidité et basicité au quotidien</vt:lpstr>
      <vt:lpstr>Echelle de pH </vt:lpstr>
      <vt:lpstr>Les acides et bases du quotidien</vt:lpstr>
      <vt:lpstr>Acide éthanoïque dans l’eau</vt:lpstr>
      <vt:lpstr>Détermination de la constante de dissociation de l’acide éthanoïque dans l’eau</vt:lpstr>
      <vt:lpstr>Un indicateur coloré : le bleu de bromothymol (BBT) </vt:lpstr>
      <vt:lpstr>Détermination du pKa du BBT</vt:lpstr>
      <vt:lpstr>Merci</vt:lpstr>
    </vt:vector>
  </TitlesOfParts>
  <Company>RENAULT DeSign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>PIRONNEAU Marc</dc:creator>
  <dc:description/>
  <cp:lastModifiedBy>Utilisateur de Microsoft Office</cp:lastModifiedBy>
  <cp:revision>53</cp:revision>
  <cp:lastPrinted>2015-03-31T14:07:15Z</cp:lastPrinted>
  <dcterms:created xsi:type="dcterms:W3CDTF">2020-03-24T08:48:58Z</dcterms:created>
  <dcterms:modified xsi:type="dcterms:W3CDTF">2021-06-23T09:27:00Z</dcterms:modified>
  <dc:language>fr-FR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Company">
    <vt:lpwstr>RENAULT DeSign</vt:lpwstr>
  </property>
  <property fmtid="{D5CDD505-2E9C-101B-9397-08002B2CF9AE}" pid="4" name="ContentTypeId">
    <vt:lpwstr>0x0101008477E3DB2009FC49ADD3BBFEB391E983</vt:lpwstr>
  </property>
  <property fmtid="{D5CDD505-2E9C-101B-9397-08002B2CF9AE}" pid="5" name="HiddenSlides">
    <vt:i4>0</vt:i4>
  </property>
  <property fmtid="{D5CDD505-2E9C-101B-9397-08002B2CF9AE}" pid="6" name="HyperlinksChanged">
    <vt:bool>false</vt:bool>
  </property>
  <property fmtid="{D5CDD505-2E9C-101B-9397-08002B2CF9AE}" pid="7" name="LinksUpToDate">
    <vt:bool>false</vt:bool>
  </property>
  <property fmtid="{D5CDD505-2E9C-101B-9397-08002B2CF9AE}" pid="8" name="MMClips">
    <vt:i4>0</vt:i4>
  </property>
  <property fmtid="{D5CDD505-2E9C-101B-9397-08002B2CF9AE}" pid="9" name="MSIP_Label_fd1c0902-ed92-4fed-896d-2e7725de02d4_ActionId">
    <vt:lpwstr>bfe6ccbd-fb37-4aeb-8e54-00004c58dbb4</vt:lpwstr>
  </property>
  <property fmtid="{D5CDD505-2E9C-101B-9397-08002B2CF9AE}" pid="10" name="MSIP_Label_fd1c0902-ed92-4fed-896d-2e7725de02d4_ContentBits">
    <vt:lpwstr>2</vt:lpwstr>
  </property>
  <property fmtid="{D5CDD505-2E9C-101B-9397-08002B2CF9AE}" pid="11" name="MSIP_Label_fd1c0902-ed92-4fed-896d-2e7725de02d4_Enabled">
    <vt:lpwstr>true</vt:lpwstr>
  </property>
  <property fmtid="{D5CDD505-2E9C-101B-9397-08002B2CF9AE}" pid="12" name="MSIP_Label_fd1c0902-ed92-4fed-896d-2e7725de02d4_Method">
    <vt:lpwstr>Standard</vt:lpwstr>
  </property>
  <property fmtid="{D5CDD505-2E9C-101B-9397-08002B2CF9AE}" pid="13" name="MSIP_Label_fd1c0902-ed92-4fed-896d-2e7725de02d4_Name">
    <vt:lpwstr>Anyone (not protected)</vt:lpwstr>
  </property>
  <property fmtid="{D5CDD505-2E9C-101B-9397-08002B2CF9AE}" pid="14" name="MSIP_Label_fd1c0902-ed92-4fed-896d-2e7725de02d4_SetDate">
    <vt:lpwstr>2020-03-24T08:50:27Z</vt:lpwstr>
  </property>
  <property fmtid="{D5CDD505-2E9C-101B-9397-08002B2CF9AE}" pid="15" name="MSIP_Label_fd1c0902-ed92-4fed-896d-2e7725de02d4_SiteId">
    <vt:lpwstr>d6b0bbee-7cd9-4d60-bce6-4a67b543e2ae</vt:lpwstr>
  </property>
  <property fmtid="{D5CDD505-2E9C-101B-9397-08002B2CF9AE}" pid="16" name="Notes">
    <vt:i4>0</vt:i4>
  </property>
  <property fmtid="{D5CDD505-2E9C-101B-9397-08002B2CF9AE}" pid="17" name="PresentationFormat">
    <vt:lpwstr>Affichage à l'écran (16:9)</vt:lpwstr>
  </property>
  <property fmtid="{D5CDD505-2E9C-101B-9397-08002B2CF9AE}" pid="18" name="ScaleCrop">
    <vt:bool>false</vt:bool>
  </property>
  <property fmtid="{D5CDD505-2E9C-101B-9397-08002B2CF9AE}" pid="19" name="ShareDoc">
    <vt:bool>false</vt:bool>
  </property>
  <property fmtid="{D5CDD505-2E9C-101B-9397-08002B2CF9AE}" pid="20" name="Slides">
    <vt:i4>5</vt:i4>
  </property>
</Properties>
</file>