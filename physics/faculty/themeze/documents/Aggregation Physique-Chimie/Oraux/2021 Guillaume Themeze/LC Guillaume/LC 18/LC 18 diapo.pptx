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1"/>
  </p:notesMasterIdLst>
  <p:sldIdLst>
    <p:sldId id="257" r:id="rId4"/>
    <p:sldId id="261" r:id="rId5"/>
    <p:sldId id="259" r:id="rId6"/>
    <p:sldId id="263" r:id="rId7"/>
    <p:sldId id="260" r:id="rId8"/>
    <p:sldId id="262" r:id="rId9"/>
    <p:sldId id="258" r:id="rId10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21" y="1616763"/>
            <a:ext cx="7543800" cy="108840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Du corps pur au mélange binaire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A25210A-46E0-487D-B547-ADAA246D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012456B1-741D-4D5A-8D90-B1AF7EED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phase de l’eau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9F5C5A57-7FC0-4FFE-89B0-A281877C26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" t="2088"/>
          <a:stretch/>
        </p:blipFill>
        <p:spPr>
          <a:xfrm>
            <a:off x="2094614" y="914400"/>
            <a:ext cx="4731598" cy="354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3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7ADA556E-802A-45C8-B54F-9BFC372F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74604E5A-DC13-44C6-8952-64A81FA4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76447"/>
            <a:ext cx="7543800" cy="594945"/>
          </a:xfrm>
        </p:spPr>
        <p:txBody>
          <a:bodyPr/>
          <a:lstStyle/>
          <a:p>
            <a:pPr algn="ctr"/>
            <a:r>
              <a:rPr lang="fr-FR" sz="3200" dirty="0"/>
              <a:t>Construction d’un diagramme binaire phases miscibles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18C99E4-6BAD-4587-AA1D-0E848C104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04" y="1188731"/>
            <a:ext cx="8321191" cy="334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98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AED28A2D-4964-4D72-B8EA-D3C93316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86655DE2-21F3-43F8-BCDE-AC40C33EA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17" y="144379"/>
            <a:ext cx="8748214" cy="694497"/>
          </a:xfrm>
        </p:spPr>
        <p:txBody>
          <a:bodyPr/>
          <a:lstStyle/>
          <a:p>
            <a:r>
              <a:rPr lang="fr-FR" dirty="0"/>
              <a:t>Théorème des moments chimiques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3FC7056-F586-4B46-A631-799A9A238F13}"/>
              </a:ext>
            </a:extLst>
          </p:cNvPr>
          <p:cNvSpPr/>
          <p:nvPr/>
        </p:nvSpPr>
        <p:spPr>
          <a:xfrm>
            <a:off x="204718" y="1043451"/>
            <a:ext cx="4579933" cy="1394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baseline="-25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sz="2000" b="1" baseline="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b="1" baseline="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fr-FR" sz="2000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baseline="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mtot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sz="2000" b="1" baseline="-25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. (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fr-FR" sz="2000" b="1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sz="2000" b="1" baseline="300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0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fr-FR" sz="2000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Accolade fermante 4">
            <a:extLst>
              <a:ext uri="{FF2B5EF4-FFF2-40B4-BE49-F238E27FC236}">
                <a16:creationId xmlns:a16="http://schemas.microsoft.com/office/drawing/2014/main" xmlns="" id="{0112DAF1-CDF7-4B35-AA56-25A6D1D0A649}"/>
              </a:ext>
            </a:extLst>
          </p:cNvPr>
          <p:cNvSpPr/>
          <p:nvPr/>
        </p:nvSpPr>
        <p:spPr>
          <a:xfrm>
            <a:off x="4578824" y="1107068"/>
            <a:ext cx="308344" cy="1151730"/>
          </a:xfrm>
          <a:prstGeom prst="rightBrace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1C80006-74AE-4250-BAAE-BCA4EE3E428A}"/>
              </a:ext>
            </a:extLst>
          </p:cNvPr>
          <p:cNvSpPr/>
          <p:nvPr/>
        </p:nvSpPr>
        <p:spPr>
          <a:xfrm>
            <a:off x="4887168" y="1498267"/>
            <a:ext cx="3855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. (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) =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b="1" baseline="30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3CC96FD-7C34-4562-B700-5988545C0749}"/>
              </a:ext>
            </a:extLst>
          </p:cNvPr>
          <p:cNvSpPr/>
          <p:nvPr/>
        </p:nvSpPr>
        <p:spPr>
          <a:xfrm>
            <a:off x="2805224" y="2384768"/>
            <a:ext cx="3855543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. (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) +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. (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fr-FR" b="1" dirty="0" err="1"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b="1" baseline="-25000" dirty="0" err="1">
                <a:ea typeface="Calibri" panose="020F0502020204030204" pitchFamily="34" charset="0"/>
                <a:cs typeface="Times New Roman" panose="02020603050405020304" pitchFamily="18" charset="0"/>
              </a:rPr>
              <a:t>Ni</a:t>
            </a:r>
            <a:r>
              <a:rPr lang="fr-FR" b="1" baseline="30000" dirty="0" err="1">
                <a:ea typeface="Calibri" panose="020F0502020204030204" pitchFamily="34" charset="0"/>
                <a:cs typeface="Times New Roman" panose="02020603050405020304" pitchFamily="18" charset="0"/>
              </a:rPr>
              <a:t>liq</a:t>
            </a:r>
            <a:r>
              <a:rPr lang="fr-FR" b="1" dirty="0">
                <a:ea typeface="Calibri" panose="020F0502020204030204" pitchFamily="34" charset="0"/>
                <a:cs typeface="Times New Roman" panose="02020603050405020304" pitchFamily="18" charset="0"/>
              </a:rPr>
              <a:t>) = 0 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xmlns="" id="{8DC1F325-6C24-42E6-8906-E4676605DDCD}"/>
              </a:ext>
            </a:extLst>
          </p:cNvPr>
          <p:cNvCxnSpPr/>
          <p:nvPr/>
        </p:nvCxnSpPr>
        <p:spPr>
          <a:xfrm>
            <a:off x="1315072" y="2860158"/>
            <a:ext cx="6513855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28D91F8B-D518-438B-B0C3-6B8C077091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07684" y="2955617"/>
            <a:ext cx="2771140" cy="176466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DE6269FD-8D98-4900-88B1-B27325FF1C77}"/>
              </a:ext>
            </a:extLst>
          </p:cNvPr>
          <p:cNvSpPr txBox="1"/>
          <p:nvPr/>
        </p:nvSpPr>
        <p:spPr>
          <a:xfrm>
            <a:off x="83310" y="2860158"/>
            <a:ext cx="214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 du mélange cuivre-Nikel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xmlns="" id="{A06B3CE8-5B0E-4EC5-8F4F-B189A3978468}"/>
              </a:ext>
            </a:extLst>
          </p:cNvPr>
          <p:cNvSpPr txBox="1"/>
          <p:nvPr/>
        </p:nvSpPr>
        <p:spPr>
          <a:xfrm>
            <a:off x="4578824" y="3391689"/>
            <a:ext cx="1103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</a:t>
            </a:r>
            <a:r>
              <a:rPr lang="fr-FR" baseline="30000" dirty="0" err="1"/>
              <a:t>S</a:t>
            </a:r>
            <a:r>
              <a:rPr lang="fr-FR" baseline="-25000" dirty="0" err="1"/>
              <a:t>Ni</a:t>
            </a:r>
            <a:r>
              <a:rPr lang="fr-FR" dirty="0"/>
              <a:t> = 0,8 </a:t>
            </a:r>
          </a:p>
          <a:p>
            <a:r>
              <a:rPr lang="fr-FR" dirty="0" err="1"/>
              <a:t>w</a:t>
            </a:r>
            <a:r>
              <a:rPr lang="fr-FR" baseline="-25000" dirty="0" err="1"/>
              <a:t>Ni</a:t>
            </a:r>
            <a:r>
              <a:rPr lang="fr-FR" baseline="30000" dirty="0" err="1"/>
              <a:t>L</a:t>
            </a:r>
            <a:r>
              <a:rPr lang="fr-FR" dirty="0"/>
              <a:t> = 0,4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xmlns="" id="{6319932B-1E22-4C3C-B811-96062D22B1A4}"/>
              </a:ext>
            </a:extLst>
          </p:cNvPr>
          <p:cNvSpPr txBox="1"/>
          <p:nvPr/>
        </p:nvSpPr>
        <p:spPr>
          <a:xfrm>
            <a:off x="6660767" y="3483341"/>
            <a:ext cx="225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</a:t>
            </a:r>
            <a:r>
              <a:rPr lang="fr-FR" dirty="0" err="1"/>
              <a:t>m</a:t>
            </a:r>
            <a:r>
              <a:rPr lang="fr-FR" baseline="-25000" dirty="0" err="1"/>
              <a:t>tot</a:t>
            </a:r>
            <a:r>
              <a:rPr lang="fr-FR" dirty="0"/>
              <a:t> = 100g</a:t>
            </a:r>
          </a:p>
        </p:txBody>
      </p:sp>
    </p:spTree>
    <p:extLst>
      <p:ext uri="{BB962C8B-B14F-4D97-AF65-F5344CB8AC3E}">
        <p14:creationId xmlns:p14="http://schemas.microsoft.com/office/powerpoint/2010/main" val="32044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3A678D9-1C02-429E-8D5B-7B2EE7B7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F175E5A9-BD4D-470C-BE86-FAE0E96F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7" y="0"/>
            <a:ext cx="7543800" cy="855599"/>
          </a:xfrm>
        </p:spPr>
        <p:txBody>
          <a:bodyPr/>
          <a:lstStyle/>
          <a:p>
            <a:pPr algn="ctr"/>
            <a:r>
              <a:rPr lang="fr-FR" sz="3200" dirty="0"/>
              <a:t>Diagramme binaire phases solides non miscibles (Pb-Sn)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7969BD4-C571-49A8-A812-664B901E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24" y="1025720"/>
            <a:ext cx="5195847" cy="363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1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91F1C49-92D0-453E-8AD7-1D0FB83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7E1FFC24-D864-4D33-B1DD-293C02103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783" y="172091"/>
            <a:ext cx="7543800" cy="636857"/>
          </a:xfrm>
        </p:spPr>
        <p:txBody>
          <a:bodyPr/>
          <a:lstStyle/>
          <a:p>
            <a:pPr algn="ctr"/>
            <a:r>
              <a:rPr lang="fr-FR" sz="3200" dirty="0"/>
              <a:t>Diagramme binaire et composé défini (Mg-Si)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6B66D8A9-D0E1-4E7B-AE53-610386ECA3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53"/>
          <a:stretch/>
        </p:blipFill>
        <p:spPr>
          <a:xfrm>
            <a:off x="1718370" y="808948"/>
            <a:ext cx="5458607" cy="37958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FA295176-66B3-40B7-BF03-2F992DE850F8}"/>
              </a:ext>
            </a:extLst>
          </p:cNvPr>
          <p:cNvSpPr txBox="1"/>
          <p:nvPr/>
        </p:nvSpPr>
        <p:spPr>
          <a:xfrm>
            <a:off x="7088509" y="4296994"/>
            <a:ext cx="673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</a:t>
            </a:r>
            <a:r>
              <a:rPr lang="fr-FR" sz="1400" b="1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</a:t>
            </a:r>
            <a:endParaRPr lang="fr-FR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40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119</Words>
  <Application>Microsoft Macintosh PowerPoint</Application>
  <PresentationFormat>Personnalisé</PresentationFormat>
  <Paragraphs>23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Calibri</vt:lpstr>
      <vt:lpstr>Calibri Light</vt:lpstr>
      <vt:lpstr>Times New Roman</vt:lpstr>
      <vt:lpstr>Arial</vt:lpstr>
      <vt:lpstr>Titre</vt:lpstr>
      <vt:lpstr>texte</vt:lpstr>
      <vt:lpstr>Merci</vt:lpstr>
      <vt:lpstr>Du corps pur au mélange binaire</vt:lpstr>
      <vt:lpstr>Diagramme de phase de l’eau</vt:lpstr>
      <vt:lpstr>Construction d’un diagramme binaire phases miscibles </vt:lpstr>
      <vt:lpstr>Théorème des moments chimiques</vt:lpstr>
      <vt:lpstr>Diagramme binaire phases solides non miscibles (Pb-Sn)</vt:lpstr>
      <vt:lpstr>Diagramme binaire et composé défini (Mg-Si)</vt:lpstr>
      <vt:lpstr>Présentation PowerPoint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28</cp:revision>
  <cp:lastPrinted>2015-03-31T14:07:15Z</cp:lastPrinted>
  <dcterms:created xsi:type="dcterms:W3CDTF">2020-03-24T08:48:58Z</dcterms:created>
  <dcterms:modified xsi:type="dcterms:W3CDTF">2021-06-23T13:00:55Z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