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b694d813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b694d813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ac4d7abe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ac4d7abe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ac4d7abe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ac4d7abe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694d8131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694d813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e913a2c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e913a2c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07175"/>
            <a:ext cx="8520600" cy="13314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LC07 Évolution spontané d’un système chimique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25750" y="366475"/>
            <a:ext cx="256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Réaction totale : </a:t>
            </a:r>
            <a:endParaRPr sz="2500"/>
          </a:p>
        </p:txBody>
      </p:sp>
      <p:grpSp>
        <p:nvGrpSpPr>
          <p:cNvPr id="60" name="Google Shape;60;p14"/>
          <p:cNvGrpSpPr/>
          <p:nvPr/>
        </p:nvGrpSpPr>
        <p:grpSpPr>
          <a:xfrm>
            <a:off x="2092919" y="1580487"/>
            <a:ext cx="1809296" cy="2172709"/>
            <a:chOff x="3326100" y="1626675"/>
            <a:chExt cx="2491800" cy="2992300"/>
          </a:xfrm>
        </p:grpSpPr>
        <p:sp>
          <p:nvSpPr>
            <p:cNvPr id="61" name="Google Shape;61;p14"/>
            <p:cNvSpPr/>
            <p:nvPr/>
          </p:nvSpPr>
          <p:spPr>
            <a:xfrm>
              <a:off x="3496500" y="1765075"/>
              <a:ext cx="2151000" cy="2853900"/>
            </a:xfrm>
            <a:prstGeom prst="roundRect">
              <a:avLst>
                <a:gd fmla="val 16667" name="adj"/>
              </a:avLst>
            </a:prstGeom>
            <a:solidFill>
              <a:srgbClr val="65C9E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326100" y="1626675"/>
              <a:ext cx="24918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518175" y="1999050"/>
              <a:ext cx="21102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325750" y="3879750"/>
            <a:ext cx="24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Sulfate de cuivre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(Cu²⁺ + SO</a:t>
            </a:r>
            <a:r>
              <a:rPr baseline="-25000" lang="fr"/>
              <a:t>4</a:t>
            </a:r>
            <a:r>
              <a:rPr lang="fr"/>
              <a:t>²⁻) à 0,1 mol.L⁻¹</a:t>
            </a:r>
            <a:endParaRPr/>
          </a:p>
        </p:txBody>
      </p:sp>
      <p:cxnSp>
        <p:nvCxnSpPr>
          <p:cNvPr id="65" name="Google Shape;65;p14"/>
          <p:cNvCxnSpPr/>
          <p:nvPr/>
        </p:nvCxnSpPr>
        <p:spPr>
          <a:xfrm flipH="1" rot="10800000">
            <a:off x="1955925" y="3374175"/>
            <a:ext cx="771000" cy="6825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4"/>
          <p:cNvSpPr/>
          <p:nvPr/>
        </p:nvSpPr>
        <p:spPr>
          <a:xfrm>
            <a:off x="2789050" y="1580475"/>
            <a:ext cx="417050" cy="1579700"/>
          </a:xfrm>
          <a:prstGeom prst="flowChartProcess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2789050" y="2274775"/>
            <a:ext cx="417050" cy="885400"/>
          </a:xfrm>
          <a:prstGeom prst="flowChartProcess">
            <a:avLst/>
          </a:prstGeom>
          <a:solidFill>
            <a:srgbClr val="82BE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4"/>
          <p:cNvCxnSpPr/>
          <p:nvPr/>
        </p:nvCxnSpPr>
        <p:spPr>
          <a:xfrm>
            <a:off x="1867450" y="1769250"/>
            <a:ext cx="10995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 txBox="1"/>
          <p:nvPr/>
        </p:nvSpPr>
        <p:spPr>
          <a:xfrm>
            <a:off x="325750" y="1580475"/>
            <a:ext cx="154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Lame de fer Fe</a:t>
            </a:r>
            <a:r>
              <a:rPr baseline="-25000" lang="fr"/>
              <a:t>(s)</a:t>
            </a:r>
            <a:endParaRPr baseline="-25000"/>
          </a:p>
        </p:txBody>
      </p:sp>
      <p:sp>
        <p:nvSpPr>
          <p:cNvPr id="70" name="Google Shape;70;p14"/>
          <p:cNvSpPr/>
          <p:nvPr/>
        </p:nvSpPr>
        <p:spPr>
          <a:xfrm>
            <a:off x="4293263" y="2615975"/>
            <a:ext cx="985800" cy="49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5670094" y="1580475"/>
            <a:ext cx="1809296" cy="2223359"/>
            <a:chOff x="5670094" y="1580475"/>
            <a:chExt cx="1809296" cy="2223359"/>
          </a:xfrm>
        </p:grpSpPr>
        <p:grpSp>
          <p:nvGrpSpPr>
            <p:cNvPr id="72" name="Google Shape;72;p14"/>
            <p:cNvGrpSpPr/>
            <p:nvPr/>
          </p:nvGrpSpPr>
          <p:grpSpPr>
            <a:xfrm>
              <a:off x="5670094" y="1631125"/>
              <a:ext cx="1809296" cy="2172709"/>
              <a:chOff x="3326100" y="1626675"/>
              <a:chExt cx="2491800" cy="29923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3496500" y="1765075"/>
                <a:ext cx="2151000" cy="2853900"/>
              </a:xfrm>
              <a:prstGeom prst="roundRect">
                <a:avLst>
                  <a:gd fmla="val 16667" name="adj"/>
                </a:avLst>
              </a:prstGeom>
              <a:solidFill>
                <a:srgbClr val="CFE2F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3326100" y="1626675"/>
                <a:ext cx="24918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3518175" y="1999050"/>
                <a:ext cx="21102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" name="Google Shape;76;p14"/>
            <p:cNvSpPr/>
            <p:nvPr/>
          </p:nvSpPr>
          <p:spPr>
            <a:xfrm>
              <a:off x="6366250" y="1580475"/>
              <a:ext cx="417050" cy="1579700"/>
            </a:xfrm>
            <a:prstGeom prst="flowChartProcess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6366250" y="2309525"/>
              <a:ext cx="417050" cy="885400"/>
            </a:xfrm>
            <a:prstGeom prst="flowChartProcess">
              <a:avLst/>
            </a:prstGeom>
            <a:solidFill>
              <a:srgbClr val="CBA0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4"/>
          <p:cNvSpPr txBox="1"/>
          <p:nvPr/>
        </p:nvSpPr>
        <p:spPr>
          <a:xfrm>
            <a:off x="7718725" y="2554625"/>
            <a:ext cx="109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Dépôt de cuivre Cu</a:t>
            </a:r>
            <a:r>
              <a:rPr baseline="-25000" lang="fr"/>
              <a:t>(s)</a:t>
            </a:r>
            <a:endParaRPr baseline="-25000"/>
          </a:p>
        </p:txBody>
      </p:sp>
      <p:cxnSp>
        <p:nvCxnSpPr>
          <p:cNvPr id="79" name="Google Shape;79;p14"/>
          <p:cNvCxnSpPr/>
          <p:nvPr/>
        </p:nvCxnSpPr>
        <p:spPr>
          <a:xfrm>
            <a:off x="6518125" y="2862425"/>
            <a:ext cx="10995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2686850" y="265450"/>
            <a:ext cx="5668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Test caractéristique des ions ferreux :</a:t>
            </a:r>
            <a:r>
              <a:rPr lang="fr" sz="2500"/>
              <a:t> </a:t>
            </a:r>
            <a:endParaRPr sz="2500"/>
          </a:p>
        </p:txBody>
      </p:sp>
      <p:grpSp>
        <p:nvGrpSpPr>
          <p:cNvPr id="85" name="Google Shape;85;p15"/>
          <p:cNvGrpSpPr/>
          <p:nvPr/>
        </p:nvGrpSpPr>
        <p:grpSpPr>
          <a:xfrm>
            <a:off x="688256" y="569450"/>
            <a:ext cx="1809296" cy="2223359"/>
            <a:chOff x="5670094" y="1580475"/>
            <a:chExt cx="1809296" cy="2223359"/>
          </a:xfrm>
        </p:grpSpPr>
        <p:grpSp>
          <p:nvGrpSpPr>
            <p:cNvPr id="86" name="Google Shape;86;p15"/>
            <p:cNvGrpSpPr/>
            <p:nvPr/>
          </p:nvGrpSpPr>
          <p:grpSpPr>
            <a:xfrm>
              <a:off x="5670094" y="1631125"/>
              <a:ext cx="1809296" cy="2172709"/>
              <a:chOff x="3326100" y="1626675"/>
              <a:chExt cx="2491800" cy="2992300"/>
            </a:xfrm>
          </p:grpSpPr>
          <p:sp>
            <p:nvSpPr>
              <p:cNvPr id="87" name="Google Shape;87;p15"/>
              <p:cNvSpPr/>
              <p:nvPr/>
            </p:nvSpPr>
            <p:spPr>
              <a:xfrm>
                <a:off x="3496500" y="1765075"/>
                <a:ext cx="2151000" cy="2853900"/>
              </a:xfrm>
              <a:prstGeom prst="roundRect">
                <a:avLst>
                  <a:gd fmla="val 16667" name="adj"/>
                </a:avLst>
              </a:prstGeom>
              <a:solidFill>
                <a:srgbClr val="CFE2F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3326100" y="1626675"/>
                <a:ext cx="24918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3518175" y="1999050"/>
                <a:ext cx="21102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5"/>
            <p:cNvSpPr/>
            <p:nvPr/>
          </p:nvSpPr>
          <p:spPr>
            <a:xfrm>
              <a:off x="6366250" y="1580475"/>
              <a:ext cx="417050" cy="1579700"/>
            </a:xfrm>
            <a:prstGeom prst="flowChartProcess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366250" y="2309525"/>
              <a:ext cx="417050" cy="885400"/>
            </a:xfrm>
            <a:prstGeom prst="flowChartProcess">
              <a:avLst/>
            </a:prstGeom>
            <a:solidFill>
              <a:srgbClr val="CBA0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2869531" y="1864025"/>
            <a:ext cx="1809296" cy="2172709"/>
            <a:chOff x="3326100" y="1626675"/>
            <a:chExt cx="2491800" cy="2992300"/>
          </a:xfrm>
        </p:grpSpPr>
        <p:sp>
          <p:nvSpPr>
            <p:cNvPr id="93" name="Google Shape;93;p15"/>
            <p:cNvSpPr/>
            <p:nvPr/>
          </p:nvSpPr>
          <p:spPr>
            <a:xfrm>
              <a:off x="3496500" y="1765075"/>
              <a:ext cx="2151000" cy="2853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326100" y="1626675"/>
              <a:ext cx="24918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3518175" y="1999050"/>
              <a:ext cx="21102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/>
          <p:nvPr/>
        </p:nvSpPr>
        <p:spPr>
          <a:xfrm flipH="1" rot="10800000">
            <a:off x="1867663" y="2342875"/>
            <a:ext cx="1756500" cy="1215000"/>
          </a:xfrm>
          <a:prstGeom prst="bentArrow">
            <a:avLst>
              <a:gd fmla="val 17023" name="adj1"/>
              <a:gd fmla="val 20000" name="adj2"/>
              <a:gd fmla="val 25000" name="adj3"/>
              <a:gd fmla="val 43750" name="adj4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5"/>
          <p:cNvGrpSpPr/>
          <p:nvPr/>
        </p:nvGrpSpPr>
        <p:grpSpPr>
          <a:xfrm>
            <a:off x="3071725" y="1122070"/>
            <a:ext cx="1933195" cy="1736663"/>
            <a:chOff x="3175159" y="838926"/>
            <a:chExt cx="2561541" cy="2301131"/>
          </a:xfrm>
        </p:grpSpPr>
        <p:grpSp>
          <p:nvGrpSpPr>
            <p:cNvPr id="98" name="Google Shape;98;p15"/>
            <p:cNvGrpSpPr/>
            <p:nvPr/>
          </p:nvGrpSpPr>
          <p:grpSpPr>
            <a:xfrm>
              <a:off x="3175159" y="1211884"/>
              <a:ext cx="2491800" cy="1092733"/>
              <a:chOff x="3327359" y="1244934"/>
              <a:chExt cx="2491800" cy="1092733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3327359" y="1244934"/>
                <a:ext cx="24918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3518175" y="1764967"/>
                <a:ext cx="21102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15"/>
            <p:cNvGrpSpPr/>
            <p:nvPr/>
          </p:nvGrpSpPr>
          <p:grpSpPr>
            <a:xfrm>
              <a:off x="4234900" y="838926"/>
              <a:ext cx="1501800" cy="2301131"/>
              <a:chOff x="5295425" y="838926"/>
              <a:chExt cx="1501800" cy="2301131"/>
            </a:xfrm>
          </p:grpSpPr>
          <p:grpSp>
            <p:nvGrpSpPr>
              <p:cNvPr id="102" name="Google Shape;102;p15"/>
              <p:cNvGrpSpPr/>
              <p:nvPr/>
            </p:nvGrpSpPr>
            <p:grpSpPr>
              <a:xfrm>
                <a:off x="5295425" y="838926"/>
                <a:ext cx="1501800" cy="2301131"/>
                <a:chOff x="5316650" y="595026"/>
                <a:chExt cx="1501800" cy="2301131"/>
              </a:xfrm>
            </p:grpSpPr>
            <p:sp>
              <p:nvSpPr>
                <p:cNvPr id="103" name="Google Shape;103;p15"/>
                <p:cNvSpPr/>
                <p:nvPr/>
              </p:nvSpPr>
              <p:spPr>
                <a:xfrm rot="-3638699">
                  <a:off x="5123744" y="2329717"/>
                  <a:ext cx="1028111" cy="158779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9D9D9"/>
                </a:solidFill>
                <a:ln cap="flat" cmpd="sng" w="9525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15"/>
                <p:cNvSpPr/>
                <p:nvPr/>
              </p:nvSpPr>
              <p:spPr>
                <a:xfrm rot="-3638699">
                  <a:off x="5419743" y="1740619"/>
                  <a:ext cx="1028111" cy="284368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9D9D9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 rot="-3638107">
                  <a:off x="5928639" y="876613"/>
                  <a:ext cx="920122" cy="468526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9D9D9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06" name="Google Shape;106;p15"/>
                <p:cNvCxnSpPr/>
                <p:nvPr/>
              </p:nvCxnSpPr>
              <p:spPr>
                <a:xfrm>
                  <a:off x="5958950" y="1541525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5"/>
                <p:cNvCxnSpPr/>
                <p:nvPr/>
              </p:nvCxnSpPr>
              <p:spPr>
                <a:xfrm>
                  <a:off x="5864500" y="1731788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5"/>
                <p:cNvCxnSpPr/>
                <p:nvPr/>
              </p:nvCxnSpPr>
              <p:spPr>
                <a:xfrm>
                  <a:off x="5640700" y="2103063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5"/>
                <p:cNvCxnSpPr/>
                <p:nvPr/>
              </p:nvCxnSpPr>
              <p:spPr>
                <a:xfrm>
                  <a:off x="5757675" y="1917425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0" name="Google Shape;110;p15"/>
              <p:cNvSpPr/>
              <p:nvPr/>
            </p:nvSpPr>
            <p:spPr>
              <a:xfrm rot="1760200">
                <a:off x="6298295" y="949453"/>
                <a:ext cx="443932" cy="281394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15"/>
          <p:cNvGrpSpPr/>
          <p:nvPr/>
        </p:nvGrpSpPr>
        <p:grpSpPr>
          <a:xfrm>
            <a:off x="6446706" y="1934000"/>
            <a:ext cx="1809296" cy="2172709"/>
            <a:chOff x="3326100" y="1626675"/>
            <a:chExt cx="2491800" cy="2992300"/>
          </a:xfrm>
        </p:grpSpPr>
        <p:sp>
          <p:nvSpPr>
            <p:cNvPr id="112" name="Google Shape;112;p15"/>
            <p:cNvSpPr/>
            <p:nvPr/>
          </p:nvSpPr>
          <p:spPr>
            <a:xfrm>
              <a:off x="3496500" y="1765075"/>
              <a:ext cx="2151000" cy="2853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FE2F3"/>
                </a:gs>
                <a:gs pos="74000">
                  <a:srgbClr val="93C47D"/>
                </a:gs>
                <a:gs pos="100000">
                  <a:srgbClr val="38761D"/>
                </a:gs>
              </a:gsLst>
              <a:lin ang="5400012" scaled="0"/>
            </a:gra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326100" y="1626675"/>
              <a:ext cx="24918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518175" y="1999050"/>
              <a:ext cx="21102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5"/>
          <p:cNvSpPr/>
          <p:nvPr/>
        </p:nvSpPr>
        <p:spPr>
          <a:xfrm>
            <a:off x="5069875" y="3222550"/>
            <a:ext cx="985800" cy="49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17663" y="3513225"/>
            <a:ext cx="175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Ions ferreux Fe²⁺</a:t>
            </a:r>
            <a:r>
              <a:rPr baseline="-25000" lang="fr"/>
              <a:t>(aq)</a:t>
            </a:r>
            <a:endParaRPr baseline="-25000"/>
          </a:p>
        </p:txBody>
      </p:sp>
      <p:cxnSp>
        <p:nvCxnSpPr>
          <p:cNvPr id="117" name="Google Shape;117;p15"/>
          <p:cNvCxnSpPr/>
          <p:nvPr/>
        </p:nvCxnSpPr>
        <p:spPr>
          <a:xfrm>
            <a:off x="2315488" y="3713325"/>
            <a:ext cx="10995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5"/>
          <p:cNvSpPr txBox="1"/>
          <p:nvPr/>
        </p:nvSpPr>
        <p:spPr>
          <a:xfrm>
            <a:off x="5368263" y="1481025"/>
            <a:ext cx="16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Soude (Na⁺+HO⁻)</a:t>
            </a:r>
            <a:endParaRPr/>
          </a:p>
        </p:txBody>
      </p:sp>
      <p:cxnSp>
        <p:nvCxnSpPr>
          <p:cNvPr id="119" name="Google Shape;119;p15"/>
          <p:cNvCxnSpPr>
            <a:endCxn id="118" idx="1"/>
          </p:cNvCxnSpPr>
          <p:nvPr/>
        </p:nvCxnSpPr>
        <p:spPr>
          <a:xfrm>
            <a:off x="4678863" y="1681125"/>
            <a:ext cx="6894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5"/>
          <p:cNvSpPr txBox="1"/>
          <p:nvPr/>
        </p:nvSpPr>
        <p:spPr>
          <a:xfrm>
            <a:off x="6522538" y="4237225"/>
            <a:ext cx="19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Précipité d’hydroxyde de fer Fe(OH)</a:t>
            </a:r>
            <a:r>
              <a:rPr baseline="-25000" lang="fr"/>
              <a:t>2(s)</a:t>
            </a:r>
            <a:endParaRPr baseline="-2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521850" y="381850"/>
            <a:ext cx="321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Réaction non totale :</a:t>
            </a:r>
            <a:endParaRPr/>
          </a:p>
        </p:txBody>
      </p:sp>
      <p:grpSp>
        <p:nvGrpSpPr>
          <p:cNvPr id="126" name="Google Shape;126;p16"/>
          <p:cNvGrpSpPr/>
          <p:nvPr/>
        </p:nvGrpSpPr>
        <p:grpSpPr>
          <a:xfrm>
            <a:off x="2894831" y="1927200"/>
            <a:ext cx="1809296" cy="2172709"/>
            <a:chOff x="3326100" y="1626675"/>
            <a:chExt cx="2491800" cy="2992300"/>
          </a:xfrm>
        </p:grpSpPr>
        <p:sp>
          <p:nvSpPr>
            <p:cNvPr id="127" name="Google Shape;127;p16"/>
            <p:cNvSpPr/>
            <p:nvPr/>
          </p:nvSpPr>
          <p:spPr>
            <a:xfrm>
              <a:off x="3496500" y="1765075"/>
              <a:ext cx="2151000" cy="2853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326100" y="1626675"/>
              <a:ext cx="24918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3518175" y="1999050"/>
              <a:ext cx="21102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/>
        </p:nvSpPr>
        <p:spPr>
          <a:xfrm>
            <a:off x="746525" y="3007750"/>
            <a:ext cx="214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Chlorure de fer (III) (Fe³⁺+Cl⁻)</a:t>
            </a:r>
            <a:endParaRPr/>
          </a:p>
        </p:txBody>
      </p:sp>
      <p:cxnSp>
        <p:nvCxnSpPr>
          <p:cNvPr id="131" name="Google Shape;131;p16"/>
          <p:cNvCxnSpPr/>
          <p:nvPr/>
        </p:nvCxnSpPr>
        <p:spPr>
          <a:xfrm>
            <a:off x="2640738" y="3220450"/>
            <a:ext cx="10995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6"/>
          <p:cNvSpPr txBox="1"/>
          <p:nvPr/>
        </p:nvSpPr>
        <p:spPr>
          <a:xfrm>
            <a:off x="3025000" y="4211100"/>
            <a:ext cx="228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Milieu acide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acide perchlorique HClO</a:t>
            </a:r>
            <a:r>
              <a:rPr baseline="-25000" lang="fr"/>
              <a:t>4</a:t>
            </a:r>
            <a:r>
              <a:rPr lang="fr"/>
              <a:t> </a:t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3025000" y="1263395"/>
            <a:ext cx="1933195" cy="1736663"/>
            <a:chOff x="3175159" y="838926"/>
            <a:chExt cx="2561541" cy="2301131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3175159" y="1211884"/>
              <a:ext cx="2491800" cy="1092733"/>
              <a:chOff x="3327359" y="1244934"/>
              <a:chExt cx="2491800" cy="1092733"/>
            </a:xfrm>
          </p:grpSpPr>
          <p:sp>
            <p:nvSpPr>
              <p:cNvPr id="135" name="Google Shape;135;p16"/>
              <p:cNvSpPr/>
              <p:nvPr/>
            </p:nvSpPr>
            <p:spPr>
              <a:xfrm>
                <a:off x="3327359" y="1244934"/>
                <a:ext cx="24918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3518175" y="1764967"/>
                <a:ext cx="21102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" name="Google Shape;137;p16"/>
            <p:cNvGrpSpPr/>
            <p:nvPr/>
          </p:nvGrpSpPr>
          <p:grpSpPr>
            <a:xfrm>
              <a:off x="4234900" y="838926"/>
              <a:ext cx="1501800" cy="2301131"/>
              <a:chOff x="5295425" y="838926"/>
              <a:chExt cx="1501800" cy="2301131"/>
            </a:xfrm>
          </p:grpSpPr>
          <p:grpSp>
            <p:nvGrpSpPr>
              <p:cNvPr id="138" name="Google Shape;138;p16"/>
              <p:cNvGrpSpPr/>
              <p:nvPr/>
            </p:nvGrpSpPr>
            <p:grpSpPr>
              <a:xfrm>
                <a:off x="5295425" y="838926"/>
                <a:ext cx="1501800" cy="2301131"/>
                <a:chOff x="5316650" y="595026"/>
                <a:chExt cx="1501800" cy="2301131"/>
              </a:xfrm>
            </p:grpSpPr>
            <p:sp>
              <p:nvSpPr>
                <p:cNvPr id="139" name="Google Shape;139;p16"/>
                <p:cNvSpPr/>
                <p:nvPr/>
              </p:nvSpPr>
              <p:spPr>
                <a:xfrm rot="-3638699">
                  <a:off x="5123744" y="2329717"/>
                  <a:ext cx="1028111" cy="158779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9D9D9"/>
                </a:solidFill>
                <a:ln cap="flat" cmpd="sng" w="9525">
                  <a:solidFill>
                    <a:srgbClr val="66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16"/>
                <p:cNvSpPr/>
                <p:nvPr/>
              </p:nvSpPr>
              <p:spPr>
                <a:xfrm rot="-3638699">
                  <a:off x="5419743" y="1740619"/>
                  <a:ext cx="1028111" cy="284368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9D9D9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16"/>
                <p:cNvSpPr/>
                <p:nvPr/>
              </p:nvSpPr>
              <p:spPr>
                <a:xfrm rot="-3638107">
                  <a:off x="5928639" y="876613"/>
                  <a:ext cx="920122" cy="468526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9D9D9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5958950" y="1541525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5864500" y="1731788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5640700" y="2103063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5757675" y="1917425"/>
                  <a:ext cx="138600" cy="85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6" name="Google Shape;146;p16"/>
              <p:cNvSpPr/>
              <p:nvPr/>
            </p:nvSpPr>
            <p:spPr>
              <a:xfrm rot="1760200">
                <a:off x="6298295" y="949453"/>
                <a:ext cx="443932" cy="281394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" name="Google Shape;147;p16"/>
          <p:cNvSpPr txBox="1"/>
          <p:nvPr/>
        </p:nvSpPr>
        <p:spPr>
          <a:xfrm>
            <a:off x="746525" y="1463250"/>
            <a:ext cx="228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Thiocyanate de potassium (K⁺+SCN⁻)</a:t>
            </a:r>
            <a:endParaRPr/>
          </a:p>
        </p:txBody>
      </p:sp>
      <p:cxnSp>
        <p:nvCxnSpPr>
          <p:cNvPr id="148" name="Google Shape;148;p16"/>
          <p:cNvCxnSpPr/>
          <p:nvPr/>
        </p:nvCxnSpPr>
        <p:spPr>
          <a:xfrm flipH="1" rot="10800000">
            <a:off x="3079175" y="1668200"/>
            <a:ext cx="1440600" cy="72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9" name="Google Shape;149;p16"/>
          <p:cNvGrpSpPr/>
          <p:nvPr/>
        </p:nvGrpSpPr>
        <p:grpSpPr>
          <a:xfrm>
            <a:off x="6396181" y="1927200"/>
            <a:ext cx="1809296" cy="2172709"/>
            <a:chOff x="3326100" y="1626675"/>
            <a:chExt cx="2491800" cy="2992300"/>
          </a:xfrm>
        </p:grpSpPr>
        <p:sp>
          <p:nvSpPr>
            <p:cNvPr id="150" name="Google Shape;150;p16"/>
            <p:cNvSpPr/>
            <p:nvPr/>
          </p:nvSpPr>
          <p:spPr>
            <a:xfrm>
              <a:off x="3496500" y="1765075"/>
              <a:ext cx="2151000" cy="2853900"/>
            </a:xfrm>
            <a:prstGeom prst="roundRect">
              <a:avLst>
                <a:gd fmla="val 16667" name="adj"/>
              </a:avLst>
            </a:prstGeom>
            <a:solidFill>
              <a:srgbClr val="F6B26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3326100" y="1626675"/>
              <a:ext cx="24918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3518175" y="1999050"/>
              <a:ext cx="2110200" cy="57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16"/>
          <p:cNvSpPr/>
          <p:nvPr/>
        </p:nvSpPr>
        <p:spPr>
          <a:xfrm>
            <a:off x="5057250" y="2974000"/>
            <a:ext cx="985800" cy="49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396175" y="4211100"/>
            <a:ext cx="20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Complexe [Fe(SCN)]²⁺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2078550" y="304575"/>
            <a:ext cx="4986900" cy="5727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Critère d’évolution spontané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03175" y="1360463"/>
            <a:ext cx="8136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Q</a:t>
            </a:r>
            <a:r>
              <a:rPr baseline="-25000" lang="fr" sz="1800"/>
              <a:t>1</a:t>
            </a:r>
            <a:r>
              <a:rPr lang="fr" sz="1800"/>
              <a:t> &lt; K  🠆 </a:t>
            </a:r>
            <a:r>
              <a:rPr lang="fr" sz="1800">
                <a:solidFill>
                  <a:schemeClr val="dk1"/>
                </a:solidFill>
              </a:rPr>
              <a:t> </a:t>
            </a:r>
            <a:r>
              <a:rPr lang="fr" sz="1800">
                <a:solidFill>
                  <a:srgbClr val="6AA84F"/>
                </a:solidFill>
              </a:rPr>
              <a:t>Sens 1</a:t>
            </a:r>
            <a:r>
              <a:rPr lang="fr" sz="1800"/>
              <a:t>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Q</a:t>
            </a:r>
            <a:r>
              <a:rPr baseline="-25000" lang="fr" sz="1800"/>
              <a:t>1</a:t>
            </a:r>
            <a:r>
              <a:rPr lang="fr" sz="1800"/>
              <a:t> augmente jusqu’à K.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Q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 &lt; K  🠆  </a:t>
            </a:r>
            <a:r>
              <a:rPr lang="fr" sz="1800">
                <a:solidFill>
                  <a:srgbClr val="FF0000"/>
                </a:solidFill>
              </a:rPr>
              <a:t>Sens 2</a:t>
            </a:r>
            <a:r>
              <a:rPr lang="fr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Q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 diminue jusqu’à K.</a:t>
            </a:r>
            <a:endParaRPr sz="1800"/>
          </a:p>
        </p:txBody>
      </p:sp>
      <p:grpSp>
        <p:nvGrpSpPr>
          <p:cNvPr id="161" name="Google Shape;161;p17"/>
          <p:cNvGrpSpPr/>
          <p:nvPr/>
        </p:nvGrpSpPr>
        <p:grpSpPr>
          <a:xfrm>
            <a:off x="825825" y="3316075"/>
            <a:ext cx="7490700" cy="1477150"/>
            <a:chOff x="825825" y="3443850"/>
            <a:chExt cx="7490700" cy="1477150"/>
          </a:xfrm>
        </p:grpSpPr>
        <p:cxnSp>
          <p:nvCxnSpPr>
            <p:cNvPr id="162" name="Google Shape;162;p17"/>
            <p:cNvCxnSpPr/>
            <p:nvPr/>
          </p:nvCxnSpPr>
          <p:spPr>
            <a:xfrm>
              <a:off x="825825" y="4246325"/>
              <a:ext cx="749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17"/>
            <p:cNvCxnSpPr/>
            <p:nvPr/>
          </p:nvCxnSpPr>
          <p:spPr>
            <a:xfrm>
              <a:off x="1046275" y="4086575"/>
              <a:ext cx="0" cy="31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" name="Google Shape;164;p17"/>
            <p:cNvSpPr txBox="1"/>
            <p:nvPr/>
          </p:nvSpPr>
          <p:spPr>
            <a:xfrm>
              <a:off x="833275" y="4459300"/>
              <a:ext cx="42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0</a:t>
              </a:r>
              <a:endParaRPr sz="1800"/>
            </a:p>
          </p:txBody>
        </p:sp>
        <p:cxnSp>
          <p:nvCxnSpPr>
            <p:cNvPr id="165" name="Google Shape;165;p17"/>
            <p:cNvCxnSpPr/>
            <p:nvPr/>
          </p:nvCxnSpPr>
          <p:spPr>
            <a:xfrm>
              <a:off x="4776775" y="4086575"/>
              <a:ext cx="0" cy="31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" name="Google Shape;166;p17"/>
            <p:cNvSpPr txBox="1"/>
            <p:nvPr/>
          </p:nvSpPr>
          <p:spPr>
            <a:xfrm>
              <a:off x="4563775" y="4459300"/>
              <a:ext cx="42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K</a:t>
              </a:r>
              <a:endParaRPr sz="1800"/>
            </a:p>
          </p:txBody>
        </p:sp>
        <p:cxnSp>
          <p:nvCxnSpPr>
            <p:cNvPr id="167" name="Google Shape;167;p17"/>
            <p:cNvCxnSpPr/>
            <p:nvPr/>
          </p:nvCxnSpPr>
          <p:spPr>
            <a:xfrm>
              <a:off x="2252950" y="4086575"/>
              <a:ext cx="0" cy="3195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17"/>
            <p:cNvCxnSpPr/>
            <p:nvPr/>
          </p:nvCxnSpPr>
          <p:spPr>
            <a:xfrm>
              <a:off x="6483950" y="4086575"/>
              <a:ext cx="0" cy="31950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" name="Google Shape;169;p17"/>
            <p:cNvSpPr txBox="1"/>
            <p:nvPr/>
          </p:nvSpPr>
          <p:spPr>
            <a:xfrm>
              <a:off x="1880200" y="4459300"/>
              <a:ext cx="74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FF9900"/>
                  </a:solidFill>
                </a:rPr>
                <a:t>Q</a:t>
              </a:r>
              <a:r>
                <a:rPr baseline="-25000" lang="fr" sz="1800">
                  <a:solidFill>
                    <a:srgbClr val="FF9900"/>
                  </a:solidFill>
                </a:rPr>
                <a:t>1</a:t>
              </a:r>
              <a:endParaRPr>
                <a:solidFill>
                  <a:srgbClr val="FF9900"/>
                </a:solidFill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6111200" y="4406075"/>
              <a:ext cx="74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FF9900"/>
                  </a:solidFill>
                </a:rPr>
                <a:t>Q</a:t>
              </a:r>
              <a:r>
                <a:rPr baseline="-25000" lang="fr" sz="1800">
                  <a:solidFill>
                    <a:srgbClr val="FF9900"/>
                  </a:solidFill>
                </a:rPr>
                <a:t>2</a:t>
              </a:r>
              <a:endParaRPr>
                <a:solidFill>
                  <a:srgbClr val="FF9900"/>
                </a:solidFill>
              </a:endParaRPr>
            </a:p>
          </p:txBody>
        </p:sp>
        <p:cxnSp>
          <p:nvCxnSpPr>
            <p:cNvPr id="171" name="Google Shape;171;p17"/>
            <p:cNvCxnSpPr/>
            <p:nvPr/>
          </p:nvCxnSpPr>
          <p:spPr>
            <a:xfrm>
              <a:off x="2252950" y="3905550"/>
              <a:ext cx="2545200" cy="0"/>
            </a:xfrm>
            <a:prstGeom prst="straightConnector1">
              <a:avLst/>
            </a:prstGeom>
            <a:noFill/>
            <a:ln cap="flat" cmpd="sng" w="28575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" name="Google Shape;172;p17"/>
            <p:cNvSpPr txBox="1"/>
            <p:nvPr/>
          </p:nvSpPr>
          <p:spPr>
            <a:xfrm>
              <a:off x="2961100" y="3443850"/>
              <a:ext cx="112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6AA84F"/>
                  </a:solidFill>
                </a:rPr>
                <a:t>Sens 1</a:t>
              </a:r>
              <a:r>
                <a:rPr lang="fr" sz="1800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cxnSp>
          <p:nvCxnSpPr>
            <p:cNvPr id="173" name="Google Shape;173;p17"/>
            <p:cNvCxnSpPr/>
            <p:nvPr/>
          </p:nvCxnSpPr>
          <p:spPr>
            <a:xfrm rot="10800000">
              <a:off x="4798150" y="3904500"/>
              <a:ext cx="1700400" cy="21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17"/>
            <p:cNvSpPr txBox="1"/>
            <p:nvPr/>
          </p:nvSpPr>
          <p:spPr>
            <a:xfrm>
              <a:off x="5083900" y="3444900"/>
              <a:ext cx="112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FF0000"/>
                  </a:solidFill>
                </a:rPr>
                <a:t>Sens 1 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3461950" y="242825"/>
            <a:ext cx="20685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Pile Daniell</a:t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 b="9905" l="14191" r="13255" t="13366"/>
          <a:stretch/>
        </p:blipFill>
        <p:spPr>
          <a:xfrm>
            <a:off x="1147200" y="815525"/>
            <a:ext cx="6849576" cy="407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940138" y="935150"/>
            <a:ext cx="11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A86E8"/>
                </a:solidFill>
              </a:rPr>
              <a:t>Multimètre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182" name="Google Shape;182;p18"/>
          <p:cNvCxnSpPr/>
          <p:nvPr/>
        </p:nvCxnSpPr>
        <p:spPr>
          <a:xfrm rot="10800000">
            <a:off x="2190400" y="935175"/>
            <a:ext cx="568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18"/>
          <p:cNvSpPr txBox="1"/>
          <p:nvPr/>
        </p:nvSpPr>
        <p:spPr>
          <a:xfrm>
            <a:off x="2342050" y="534975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AA84F"/>
                </a:solidFill>
              </a:rPr>
              <a:t>e</a:t>
            </a:r>
            <a:r>
              <a:rPr baseline="30000" lang="fr" sz="1600">
                <a:solidFill>
                  <a:srgbClr val="6AA84F"/>
                </a:solidFill>
              </a:rPr>
              <a:t>-</a:t>
            </a:r>
            <a:endParaRPr baseline="30000" sz="1600">
              <a:solidFill>
                <a:srgbClr val="6AA84F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905975" y="719625"/>
            <a:ext cx="29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0000"/>
                </a:solidFill>
              </a:rPr>
              <a:t>I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