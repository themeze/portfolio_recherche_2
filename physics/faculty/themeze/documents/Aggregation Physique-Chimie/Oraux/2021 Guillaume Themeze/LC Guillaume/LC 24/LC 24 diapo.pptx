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Default Extension="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7" r:id="rId2"/>
    <p:sldMasterId id="2147483709" r:id="rId3"/>
  </p:sldMasterIdLst>
  <p:notesMasterIdLst>
    <p:notesMasterId r:id="rId11"/>
  </p:notesMasterIdLst>
  <p:sldIdLst>
    <p:sldId id="257" r:id="rId4"/>
    <p:sldId id="259" r:id="rId5"/>
    <p:sldId id="260" r:id="rId6"/>
    <p:sldId id="261" r:id="rId7"/>
    <p:sldId id="262" r:id="rId8"/>
    <p:sldId id="264" r:id="rId9"/>
    <p:sldId id="258" r:id="rId10"/>
  </p:sldIdLst>
  <p:sldSz cx="9144000" cy="5145088"/>
  <p:notesSz cx="7559675" cy="106918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CCECFF"/>
    <a:srgbClr val="A6A6A6"/>
    <a:srgbClr val="DDDDDD"/>
    <a:srgbClr val="FFFFFF"/>
    <a:srgbClr val="C1DF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Style moyen 3 - 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Style foncé 1 - Accentuation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Style foncé 2 - Accentuation 1/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Style foncé 2 - Accentuation 3/Accentuation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4"/>
  </p:normalViewPr>
  <p:slideViewPr>
    <p:cSldViewPr snapToGrid="0">
      <p:cViewPr varScale="1">
        <p:scale>
          <a:sx n="119" d="100"/>
          <a:sy n="119" d="100"/>
        </p:scale>
        <p:origin x="8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2782F5-A916-4653-9283-0B21DAE59FD2}" type="datetimeFigureOut">
              <a:rPr lang="fr-FR" smtClean="0"/>
              <a:t>23/06/2021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574675" y="1336675"/>
            <a:ext cx="64103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5CBF42-708B-4E44-B726-068829AEE59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1636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382" y="4802082"/>
            <a:ext cx="9141619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2204"/>
            <a:ext cx="9141619" cy="480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31F701-4968-46AE-B777-6FB50F0714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xmlns="" id="{0AEBC926-49BC-4890-ADE2-C02F78541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8921" y="1616763"/>
            <a:ext cx="7543800" cy="10884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6000"/>
            </a:lvl1pPr>
          </a:lstStyle>
          <a:p>
            <a:r>
              <a:rPr lang="fr-FR" dirty="0"/>
              <a:t>Titre</a:t>
            </a:r>
            <a:endParaRPr lang="en-US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xmlns="" id="{83F3BEDD-3280-49C7-BA47-A9F8858CDC01}"/>
              </a:ext>
            </a:extLst>
          </p:cNvPr>
          <p:cNvCxnSpPr/>
          <p:nvPr userDrawn="1"/>
        </p:nvCxnSpPr>
        <p:spPr>
          <a:xfrm>
            <a:off x="798921" y="2710731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ZoneTexte 1">
            <a:extLst>
              <a:ext uri="{FF2B5EF4-FFF2-40B4-BE49-F238E27FC236}">
                <a16:creationId xmlns:a16="http://schemas.microsoft.com/office/drawing/2014/main" xmlns="" id="{A7C32FB1-E2FF-4CF3-95D1-5E311C2865EA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smtClean="0">
                <a:solidFill>
                  <a:schemeClr val="bg1"/>
                </a:solidFill>
                <a:latin typeface="+mj-lt"/>
              </a:rPr>
              <a:t>THEMEZE</a:t>
            </a:r>
            <a:r>
              <a:rPr lang="en-US" sz="900" baseline="0" smtClean="0">
                <a:solidFill>
                  <a:schemeClr val="bg1"/>
                </a:solidFill>
                <a:latin typeface="+mj-lt"/>
              </a:rPr>
              <a:t>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504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382" y="4802082"/>
            <a:ext cx="9141619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2204"/>
            <a:ext cx="9141619" cy="480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xmlns="" id="{C9E5BD84-DC66-4CA9-B14F-F778A3BA3AF2}"/>
              </a:ext>
            </a:extLst>
          </p:cNvPr>
          <p:cNvCxnSpPr/>
          <p:nvPr userDrawn="1"/>
        </p:nvCxnSpPr>
        <p:spPr>
          <a:xfrm>
            <a:off x="675048" y="716623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itle Placeholder 1">
            <a:extLst>
              <a:ext uri="{FF2B5EF4-FFF2-40B4-BE49-F238E27FC236}">
                <a16:creationId xmlns:a16="http://schemas.microsoft.com/office/drawing/2014/main" xmlns="" id="{5FE470C6-3407-4B39-9256-D7CBAE76B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048" y="144379"/>
            <a:ext cx="7543800" cy="69449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4800"/>
            </a:lvl1pPr>
          </a:lstStyle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A7C32FB1-E2FF-4CF3-95D1-5E311C2865EA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smtClean="0">
                <a:solidFill>
                  <a:schemeClr val="bg1"/>
                </a:solidFill>
                <a:latin typeface="+mj-lt"/>
              </a:rPr>
              <a:t>THEMEZE</a:t>
            </a:r>
            <a:r>
              <a:rPr lang="en-US" sz="900" baseline="0" smtClean="0">
                <a:solidFill>
                  <a:schemeClr val="bg1"/>
                </a:solidFill>
                <a:latin typeface="+mj-lt"/>
              </a:rPr>
              <a:t>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83207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381" y="-1"/>
            <a:ext cx="9141619" cy="38444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0" y="3844412"/>
            <a:ext cx="9141619" cy="480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xmlns="" id="{C9E5BD84-DC66-4CA9-B14F-F778A3BA3AF2}"/>
              </a:ext>
            </a:extLst>
          </p:cNvPr>
          <p:cNvCxnSpPr/>
          <p:nvPr userDrawn="1"/>
        </p:nvCxnSpPr>
        <p:spPr>
          <a:xfrm>
            <a:off x="659006" y="572244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itle Placeholder 1">
            <a:extLst>
              <a:ext uri="{FF2B5EF4-FFF2-40B4-BE49-F238E27FC236}">
                <a16:creationId xmlns:a16="http://schemas.microsoft.com/office/drawing/2014/main" xmlns="" id="{5FE470C6-3407-4B39-9256-D7CBAE76B6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844412"/>
            <a:ext cx="7543800" cy="4577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9600" b="1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Merci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967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2082"/>
            <a:ext cx="9144000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2204"/>
            <a:ext cx="9144001" cy="495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6586" y="1611199"/>
            <a:ext cx="7543800" cy="10884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6335"/>
            <a:ext cx="3617103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none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THEMEZE Guillaume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6335"/>
            <a:ext cx="984019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xmlns="" id="{5F6E0C2E-DB01-42C5-AD9A-A992C3E17B5B}"/>
              </a:ext>
            </a:extLst>
          </p:cNvPr>
          <p:cNvCxnSpPr/>
          <p:nvPr userDrawn="1"/>
        </p:nvCxnSpPr>
        <p:spPr>
          <a:xfrm>
            <a:off x="1196586" y="2699603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5611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2082"/>
            <a:ext cx="9144000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2204"/>
            <a:ext cx="9144001" cy="495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7321" y="114496"/>
            <a:ext cx="7543800" cy="4577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6335"/>
            <a:ext cx="984019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xmlns="" id="{5F6E0C2E-DB01-42C5-AD9A-A992C3E17B5B}"/>
              </a:ext>
            </a:extLst>
          </p:cNvPr>
          <p:cNvCxnSpPr/>
          <p:nvPr userDrawn="1"/>
        </p:nvCxnSpPr>
        <p:spPr>
          <a:xfrm>
            <a:off x="659006" y="572244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A7C32FB1-E2FF-4CF3-95D1-5E311C2865EA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smtClean="0">
                <a:solidFill>
                  <a:schemeClr val="bg1"/>
                </a:solidFill>
                <a:latin typeface="+mj-lt"/>
              </a:rPr>
              <a:t>THEMEZE</a:t>
            </a:r>
            <a:r>
              <a:rPr lang="en-US" sz="900" baseline="0" smtClean="0">
                <a:solidFill>
                  <a:schemeClr val="bg1"/>
                </a:solidFill>
                <a:latin typeface="+mj-lt"/>
              </a:rPr>
              <a:t>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44376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8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2082"/>
            <a:ext cx="9144000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2204"/>
            <a:ext cx="9144001" cy="495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6335"/>
            <a:ext cx="984019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A7C32FB1-E2FF-4CF3-95D1-5E311C2865EA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smtClean="0">
                <a:solidFill>
                  <a:schemeClr val="bg1"/>
                </a:solidFill>
                <a:latin typeface="+mj-lt"/>
              </a:rPr>
              <a:t>THEMEZE</a:t>
            </a:r>
            <a:r>
              <a:rPr lang="en-US" sz="900" baseline="0" smtClean="0">
                <a:solidFill>
                  <a:schemeClr val="bg1"/>
                </a:solidFill>
                <a:latin typeface="+mj-lt"/>
              </a:rPr>
              <a:t>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04997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8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C3A679E2-BCF3-45FF-9846-55A224C82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4846335"/>
            <a:ext cx="984019" cy="273928"/>
          </a:xfrm>
        </p:spPr>
        <p:txBody>
          <a:bodyPr/>
          <a:lstStyle/>
          <a:p>
            <a:fld id="{9A31F701-4968-46AE-B777-6FB50F0714C3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xmlns="" id="{C649B183-356E-41EB-B214-68910814D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460" y="1695451"/>
            <a:ext cx="7407059" cy="1088404"/>
          </a:xfrm>
        </p:spPr>
        <p:txBody>
          <a:bodyPr>
            <a:noAutofit/>
          </a:bodyPr>
          <a:lstStyle/>
          <a:p>
            <a:r>
              <a:rPr lang="fr-FR" dirty="0"/>
              <a:t>Optimisation d’un procédé chimique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07AC654D-D0E1-4F64-B9D3-25446D986FCD}"/>
              </a:ext>
            </a:extLst>
          </p:cNvPr>
          <p:cNvSpPr txBox="1"/>
          <p:nvPr/>
        </p:nvSpPr>
        <p:spPr>
          <a:xfrm>
            <a:off x="5418767" y="2783855"/>
            <a:ext cx="29239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Agrégation</a:t>
            </a:r>
          </a:p>
        </p:txBody>
      </p:sp>
    </p:spTree>
    <p:extLst>
      <p:ext uri="{BB962C8B-B14F-4D97-AF65-F5344CB8AC3E}">
        <p14:creationId xmlns:p14="http://schemas.microsoft.com/office/powerpoint/2010/main" val="2241335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68DA8EBE-9BCE-46B2-8A8F-E64A96D47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F701-4968-46AE-B777-6FB50F0714C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xmlns="" id="{F7D12468-EF71-44FC-BF23-F7B4E872F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Variation avec la pression </a:t>
            </a:r>
          </a:p>
        </p:txBody>
      </p:sp>
      <p:sp>
        <p:nvSpPr>
          <p:cNvPr id="8" name="Flèche : courbe vers le haut 7">
            <a:extLst>
              <a:ext uri="{FF2B5EF4-FFF2-40B4-BE49-F238E27FC236}">
                <a16:creationId xmlns:a16="http://schemas.microsoft.com/office/drawing/2014/main" xmlns="" id="{89B013CB-3D8B-4C06-8437-4D1A6258B8E4}"/>
              </a:ext>
            </a:extLst>
          </p:cNvPr>
          <p:cNvSpPr/>
          <p:nvPr/>
        </p:nvSpPr>
        <p:spPr>
          <a:xfrm>
            <a:off x="1911298" y="3321775"/>
            <a:ext cx="2373487" cy="445168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9" name="Flèche : courbe vers le haut 8">
            <a:extLst>
              <a:ext uri="{FF2B5EF4-FFF2-40B4-BE49-F238E27FC236}">
                <a16:creationId xmlns:a16="http://schemas.microsoft.com/office/drawing/2014/main" xmlns="" id="{89B013CB-3D8B-4C06-8437-4D1A6258B8E4}"/>
              </a:ext>
            </a:extLst>
          </p:cNvPr>
          <p:cNvSpPr/>
          <p:nvPr/>
        </p:nvSpPr>
        <p:spPr>
          <a:xfrm>
            <a:off x="5350534" y="3301244"/>
            <a:ext cx="2373487" cy="445168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ZoneTexte 97">
            <a:extLst>
              <a:ext uri="{FF2B5EF4-FFF2-40B4-BE49-F238E27FC236}">
                <a16:creationId xmlns:a16="http://schemas.microsoft.com/office/drawing/2014/main" xmlns="" id="{8D006437-DFD3-4B6A-A3E5-67D5C73BD62F}"/>
              </a:ext>
            </a:extLst>
          </p:cNvPr>
          <p:cNvSpPr txBox="1"/>
          <p:nvPr/>
        </p:nvSpPr>
        <p:spPr>
          <a:xfrm>
            <a:off x="2381606" y="3766943"/>
            <a:ext cx="1695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dirty="0"/>
              <a:t>Compression</a:t>
            </a:r>
          </a:p>
        </p:txBody>
      </p:sp>
      <p:sp>
        <p:nvSpPr>
          <p:cNvPr id="11" name="ZoneTexte 99">
            <a:extLst>
              <a:ext uri="{FF2B5EF4-FFF2-40B4-BE49-F238E27FC236}">
                <a16:creationId xmlns:a16="http://schemas.microsoft.com/office/drawing/2014/main" xmlns="" id="{B0680CD1-B8F1-46D0-A477-5DD5CCE0C7D7}"/>
              </a:ext>
            </a:extLst>
          </p:cNvPr>
          <p:cNvSpPr txBox="1"/>
          <p:nvPr/>
        </p:nvSpPr>
        <p:spPr>
          <a:xfrm>
            <a:off x="5729978" y="3766943"/>
            <a:ext cx="1695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dirty="0"/>
              <a:t>Équilibre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xmlns="" id="{8CE83A08-9462-4F6E-8ED7-1042DC8E54B4}"/>
              </a:ext>
            </a:extLst>
          </p:cNvPr>
          <p:cNvGrpSpPr/>
          <p:nvPr/>
        </p:nvGrpSpPr>
        <p:grpSpPr>
          <a:xfrm>
            <a:off x="104775" y="838876"/>
            <a:ext cx="9039225" cy="2362200"/>
            <a:chOff x="104775" y="838876"/>
            <a:chExt cx="9039225" cy="2362200"/>
          </a:xfrm>
        </p:grpSpPr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xmlns="" id="{67973695-5201-4802-89C2-9993C00A31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775" y="838876"/>
              <a:ext cx="9039225" cy="2362200"/>
            </a:xfrm>
            <a:prstGeom prst="rect">
              <a:avLst/>
            </a:prstGeom>
          </p:spPr>
        </p:pic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xmlns="" id="{17EFDE9F-375B-41E4-B400-0FC980B1C4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6803" r="37757" b="71166"/>
            <a:stretch/>
          </p:blipFill>
          <p:spPr>
            <a:xfrm>
              <a:off x="2681309" y="852260"/>
              <a:ext cx="1395663" cy="681113"/>
            </a:xfrm>
            <a:prstGeom prst="rect">
              <a:avLst/>
            </a:prstGeom>
          </p:spPr>
        </p:pic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xmlns="" id="{E3231ED0-9451-42CF-96CB-D7BDDD4B8E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7902" r="56658" b="71942"/>
            <a:stretch/>
          </p:blipFill>
          <p:spPr>
            <a:xfrm>
              <a:off x="4334314" y="870577"/>
              <a:ext cx="1395664" cy="6627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1244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9DE4072C-85F0-498E-9BED-5E1713709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7A50AA26-D538-4112-A47F-8C732894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785" y="24825"/>
            <a:ext cx="8748215" cy="694497"/>
          </a:xfrm>
        </p:spPr>
        <p:txBody>
          <a:bodyPr/>
          <a:lstStyle/>
          <a:p>
            <a:r>
              <a:rPr lang="fr-FR" sz="3600" dirty="0"/>
              <a:t>Optimisation de la quantité de matière initiale</a:t>
            </a: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xmlns="" id="{E908BB8B-CE41-4677-AFB4-355885A18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214942"/>
              </p:ext>
            </p:extLst>
          </p:nvPr>
        </p:nvGraphicFramePr>
        <p:xfrm>
          <a:off x="1329344" y="808074"/>
          <a:ext cx="6096000" cy="1076960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xmlns="" val="76964769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xmlns="" val="295247586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xmlns="" val="61399885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xmlns="" val="928200296"/>
                    </a:ext>
                  </a:extLst>
                </a:gridCol>
              </a:tblGrid>
              <a:tr h="27343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fr-FR" sz="1600" dirty="0"/>
                        <a:t>          N</a:t>
                      </a:r>
                      <a:r>
                        <a:rPr lang="fr-FR" sz="1600" baseline="-25000" dirty="0"/>
                        <a:t>2</a:t>
                      </a:r>
                      <a:r>
                        <a:rPr lang="fr-FR" sz="1600" baseline="0" dirty="0"/>
                        <a:t>(g)           +         3 H</a:t>
                      </a:r>
                      <a:r>
                        <a:rPr lang="fr-FR" sz="1600" baseline="-25000" dirty="0"/>
                        <a:t>2</a:t>
                      </a:r>
                      <a:r>
                        <a:rPr lang="fr-FR" sz="1600" baseline="0" dirty="0"/>
                        <a:t>(g)       </a:t>
                      </a:r>
                      <a:r>
                        <a:rPr lang="fr-FR" sz="1600" baseline="0" dirty="0">
                          <a:sym typeface="Wingdings" panose="05000000000000000000" pitchFamily="2" charset="2"/>
                        </a:rPr>
                        <a:t>       2 NH</a:t>
                      </a:r>
                      <a:r>
                        <a:rPr lang="fr-FR" sz="1600" baseline="-25000" dirty="0">
                          <a:sym typeface="Wingdings" panose="05000000000000000000" pitchFamily="2" charset="2"/>
                        </a:rPr>
                        <a:t>3</a:t>
                      </a:r>
                      <a:r>
                        <a:rPr lang="fr-FR" sz="1600" baseline="0" dirty="0">
                          <a:sym typeface="Wingdings" panose="05000000000000000000" pitchFamily="2" charset="2"/>
                        </a:rPr>
                        <a:t>(g)</a:t>
                      </a:r>
                      <a:endParaRPr lang="fr-FR" sz="16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23503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 Initialement </a:t>
                      </a:r>
                    </a:p>
                  </a:txBody>
                  <a:tcPr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</a:t>
                      </a:r>
                      <a:r>
                        <a:rPr lang="fr-FR" baseline="-25000" dirty="0"/>
                        <a:t>0</a:t>
                      </a:r>
                      <a:r>
                        <a:rPr lang="fr-FR" dirty="0"/>
                        <a:t>(N</a:t>
                      </a:r>
                      <a:r>
                        <a:rPr lang="fr-FR" baseline="-25000" dirty="0"/>
                        <a:t>2</a:t>
                      </a:r>
                      <a:r>
                        <a:rPr lang="fr-FR" baseline="0" dirty="0"/>
                        <a:t>) </a:t>
                      </a:r>
                      <a:endParaRPr lang="fr-FR" dirty="0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</a:t>
                      </a:r>
                      <a:r>
                        <a:rPr lang="fr-FR" baseline="-25000" dirty="0"/>
                        <a:t>0 </a:t>
                      </a:r>
                      <a:r>
                        <a:rPr lang="fr-FR" dirty="0"/>
                        <a:t>(H</a:t>
                      </a:r>
                      <a:r>
                        <a:rPr lang="fr-FR" baseline="-25000" dirty="0"/>
                        <a:t>2</a:t>
                      </a:r>
                      <a:r>
                        <a:rPr lang="fr-FR" sz="1200" baseline="0" dirty="0"/>
                        <a:t>)</a:t>
                      </a:r>
                      <a:endParaRPr lang="fr-FR" dirty="0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xmlns="" val="2543818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A l’équilibre</a:t>
                      </a:r>
                    </a:p>
                  </a:txBody>
                  <a:tcPr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n(N</a:t>
                      </a:r>
                      <a:r>
                        <a:rPr lang="fr-FR" baseline="-25000" dirty="0"/>
                        <a:t>2</a:t>
                      </a:r>
                      <a:r>
                        <a:rPr lang="fr-FR" dirty="0"/>
                        <a:t>) = n</a:t>
                      </a:r>
                      <a:r>
                        <a:rPr lang="fr-FR" baseline="-25000" dirty="0"/>
                        <a:t>0</a:t>
                      </a:r>
                      <a:r>
                        <a:rPr lang="fr-FR" dirty="0"/>
                        <a:t>(N</a:t>
                      </a:r>
                      <a:r>
                        <a:rPr lang="fr-FR" baseline="-25000" dirty="0"/>
                        <a:t>2</a:t>
                      </a:r>
                      <a:r>
                        <a:rPr lang="fr-FR" baseline="0" dirty="0"/>
                        <a:t>) - </a:t>
                      </a:r>
                      <a:r>
                        <a:rPr lang="el-GR" baseline="0" dirty="0"/>
                        <a:t>ξ</a:t>
                      </a:r>
                      <a:endParaRPr lang="fr-FR" dirty="0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n</a:t>
                      </a:r>
                      <a:r>
                        <a:rPr lang="fr-FR" baseline="-25000" dirty="0"/>
                        <a:t>0 </a:t>
                      </a:r>
                      <a:r>
                        <a:rPr lang="fr-FR" dirty="0"/>
                        <a:t>(H</a:t>
                      </a:r>
                      <a:r>
                        <a:rPr lang="fr-FR" baseline="-25000" dirty="0"/>
                        <a:t>2</a:t>
                      </a:r>
                      <a:r>
                        <a:rPr lang="fr-FR" sz="1200" baseline="0" dirty="0"/>
                        <a:t>)-3</a:t>
                      </a:r>
                      <a:r>
                        <a:rPr lang="el-GR" baseline="0" dirty="0"/>
                        <a:t>ξ</a:t>
                      </a:r>
                      <a:endParaRPr lang="fr-FR" dirty="0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aseline="0" dirty="0"/>
                        <a:t>2</a:t>
                      </a:r>
                      <a:r>
                        <a:rPr lang="el-GR" baseline="0" dirty="0"/>
                        <a:t>ξ</a:t>
                      </a:r>
                      <a:endParaRPr lang="fr-FR" dirty="0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xmlns="" val="1754941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xmlns="" id="{FACCD6EF-C680-4B37-B15F-8CF5DDD37ADB}"/>
                  </a:ext>
                </a:extLst>
              </p:cNvPr>
              <p:cNvSpPr txBox="1"/>
              <p:nvPr/>
            </p:nvSpPr>
            <p:spPr>
              <a:xfrm>
                <a:off x="300092" y="1973786"/>
                <a:ext cx="2432475" cy="16864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fr-FR" dirty="0"/>
                  <a:t> d</a:t>
                </a:r>
                <a:r>
                  <a:rPr lang="fr-FR" i="1" dirty="0"/>
                  <a:t>x</a:t>
                </a:r>
                <a:r>
                  <a:rPr lang="fr-FR" baseline="-25000" dirty="0"/>
                  <a:t>NH3</a:t>
                </a:r>
                <a:r>
                  <a:rPr lang="fr-FR" dirty="0"/>
                  <a:t> = 0 </a:t>
                </a:r>
              </a:p>
              <a:p>
                <a:pPr marL="285750" indent="-285750">
                  <a:buFont typeface="Wingdings" panose="05000000000000000000" pitchFamily="2" charset="2"/>
                  <a:buChar char="v"/>
                </a:pPr>
                <a:endParaRPr lang="fr-FR" dirty="0"/>
              </a:p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fr-FR" dirty="0"/>
                  <a:t>K°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i="1">
                                <a:latin typeface="Cambria Math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fr-FR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>
                                    <a:latin typeface="Cambria Math" panose="02040503050406030204" pitchFamily="18" charset="0"/>
                                  </a:rPr>
                                  <m:t>𝑁𝐻</m:t>
                                </m:r>
                                <m:r>
                                  <a:rPr lang="fr-FR" b="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fr-FR" b="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fr-FR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fr-FR" i="1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fr-FR" b="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fr-FR" b="0" i="1">
                                <a:latin typeface="Cambria Math" panose="02040503050406030204" pitchFamily="18" charset="0"/>
                              </a:rPr>
                              <m:t>°</m:t>
                            </m:r>
                          </m:e>
                          <m:sup>
                            <m:r>
                              <a:rPr lang="fr-FR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fr-FR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fr-FR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fr-FR" i="1">
                                <a:latin typeface="Cambria Math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fr-FR" i="1"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fr-FR" i="1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b="0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  <m:r>
                                      <a:rPr lang="fr-FR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fr-FR" b="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bSup>
                          <m:sSubSupPr>
                            <m:ctrlPr>
                              <a:rPr lang="fr-FR" i="1"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fr-FR" b="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fr-FR" b="0" i="1">
                                <a:latin typeface="Cambria Math" panose="02040503050406030204" pitchFamily="18" charset="0"/>
                              </a:rPr>
                              <m:t>𝑡𝑜𝑡</m:t>
                            </m:r>
                          </m:sub>
                          <m:sup>
                            <m:r>
                              <a:rPr lang="fr-FR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fr-FR" dirty="0"/>
              </a:p>
              <a:p>
                <a:pPr marL="285750" indent="-285750">
                  <a:buFont typeface="Wingdings" panose="05000000000000000000" pitchFamily="2" charset="2"/>
                  <a:buChar char="v"/>
                </a:pPr>
                <a:endParaRPr lang="fr-FR" dirty="0"/>
              </a:p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fr-F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  <m:sub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𝑁𝐻</m:t>
                        </m:r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fr-FR" sz="1400" dirty="0"/>
                  <a:t> + 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fr-FR" sz="1400" dirty="0"/>
                  <a:t> +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>
                        <a:latin typeface="Cambria Math" panose="02040503050406030204" pitchFamily="18" charset="0"/>
                      </a:rPr>
                      <m:t>d</m:t>
                    </m:r>
                    <m:sSub>
                      <m:sSubPr>
                        <m:ctrlPr>
                          <a:rPr lang="fr-FR" sz="1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400" dirty="0"/>
                  <a:t>= 1</a:t>
                </a:r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FACCD6EF-C680-4B37-B15F-8CF5DDD37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92" y="1973786"/>
                <a:ext cx="2432475" cy="1686487"/>
              </a:xfrm>
              <a:prstGeom prst="rect">
                <a:avLst/>
              </a:prstGeom>
              <a:blipFill>
                <a:blip r:embed="rId2"/>
                <a:stretch>
                  <a:fillRect l="-1504" t="-2174" b="-362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xmlns="" id="{6A2260B9-04D9-4274-ADCF-99FA69281FE8}"/>
              </a:ext>
            </a:extLst>
          </p:cNvPr>
          <p:cNvCxnSpPr>
            <a:cxnSpLocks/>
          </p:cNvCxnSpPr>
          <p:nvPr/>
        </p:nvCxnSpPr>
        <p:spPr>
          <a:xfrm>
            <a:off x="2466753" y="2806995"/>
            <a:ext cx="118021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1DCC8C90-EC54-4239-8185-6BDF000004E7}"/>
              </a:ext>
            </a:extLst>
          </p:cNvPr>
          <p:cNvSpPr txBox="1"/>
          <p:nvPr/>
        </p:nvSpPr>
        <p:spPr>
          <a:xfrm>
            <a:off x="2852183" y="2454788"/>
            <a:ext cx="409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ln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xmlns="" id="{025D0DD7-E7CD-4013-9369-5ED2F557D049}"/>
              </a:ext>
            </a:extLst>
          </p:cNvPr>
          <p:cNvCxnSpPr>
            <a:cxnSpLocks/>
          </p:cNvCxnSpPr>
          <p:nvPr/>
        </p:nvCxnSpPr>
        <p:spPr>
          <a:xfrm>
            <a:off x="2671429" y="3542848"/>
            <a:ext cx="118021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xmlns="" id="{2273A72E-E684-497B-A83B-BCB8EB80A126}"/>
              </a:ext>
            </a:extLst>
          </p:cNvPr>
          <p:cNvSpPr txBox="1"/>
          <p:nvPr/>
        </p:nvSpPr>
        <p:spPr>
          <a:xfrm>
            <a:off x="2554470" y="3133453"/>
            <a:ext cx="1414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différentielle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xmlns="" id="{C5157855-AEA6-48F8-B798-41DCE8A44DE8}"/>
                  </a:ext>
                </a:extLst>
              </p:cNvPr>
              <p:cNvSpPr txBox="1"/>
              <p:nvPr/>
            </p:nvSpPr>
            <p:spPr>
              <a:xfrm>
                <a:off x="3646967" y="2658458"/>
                <a:ext cx="300342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400" dirty="0"/>
                  <a:t>ln(K°) = 2ln(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4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400" b="0" i="1">
                            <a:latin typeface="Cambria Math" panose="02040503050406030204" pitchFamily="18" charset="0"/>
                          </a:rPr>
                          <m:t>𝑁𝐻</m:t>
                        </m:r>
                        <m:r>
                          <a:rPr lang="fr-FR" sz="1400" b="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fr-FR" sz="1400" dirty="0"/>
                  <a:t>)- ln(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4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400" b="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fr-FR" sz="14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fr-FR" sz="1400" dirty="0"/>
                  <a:t>) -3ln(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4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fr-FR" sz="14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fr-FR" sz="1400" dirty="0"/>
                  <a:t>)</a:t>
                </a:r>
              </a:p>
            </p:txBody>
          </p:sp>
        </mc:Choice>
        <mc:Fallback xmlns="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C5157855-AEA6-48F8-B798-41DCE8A44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6967" y="2658458"/>
                <a:ext cx="3003424" cy="307777"/>
              </a:xfrm>
              <a:prstGeom prst="rect">
                <a:avLst/>
              </a:prstGeom>
              <a:blipFill>
                <a:blip r:embed="rId3"/>
                <a:stretch>
                  <a:fillRect l="-609" t="-3922" b="-1960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xmlns="" id="{680AD1A8-EA64-4DFC-9595-B2ABB5C42687}"/>
              </a:ext>
            </a:extLst>
          </p:cNvPr>
          <p:cNvCxnSpPr>
            <a:cxnSpLocks/>
          </p:cNvCxnSpPr>
          <p:nvPr/>
        </p:nvCxnSpPr>
        <p:spPr>
          <a:xfrm>
            <a:off x="6379537" y="2843724"/>
            <a:ext cx="64858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xmlns="" id="{92592A6D-36F1-47BF-91BF-D33A584A3F6D}"/>
              </a:ext>
            </a:extLst>
          </p:cNvPr>
          <p:cNvSpPr txBox="1"/>
          <p:nvPr/>
        </p:nvSpPr>
        <p:spPr>
          <a:xfrm>
            <a:off x="6328755" y="2542529"/>
            <a:ext cx="571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diff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xmlns="" id="{36BAFD78-DDFE-49AE-8874-3783D998D00C}"/>
                  </a:ext>
                </a:extLst>
              </p:cNvPr>
              <p:cNvSpPr txBox="1"/>
              <p:nvPr/>
            </p:nvSpPr>
            <p:spPr>
              <a:xfrm>
                <a:off x="3620386" y="3388959"/>
                <a:ext cx="190322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fr-FR" sz="1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400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1400" b="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4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fr-FR" sz="1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fr-FR" sz="1400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1400" b="0" i="1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fr-FR" sz="14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sz="1400" i="1" dirty="0"/>
              </a:p>
            </p:txBody>
          </p:sp>
        </mc:Choice>
        <mc:Fallback xmlns="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36BAFD78-DDFE-49AE-8874-3783D998D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0386" y="3388959"/>
                <a:ext cx="190322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xmlns="" id="{C1096C06-3BE6-4C5F-891D-71AAB71BD228}"/>
                  </a:ext>
                </a:extLst>
              </p:cNvPr>
              <p:cNvSpPr txBox="1"/>
              <p:nvPr/>
            </p:nvSpPr>
            <p:spPr>
              <a:xfrm>
                <a:off x="7015104" y="2609335"/>
                <a:ext cx="1903227" cy="5241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0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 smtClean="0">
                            <a:latin typeface="Cambria Math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fr-FR" dirty="0"/>
                  <a:t> +</a:t>
                </a:r>
                <a14:m>
                  <m:oMath xmlns:m="http://schemas.openxmlformats.org/officeDocument/2006/math">
                    <m:r>
                      <a:rPr lang="fr-FR" b="0" i="0" dirty="0" smtClean="0">
                        <a:latin typeface="Cambria Math" panose="02040503050406030204" pitchFamily="18" charset="0"/>
                      </a:rPr>
                      <m:t>3</m:t>
                    </m:r>
                    <m:f>
                      <m:fPr>
                        <m:ctrlPr>
                          <a:rPr lang="fr-FR" i="1" dirty="0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fr-FR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fr-FR" dirty="0"/>
                  <a:t> </a:t>
                </a:r>
              </a:p>
            </p:txBody>
          </p:sp>
        </mc:Choice>
        <mc:Fallback xmlns=""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C1096C06-3BE6-4C5F-891D-71AAB71BD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104" y="2609335"/>
                <a:ext cx="1903227" cy="524118"/>
              </a:xfrm>
              <a:prstGeom prst="rect">
                <a:avLst/>
              </a:prstGeom>
              <a:blipFill>
                <a:blip r:embed="rId5"/>
                <a:stretch>
                  <a:fillRect l="-2885" b="-116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Accolade ouvrante 22">
            <a:extLst>
              <a:ext uri="{FF2B5EF4-FFF2-40B4-BE49-F238E27FC236}">
                <a16:creationId xmlns:a16="http://schemas.microsoft.com/office/drawing/2014/main" xmlns="" id="{862550D1-0EDE-41CE-B5C6-968C90C42AE6}"/>
              </a:ext>
            </a:extLst>
          </p:cNvPr>
          <p:cNvSpPr/>
          <p:nvPr/>
        </p:nvSpPr>
        <p:spPr>
          <a:xfrm>
            <a:off x="225669" y="2639454"/>
            <a:ext cx="170116" cy="1057280"/>
          </a:xfrm>
          <a:prstGeom prst="leftBrac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8" name="Connecteur : en arc 27">
            <a:extLst>
              <a:ext uri="{FF2B5EF4-FFF2-40B4-BE49-F238E27FC236}">
                <a16:creationId xmlns:a16="http://schemas.microsoft.com/office/drawing/2014/main" xmlns="" id="{95BC586B-11F2-44D5-8A26-7739B6A70A32}"/>
              </a:ext>
            </a:extLst>
          </p:cNvPr>
          <p:cNvCxnSpPr>
            <a:cxnSpLocks/>
            <a:stCxn id="23" idx="1"/>
          </p:cNvCxnSpPr>
          <p:nvPr/>
        </p:nvCxnSpPr>
        <p:spPr>
          <a:xfrm rot="10800000" flipH="1" flipV="1">
            <a:off x="225669" y="3168094"/>
            <a:ext cx="1858032" cy="1168920"/>
          </a:xfrm>
          <a:prstGeom prst="curvedConnector3">
            <a:avLst>
              <a:gd name="adj1" fmla="val -12303"/>
            </a:avLst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xmlns="" id="{E33D825C-F51F-4519-B336-572AD06621EF}"/>
                  </a:ext>
                </a:extLst>
              </p:cNvPr>
              <p:cNvSpPr txBox="1"/>
              <p:nvPr/>
            </p:nvSpPr>
            <p:spPr>
              <a:xfrm>
                <a:off x="2098458" y="4124150"/>
                <a:ext cx="12826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fr-FR" dirty="0"/>
                  <a:t> = 3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E33D825C-F51F-4519-B336-572AD06621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8458" y="4124150"/>
                <a:ext cx="1282695" cy="369332"/>
              </a:xfrm>
              <a:prstGeom prst="rect">
                <a:avLst/>
              </a:prstGeom>
              <a:blipFill>
                <a:blip r:embed="rId6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xmlns="" id="{1AACA05F-A923-4CBB-BE98-CA58F3FC568F}"/>
              </a:ext>
            </a:extLst>
          </p:cNvPr>
          <p:cNvCxnSpPr>
            <a:cxnSpLocks/>
          </p:cNvCxnSpPr>
          <p:nvPr/>
        </p:nvCxnSpPr>
        <p:spPr>
          <a:xfrm>
            <a:off x="3261537" y="4337014"/>
            <a:ext cx="59010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8" name="ZoneTexte 47">
            <a:extLst>
              <a:ext uri="{FF2B5EF4-FFF2-40B4-BE49-F238E27FC236}">
                <a16:creationId xmlns:a16="http://schemas.microsoft.com/office/drawing/2014/main" xmlns="" id="{CA457E0E-2C73-495B-BD6C-F9FE8039888A}"/>
              </a:ext>
            </a:extLst>
          </p:cNvPr>
          <p:cNvSpPr txBox="1"/>
          <p:nvPr/>
        </p:nvSpPr>
        <p:spPr>
          <a:xfrm>
            <a:off x="3203058" y="3975947"/>
            <a:ext cx="70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err="1"/>
              <a:t>x</a:t>
            </a:r>
            <a:r>
              <a:rPr lang="fr-FR" dirty="0" err="1"/>
              <a:t>n</a:t>
            </a:r>
            <a:r>
              <a:rPr lang="fr-FR" baseline="-25000" dirty="0" err="1"/>
              <a:t>tot</a:t>
            </a:r>
            <a:endParaRPr lang="fr-FR" dirty="0"/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xmlns="" id="{EF3CDE1C-FA23-44F8-9683-3E76CAD0FDF8}"/>
              </a:ext>
            </a:extLst>
          </p:cNvPr>
          <p:cNvSpPr txBox="1"/>
          <p:nvPr/>
        </p:nvSpPr>
        <p:spPr>
          <a:xfrm>
            <a:off x="3910121" y="4114865"/>
            <a:ext cx="1613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n(H</a:t>
            </a:r>
            <a:r>
              <a:rPr lang="fr-FR" baseline="-25000" dirty="0"/>
              <a:t>2</a:t>
            </a:r>
            <a:r>
              <a:rPr lang="fr-FR" dirty="0"/>
              <a:t>) = 3n(N</a:t>
            </a:r>
            <a:r>
              <a:rPr lang="fr-FR" baseline="-25000" dirty="0"/>
              <a:t>2</a:t>
            </a:r>
            <a:r>
              <a:rPr lang="fr-FR" dirty="0"/>
              <a:t>)</a:t>
            </a:r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xmlns="" id="{FF780FAD-6AA2-4CC9-B0B1-47CD90F4B0D3}"/>
              </a:ext>
            </a:extLst>
          </p:cNvPr>
          <p:cNvCxnSpPr>
            <a:cxnSpLocks/>
          </p:cNvCxnSpPr>
          <p:nvPr/>
        </p:nvCxnSpPr>
        <p:spPr>
          <a:xfrm>
            <a:off x="5351721" y="4245934"/>
            <a:ext cx="135210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xmlns="" id="{392E28D4-0741-4D19-B665-8ACA6F8DD027}"/>
              </a:ext>
            </a:extLst>
          </p:cNvPr>
          <p:cNvSpPr txBox="1"/>
          <p:nvPr/>
        </p:nvSpPr>
        <p:spPr>
          <a:xfrm>
            <a:off x="5351721" y="3896544"/>
            <a:ext cx="2142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Tableau d’avancement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xmlns="" id="{317D4A33-520A-478B-A806-538DEC1E6333}"/>
              </a:ext>
            </a:extLst>
          </p:cNvPr>
          <p:cNvSpPr txBox="1"/>
          <p:nvPr/>
        </p:nvSpPr>
        <p:spPr>
          <a:xfrm>
            <a:off x="6869521" y="4061268"/>
            <a:ext cx="1848286" cy="369332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n</a:t>
            </a:r>
            <a:r>
              <a:rPr lang="fr-FR" baseline="-25000" dirty="0"/>
              <a:t>0</a:t>
            </a:r>
            <a:r>
              <a:rPr lang="fr-FR" dirty="0"/>
              <a:t>(H</a:t>
            </a:r>
            <a:r>
              <a:rPr lang="fr-FR" baseline="-25000" dirty="0"/>
              <a:t>2</a:t>
            </a:r>
            <a:r>
              <a:rPr lang="fr-FR" dirty="0"/>
              <a:t>) = 3n</a:t>
            </a:r>
            <a:r>
              <a:rPr lang="fr-FR" baseline="-25000" dirty="0"/>
              <a:t>0 </a:t>
            </a:r>
            <a:r>
              <a:rPr lang="fr-FR" dirty="0"/>
              <a:t>(N</a:t>
            </a:r>
            <a:r>
              <a:rPr lang="fr-FR" baseline="-25000" dirty="0"/>
              <a:t>2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37140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C7C9D00B-E690-4F75-968F-4CCBCB111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2FB2BA91-2F31-4007-A817-10CDE1F18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58" y="133747"/>
            <a:ext cx="9027042" cy="694497"/>
          </a:xfrm>
        </p:spPr>
        <p:txBody>
          <a:bodyPr/>
          <a:lstStyle/>
          <a:p>
            <a:r>
              <a:rPr lang="fr-FR" sz="3600" dirty="0"/>
              <a:t>Dismutation des ions thiosulfate en milieu acide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xmlns="" id="{3DF32A57-D509-47F9-A433-0AB521E0540B}"/>
              </a:ext>
            </a:extLst>
          </p:cNvPr>
          <p:cNvSpPr txBox="1"/>
          <p:nvPr/>
        </p:nvSpPr>
        <p:spPr>
          <a:xfrm>
            <a:off x="2077168" y="869679"/>
            <a:ext cx="56208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>
                <a:latin typeface="+mj-lt"/>
              </a:rPr>
              <a:t>S</a:t>
            </a:r>
            <a:r>
              <a:rPr lang="fr-FR" sz="2000" i="1" baseline="-25000" dirty="0">
                <a:latin typeface="+mj-lt"/>
              </a:rPr>
              <a:t>2</a:t>
            </a:r>
            <a:r>
              <a:rPr lang="fr-FR" sz="2000" i="1" dirty="0">
                <a:latin typeface="+mj-lt"/>
              </a:rPr>
              <a:t>O</a:t>
            </a:r>
            <a:r>
              <a:rPr lang="fr-FR" sz="2000" i="1" baseline="-25000" dirty="0">
                <a:latin typeface="+mj-lt"/>
              </a:rPr>
              <a:t>3</a:t>
            </a:r>
            <a:r>
              <a:rPr lang="fr-FR" sz="2000" i="1" baseline="30000" dirty="0">
                <a:latin typeface="+mj-lt"/>
              </a:rPr>
              <a:t>2-</a:t>
            </a:r>
            <a:r>
              <a:rPr lang="fr-FR" sz="2000" i="1" dirty="0">
                <a:latin typeface="+mj-lt"/>
              </a:rPr>
              <a:t>(aq) + 3 H</a:t>
            </a:r>
            <a:r>
              <a:rPr lang="fr-FR" sz="2000" i="1" baseline="-25000" dirty="0">
                <a:latin typeface="+mj-lt"/>
              </a:rPr>
              <a:t>3</a:t>
            </a:r>
            <a:r>
              <a:rPr lang="fr-FR" sz="2000" i="1" dirty="0">
                <a:latin typeface="+mj-lt"/>
              </a:rPr>
              <a:t>O</a:t>
            </a:r>
            <a:r>
              <a:rPr lang="fr-FR" sz="2000" i="1" baseline="30000" dirty="0">
                <a:latin typeface="+mj-lt"/>
              </a:rPr>
              <a:t>+</a:t>
            </a:r>
            <a:r>
              <a:rPr lang="fr-FR" sz="2000" i="1" dirty="0">
                <a:latin typeface="+mj-lt"/>
              </a:rPr>
              <a:t>(aq) </a:t>
            </a:r>
            <a:r>
              <a:rPr lang="fr-FR" sz="2000" dirty="0">
                <a:latin typeface="+mj-lt"/>
                <a:sym typeface="Wingdings" panose="05000000000000000000" pitchFamily="2" charset="2"/>
              </a:rPr>
              <a:t> </a:t>
            </a:r>
            <a:r>
              <a:rPr lang="fr-FR" sz="2000" i="1" dirty="0">
                <a:latin typeface="+mj-lt"/>
                <a:sym typeface="Wingdings" panose="05000000000000000000" pitchFamily="2" charset="2"/>
              </a:rPr>
              <a:t>S(s) + SO</a:t>
            </a:r>
            <a:r>
              <a:rPr lang="fr-FR" sz="2000" i="1" baseline="-25000" dirty="0">
                <a:latin typeface="+mj-lt"/>
                <a:sym typeface="Wingdings" panose="05000000000000000000" pitchFamily="2" charset="2"/>
              </a:rPr>
              <a:t>2</a:t>
            </a:r>
            <a:r>
              <a:rPr lang="fr-FR" sz="2000" i="1" dirty="0">
                <a:latin typeface="+mj-lt"/>
                <a:sym typeface="Wingdings" panose="05000000000000000000" pitchFamily="2" charset="2"/>
              </a:rPr>
              <a:t>(aq) + 3 H</a:t>
            </a:r>
            <a:r>
              <a:rPr lang="fr-FR" sz="2000" i="1" baseline="-25000" dirty="0">
                <a:latin typeface="+mj-lt"/>
                <a:sym typeface="Wingdings" panose="05000000000000000000" pitchFamily="2" charset="2"/>
              </a:rPr>
              <a:t>2</a:t>
            </a:r>
            <a:r>
              <a:rPr lang="fr-FR" sz="2000" i="1" dirty="0">
                <a:latin typeface="+mj-lt"/>
                <a:sym typeface="Wingdings" panose="05000000000000000000" pitchFamily="2" charset="2"/>
              </a:rPr>
              <a:t>O(l)</a:t>
            </a:r>
            <a:endParaRPr lang="fr-FR" sz="2000" i="1" dirty="0">
              <a:latin typeface="+mj-l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xmlns="" id="{723809B0-B47C-4B89-AA0F-2B09A19EC676}"/>
              </a:ext>
            </a:extLst>
          </p:cNvPr>
          <p:cNvSpPr txBox="1"/>
          <p:nvPr/>
        </p:nvSpPr>
        <p:spPr>
          <a:xfrm>
            <a:off x="449899" y="1602423"/>
            <a:ext cx="2881423" cy="286232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V</a:t>
            </a:r>
            <a:r>
              <a:rPr lang="fr-FR" baseline="-25000" dirty="0"/>
              <a:t>0</a:t>
            </a:r>
            <a:r>
              <a:rPr lang="fr-FR" dirty="0"/>
              <a:t>  = 10 mL de thiosulfate de sodium à 0,25 mol.L</a:t>
            </a:r>
            <a:r>
              <a:rPr lang="fr-FR" baseline="30000" dirty="0"/>
              <a:t>-1</a:t>
            </a:r>
            <a:r>
              <a:rPr lang="fr-FR" dirty="0"/>
              <a:t> 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+</a:t>
            </a:r>
          </a:p>
          <a:p>
            <a:pPr algn="ctr"/>
            <a:r>
              <a:rPr lang="fr-FR" dirty="0"/>
              <a:t>V</a:t>
            </a:r>
            <a:r>
              <a:rPr lang="fr-FR" baseline="-25000" dirty="0"/>
              <a:t>1</a:t>
            </a:r>
            <a:r>
              <a:rPr lang="fr-FR" dirty="0"/>
              <a:t> = 5mL d’acide chlorhydrique concentré</a:t>
            </a:r>
          </a:p>
          <a:p>
            <a:pPr algn="ctr"/>
            <a:r>
              <a:rPr lang="fr-FR" dirty="0"/>
              <a:t> </a:t>
            </a:r>
          </a:p>
          <a:p>
            <a:pPr algn="ctr"/>
            <a:r>
              <a:rPr lang="fr-FR" dirty="0"/>
              <a:t>+ </a:t>
            </a:r>
          </a:p>
          <a:p>
            <a:pPr algn="ctr"/>
            <a:r>
              <a:rPr lang="fr-FR" dirty="0"/>
              <a:t>V</a:t>
            </a:r>
            <a:r>
              <a:rPr lang="fr-FR" baseline="-25000" dirty="0"/>
              <a:t>2</a:t>
            </a:r>
            <a:r>
              <a:rPr lang="fr-FR" dirty="0"/>
              <a:t> = 40 mL d’eau</a:t>
            </a:r>
          </a:p>
          <a:p>
            <a:endParaRPr lang="fr-FR" dirty="0"/>
          </a:p>
        </p:txBody>
      </p:sp>
      <p:grpSp>
        <p:nvGrpSpPr>
          <p:cNvPr id="84" name="Groupe 83">
            <a:extLst>
              <a:ext uri="{FF2B5EF4-FFF2-40B4-BE49-F238E27FC236}">
                <a16:creationId xmlns:a16="http://schemas.microsoft.com/office/drawing/2014/main" xmlns="" id="{5076A8B1-914F-4A92-8AFC-23F3A1B21CAA}"/>
              </a:ext>
            </a:extLst>
          </p:cNvPr>
          <p:cNvGrpSpPr/>
          <p:nvPr/>
        </p:nvGrpSpPr>
        <p:grpSpPr>
          <a:xfrm>
            <a:off x="4058636" y="2126439"/>
            <a:ext cx="1715803" cy="2171676"/>
            <a:chOff x="4058636" y="2126439"/>
            <a:chExt cx="1715803" cy="2171676"/>
          </a:xfrm>
        </p:grpSpPr>
        <p:grpSp>
          <p:nvGrpSpPr>
            <p:cNvPr id="24" name="Groupe 23">
              <a:extLst>
                <a:ext uri="{FF2B5EF4-FFF2-40B4-BE49-F238E27FC236}">
                  <a16:creationId xmlns:a16="http://schemas.microsoft.com/office/drawing/2014/main" xmlns="" id="{2E1F3128-4142-4B18-BDB3-8A27BB8E79D3}"/>
                </a:ext>
              </a:extLst>
            </p:cNvPr>
            <p:cNvGrpSpPr/>
            <p:nvPr/>
          </p:nvGrpSpPr>
          <p:grpSpPr>
            <a:xfrm>
              <a:off x="4282856" y="2126439"/>
              <a:ext cx="1259231" cy="1827738"/>
              <a:chOff x="4887569" y="1455198"/>
              <a:chExt cx="2268131" cy="2659601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xmlns="" id="{5EFDA8AA-BF2A-4452-9B4E-07ECBA298269}"/>
                  </a:ext>
                </a:extLst>
              </p:cNvPr>
              <p:cNvSpPr/>
              <p:nvPr/>
            </p:nvSpPr>
            <p:spPr>
              <a:xfrm>
                <a:off x="4896474" y="2414818"/>
                <a:ext cx="2250322" cy="1276350"/>
              </a:xfrm>
              <a:prstGeom prst="rect">
                <a:avLst/>
              </a:prstGeom>
              <a:solidFill>
                <a:srgbClr val="CCE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3" name="Ellipse 22">
                <a:extLst>
                  <a:ext uri="{FF2B5EF4-FFF2-40B4-BE49-F238E27FC236}">
                    <a16:creationId xmlns:a16="http://schemas.microsoft.com/office/drawing/2014/main" xmlns="" id="{43149C8D-ED16-410A-AF70-442C1E00A147}"/>
                  </a:ext>
                </a:extLst>
              </p:cNvPr>
              <p:cNvSpPr/>
              <p:nvPr/>
            </p:nvSpPr>
            <p:spPr>
              <a:xfrm>
                <a:off x="4887569" y="2221734"/>
                <a:ext cx="2259226" cy="518509"/>
              </a:xfrm>
              <a:prstGeom prst="ellipse">
                <a:avLst/>
              </a:prstGeom>
              <a:solidFill>
                <a:srgbClr val="CCEC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grpSp>
            <p:nvGrpSpPr>
              <p:cNvPr id="20" name="Groupe 19">
                <a:extLst>
                  <a:ext uri="{FF2B5EF4-FFF2-40B4-BE49-F238E27FC236}">
                    <a16:creationId xmlns:a16="http://schemas.microsoft.com/office/drawing/2014/main" xmlns="" id="{B1B56933-044F-4276-8793-4022BB0E7738}"/>
                  </a:ext>
                </a:extLst>
              </p:cNvPr>
              <p:cNvGrpSpPr/>
              <p:nvPr/>
            </p:nvGrpSpPr>
            <p:grpSpPr>
              <a:xfrm>
                <a:off x="4887570" y="1455198"/>
                <a:ext cx="2268130" cy="2659601"/>
                <a:chOff x="4887570" y="1455198"/>
                <a:chExt cx="2268130" cy="2659601"/>
              </a:xfrm>
            </p:grpSpPr>
            <p:sp>
              <p:nvSpPr>
                <p:cNvPr id="7" name="Ellipse 6">
                  <a:extLst>
                    <a:ext uri="{FF2B5EF4-FFF2-40B4-BE49-F238E27FC236}">
                      <a16:creationId xmlns:a16="http://schemas.microsoft.com/office/drawing/2014/main" xmlns="" id="{7C211FD2-AFA8-4EDC-988C-D49E2EF8CC9B}"/>
                    </a:ext>
                  </a:extLst>
                </p:cNvPr>
                <p:cNvSpPr/>
                <p:nvPr/>
              </p:nvSpPr>
              <p:spPr>
                <a:xfrm>
                  <a:off x="4887570" y="3340586"/>
                  <a:ext cx="2268130" cy="774213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cxnSp>
              <p:nvCxnSpPr>
                <p:cNvPr id="9" name="Connecteur droit 8">
                  <a:extLst>
                    <a:ext uri="{FF2B5EF4-FFF2-40B4-BE49-F238E27FC236}">
                      <a16:creationId xmlns:a16="http://schemas.microsoft.com/office/drawing/2014/main" xmlns="" id="{38416679-0064-4683-828D-7F518EF3014F}"/>
                    </a:ext>
                  </a:extLst>
                </p:cNvPr>
                <p:cNvCxnSpPr>
                  <a:cxnSpLocks/>
                  <a:stCxn id="7" idx="2"/>
                </p:cNvCxnSpPr>
                <p:nvPr/>
              </p:nvCxnSpPr>
              <p:spPr>
                <a:xfrm flipV="1">
                  <a:off x="4887570" y="1790636"/>
                  <a:ext cx="0" cy="1937057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Connecteur droit 9">
                  <a:extLst>
                    <a:ext uri="{FF2B5EF4-FFF2-40B4-BE49-F238E27FC236}">
                      <a16:creationId xmlns:a16="http://schemas.microsoft.com/office/drawing/2014/main" xmlns="" id="{F8501332-BB0F-4291-ADF0-54CECDD255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155700" y="1790636"/>
                  <a:ext cx="0" cy="1937057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" name="Ellipse 18">
                  <a:extLst>
                    <a:ext uri="{FF2B5EF4-FFF2-40B4-BE49-F238E27FC236}">
                      <a16:creationId xmlns:a16="http://schemas.microsoft.com/office/drawing/2014/main" xmlns="" id="{566A5462-CB71-4DA5-AF23-2C3CA8AF7C32}"/>
                    </a:ext>
                  </a:extLst>
                </p:cNvPr>
                <p:cNvSpPr/>
                <p:nvPr/>
              </p:nvSpPr>
              <p:spPr>
                <a:xfrm>
                  <a:off x="4887570" y="1455198"/>
                  <a:ext cx="2268130" cy="582213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22" name="Ellipse 21">
                <a:extLst>
                  <a:ext uri="{FF2B5EF4-FFF2-40B4-BE49-F238E27FC236}">
                    <a16:creationId xmlns:a16="http://schemas.microsoft.com/office/drawing/2014/main" xmlns="" id="{B2B2B461-9DBD-4002-A29C-556D32531061}"/>
                  </a:ext>
                </a:extLst>
              </p:cNvPr>
              <p:cNvSpPr/>
              <p:nvPr/>
            </p:nvSpPr>
            <p:spPr>
              <a:xfrm>
                <a:off x="4896472" y="3382022"/>
                <a:ext cx="2241405" cy="719967"/>
              </a:xfrm>
              <a:prstGeom prst="ellipse">
                <a:avLst/>
              </a:prstGeom>
              <a:solidFill>
                <a:srgbClr val="CCE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67" name="Groupe 66">
              <a:extLst>
                <a:ext uri="{FF2B5EF4-FFF2-40B4-BE49-F238E27FC236}">
                  <a16:creationId xmlns:a16="http://schemas.microsoft.com/office/drawing/2014/main" xmlns="" id="{A746FD3A-464B-4A6C-B0DF-0DDC4DECDF3E}"/>
                </a:ext>
              </a:extLst>
            </p:cNvPr>
            <p:cNvGrpSpPr/>
            <p:nvPr/>
          </p:nvGrpSpPr>
          <p:grpSpPr>
            <a:xfrm>
              <a:off x="4058636" y="3396017"/>
              <a:ext cx="1715803" cy="902098"/>
              <a:chOff x="4058636" y="3396017"/>
              <a:chExt cx="1715803" cy="902098"/>
            </a:xfrm>
          </p:grpSpPr>
          <p:grpSp>
            <p:nvGrpSpPr>
              <p:cNvPr id="57" name="Groupe 56">
                <a:extLst>
                  <a:ext uri="{FF2B5EF4-FFF2-40B4-BE49-F238E27FC236}">
                    <a16:creationId xmlns:a16="http://schemas.microsoft.com/office/drawing/2014/main" xmlns="" id="{D3F548CD-9A90-4C0E-B988-F85B8672B3BB}"/>
                  </a:ext>
                </a:extLst>
              </p:cNvPr>
              <p:cNvGrpSpPr/>
              <p:nvPr/>
            </p:nvGrpSpPr>
            <p:grpSpPr>
              <a:xfrm>
                <a:off x="4058636" y="3396017"/>
                <a:ext cx="1715803" cy="902098"/>
                <a:chOff x="4075568" y="3396906"/>
                <a:chExt cx="1715803" cy="902098"/>
              </a:xfrm>
            </p:grpSpPr>
            <p:grpSp>
              <p:nvGrpSpPr>
                <p:cNvPr id="50" name="Groupe 49">
                  <a:extLst>
                    <a:ext uri="{FF2B5EF4-FFF2-40B4-BE49-F238E27FC236}">
                      <a16:creationId xmlns:a16="http://schemas.microsoft.com/office/drawing/2014/main" xmlns="" id="{07F6C04E-8DF4-4A52-882E-D996C0AD268D}"/>
                    </a:ext>
                  </a:extLst>
                </p:cNvPr>
                <p:cNvGrpSpPr/>
                <p:nvPr/>
              </p:nvGrpSpPr>
              <p:grpSpPr>
                <a:xfrm>
                  <a:off x="4075568" y="3396906"/>
                  <a:ext cx="1715803" cy="902098"/>
                  <a:chOff x="4075568" y="3396906"/>
                  <a:chExt cx="1715803" cy="902098"/>
                </a:xfrm>
              </p:grpSpPr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xmlns="" id="{C93D7D7E-5609-4386-A327-21A0D4A3EC52}"/>
                      </a:ext>
                    </a:extLst>
                  </p:cNvPr>
                  <p:cNvSpPr/>
                  <p:nvPr/>
                </p:nvSpPr>
                <p:spPr>
                  <a:xfrm>
                    <a:off x="4075568" y="3991604"/>
                    <a:ext cx="1431722" cy="303478"/>
                  </a:xfrm>
                  <a:prstGeom prst="rect">
                    <a:avLst/>
                  </a:prstGeom>
                  <a:solidFill>
                    <a:srgbClr val="A6A6A6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  <p:cxnSp>
                <p:nvCxnSpPr>
                  <p:cNvPr id="36" name="Connecteur droit 35">
                    <a:extLst>
                      <a:ext uri="{FF2B5EF4-FFF2-40B4-BE49-F238E27FC236}">
                        <a16:creationId xmlns:a16="http://schemas.microsoft.com/office/drawing/2014/main" xmlns="" id="{77D9B1AC-12D1-4E96-9076-05C801B339D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078279" y="3398502"/>
                    <a:ext cx="284081" cy="593102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Connecteur droit 41">
                    <a:extLst>
                      <a:ext uri="{FF2B5EF4-FFF2-40B4-BE49-F238E27FC236}">
                        <a16:creationId xmlns:a16="http://schemas.microsoft.com/office/drawing/2014/main" xmlns="" id="{138A0FF2-10A9-4B3B-8B2B-629D58697FA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362361" y="3396906"/>
                    <a:ext cx="1426299" cy="5098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Connecteur droit 44">
                    <a:extLst>
                      <a:ext uri="{FF2B5EF4-FFF2-40B4-BE49-F238E27FC236}">
                        <a16:creationId xmlns:a16="http://schemas.microsoft.com/office/drawing/2014/main" xmlns="" id="{C404F1FE-0F10-4E84-ADE5-24F5D2C45B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507290" y="3409351"/>
                    <a:ext cx="284081" cy="593102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Connecteur droit 45">
                    <a:extLst>
                      <a:ext uri="{FF2B5EF4-FFF2-40B4-BE49-F238E27FC236}">
                        <a16:creationId xmlns:a16="http://schemas.microsoft.com/office/drawing/2014/main" xmlns="" id="{C6A9375B-978A-4BDD-9D5A-0D5AE3555CF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504579" y="3705902"/>
                    <a:ext cx="284081" cy="593102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8" name="Connecteur droit 47">
                  <a:extLst>
                    <a:ext uri="{FF2B5EF4-FFF2-40B4-BE49-F238E27FC236}">
                      <a16:creationId xmlns:a16="http://schemas.microsoft.com/office/drawing/2014/main" xmlns="" id="{AEDA5E44-C1C3-4EE3-9981-4DD2A67D416B}"/>
                    </a:ext>
                  </a:extLst>
                </p:cNvPr>
                <p:cNvCxnSpPr/>
                <p:nvPr/>
              </p:nvCxnSpPr>
              <p:spPr>
                <a:xfrm>
                  <a:off x="5788660" y="3398502"/>
                  <a:ext cx="0" cy="317237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6" name="Ellipse 65">
                <a:extLst>
                  <a:ext uri="{FF2B5EF4-FFF2-40B4-BE49-F238E27FC236}">
                    <a16:creationId xmlns:a16="http://schemas.microsoft.com/office/drawing/2014/main" xmlns="" id="{803AF07F-8F69-41A7-BE9D-C3C15125AFD1}"/>
                  </a:ext>
                </a:extLst>
              </p:cNvPr>
              <p:cNvSpPr/>
              <p:nvPr/>
            </p:nvSpPr>
            <p:spPr>
              <a:xfrm>
                <a:off x="4155700" y="4100514"/>
                <a:ext cx="317842" cy="9525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79" name="Groupe 78">
              <a:extLst>
                <a:ext uri="{FF2B5EF4-FFF2-40B4-BE49-F238E27FC236}">
                  <a16:creationId xmlns:a16="http://schemas.microsoft.com/office/drawing/2014/main" xmlns="" id="{DB6AC937-9656-4D28-AB51-D77806537D72}"/>
                </a:ext>
              </a:extLst>
            </p:cNvPr>
            <p:cNvGrpSpPr/>
            <p:nvPr/>
          </p:nvGrpSpPr>
          <p:grpSpPr>
            <a:xfrm>
              <a:off x="4481673" y="3585178"/>
              <a:ext cx="261678" cy="98876"/>
              <a:chOff x="6086375" y="1554601"/>
              <a:chExt cx="965513" cy="402596"/>
            </a:xfrm>
            <a:solidFill>
              <a:schemeClr val="bg1">
                <a:lumMod val="75000"/>
              </a:schemeClr>
            </a:solidFill>
          </p:grpSpPr>
          <p:sp>
            <p:nvSpPr>
              <p:cNvPr id="76" name="Ellipse 75">
                <a:extLst>
                  <a:ext uri="{FF2B5EF4-FFF2-40B4-BE49-F238E27FC236}">
                    <a16:creationId xmlns:a16="http://schemas.microsoft.com/office/drawing/2014/main" xmlns="" id="{3B08AFC3-1357-4D63-AB8B-E1AD5E15ED98}"/>
                  </a:ext>
                </a:extLst>
              </p:cNvPr>
              <p:cNvSpPr/>
              <p:nvPr/>
            </p:nvSpPr>
            <p:spPr>
              <a:xfrm>
                <a:off x="6086375" y="1555491"/>
                <a:ext cx="230605" cy="400110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7" name="Ellipse 76">
                <a:extLst>
                  <a:ext uri="{FF2B5EF4-FFF2-40B4-BE49-F238E27FC236}">
                    <a16:creationId xmlns:a16="http://schemas.microsoft.com/office/drawing/2014/main" xmlns="" id="{47498925-982C-454D-996D-51E71F06F33D}"/>
                  </a:ext>
                </a:extLst>
              </p:cNvPr>
              <p:cNvSpPr/>
              <p:nvPr/>
            </p:nvSpPr>
            <p:spPr>
              <a:xfrm>
                <a:off x="6821283" y="1555491"/>
                <a:ext cx="230605" cy="400110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xmlns="" id="{971FA3A9-C558-4E8D-ADA5-9DB9D3868B79}"/>
                  </a:ext>
                </a:extLst>
              </p:cNvPr>
              <p:cNvSpPr/>
              <p:nvPr/>
            </p:nvSpPr>
            <p:spPr>
              <a:xfrm>
                <a:off x="6201677" y="1554601"/>
                <a:ext cx="739667" cy="402596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cxnSp>
          <p:nvCxnSpPr>
            <p:cNvPr id="81" name="Connecteur droit 80">
              <a:extLst>
                <a:ext uri="{FF2B5EF4-FFF2-40B4-BE49-F238E27FC236}">
                  <a16:creationId xmlns:a16="http://schemas.microsoft.com/office/drawing/2014/main" xmlns="" id="{BB6A1EEC-C85E-44AE-AD29-0F7E862B6C08}"/>
                </a:ext>
              </a:extLst>
            </p:cNvPr>
            <p:cNvCxnSpPr/>
            <p:nvPr/>
          </p:nvCxnSpPr>
          <p:spPr>
            <a:xfrm>
              <a:off x="4724499" y="3549940"/>
              <a:ext cx="326141" cy="22621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Connecteur droit 82">
              <a:extLst>
                <a:ext uri="{FF2B5EF4-FFF2-40B4-BE49-F238E27FC236}">
                  <a16:creationId xmlns:a16="http://schemas.microsoft.com/office/drawing/2014/main" xmlns="" id="{85FF96EC-C060-402F-A162-E95B28167FAE}"/>
                </a:ext>
              </a:extLst>
            </p:cNvPr>
            <p:cNvCxnSpPr/>
            <p:nvPr/>
          </p:nvCxnSpPr>
          <p:spPr>
            <a:xfrm flipH="1">
              <a:off x="4712101" y="3549940"/>
              <a:ext cx="309955" cy="22621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5" name="Groupe 84">
            <a:extLst>
              <a:ext uri="{FF2B5EF4-FFF2-40B4-BE49-F238E27FC236}">
                <a16:creationId xmlns:a16="http://schemas.microsoft.com/office/drawing/2014/main" xmlns="" id="{EEDB5DD7-149E-4860-95BC-CC5ED3587389}"/>
              </a:ext>
            </a:extLst>
          </p:cNvPr>
          <p:cNvGrpSpPr/>
          <p:nvPr/>
        </p:nvGrpSpPr>
        <p:grpSpPr>
          <a:xfrm>
            <a:off x="6963397" y="2121671"/>
            <a:ext cx="1715803" cy="2171676"/>
            <a:chOff x="4058636" y="2126439"/>
            <a:chExt cx="1715803" cy="2171676"/>
          </a:xfrm>
        </p:grpSpPr>
        <p:grpSp>
          <p:nvGrpSpPr>
            <p:cNvPr id="86" name="Groupe 85">
              <a:extLst>
                <a:ext uri="{FF2B5EF4-FFF2-40B4-BE49-F238E27FC236}">
                  <a16:creationId xmlns:a16="http://schemas.microsoft.com/office/drawing/2014/main" xmlns="" id="{4058FB61-B859-4CC0-A32D-D5D9FA09CD3B}"/>
                </a:ext>
              </a:extLst>
            </p:cNvPr>
            <p:cNvGrpSpPr/>
            <p:nvPr/>
          </p:nvGrpSpPr>
          <p:grpSpPr>
            <a:xfrm>
              <a:off x="4282856" y="2126439"/>
              <a:ext cx="1259231" cy="1827738"/>
              <a:chOff x="4887569" y="1455198"/>
              <a:chExt cx="2268131" cy="2659601"/>
            </a:xfrm>
          </p:grpSpPr>
          <p:grpSp>
            <p:nvGrpSpPr>
              <p:cNvPr id="105" name="Groupe 104">
                <a:extLst>
                  <a:ext uri="{FF2B5EF4-FFF2-40B4-BE49-F238E27FC236}">
                    <a16:creationId xmlns:a16="http://schemas.microsoft.com/office/drawing/2014/main" xmlns="" id="{0ABA9506-11EA-4360-8C5D-C61CA6A3B0CE}"/>
                  </a:ext>
                </a:extLst>
              </p:cNvPr>
              <p:cNvGrpSpPr/>
              <p:nvPr/>
            </p:nvGrpSpPr>
            <p:grpSpPr>
              <a:xfrm>
                <a:off x="4887570" y="1455198"/>
                <a:ext cx="2268130" cy="2659601"/>
                <a:chOff x="4887570" y="1455198"/>
                <a:chExt cx="2268130" cy="2659601"/>
              </a:xfrm>
            </p:grpSpPr>
            <p:sp>
              <p:nvSpPr>
                <p:cNvPr id="107" name="Ellipse 106">
                  <a:extLst>
                    <a:ext uri="{FF2B5EF4-FFF2-40B4-BE49-F238E27FC236}">
                      <a16:creationId xmlns:a16="http://schemas.microsoft.com/office/drawing/2014/main" xmlns="" id="{76EC7E4D-32B3-43D9-879C-E77890DEC92A}"/>
                    </a:ext>
                  </a:extLst>
                </p:cNvPr>
                <p:cNvSpPr/>
                <p:nvPr/>
              </p:nvSpPr>
              <p:spPr>
                <a:xfrm>
                  <a:off x="4887570" y="3340586"/>
                  <a:ext cx="2268130" cy="774213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cxnSp>
              <p:nvCxnSpPr>
                <p:cNvPr id="108" name="Connecteur droit 107">
                  <a:extLst>
                    <a:ext uri="{FF2B5EF4-FFF2-40B4-BE49-F238E27FC236}">
                      <a16:creationId xmlns:a16="http://schemas.microsoft.com/office/drawing/2014/main" xmlns="" id="{7719D879-54D7-4F12-A881-6BB51A6A52B3}"/>
                    </a:ext>
                  </a:extLst>
                </p:cNvPr>
                <p:cNvCxnSpPr>
                  <a:cxnSpLocks/>
                  <a:stCxn id="107" idx="2"/>
                </p:cNvCxnSpPr>
                <p:nvPr/>
              </p:nvCxnSpPr>
              <p:spPr>
                <a:xfrm flipV="1">
                  <a:off x="4887570" y="1790636"/>
                  <a:ext cx="0" cy="1937057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Connecteur droit 108">
                  <a:extLst>
                    <a:ext uri="{FF2B5EF4-FFF2-40B4-BE49-F238E27FC236}">
                      <a16:creationId xmlns:a16="http://schemas.microsoft.com/office/drawing/2014/main" xmlns="" id="{5F173A52-1793-42CD-A10E-5B87E62F15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155700" y="1790636"/>
                  <a:ext cx="0" cy="1937057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10" name="Ellipse 109">
                  <a:extLst>
                    <a:ext uri="{FF2B5EF4-FFF2-40B4-BE49-F238E27FC236}">
                      <a16:creationId xmlns:a16="http://schemas.microsoft.com/office/drawing/2014/main" xmlns="" id="{3937B159-9072-45F6-93EA-A3C5843EF741}"/>
                    </a:ext>
                  </a:extLst>
                </p:cNvPr>
                <p:cNvSpPr/>
                <p:nvPr/>
              </p:nvSpPr>
              <p:spPr>
                <a:xfrm>
                  <a:off x="4887570" y="1455198"/>
                  <a:ext cx="2268130" cy="582213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106" name="Ellipse 105">
                <a:extLst>
                  <a:ext uri="{FF2B5EF4-FFF2-40B4-BE49-F238E27FC236}">
                    <a16:creationId xmlns:a16="http://schemas.microsoft.com/office/drawing/2014/main" xmlns="" id="{7DA3D6E3-D95F-48C3-BAF9-FBE7C08C3533}"/>
                  </a:ext>
                </a:extLst>
              </p:cNvPr>
              <p:cNvSpPr/>
              <p:nvPr/>
            </p:nvSpPr>
            <p:spPr>
              <a:xfrm>
                <a:off x="4896474" y="3382022"/>
                <a:ext cx="2241405" cy="71996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xmlns="" id="{42E506A3-F128-4896-B446-E9D862218F2D}"/>
                  </a:ext>
                </a:extLst>
              </p:cNvPr>
              <p:cNvSpPr/>
              <p:nvPr/>
            </p:nvSpPr>
            <p:spPr>
              <a:xfrm>
                <a:off x="4896474" y="2414819"/>
                <a:ext cx="2250323" cy="1276351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04" name="Ellipse 103">
                <a:extLst>
                  <a:ext uri="{FF2B5EF4-FFF2-40B4-BE49-F238E27FC236}">
                    <a16:creationId xmlns:a16="http://schemas.microsoft.com/office/drawing/2014/main" xmlns="" id="{D380A5AC-E75C-440F-9A58-B2543177E0F0}"/>
                  </a:ext>
                </a:extLst>
              </p:cNvPr>
              <p:cNvSpPr/>
              <p:nvPr/>
            </p:nvSpPr>
            <p:spPr>
              <a:xfrm>
                <a:off x="4887569" y="2221734"/>
                <a:ext cx="2259226" cy="518509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87" name="Groupe 86">
              <a:extLst>
                <a:ext uri="{FF2B5EF4-FFF2-40B4-BE49-F238E27FC236}">
                  <a16:creationId xmlns:a16="http://schemas.microsoft.com/office/drawing/2014/main" xmlns="" id="{765587E0-A200-4207-B6E7-B649CF2C428C}"/>
                </a:ext>
              </a:extLst>
            </p:cNvPr>
            <p:cNvGrpSpPr/>
            <p:nvPr/>
          </p:nvGrpSpPr>
          <p:grpSpPr>
            <a:xfrm>
              <a:off x="4058636" y="3397613"/>
              <a:ext cx="1715803" cy="900502"/>
              <a:chOff x="4058636" y="3397613"/>
              <a:chExt cx="1715803" cy="900502"/>
            </a:xfrm>
          </p:grpSpPr>
          <p:grpSp>
            <p:nvGrpSpPr>
              <p:cNvPr id="94" name="Groupe 93">
                <a:extLst>
                  <a:ext uri="{FF2B5EF4-FFF2-40B4-BE49-F238E27FC236}">
                    <a16:creationId xmlns:a16="http://schemas.microsoft.com/office/drawing/2014/main" xmlns="" id="{71F6D2E6-A52F-457D-830B-0D48D6C31F02}"/>
                  </a:ext>
                </a:extLst>
              </p:cNvPr>
              <p:cNvGrpSpPr/>
              <p:nvPr/>
            </p:nvGrpSpPr>
            <p:grpSpPr>
              <a:xfrm>
                <a:off x="4058636" y="3397613"/>
                <a:ext cx="1715803" cy="900502"/>
                <a:chOff x="4075568" y="3398502"/>
                <a:chExt cx="1715803" cy="900502"/>
              </a:xfrm>
            </p:grpSpPr>
            <p:grpSp>
              <p:nvGrpSpPr>
                <p:cNvPr id="96" name="Groupe 95">
                  <a:extLst>
                    <a:ext uri="{FF2B5EF4-FFF2-40B4-BE49-F238E27FC236}">
                      <a16:creationId xmlns:a16="http://schemas.microsoft.com/office/drawing/2014/main" xmlns="" id="{39E9E7F6-2A5E-4227-B7CF-780F12A88165}"/>
                    </a:ext>
                  </a:extLst>
                </p:cNvPr>
                <p:cNvGrpSpPr/>
                <p:nvPr/>
              </p:nvGrpSpPr>
              <p:grpSpPr>
                <a:xfrm>
                  <a:off x="4075568" y="3402004"/>
                  <a:ext cx="1715803" cy="897000"/>
                  <a:chOff x="4075568" y="3402004"/>
                  <a:chExt cx="1715803" cy="897000"/>
                </a:xfrm>
              </p:grpSpPr>
              <p:sp>
                <p:nvSpPr>
                  <p:cNvPr id="98" name="Rectangle 97">
                    <a:extLst>
                      <a:ext uri="{FF2B5EF4-FFF2-40B4-BE49-F238E27FC236}">
                        <a16:creationId xmlns:a16="http://schemas.microsoft.com/office/drawing/2014/main" xmlns="" id="{E12DBC52-1188-428B-BC5E-BE10D2B9C032}"/>
                      </a:ext>
                    </a:extLst>
                  </p:cNvPr>
                  <p:cNvSpPr/>
                  <p:nvPr/>
                </p:nvSpPr>
                <p:spPr>
                  <a:xfrm>
                    <a:off x="4075568" y="3991604"/>
                    <a:ext cx="1431722" cy="303478"/>
                  </a:xfrm>
                  <a:prstGeom prst="rect">
                    <a:avLst/>
                  </a:prstGeom>
                  <a:solidFill>
                    <a:srgbClr val="A6A6A6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  <p:cxnSp>
                <p:nvCxnSpPr>
                  <p:cNvPr id="99" name="Connecteur droit 98">
                    <a:extLst>
                      <a:ext uri="{FF2B5EF4-FFF2-40B4-BE49-F238E27FC236}">
                        <a16:creationId xmlns:a16="http://schemas.microsoft.com/office/drawing/2014/main" xmlns="" id="{F48D8083-9D50-4529-9254-5AAB865691A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078279" y="3521100"/>
                    <a:ext cx="216557" cy="470504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" name="Connecteur droit 99">
                    <a:extLst>
                      <a:ext uri="{FF2B5EF4-FFF2-40B4-BE49-F238E27FC236}">
                        <a16:creationId xmlns:a16="http://schemas.microsoft.com/office/drawing/2014/main" xmlns="" id="{A7946AB3-C1B4-408E-8AB1-CAD6BC4FAA2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559018" y="3402004"/>
                    <a:ext cx="229643" cy="1373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Connecteur droit 100">
                    <a:extLst>
                      <a:ext uri="{FF2B5EF4-FFF2-40B4-BE49-F238E27FC236}">
                        <a16:creationId xmlns:a16="http://schemas.microsoft.com/office/drawing/2014/main" xmlns="" id="{4523C7A7-4304-4163-B789-3E6436C07CD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507290" y="3409351"/>
                    <a:ext cx="284081" cy="593102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Connecteur droit 101">
                    <a:extLst>
                      <a:ext uri="{FF2B5EF4-FFF2-40B4-BE49-F238E27FC236}">
                        <a16:creationId xmlns:a16="http://schemas.microsoft.com/office/drawing/2014/main" xmlns="" id="{D64B4899-4A48-405C-A053-70A77BE3769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504579" y="3705902"/>
                    <a:ext cx="284081" cy="593102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97" name="Connecteur droit 96">
                  <a:extLst>
                    <a:ext uri="{FF2B5EF4-FFF2-40B4-BE49-F238E27FC236}">
                      <a16:creationId xmlns:a16="http://schemas.microsoft.com/office/drawing/2014/main" xmlns="" id="{C3BC5136-7007-4348-A244-9CE7AA17A5F0}"/>
                    </a:ext>
                  </a:extLst>
                </p:cNvPr>
                <p:cNvCxnSpPr/>
                <p:nvPr/>
              </p:nvCxnSpPr>
              <p:spPr>
                <a:xfrm>
                  <a:off x="5788660" y="3398502"/>
                  <a:ext cx="0" cy="317237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5" name="Ellipse 94">
                <a:extLst>
                  <a:ext uri="{FF2B5EF4-FFF2-40B4-BE49-F238E27FC236}">
                    <a16:creationId xmlns:a16="http://schemas.microsoft.com/office/drawing/2014/main" xmlns="" id="{B62F3F65-5FC7-42B8-B85F-16E066FE493C}"/>
                  </a:ext>
                </a:extLst>
              </p:cNvPr>
              <p:cNvSpPr/>
              <p:nvPr/>
            </p:nvSpPr>
            <p:spPr>
              <a:xfrm>
                <a:off x="4155700" y="4100514"/>
                <a:ext cx="317842" cy="9525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sp>
        <p:nvSpPr>
          <p:cNvPr id="114" name="Flèche : courbe vers le bas 113">
            <a:extLst>
              <a:ext uri="{FF2B5EF4-FFF2-40B4-BE49-F238E27FC236}">
                <a16:creationId xmlns:a16="http://schemas.microsoft.com/office/drawing/2014/main" xmlns="" id="{20FEC07D-0664-489D-AE29-D85E68A3593A}"/>
              </a:ext>
            </a:extLst>
          </p:cNvPr>
          <p:cNvSpPr/>
          <p:nvPr/>
        </p:nvSpPr>
        <p:spPr>
          <a:xfrm>
            <a:off x="5202989" y="1952813"/>
            <a:ext cx="2581265" cy="518990"/>
          </a:xfrm>
          <a:prstGeom prst="curvedDownArrow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116" name="Graphique 115" descr="Chronomètre">
            <a:extLst>
              <a:ext uri="{FF2B5EF4-FFF2-40B4-BE49-F238E27FC236}">
                <a16:creationId xmlns:a16="http://schemas.microsoft.com/office/drawing/2014/main" xmlns="" id="{4E6D2ECF-D2C6-4427-BADB-E2D8D27863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150563" y="1259365"/>
            <a:ext cx="686116" cy="686116"/>
          </a:xfrm>
          <a:prstGeom prst="rect">
            <a:avLst/>
          </a:prstGeom>
        </p:spPr>
      </p:pic>
      <p:sp>
        <p:nvSpPr>
          <p:cNvPr id="117" name="ZoneTexte 116">
            <a:extLst>
              <a:ext uri="{FF2B5EF4-FFF2-40B4-BE49-F238E27FC236}">
                <a16:creationId xmlns:a16="http://schemas.microsoft.com/office/drawing/2014/main" xmlns="" id="{4AB77A1F-D2A9-41F3-A12A-BFF660038F11}"/>
              </a:ext>
            </a:extLst>
          </p:cNvPr>
          <p:cNvSpPr txBox="1"/>
          <p:nvPr/>
        </p:nvSpPr>
        <p:spPr>
          <a:xfrm>
            <a:off x="4011119" y="4343456"/>
            <a:ext cx="1752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Température T</a:t>
            </a:r>
            <a:r>
              <a:rPr lang="fr-FR" baseline="-25000" dirty="0"/>
              <a:t>1</a:t>
            </a:r>
            <a:endParaRPr lang="fr-FR" dirty="0"/>
          </a:p>
        </p:txBody>
      </p:sp>
      <p:sp>
        <p:nvSpPr>
          <p:cNvPr id="118" name="ZoneTexte 117">
            <a:extLst>
              <a:ext uri="{FF2B5EF4-FFF2-40B4-BE49-F238E27FC236}">
                <a16:creationId xmlns:a16="http://schemas.microsoft.com/office/drawing/2014/main" xmlns="" id="{C18907A2-B49B-4204-A279-55CEA7D99D13}"/>
              </a:ext>
            </a:extLst>
          </p:cNvPr>
          <p:cNvSpPr txBox="1"/>
          <p:nvPr/>
        </p:nvSpPr>
        <p:spPr>
          <a:xfrm>
            <a:off x="6923590" y="4357689"/>
            <a:ext cx="1752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Température T</a:t>
            </a:r>
            <a:r>
              <a:rPr lang="fr-FR" baseline="-25000" dirty="0"/>
              <a:t>1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43265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3F965A78-4B8A-4469-83B7-E31C3DB7C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8BE9BD84-44B7-4A84-942F-1973C54AD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1901" y="2145730"/>
            <a:ext cx="3658606" cy="694497"/>
          </a:xfrm>
        </p:spPr>
        <p:txBody>
          <a:bodyPr/>
          <a:lstStyle/>
          <a:p>
            <a:r>
              <a:rPr lang="fr-FR" sz="4400" dirty="0"/>
              <a:t> Procédé                       </a:t>
            </a:r>
            <a:br>
              <a:rPr lang="fr-FR" sz="4400" dirty="0"/>
            </a:br>
            <a:r>
              <a:rPr lang="fr-FR" sz="4400" dirty="0"/>
              <a:t>Haber-Bosch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72316AC2-BAB0-4CB6-95BB-42681F867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1600"/>
            <a:ext cx="3661612" cy="460117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7859A2EB-6BB2-4475-86CC-9E22F78FAC00}"/>
              </a:ext>
            </a:extLst>
          </p:cNvPr>
          <p:cNvSpPr/>
          <p:nvPr/>
        </p:nvSpPr>
        <p:spPr>
          <a:xfrm>
            <a:off x="3810000" y="534939"/>
            <a:ext cx="4749800" cy="1041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2335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10B406AA-0058-4DB3-9A3B-6F8412552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DEC6F515-7D8B-4B8F-A9C4-D7E5CE447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différentes catalyses</a:t>
            </a:r>
          </a:p>
        </p:txBody>
      </p:sp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xmlns="" id="{3E9EE3C1-84E3-4946-89F7-2572D3E28B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224445"/>
              </p:ext>
            </p:extLst>
          </p:nvPr>
        </p:nvGraphicFramePr>
        <p:xfrm>
          <a:off x="101600" y="851347"/>
          <a:ext cx="8785726" cy="352814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31952">
                  <a:extLst>
                    <a:ext uri="{9D8B030D-6E8A-4147-A177-3AD203B41FA5}">
                      <a16:colId xmlns:a16="http://schemas.microsoft.com/office/drawing/2014/main" xmlns="" val="1803051905"/>
                    </a:ext>
                  </a:extLst>
                </a:gridCol>
                <a:gridCol w="2271756">
                  <a:extLst>
                    <a:ext uri="{9D8B030D-6E8A-4147-A177-3AD203B41FA5}">
                      <a16:colId xmlns:a16="http://schemas.microsoft.com/office/drawing/2014/main" xmlns="" val="582494249"/>
                    </a:ext>
                  </a:extLst>
                </a:gridCol>
                <a:gridCol w="2098488">
                  <a:extLst>
                    <a:ext uri="{9D8B030D-6E8A-4147-A177-3AD203B41FA5}">
                      <a16:colId xmlns:a16="http://schemas.microsoft.com/office/drawing/2014/main" xmlns="" val="3939711469"/>
                    </a:ext>
                  </a:extLst>
                </a:gridCol>
                <a:gridCol w="2483530">
                  <a:extLst>
                    <a:ext uri="{9D8B030D-6E8A-4147-A177-3AD203B41FA5}">
                      <a16:colId xmlns:a16="http://schemas.microsoft.com/office/drawing/2014/main" xmlns="" val="510503104"/>
                    </a:ext>
                  </a:extLst>
                </a:gridCol>
              </a:tblGrid>
              <a:tr h="810328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pPr algn="ctr"/>
                      <a:r>
                        <a:rPr lang="fr-FR" sz="2800" dirty="0"/>
                        <a:t>Homogène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pPr algn="ctr"/>
                      <a:r>
                        <a:rPr lang="fr-FR" sz="2800" kern="1200" dirty="0"/>
                        <a:t>Hétérogène</a:t>
                      </a:r>
                      <a:endParaRPr lang="fr-FR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pPr algn="ctr"/>
                      <a:r>
                        <a:rPr lang="fr-FR" sz="2800" kern="1200" dirty="0"/>
                        <a:t>Enzymatique</a:t>
                      </a:r>
                      <a:endParaRPr lang="fr-FR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04572065"/>
                  </a:ext>
                </a:extLst>
              </a:tr>
              <a:tr h="1780640">
                <a:tc>
                  <a:txBody>
                    <a:bodyPr/>
                    <a:lstStyle/>
                    <a:p>
                      <a:pPr algn="ctr"/>
                      <a:endParaRPr lang="fr-FR" sz="2000" dirty="0"/>
                    </a:p>
                    <a:p>
                      <a:pPr algn="ctr"/>
                      <a:r>
                        <a:rPr lang="fr-FR" sz="2000" dirty="0"/>
                        <a:t>Avantages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fr-FR" sz="1600" dirty="0"/>
                        <a:t>Toutes les molécules du catalyseur sont disponibles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Facilement recyclable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dirty="0"/>
                        <a:t>Coûts plus bas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dirty="0"/>
                        <a:t>Peu de rejet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dirty="0"/>
                        <a:t>Très efficace dans les bonnes conditions de pH et température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dirty="0"/>
                        <a:t>Sélective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dirty="0"/>
                        <a:t>Catalyseur biosourcé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46205326"/>
                  </a:ext>
                </a:extLst>
              </a:tr>
              <a:tr h="937179"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pPr algn="ctr"/>
                      <a:r>
                        <a:rPr lang="fr-FR" sz="2000" kern="1200" dirty="0"/>
                        <a:t>Inconvénients</a:t>
                      </a:r>
                      <a:endParaRPr lang="fr-FR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1600" kern="1200" dirty="0"/>
                    </a:p>
                    <a:p>
                      <a:pPr algn="ctr"/>
                      <a:r>
                        <a:rPr lang="fr-FR" sz="1600" kern="1200" dirty="0"/>
                        <a:t>Difficilement recyclable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Seule la surface du catalyseur est disponible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dirty="0"/>
                        <a:t>Efficacité fortement dépendante du milieu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dirty="0"/>
                        <a:t>Pas recyclable industriellement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92942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5864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C9C74BCE-62DB-40DC-A8F3-8FC6B33BE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xmlns="" id="{122CE3E9-4D1D-42DD-9752-E63C37E94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Merci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27819929"/>
      </p:ext>
    </p:extLst>
  </p:cSld>
  <p:clrMapOvr>
    <a:masterClrMapping/>
  </p:clrMapOvr>
</p:sld>
</file>

<file path=ppt/theme/theme1.xml><?xml version="1.0" encoding="utf-8"?>
<a:theme xmlns:a="http://schemas.openxmlformats.org/drawingml/2006/main" name="Titre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exte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Merci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891</TotalTime>
  <Words>209</Words>
  <Application>Microsoft Macintosh PowerPoint</Application>
  <PresentationFormat>Personnalisé</PresentationFormat>
  <Paragraphs>73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7</vt:i4>
      </vt:variant>
    </vt:vector>
  </HeadingPairs>
  <TitlesOfParts>
    <vt:vector size="14" baseType="lpstr">
      <vt:lpstr>Calibri</vt:lpstr>
      <vt:lpstr>Calibri Light</vt:lpstr>
      <vt:lpstr>Cambria Math</vt:lpstr>
      <vt:lpstr>Wingdings</vt:lpstr>
      <vt:lpstr>Titre</vt:lpstr>
      <vt:lpstr>texte</vt:lpstr>
      <vt:lpstr>Merci</vt:lpstr>
      <vt:lpstr>Optimisation d’un procédé chimique </vt:lpstr>
      <vt:lpstr>Variation avec la pression </vt:lpstr>
      <vt:lpstr>Optimisation de la quantité de matière initiale</vt:lpstr>
      <vt:lpstr>Dismutation des ions thiosulfate en milieu acide </vt:lpstr>
      <vt:lpstr> Procédé                        Haber-Bosch</vt:lpstr>
      <vt:lpstr>Les différentes catalyses</vt:lpstr>
      <vt:lpstr>Merci</vt:lpstr>
    </vt:vector>
  </TitlesOfParts>
  <Company>RENAULT DeSign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PIRONNEAU Marc</dc:creator>
  <dc:description/>
  <cp:lastModifiedBy>Utilisateur de Microsoft Office</cp:lastModifiedBy>
  <cp:revision>55</cp:revision>
  <cp:lastPrinted>2015-03-31T14:07:15Z</cp:lastPrinted>
  <dcterms:created xsi:type="dcterms:W3CDTF">2020-03-24T08:48:58Z</dcterms:created>
  <dcterms:modified xsi:type="dcterms:W3CDTF">2021-06-23T13:27:54Z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Company">
    <vt:lpwstr>RENAULT DeSign</vt:lpwstr>
  </property>
  <property fmtid="{D5CDD505-2E9C-101B-9397-08002B2CF9AE}" pid="4" name="ContentTypeId">
    <vt:lpwstr>0x0101008477E3DB2009FC49ADD3BBFEB391E983</vt:lpwstr>
  </property>
  <property fmtid="{D5CDD505-2E9C-101B-9397-08002B2CF9AE}" pid="5" name="HiddenSlides">
    <vt:i4>0</vt:i4>
  </property>
  <property fmtid="{D5CDD505-2E9C-101B-9397-08002B2CF9AE}" pid="6" name="HyperlinksChanged">
    <vt:bool>false</vt:bool>
  </property>
  <property fmtid="{D5CDD505-2E9C-101B-9397-08002B2CF9AE}" pid="7" name="LinksUpToDate">
    <vt:bool>false</vt:bool>
  </property>
  <property fmtid="{D5CDD505-2E9C-101B-9397-08002B2CF9AE}" pid="8" name="MMClips">
    <vt:i4>0</vt:i4>
  </property>
  <property fmtid="{D5CDD505-2E9C-101B-9397-08002B2CF9AE}" pid="9" name="MSIP_Label_fd1c0902-ed92-4fed-896d-2e7725de02d4_ActionId">
    <vt:lpwstr>bfe6ccbd-fb37-4aeb-8e54-00004c58dbb4</vt:lpwstr>
  </property>
  <property fmtid="{D5CDD505-2E9C-101B-9397-08002B2CF9AE}" pid="10" name="MSIP_Label_fd1c0902-ed92-4fed-896d-2e7725de02d4_ContentBits">
    <vt:lpwstr>2</vt:lpwstr>
  </property>
  <property fmtid="{D5CDD505-2E9C-101B-9397-08002B2CF9AE}" pid="11" name="MSIP_Label_fd1c0902-ed92-4fed-896d-2e7725de02d4_Enabled">
    <vt:lpwstr>true</vt:lpwstr>
  </property>
  <property fmtid="{D5CDD505-2E9C-101B-9397-08002B2CF9AE}" pid="12" name="MSIP_Label_fd1c0902-ed92-4fed-896d-2e7725de02d4_Method">
    <vt:lpwstr>Standard</vt:lpwstr>
  </property>
  <property fmtid="{D5CDD505-2E9C-101B-9397-08002B2CF9AE}" pid="13" name="MSIP_Label_fd1c0902-ed92-4fed-896d-2e7725de02d4_Name">
    <vt:lpwstr>Anyone (not protected)</vt:lpwstr>
  </property>
  <property fmtid="{D5CDD505-2E9C-101B-9397-08002B2CF9AE}" pid="14" name="MSIP_Label_fd1c0902-ed92-4fed-896d-2e7725de02d4_SetDate">
    <vt:lpwstr>2020-03-24T08:50:27Z</vt:lpwstr>
  </property>
  <property fmtid="{D5CDD505-2E9C-101B-9397-08002B2CF9AE}" pid="15" name="MSIP_Label_fd1c0902-ed92-4fed-896d-2e7725de02d4_SiteId">
    <vt:lpwstr>d6b0bbee-7cd9-4d60-bce6-4a67b543e2ae</vt:lpwstr>
  </property>
  <property fmtid="{D5CDD505-2E9C-101B-9397-08002B2CF9AE}" pid="16" name="Notes">
    <vt:i4>0</vt:i4>
  </property>
  <property fmtid="{D5CDD505-2E9C-101B-9397-08002B2CF9AE}" pid="17" name="PresentationFormat">
    <vt:lpwstr>Affichage à l'écran (16:9)</vt:lpwstr>
  </property>
  <property fmtid="{D5CDD505-2E9C-101B-9397-08002B2CF9AE}" pid="18" name="ScaleCrop">
    <vt:bool>false</vt:bool>
  </property>
  <property fmtid="{D5CDD505-2E9C-101B-9397-08002B2CF9AE}" pid="19" name="ShareDoc">
    <vt:bool>false</vt:bool>
  </property>
  <property fmtid="{D5CDD505-2E9C-101B-9397-08002B2CF9AE}" pid="20" name="Slides">
    <vt:i4>5</vt:i4>
  </property>
</Properties>
</file>