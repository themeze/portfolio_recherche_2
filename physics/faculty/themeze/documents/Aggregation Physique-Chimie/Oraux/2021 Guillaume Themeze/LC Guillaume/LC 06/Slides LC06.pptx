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0B01A0-0B18-4382-AEE3-DFE9F805FA24}">
  <a:tblStyle styleId="{B30B01A0-0B18-4382-AEE3-DFE9F805FA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dc370b52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dc370b52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c370b52a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dc370b52a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97c99ef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d97c99ef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d97c99efa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d97c99efa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97c99efa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d97c99efa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97c99efa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d97c99efa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93850"/>
            <a:ext cx="8520600" cy="1421700"/>
          </a:xfrm>
          <a:prstGeom prst="rect">
            <a:avLst/>
          </a:prstGeom>
          <a:solidFill>
            <a:srgbClr val="D9D2E9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/>
              <a:t>LC06 Chimie analytique, quantitative et fiabilité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28515" r="25350" t="0"/>
          <a:stretch/>
        </p:blipFill>
        <p:spPr>
          <a:xfrm>
            <a:off x="311700" y="1900375"/>
            <a:ext cx="1217300" cy="3058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11635" l="0" r="0" t="8338"/>
          <a:stretch/>
        </p:blipFill>
        <p:spPr>
          <a:xfrm>
            <a:off x="1642725" y="3164875"/>
            <a:ext cx="2241626" cy="17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 b="0" l="33196" r="33624" t="0"/>
          <a:stretch/>
        </p:blipFill>
        <p:spPr>
          <a:xfrm>
            <a:off x="5330263" y="1867950"/>
            <a:ext cx="1036275" cy="31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6">
            <a:alphaModFix/>
          </a:blip>
          <a:srcRect b="24625" l="0" r="0" t="24421"/>
          <a:stretch/>
        </p:blipFill>
        <p:spPr>
          <a:xfrm>
            <a:off x="3449175" y="1961000"/>
            <a:ext cx="1881100" cy="9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50713" y="1867950"/>
            <a:ext cx="2081591" cy="312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30088" y="293375"/>
            <a:ext cx="80838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Dosage par étalonnage : établir la concentration en colorant bleu E131 dans le curaçao</a:t>
            </a:r>
            <a:endParaRPr sz="2500"/>
          </a:p>
        </p:txBody>
      </p:sp>
      <p:graphicFrame>
        <p:nvGraphicFramePr>
          <p:cNvPr id="65" name="Google Shape;65;p14"/>
          <p:cNvGraphicFramePr/>
          <p:nvPr/>
        </p:nvGraphicFramePr>
        <p:xfrm>
          <a:off x="530100" y="148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{B30B01A0-0B18-4382-AEE3-DFE9F805FA24}</a:tableStyleId>
              </a:tblPr>
              <a:tblGrid>
                <a:gridCol w="1357900"/>
                <a:gridCol w="1279325"/>
                <a:gridCol w="1348775"/>
                <a:gridCol w="1268275"/>
                <a:gridCol w="1313575"/>
                <a:gridCol w="131357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Tube à essai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2E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6D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85C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B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46ABFF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Concentration en E131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2x10</a:t>
                      </a:r>
                      <a:r>
                        <a:rPr baseline="30000" lang="fr"/>
                        <a:t>-6</a:t>
                      </a:r>
                      <a:r>
                        <a:rPr lang="fr"/>
                        <a:t> mol.L</a:t>
                      </a:r>
                      <a:r>
                        <a:rPr baseline="30000" lang="fr"/>
                        <a:t>-1</a:t>
                      </a:r>
                      <a:endParaRPr baseline="30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4x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baseline="30000" lang="fr">
                          <a:solidFill>
                            <a:schemeClr val="dk1"/>
                          </a:solidFill>
                        </a:rPr>
                        <a:t>-6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mol.L</a:t>
                      </a:r>
                      <a:r>
                        <a:rPr baseline="30000" lang="fr">
                          <a:solidFill>
                            <a:schemeClr val="dk1"/>
                          </a:solidFill>
                        </a:rPr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x10</a:t>
                      </a:r>
                      <a:r>
                        <a:rPr baseline="30000" lang="fr">
                          <a:solidFill>
                            <a:schemeClr val="dk1"/>
                          </a:solidFill>
                        </a:rPr>
                        <a:t>-6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mol.L</a:t>
                      </a:r>
                      <a:r>
                        <a:rPr baseline="30000" lang="fr">
                          <a:solidFill>
                            <a:schemeClr val="dk1"/>
                          </a:solidFill>
                        </a:rPr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x10</a:t>
                      </a:r>
                      <a:r>
                        <a:rPr baseline="30000" lang="fr">
                          <a:solidFill>
                            <a:schemeClr val="dk1"/>
                          </a:solidFill>
                        </a:rPr>
                        <a:t>-6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mol.L</a:t>
                      </a:r>
                      <a:r>
                        <a:rPr baseline="30000" lang="fr">
                          <a:solidFill>
                            <a:schemeClr val="dk1"/>
                          </a:solidFill>
                        </a:rPr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baseline="30000" lang="fr">
                          <a:solidFill>
                            <a:schemeClr val="dk1"/>
                          </a:solidFill>
                        </a:rPr>
                        <a:t>-5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mol.L</a:t>
                      </a:r>
                      <a:r>
                        <a:rPr baseline="30000" lang="fr">
                          <a:solidFill>
                            <a:schemeClr val="dk1"/>
                          </a:solidFill>
                        </a:rPr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24625" l="0" r="0" t="24421"/>
          <a:stretch/>
        </p:blipFill>
        <p:spPr>
          <a:xfrm>
            <a:off x="3714550" y="3757675"/>
            <a:ext cx="1881100" cy="9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 b="0" l="33196" r="33624" t="0"/>
          <a:stretch/>
        </p:blipFill>
        <p:spPr>
          <a:xfrm>
            <a:off x="681750" y="2720600"/>
            <a:ext cx="682301" cy="205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4375" y="2919188"/>
            <a:ext cx="2614550" cy="1796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975" y="1225875"/>
            <a:ext cx="5656575" cy="35137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771100" y="328575"/>
            <a:ext cx="3601800" cy="569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Spectrophotométrie</a:t>
            </a:r>
            <a:endParaRPr sz="2500"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4900" y="1225875"/>
            <a:ext cx="3230325" cy="29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2684700" y="356575"/>
            <a:ext cx="3774600" cy="5727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Cellule conductimétrique</a:t>
            </a:r>
            <a:endParaRPr/>
          </a:p>
        </p:txBody>
      </p:sp>
      <p:grpSp>
        <p:nvGrpSpPr>
          <p:cNvPr id="81" name="Google Shape;81;p16"/>
          <p:cNvGrpSpPr/>
          <p:nvPr/>
        </p:nvGrpSpPr>
        <p:grpSpPr>
          <a:xfrm>
            <a:off x="2208177" y="1241175"/>
            <a:ext cx="3893525" cy="3729950"/>
            <a:chOff x="2625227" y="1304350"/>
            <a:chExt cx="3893525" cy="3729950"/>
          </a:xfrm>
        </p:grpSpPr>
        <p:pic>
          <p:nvPicPr>
            <p:cNvPr id="82" name="Google Shape;82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25227" y="1304350"/>
              <a:ext cx="3893525" cy="3729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6"/>
            <p:cNvSpPr/>
            <p:nvPr/>
          </p:nvSpPr>
          <p:spPr>
            <a:xfrm>
              <a:off x="2835025" y="1491225"/>
              <a:ext cx="923700" cy="1004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282250" y="242825"/>
            <a:ext cx="8517600" cy="5727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Titrage pH-métrique de l’acide éthanoïque dans le vinaigre</a:t>
            </a:r>
            <a:endParaRPr/>
          </a:p>
        </p:txBody>
      </p:sp>
      <p:grpSp>
        <p:nvGrpSpPr>
          <p:cNvPr id="89" name="Google Shape;89;p17"/>
          <p:cNvGrpSpPr/>
          <p:nvPr/>
        </p:nvGrpSpPr>
        <p:grpSpPr>
          <a:xfrm>
            <a:off x="1019763" y="942650"/>
            <a:ext cx="5510531" cy="4023176"/>
            <a:chOff x="1816725" y="892100"/>
            <a:chExt cx="5510531" cy="4023176"/>
          </a:xfrm>
        </p:grpSpPr>
        <p:pic>
          <p:nvPicPr>
            <p:cNvPr id="90" name="Google Shape;90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6725" y="892100"/>
              <a:ext cx="5510531" cy="4023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7"/>
            <p:cNvSpPr/>
            <p:nvPr/>
          </p:nvSpPr>
          <p:spPr>
            <a:xfrm>
              <a:off x="5097150" y="4044025"/>
              <a:ext cx="1023600" cy="2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31953" r="30209" t="0"/>
          <a:stretch/>
        </p:blipFill>
        <p:spPr>
          <a:xfrm>
            <a:off x="6698150" y="1069763"/>
            <a:ext cx="1426076" cy="376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2014950" y="508225"/>
            <a:ext cx="5114100" cy="5727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Titrage pH-métrique : équivalence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0" l="1322" r="0" t="0"/>
          <a:stretch/>
        </p:blipFill>
        <p:spPr>
          <a:xfrm>
            <a:off x="211000" y="1549250"/>
            <a:ext cx="8721999" cy="27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98400" y="204900"/>
            <a:ext cx="8947200" cy="5154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020"/>
              <a:t>Titrage conductimétrique du chlorure de sodium dans le sérum physiologique</a:t>
            </a:r>
            <a:endParaRPr sz="2020"/>
          </a:p>
        </p:txBody>
      </p:sp>
      <p:graphicFrame>
        <p:nvGraphicFramePr>
          <p:cNvPr id="104" name="Google Shape;104;p19"/>
          <p:cNvGraphicFramePr/>
          <p:nvPr/>
        </p:nvGraphicFramePr>
        <p:xfrm>
          <a:off x="1508550" y="10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{B30B01A0-0B18-4382-AEE3-DFE9F805FA24}</a:tableStyleId>
              </a:tblPr>
              <a:tblGrid>
                <a:gridCol w="959675"/>
                <a:gridCol w="2659825"/>
                <a:gridCol w="250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Avant l’équivalence</a:t>
                      </a:r>
                      <a:endParaRPr/>
                    </a:p>
                  </a:txBody>
                  <a:tcPr marT="63500" marB="63500" marR="63500" marL="63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Après l’équivalence</a:t>
                      </a:r>
                      <a:endParaRPr/>
                    </a:p>
                  </a:txBody>
                  <a:tcPr marT="63500" marB="63500" marR="63500" marL="63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[Na⁺]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Constante</a:t>
                      </a:r>
                      <a:endParaRPr/>
                    </a:p>
                  </a:txBody>
                  <a:tcPr marT="63500" marB="63500" marR="63500" marL="63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Constante</a:t>
                      </a:r>
                      <a:endParaRPr/>
                    </a:p>
                  </a:txBody>
                  <a:tcPr marT="63500" marB="63500" marR="63500" marL="63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[Cl⁻]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Diminue</a:t>
                      </a:r>
                      <a:endParaRPr/>
                    </a:p>
                  </a:txBody>
                  <a:tcPr marT="63500" marB="63500" marR="63500" marL="63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</a:t>
                      </a:r>
                      <a:endParaRPr/>
                    </a:p>
                  </a:txBody>
                  <a:tcPr marT="63500" marB="63500" marR="63500" marL="63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[Ag⁺]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</a:t>
                      </a:r>
                      <a:endParaRPr/>
                    </a:p>
                  </a:txBody>
                  <a:tcPr marT="63500" marB="63500" marR="63500" marL="63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Augmente</a:t>
                      </a:r>
                      <a:endParaRPr/>
                    </a:p>
                  </a:txBody>
                  <a:tcPr marT="63500" marB="63500" marR="63500" marL="63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[NO</a:t>
                      </a:r>
                      <a:r>
                        <a:rPr baseline="-25000" lang="fr"/>
                        <a:t>3</a:t>
                      </a:r>
                      <a:r>
                        <a:rPr lang="fr"/>
                        <a:t>⁻]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Augmente</a:t>
                      </a:r>
                      <a:endParaRPr/>
                    </a:p>
                  </a:txBody>
                  <a:tcPr marT="63500" marB="63500" marR="63500" marL="63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Augmente</a:t>
                      </a:r>
                      <a:endParaRPr/>
                    </a:p>
                  </a:txBody>
                  <a:tcPr marT="63500" marB="63500" marR="63500" marL="63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05" name="Google Shape;105;p19"/>
          <p:cNvSpPr txBox="1"/>
          <p:nvPr/>
        </p:nvSpPr>
        <p:spPr>
          <a:xfrm>
            <a:off x="730100" y="3386875"/>
            <a:ext cx="5087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Avant l’équivalence 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σ = λ⁰</a:t>
            </a:r>
            <a:r>
              <a:rPr baseline="-25000" lang="fr" sz="1600"/>
              <a:t>Na⁺ </a:t>
            </a:r>
            <a:r>
              <a:rPr lang="fr" sz="1600"/>
              <a:t>[Na⁺] + </a:t>
            </a:r>
            <a:r>
              <a:rPr lang="fr" sz="1600">
                <a:solidFill>
                  <a:schemeClr val="dk1"/>
                </a:solidFill>
              </a:rPr>
              <a:t>λ⁰</a:t>
            </a:r>
            <a:r>
              <a:rPr baseline="-25000" lang="fr" sz="1600">
                <a:solidFill>
                  <a:schemeClr val="dk1"/>
                </a:solidFill>
              </a:rPr>
              <a:t>Cl⁻ </a:t>
            </a:r>
            <a:r>
              <a:rPr lang="fr" sz="1600">
                <a:solidFill>
                  <a:schemeClr val="dk1"/>
                </a:solidFill>
              </a:rPr>
              <a:t>[Cl⁻] + λ⁰</a:t>
            </a:r>
            <a:r>
              <a:rPr baseline="-25000" lang="fr" sz="1600">
                <a:solidFill>
                  <a:schemeClr val="dk1"/>
                </a:solidFill>
              </a:rPr>
              <a:t>NO3⁻ </a:t>
            </a:r>
            <a:r>
              <a:rPr lang="fr" sz="1600">
                <a:solidFill>
                  <a:schemeClr val="dk1"/>
                </a:solidFill>
              </a:rPr>
              <a:t>[NO</a:t>
            </a:r>
            <a:r>
              <a:rPr baseline="-25000" lang="fr" sz="1600">
                <a:solidFill>
                  <a:schemeClr val="dk1"/>
                </a:solidFill>
              </a:rPr>
              <a:t>3</a:t>
            </a:r>
            <a:r>
              <a:rPr lang="fr" sz="1600">
                <a:solidFill>
                  <a:schemeClr val="dk1"/>
                </a:solidFill>
              </a:rPr>
              <a:t>⁻]  et  λ⁰</a:t>
            </a:r>
            <a:r>
              <a:rPr baseline="-25000" lang="fr" sz="1600">
                <a:solidFill>
                  <a:schemeClr val="dk1"/>
                </a:solidFill>
              </a:rPr>
              <a:t>Cl⁻</a:t>
            </a:r>
            <a:r>
              <a:rPr lang="fr" sz="1600">
                <a:solidFill>
                  <a:schemeClr val="dk1"/>
                </a:solidFill>
              </a:rPr>
              <a:t> &gt; λ⁰</a:t>
            </a:r>
            <a:r>
              <a:rPr baseline="-25000" lang="fr" sz="1600">
                <a:solidFill>
                  <a:schemeClr val="dk1"/>
                </a:solidFill>
              </a:rPr>
              <a:t>NO3⁻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" sz="1600">
                <a:solidFill>
                  <a:schemeClr val="dk1"/>
                </a:solidFill>
              </a:rPr>
              <a:t>Après l’équivalence 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1"/>
                </a:solidFill>
              </a:rPr>
              <a:t>σ = λ⁰</a:t>
            </a:r>
            <a:r>
              <a:rPr baseline="-25000" lang="fr" sz="1600">
                <a:solidFill>
                  <a:schemeClr val="dk1"/>
                </a:solidFill>
              </a:rPr>
              <a:t>Na⁺ </a:t>
            </a:r>
            <a:r>
              <a:rPr lang="fr" sz="1600">
                <a:solidFill>
                  <a:schemeClr val="dk1"/>
                </a:solidFill>
              </a:rPr>
              <a:t>[Na⁺] + λ⁰</a:t>
            </a:r>
            <a:r>
              <a:rPr baseline="-25000" lang="fr" sz="1600">
                <a:solidFill>
                  <a:schemeClr val="dk1"/>
                </a:solidFill>
              </a:rPr>
              <a:t>Ag⁺ </a:t>
            </a:r>
            <a:r>
              <a:rPr lang="fr" sz="1600">
                <a:solidFill>
                  <a:schemeClr val="dk1"/>
                </a:solidFill>
              </a:rPr>
              <a:t>[Ag⁺] + λ⁰</a:t>
            </a:r>
            <a:r>
              <a:rPr baseline="-25000" lang="fr" sz="1600">
                <a:solidFill>
                  <a:schemeClr val="dk1"/>
                </a:solidFill>
              </a:rPr>
              <a:t>NO3⁻ </a:t>
            </a:r>
            <a:r>
              <a:rPr lang="fr" sz="1600">
                <a:solidFill>
                  <a:schemeClr val="dk1"/>
                </a:solidFill>
              </a:rPr>
              <a:t>[NO</a:t>
            </a:r>
            <a:r>
              <a:rPr baseline="-25000" lang="fr" sz="1600">
                <a:solidFill>
                  <a:schemeClr val="dk1"/>
                </a:solidFill>
              </a:rPr>
              <a:t>3</a:t>
            </a:r>
            <a:r>
              <a:rPr lang="fr" sz="1600">
                <a:solidFill>
                  <a:schemeClr val="dk1"/>
                </a:solidFill>
              </a:rPr>
              <a:t>⁻]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11635" l="0" r="0" t="8338"/>
          <a:stretch/>
        </p:blipFill>
        <p:spPr>
          <a:xfrm>
            <a:off x="6053250" y="3292425"/>
            <a:ext cx="2005566" cy="16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