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231280" y="964800"/>
            <a:ext cx="7729200" cy="5509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223128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19200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2231280" y="425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231280" y="425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19200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223128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84488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45812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745812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84488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223128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2231280" y="964800"/>
            <a:ext cx="7729200" cy="5509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223128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31017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19200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2231280" y="425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2231280" y="4258080"/>
            <a:ext cx="772920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192000" y="263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19200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2231280" y="4258080"/>
            <a:ext cx="377172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84488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458120" y="263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745812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84488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2231280" y="4258080"/>
            <a:ext cx="2488680" cy="1479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</p:spPr>
        <p:txBody>
          <a:bodyPr lIns="274320" rIns="274320" tIns="182880" bIns="182880" anchor="ctr" anchorCtr="1">
            <a:normAutofit/>
          </a:bodyPr>
          <a:p>
            <a:pPr algn="ctr">
              <a:lnSpc>
                <a:spcPct val="100000"/>
              </a:lnSpc>
            </a:pPr>
            <a:r>
              <a:rPr b="0" lang="en-US" sz="3800" spc="199" strike="noStrike" cap="all">
                <a:solidFill>
                  <a:srgbClr val="262626"/>
                </a:solidFill>
                <a:latin typeface="Gill Sans MT"/>
              </a:rPr>
              <a:t>Modifiez le style du titre</a:t>
            </a:r>
            <a:endParaRPr b="0" lang="en-US" sz="3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A821472E-D5DC-4F37-9A79-8758B2466166}" type="datetime1">
              <a:rPr b="0" lang="fr-FR" sz="1050" spc="-1" strike="noStrike">
                <a:solidFill>
                  <a:srgbClr val="000000"/>
                </a:solidFill>
                <a:latin typeface="Gill Sans MT"/>
              </a:rPr>
              <a:t>29/03/2021</a:t>
            </a:fld>
            <a:endParaRPr b="0" lang="fr-FR" sz="105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000000"/>
                </a:solidFill>
                <a:latin typeface="Gill Sans MT"/>
              </a:rPr>
              <a:t>Mathieu Markovitch</a:t>
            </a:r>
            <a:endParaRPr b="0" lang="fr-FR" sz="105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</p:spPr>
        <p:txBody>
          <a:bodyPr lIns="18360" rIns="18360" anchor="ctr"/>
          <a:p>
            <a:pPr algn="ctr">
              <a:lnSpc>
                <a:spcPct val="100000"/>
              </a:lnSpc>
            </a:pPr>
            <a:fld id="{C9781F0E-D9BC-42C6-9F16-562BC5072AE6}" type="slidenum">
              <a:rPr b="0" lang="fr-FR" sz="1100" spc="-1" strike="noStrike">
                <a:solidFill>
                  <a:srgbClr val="ffffff"/>
                </a:solidFill>
                <a:latin typeface="Gill Sans MT"/>
              </a:rPr>
              <a:t>&lt;numéro&gt;</a:t>
            </a:fld>
            <a:endParaRPr b="0" lang="fr-FR" sz="11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Cliquez pour éditer le format du plan de texte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Second niveau de plan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Troisième niveau de plan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Quatrième niveau de plan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62626"/>
                </a:solidFill>
                <a:latin typeface="Gill Sans MT"/>
              </a:rPr>
              <a:t>Cinquième niveau de plan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62626"/>
                </a:solidFill>
                <a:latin typeface="Gill Sans MT"/>
              </a:rPr>
              <a:t>Sixième niveau de plan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62626"/>
                </a:solidFill>
                <a:latin typeface="Gill Sans MT"/>
              </a:rPr>
              <a:t>Septième niveau de plan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</p:spPr>
        <p:txBody>
          <a:bodyPr lIns="182880" rIns="182880" tIns="182880" bIns="182880" anchor="ctr"/>
          <a:p>
            <a:pPr algn="ctr">
              <a:lnSpc>
                <a:spcPct val="90000"/>
              </a:lnSpc>
            </a:pPr>
            <a:r>
              <a:rPr b="0" lang="en-US" sz="2800" spc="199" strike="noStrike" cap="all">
                <a:solidFill>
                  <a:srgbClr val="262626"/>
                </a:solidFill>
                <a:latin typeface="Gill Sans MT"/>
              </a:rPr>
              <a:t>Modifiez le style du titre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</p:spPr>
        <p:txBody>
          <a:bodyPr/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Cliquez pour modifier les styles du texte du masque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Deuxième niveau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2" marL="6858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Troisième niveau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3" marL="9144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Quatrième niveau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4" marL="11430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Cinquième niveau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E6F0B169-CD92-4D55-9016-10A597B8BA43}" type="datetime1">
              <a:rPr b="0" lang="fr-FR" sz="1050" spc="-1" strike="noStrike">
                <a:solidFill>
                  <a:srgbClr val="000000"/>
                </a:solidFill>
                <a:latin typeface="Gill Sans MT"/>
              </a:rPr>
              <a:t>29/03/2021</a:t>
            </a:fld>
            <a:endParaRPr b="0" lang="fr-FR" sz="105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000000"/>
                </a:solidFill>
                <a:latin typeface="Gill Sans MT"/>
              </a:rPr>
              <a:t>Mathieu Markovitch</a:t>
            </a:r>
            <a:endParaRPr b="0" lang="fr-FR" sz="105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</p:spPr>
        <p:txBody>
          <a:bodyPr lIns="18360" rIns="18360" anchor="ctr"/>
          <a:p>
            <a:pPr algn="ctr">
              <a:lnSpc>
                <a:spcPct val="100000"/>
              </a:lnSpc>
            </a:pPr>
            <a:fld id="{A92A63CC-2B51-4DDF-AC6F-52A378EC72B8}" type="slidenum">
              <a:rPr b="0" lang="fr-FR" sz="1100" spc="-1" strike="noStrike">
                <a:solidFill>
                  <a:srgbClr val="ffffff"/>
                </a:solidFill>
                <a:latin typeface="Gill Sans MT"/>
              </a:rPr>
              <a:t>1</a:t>
            </a:fld>
            <a:endParaRPr b="0" lang="fr-FR" sz="11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936000" y="2314440"/>
            <a:ext cx="10231560" cy="1645560"/>
          </a:xfrm>
          <a:prstGeom prst="rect">
            <a:avLst/>
          </a:prstGeom>
          <a:solidFill>
            <a:srgbClr val="ebeff0"/>
          </a:solidFill>
          <a:ln w="38160">
            <a:solidFill>
              <a:srgbClr val="404040"/>
            </a:solidFill>
            <a:miter/>
          </a:ln>
        </p:spPr>
        <p:txBody>
          <a:bodyPr lIns="274320" rIns="274320" tIns="182880" bIns="182880" anchor="ctr" anchorCtr="1">
            <a:normAutofit/>
          </a:bodyPr>
          <a:p>
            <a:pPr algn="ctr">
              <a:lnSpc>
                <a:spcPct val="100000"/>
              </a:lnSpc>
            </a:pPr>
            <a:r>
              <a:rPr b="1" lang="en-US" sz="3700" spc="199" strike="noStrike">
                <a:solidFill>
                  <a:srgbClr val="262626"/>
                </a:solidFill>
                <a:latin typeface="Georgia"/>
              </a:rPr>
              <a:t>LP 31 : lois de l’optique géométrique</a:t>
            </a:r>
            <a:endParaRPr b="0" lang="en-US" sz="3700" spc="-1" strike="noStrike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2630880" y="4896000"/>
            <a:ext cx="6801120" cy="1239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algn="ctr"/>
            <a:r>
              <a:rPr b="0" lang="fr-FR" sz="2400" spc="-1" strike="noStrike">
                <a:latin typeface="Georgia"/>
              </a:rPr>
              <a:t>Mathieu Markovitch</a:t>
            </a:r>
            <a:endParaRPr b="0" lang="fr-FR" sz="2400" spc="-1" strike="noStrike">
              <a:latin typeface="Georgi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ebeff0"/>
          </a:solidFill>
          <a:ln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rmAutofit/>
          </a:bodyPr>
          <a:p>
            <a:pPr algn="ctr">
              <a:lnSpc>
                <a:spcPct val="90000"/>
              </a:lnSpc>
            </a:pPr>
            <a:r>
              <a:rPr b="0" lang="en-US" sz="3200" spc="199" strike="noStrike">
                <a:solidFill>
                  <a:srgbClr val="262626"/>
                </a:solidFill>
                <a:latin typeface="Garamond"/>
              </a:rPr>
              <a:t>Lois de la réfraction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4432320" y="6263640"/>
            <a:ext cx="1568880" cy="319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Garamond"/>
              </a:rPr>
              <a:t>Mathieu Markovitch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86" name="TextShape 3"/>
          <p:cNvSpPr txBox="1"/>
          <p:nvPr/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>
            <a:noFill/>
          </a:ln>
        </p:spPr>
        <p:txBody>
          <a:bodyPr lIns="18360" rIns="18360" anchor="ctr"/>
          <a:p>
            <a:pPr algn="ctr">
              <a:lnSpc>
                <a:spcPct val="100000"/>
              </a:lnSpc>
            </a:pPr>
            <a:fld id="{88CD150C-DE97-42E2-BC42-B6FF6FE46D07}" type="slidenum">
              <a:rPr b="0" lang="fr-FR" sz="1100" spc="-1" strike="noStrike">
                <a:solidFill>
                  <a:srgbClr val="ffffff"/>
                </a:solidFill>
                <a:latin typeface="Gill Sans MT"/>
              </a:rPr>
              <a:t>1</a:t>
            </a:fld>
            <a:endParaRPr b="0" lang="fr-FR" sz="1100" spc="-1" strike="noStrike">
              <a:latin typeface="Times New Roman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1728000" y="2520000"/>
            <a:ext cx="4547520" cy="3024000"/>
          </a:xfrm>
          <a:prstGeom prst="rect">
            <a:avLst/>
          </a:prstGeom>
          <a:ln>
            <a:noFill/>
          </a:ln>
        </p:spPr>
      </p:pic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6552000" y="2376000"/>
            <a:ext cx="4393440" cy="324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ebeff0"/>
          </a:solidFill>
          <a:ln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rmAutofit/>
          </a:bodyPr>
          <a:p>
            <a:pPr algn="ctr">
              <a:lnSpc>
                <a:spcPct val="90000"/>
              </a:lnSpc>
            </a:pPr>
            <a:r>
              <a:rPr b="0" lang="en-US" sz="3200" spc="199" strike="noStrike">
                <a:solidFill>
                  <a:srgbClr val="262626"/>
                </a:solidFill>
                <a:latin typeface="Garamond"/>
              </a:rPr>
              <a:t>Lois de Descartes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5015520" y="3142080"/>
            <a:ext cx="5280480" cy="18979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62626"/>
                </a:solidFill>
                <a:latin typeface="Cambria Math"/>
              </a:rPr>
              <a:t>Les rayons réfléchi et réfracté sont dans le plan d’incidence</a:t>
            </a:r>
            <a:endParaRPr b="0" lang="en-US" sz="2400" spc="-1" strike="noStrike">
              <a:solidFill>
                <a:srgbClr val="262626"/>
              </a:solidFill>
              <a:latin typeface="Cambria Math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62626"/>
                </a:solidFill>
                <a:latin typeface="Cambria Math"/>
              </a:rPr>
              <a:t>r=-i</a:t>
            </a:r>
            <a:r>
              <a:rPr b="0" lang="en-US" sz="2400" spc="-1" strike="noStrike" baseline="-33000">
                <a:solidFill>
                  <a:srgbClr val="262626"/>
                </a:solidFill>
                <a:latin typeface="Cambria Math"/>
              </a:rPr>
              <a:t>1</a:t>
            </a:r>
            <a:endParaRPr b="0" lang="en-US" sz="2400" spc="-1" strike="noStrike">
              <a:solidFill>
                <a:srgbClr val="262626"/>
              </a:solidFill>
              <a:latin typeface="Cambria Math"/>
            </a:endParaRPr>
          </a:p>
          <a:p>
            <a:pPr marL="228600" indent="-22824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62626"/>
                </a:solidFill>
                <a:latin typeface="Cambria Math"/>
              </a:rPr>
              <a:t>n</a:t>
            </a:r>
            <a:r>
              <a:rPr b="0" lang="en-US" sz="2400" spc="-1" strike="noStrike" baseline="-33000">
                <a:solidFill>
                  <a:srgbClr val="262626"/>
                </a:solidFill>
                <a:latin typeface="Cambria Math"/>
              </a:rPr>
              <a:t>1</a:t>
            </a:r>
            <a:r>
              <a:rPr b="0" lang="en-US" sz="2400" spc="-1" strike="noStrike">
                <a:solidFill>
                  <a:srgbClr val="262626"/>
                </a:solidFill>
                <a:latin typeface="Cambria Math"/>
              </a:rPr>
              <a:t>sin(i</a:t>
            </a:r>
            <a:r>
              <a:rPr b="0" lang="en-US" sz="2400" spc="-1" strike="noStrike" baseline="-33000">
                <a:solidFill>
                  <a:srgbClr val="262626"/>
                </a:solidFill>
                <a:latin typeface="Cambria Math"/>
              </a:rPr>
              <a:t>1</a:t>
            </a:r>
            <a:r>
              <a:rPr b="0" lang="en-US" sz="2400" spc="-1" strike="noStrike">
                <a:solidFill>
                  <a:srgbClr val="262626"/>
                </a:solidFill>
                <a:latin typeface="Cambria Math"/>
              </a:rPr>
              <a:t>)=n</a:t>
            </a:r>
            <a:r>
              <a:rPr b="0" lang="en-US" sz="2400" spc="-1" strike="noStrike" baseline="-33000">
                <a:solidFill>
                  <a:srgbClr val="262626"/>
                </a:solidFill>
                <a:latin typeface="Cambria Math"/>
              </a:rPr>
              <a:t>2</a:t>
            </a:r>
            <a:r>
              <a:rPr b="0" lang="en-US" sz="2400" spc="-1" strike="noStrike">
                <a:solidFill>
                  <a:srgbClr val="262626"/>
                </a:solidFill>
                <a:latin typeface="Cambria Math"/>
              </a:rPr>
              <a:t>sin(i</a:t>
            </a:r>
            <a:r>
              <a:rPr b="0" lang="en-US" sz="2400" spc="-1" strike="noStrike" baseline="-33000">
                <a:solidFill>
                  <a:srgbClr val="262626"/>
                </a:solidFill>
                <a:latin typeface="Cambria Math"/>
              </a:rPr>
              <a:t>2</a:t>
            </a:r>
            <a:r>
              <a:rPr b="0" lang="en-US" sz="2400" spc="-1" strike="noStrike">
                <a:solidFill>
                  <a:srgbClr val="262626"/>
                </a:solidFill>
                <a:latin typeface="Cambria Math"/>
              </a:rPr>
              <a:t>)</a:t>
            </a:r>
            <a:endParaRPr b="0" lang="en-US" sz="2400" spc="-1" strike="noStrike">
              <a:solidFill>
                <a:srgbClr val="262626"/>
              </a:solidFill>
              <a:latin typeface="Cambria Math"/>
            </a:endParaRPr>
          </a:p>
        </p:txBody>
      </p:sp>
      <p:sp>
        <p:nvSpPr>
          <p:cNvPr id="91" name="TextShape 3"/>
          <p:cNvSpPr txBox="1"/>
          <p:nvPr/>
        </p:nvSpPr>
        <p:spPr>
          <a:xfrm>
            <a:off x="4432320" y="6263640"/>
            <a:ext cx="1568880" cy="319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Garamond"/>
              </a:rPr>
              <a:t>Mathieu Markovitch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92" name="TextShape 4"/>
          <p:cNvSpPr txBox="1"/>
          <p:nvPr/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>
            <a:noFill/>
          </a:ln>
        </p:spPr>
        <p:txBody>
          <a:bodyPr lIns="18360" rIns="18360" anchor="ctr"/>
          <a:p>
            <a:pPr algn="ctr">
              <a:lnSpc>
                <a:spcPct val="100000"/>
              </a:lnSpc>
            </a:pPr>
            <a:fld id="{0D549091-A0F3-4CE4-B013-082F52A4EF09}" type="slidenum">
              <a:rPr b="0" lang="fr-FR" sz="1100" spc="-1" strike="noStrike">
                <a:solidFill>
                  <a:srgbClr val="ffffff"/>
                </a:solidFill>
                <a:latin typeface="Gill Sans MT"/>
              </a:rPr>
              <a:t>&lt;numéro&gt;</a:t>
            </a:fld>
            <a:endParaRPr b="0" lang="fr-FR" sz="1100" spc="-1" strike="noStrike">
              <a:latin typeface="Times New Roman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2198520" y="2701440"/>
            <a:ext cx="2646720" cy="324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ebeff0"/>
          </a:solidFill>
          <a:ln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rmAutofit/>
          </a:bodyPr>
          <a:p>
            <a:pPr algn="ctr">
              <a:lnSpc>
                <a:spcPct val="90000"/>
              </a:lnSpc>
            </a:pPr>
            <a:r>
              <a:rPr b="0" lang="en-US" sz="3200" spc="199" strike="noStrike">
                <a:solidFill>
                  <a:srgbClr val="262626"/>
                </a:solidFill>
                <a:latin typeface="Garamond"/>
              </a:rPr>
              <a:t>Mirage supérieur</a:t>
            </a:r>
            <a:endParaRPr b="0" lang="en-US" sz="32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4432320" y="6263640"/>
            <a:ext cx="1568880" cy="31968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000000"/>
                </a:solidFill>
                <a:latin typeface="Garamond"/>
              </a:rPr>
              <a:t>Mathieu Markovitch</a:t>
            </a:r>
            <a:endParaRPr b="0" lang="fr-FR" sz="1200" spc="-1" strike="noStrike">
              <a:latin typeface="Times New Roman"/>
            </a:endParaRPr>
          </a:p>
        </p:txBody>
      </p:sp>
      <p:sp>
        <p:nvSpPr>
          <p:cNvPr id="96" name="TextShape 3"/>
          <p:cNvSpPr txBox="1"/>
          <p:nvPr/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>
            <a:noFill/>
          </a:ln>
        </p:spPr>
        <p:txBody>
          <a:bodyPr lIns="18360" rIns="18360" anchor="ctr"/>
          <a:p>
            <a:pPr algn="ctr">
              <a:lnSpc>
                <a:spcPct val="100000"/>
              </a:lnSpc>
            </a:pPr>
            <a:fld id="{57F31260-3239-41BF-982B-B037A5FA6527}" type="slidenum">
              <a:rPr b="0" lang="fr-FR" sz="1100" spc="-1" strike="noStrike">
                <a:solidFill>
                  <a:srgbClr val="ffffff"/>
                </a:solidFill>
                <a:latin typeface="Gill Sans MT"/>
              </a:rPr>
              <a:t>&lt;numéro&gt;</a:t>
            </a:fld>
            <a:endParaRPr b="0" lang="fr-FR" sz="1100" spc="-1" strike="noStrike">
              <a:latin typeface="Times New Roman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3096000" y="2520000"/>
            <a:ext cx="6305400" cy="35445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45</TotalTime>
  <Application>LibreOffice/5.4.3.2$Windows_X86_64 LibreOffice_project/92a7159f7e4af62137622921e809f8546db437e5</Application>
  <Words>5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2020-09-19T14:45:32Z</dcterms:created>
  <dc:creator>Mathieu</dc:creator>
  <dc:description/>
  <dc:language>fr-FR</dc:language>
  <cp:lastModifiedBy/>
  <dcterms:modified xsi:type="dcterms:W3CDTF">2021-03-29T14:58:16Z</dcterms:modified>
  <cp:revision>7</cp:revision>
  <dc:subject/>
  <dc:title>Leçon :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Grand écran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2</vt:i4>
  </property>
</Properties>
</file>