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67" r:id="rId6"/>
    <p:sldId id="259" r:id="rId7"/>
    <p:sldId id="268" r:id="rId8"/>
    <p:sldId id="263" r:id="rId9"/>
    <p:sldId id="262" r:id="rId10"/>
    <p:sldId id="260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10/06/2021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10/06/2021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10/06/2021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10/06/2021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10/06/2021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10/06/2021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10/06/2021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10/06/2021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10/06/2021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10/06/2021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10/06/2021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10/06/2021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10/06/2021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france.tv/france-4/il-etait-une-fois-la-vie/saison-1/1388037-la-planete-cellule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5698" y="1349425"/>
            <a:ext cx="9780603" cy="2079575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6000" b="1" cap="none" dirty="0">
                <a:latin typeface="Garamond" panose="02020404030301010803" pitchFamily="18" charset="0"/>
              </a:rPr>
              <a:t>LC14 : Molécules d’intérêt biologique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3" y="4888628"/>
            <a:ext cx="6801612" cy="1239894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</a:t>
            </a:r>
            <a:r>
              <a:rPr lang="fr-FR" sz="3200" b="1" dirty="0" err="1">
                <a:latin typeface="Garamond" panose="02020404030301010803" pitchFamily="18" charset="0"/>
              </a:rPr>
              <a:t>Markovitch</a:t>
            </a:r>
            <a:endParaRPr lang="fr-FR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Molécules et corps humain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40464B9-CB08-4CB5-9D4C-F4FAC44913B1}"/>
              </a:ext>
            </a:extLst>
          </p:cNvPr>
          <p:cNvSpPr txBox="1"/>
          <p:nvPr/>
        </p:nvSpPr>
        <p:spPr>
          <a:xfrm>
            <a:off x="1302283" y="5601809"/>
            <a:ext cx="9587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hlinkClick r:id="rId2"/>
              </a:rPr>
              <a:t>https://www.france.tv/france-4/il-etait-une-fois-la-vie/saison-1/1388037-la-planete-cellule.html</a:t>
            </a:r>
            <a:r>
              <a:rPr lang="fr-FR" dirty="0"/>
              <a:t> (19.50)</a:t>
            </a:r>
          </a:p>
        </p:txBody>
      </p:sp>
      <p:pic>
        <p:nvPicPr>
          <p:cNvPr id="1026" name="Picture 2" descr="Allons faire la fête avec Maestro ! - Ressources pour s&amp;#39;amuser ensemble">
            <a:extLst>
              <a:ext uri="{FF2B5EF4-FFF2-40B4-BE49-F238E27FC236}">
                <a16:creationId xmlns:a16="http://schemas.microsoft.com/office/drawing/2014/main" id="{D9C6473E-8D33-44E0-8B55-E0C1D551E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6678" y="2385262"/>
            <a:ext cx="2514091" cy="2863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678656B-ECB2-4989-AEC4-47BBA7FDAE4A}"/>
              </a:ext>
            </a:extLst>
          </p:cNvPr>
          <p:cNvSpPr txBox="1"/>
          <p:nvPr/>
        </p:nvSpPr>
        <p:spPr>
          <a:xfrm>
            <a:off x="6441233" y="3185113"/>
            <a:ext cx="24335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Garamond" panose="02020404030301010803" pitchFamily="18" charset="0"/>
              </a:rPr>
              <a:t>- Acides aminés</a:t>
            </a:r>
          </a:p>
          <a:p>
            <a:r>
              <a:rPr lang="fr-FR" sz="2800" dirty="0">
                <a:latin typeface="Garamond" panose="02020404030301010803" pitchFamily="18" charset="0"/>
              </a:rPr>
              <a:t>- Protéines</a:t>
            </a:r>
          </a:p>
          <a:p>
            <a:r>
              <a:rPr lang="fr-FR" sz="2800" dirty="0">
                <a:latin typeface="Garamond" panose="02020404030301010803" pitchFamily="18" charset="0"/>
              </a:rPr>
              <a:t>- Graisses</a:t>
            </a:r>
          </a:p>
        </p:txBody>
      </p:sp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Acides aminés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CA859C5-D6E8-4398-860E-955A72D4C38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392" y="2282582"/>
            <a:ext cx="5759216" cy="3981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936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0998" y="842412"/>
            <a:ext cx="7370004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La thréonine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C8D8F06-F01B-45A6-A99E-438FDCD6C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676" y="2164703"/>
            <a:ext cx="8382648" cy="3794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588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Liaison peptidique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5</a:t>
            </a:fld>
            <a:endParaRPr lang="fr-FR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11B2124-84EB-4F0B-8933-2903772B1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659" y="2984717"/>
            <a:ext cx="11124682" cy="2589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8291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L’ocytocine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6</a:t>
            </a:fld>
            <a:endParaRPr lang="fr-FR"/>
          </a:p>
        </p:txBody>
      </p:sp>
      <p:pic>
        <p:nvPicPr>
          <p:cNvPr id="2050" name="Picture 2" descr="Image illustrative de l’article Ocytocine">
            <a:extLst>
              <a:ext uri="{FF2B5EF4-FFF2-40B4-BE49-F238E27FC236}">
                <a16:creationId xmlns:a16="http://schemas.microsoft.com/office/drawing/2014/main" id="{907DC09D-A781-405A-95D1-9AB59ECCA2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5870" y="2200977"/>
            <a:ext cx="6500260" cy="4062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507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Synthèse du paracétamol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8C526771-E0DF-491D-A282-7B7920E6A1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5076" y="2272665"/>
            <a:ext cx="9041848" cy="3945255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4390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Saponification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8</a:t>
            </a:fld>
            <a:endParaRPr lang="fr-FR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593BC72-3DF9-4A2E-97ED-26C9F0358F9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309" y="2686987"/>
            <a:ext cx="9595382" cy="2186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Savon solide » Vacances - Guide Voyage">
            <a:extLst>
              <a:ext uri="{FF2B5EF4-FFF2-40B4-BE49-F238E27FC236}">
                <a16:creationId xmlns:a16="http://schemas.microsoft.com/office/drawing/2014/main" id="{D92328EE-422B-4CB0-BFE2-B865EB9A8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257" y="4163007"/>
            <a:ext cx="1799253" cy="179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Sodium Hydroxide 1 mol/l (1N) volumetric solution - ITW ...">
            <a:extLst>
              <a:ext uri="{FF2B5EF4-FFF2-40B4-BE49-F238E27FC236}">
                <a16:creationId xmlns:a16="http://schemas.microsoft.com/office/drawing/2014/main" id="{A97AED70-A148-4137-95CB-6D2215534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885" y="4694512"/>
            <a:ext cx="1569128" cy="1569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Huile D'Olive D'Algérie de qualité extra vierge, Bouteille ...">
            <a:extLst>
              <a:ext uri="{FF2B5EF4-FFF2-40B4-BE49-F238E27FC236}">
                <a16:creationId xmlns:a16="http://schemas.microsoft.com/office/drawing/2014/main" id="{B9B7B3B3-7CB6-4E99-A399-79F6A8173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509" y="4374472"/>
            <a:ext cx="1440264" cy="1928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057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Principe du savon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9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4B64A98-EB48-4F42-9ECF-2E1AF17FB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911" y="2740335"/>
            <a:ext cx="4314178" cy="298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997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Le paracétamol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F630BCFC-B625-46DD-8D0A-8A9D3157BA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136" y="3747580"/>
            <a:ext cx="7731125" cy="2145728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10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59E9088-1FD2-44FA-8E31-B1F7AAC0A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645" y="2405445"/>
            <a:ext cx="2418101" cy="173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120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Identification du paracétamol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454CCD5E-F5A1-4E51-B985-97F66FBD62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3549" y="2268093"/>
            <a:ext cx="7652320" cy="3625215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11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F5CD9CF-E313-4E68-BDD6-DDD32786A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971" y="5893308"/>
            <a:ext cx="1895475" cy="276225"/>
          </a:xfrm>
          <a:prstGeom prst="rect">
            <a:avLst/>
          </a:prstGeom>
        </p:spPr>
      </p:pic>
      <p:pic>
        <p:nvPicPr>
          <p:cNvPr id="2050" name="Picture 2" descr="Image illustrative de l’article Paracétamol">
            <a:extLst>
              <a:ext uri="{FF2B5EF4-FFF2-40B4-BE49-F238E27FC236}">
                <a16:creationId xmlns:a16="http://schemas.microsoft.com/office/drawing/2014/main" id="{6AB608CA-16E9-42D5-BD3A-F3C896DC6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1" y="3482937"/>
            <a:ext cx="3471448" cy="1864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2BDDEBEA-8913-42B8-9BE9-408272F12001}"/>
              </a:ext>
            </a:extLst>
          </p:cNvPr>
          <p:cNvSpPr txBox="1"/>
          <p:nvPr/>
        </p:nvSpPr>
        <p:spPr>
          <a:xfrm>
            <a:off x="4912811" y="5162366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N-H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3851E77-02A0-46DE-B38D-226F99B3063D}"/>
              </a:ext>
            </a:extLst>
          </p:cNvPr>
          <p:cNvSpPr txBox="1"/>
          <p:nvPr/>
        </p:nvSpPr>
        <p:spPr>
          <a:xfrm>
            <a:off x="6669932" y="5162366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C=O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62D2EF6-C410-41B9-949C-FDB1CE4C6E73}"/>
              </a:ext>
            </a:extLst>
          </p:cNvPr>
          <p:cNvSpPr txBox="1"/>
          <p:nvPr/>
        </p:nvSpPr>
        <p:spPr>
          <a:xfrm>
            <a:off x="8821518" y="516236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C=C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4604263-C95A-4572-8BDD-973167291DA9}"/>
              </a:ext>
            </a:extLst>
          </p:cNvPr>
          <p:cNvSpPr txBox="1"/>
          <p:nvPr/>
        </p:nvSpPr>
        <p:spPr>
          <a:xfrm>
            <a:off x="6406501" y="3550994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O-H</a:t>
            </a:r>
          </a:p>
        </p:txBody>
      </p:sp>
    </p:spTree>
    <p:extLst>
      <p:ext uri="{BB962C8B-B14F-4D97-AF65-F5344CB8AC3E}">
        <p14:creationId xmlns:p14="http://schemas.microsoft.com/office/powerpoint/2010/main" val="679327310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177</TotalTime>
  <Words>93</Words>
  <Application>Microsoft Office PowerPoint</Application>
  <PresentationFormat>Grand écran</PresentationFormat>
  <Paragraphs>40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Garamond</vt:lpstr>
      <vt:lpstr>Gill Sans MT</vt:lpstr>
      <vt:lpstr>Colis</vt:lpstr>
      <vt:lpstr>LC14 : Molécules d’intérêt biologique</vt:lpstr>
      <vt:lpstr>Molécules et corps humain</vt:lpstr>
      <vt:lpstr>Acides aminés</vt:lpstr>
      <vt:lpstr>La thréonine</vt:lpstr>
      <vt:lpstr>Liaison peptidique</vt:lpstr>
      <vt:lpstr>L’ocytocine</vt:lpstr>
      <vt:lpstr>Synthèse du paracétamol</vt:lpstr>
      <vt:lpstr>Saponification</vt:lpstr>
      <vt:lpstr>Principe du savon</vt:lpstr>
      <vt:lpstr>Le paracétamol</vt:lpstr>
      <vt:lpstr>Identification du paracétamol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14</cp:revision>
  <dcterms:created xsi:type="dcterms:W3CDTF">2020-09-19T14:45:32Z</dcterms:created>
  <dcterms:modified xsi:type="dcterms:W3CDTF">2021-06-10T10:27:04Z</dcterms:modified>
</cp:coreProperties>
</file>