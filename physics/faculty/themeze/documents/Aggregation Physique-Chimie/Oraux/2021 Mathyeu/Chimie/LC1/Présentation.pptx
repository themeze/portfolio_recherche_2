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08/05/2021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08/05/2021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08/05/2021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08/05/2021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08/05/2021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08/05/2021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08/05/2021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08/05/2021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08/05/2021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289089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 : liaisons chimiques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672140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Règles du </a:t>
            </a:r>
            <a:r>
              <a:rPr lang="fr-FR" sz="3200" b="1" cap="none" dirty="0" err="1">
                <a:latin typeface="Garamond" panose="02020404030301010803" pitchFamily="18" charset="0"/>
              </a:rPr>
              <a:t>duet</a:t>
            </a:r>
            <a:r>
              <a:rPr lang="fr-FR" sz="3200" b="1" cap="none" dirty="0">
                <a:latin typeface="Garamond" panose="02020404030301010803" pitchFamily="18" charset="0"/>
              </a:rPr>
              <a:t> et de l’octet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latin typeface="Garamond" panose="02020404030301010803" pitchFamily="18" charset="0"/>
              </a:rPr>
              <a:t>Règle du </a:t>
            </a:r>
            <a:r>
              <a:rPr lang="fr-FR" sz="2800" dirty="0" err="1">
                <a:latin typeface="Garamond" panose="02020404030301010803" pitchFamily="18" charset="0"/>
              </a:rPr>
              <a:t>duet</a:t>
            </a:r>
            <a:r>
              <a:rPr lang="fr-FR" sz="2800" dirty="0">
                <a:latin typeface="Garamond" panose="02020404030301010803" pitchFamily="18" charset="0"/>
              </a:rPr>
              <a:t> : l’hydrogène et l’hélium chercheront à être entourés de deux électrons de valence.</a:t>
            </a:r>
          </a:p>
          <a:p>
            <a:endParaRPr lang="fr-FR" sz="2800" dirty="0">
              <a:latin typeface="Garamond" panose="02020404030301010803" pitchFamily="18" charset="0"/>
            </a:endParaRPr>
          </a:p>
          <a:p>
            <a:r>
              <a:rPr lang="fr-FR" sz="2800" dirty="0">
                <a:latin typeface="Garamond" panose="02020404030301010803" pitchFamily="18" charset="0"/>
              </a:rPr>
              <a:t>Règle de l’octet : les autres atomes chercheront à être entourés de huit électrons de valence.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Energies de liaison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6206A23A-A3CA-4C36-9BF4-525A5DF93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001676"/>
              </p:ext>
            </p:extLst>
          </p:nvPr>
        </p:nvGraphicFramePr>
        <p:xfrm>
          <a:off x="2834527" y="2727202"/>
          <a:ext cx="652294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473">
                  <a:extLst>
                    <a:ext uri="{9D8B030D-6E8A-4147-A177-3AD203B41FA5}">
                      <a16:colId xmlns:a16="http://schemas.microsoft.com/office/drawing/2014/main" val="913522265"/>
                    </a:ext>
                  </a:extLst>
                </a:gridCol>
                <a:gridCol w="3261473">
                  <a:extLst>
                    <a:ext uri="{9D8B030D-6E8A-4147-A177-3AD203B41FA5}">
                      <a16:colId xmlns:a16="http://schemas.microsoft.com/office/drawing/2014/main" val="1088169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Liaison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Energie (kJ.mol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5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–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–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86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O –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51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–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31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=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804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51991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38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Solide ionique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1506" y="5630793"/>
            <a:ext cx="1970148" cy="469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b="1" i="0" dirty="0">
                <a:solidFill>
                  <a:srgbClr val="002BB8"/>
                </a:solidFill>
                <a:effectLst/>
                <a:latin typeface="Garamond" panose="02020404030301010803" pitchFamily="18" charset="0"/>
              </a:rPr>
              <a:t>Bleu</a:t>
            </a:r>
            <a:r>
              <a:rPr lang="fr-FR" sz="1600" b="0" i="0" dirty="0">
                <a:solidFill>
                  <a:srgbClr val="202122"/>
                </a:solidFill>
                <a:effectLst/>
                <a:latin typeface="Garamond" panose="02020404030301010803" pitchFamily="18" charset="0"/>
              </a:rPr>
              <a:t> : Na</a:t>
            </a:r>
            <a:r>
              <a:rPr lang="fr-FR" sz="1600" b="0" i="0" baseline="30000" dirty="0">
                <a:solidFill>
                  <a:srgbClr val="202122"/>
                </a:solidFill>
                <a:effectLst/>
                <a:latin typeface="Garamond" panose="02020404030301010803" pitchFamily="18" charset="0"/>
              </a:rPr>
              <a:t>+</a:t>
            </a:r>
            <a:r>
              <a:rPr lang="fr-FR" sz="1600" b="0" i="0" dirty="0">
                <a:solidFill>
                  <a:srgbClr val="202122"/>
                </a:solidFill>
                <a:effectLst/>
                <a:latin typeface="Garamond" panose="02020404030301010803" pitchFamily="18" charset="0"/>
              </a:rPr>
              <a:t>, </a:t>
            </a:r>
            <a:r>
              <a:rPr lang="fr-FR" sz="1600" b="1" i="0" dirty="0">
                <a:solidFill>
                  <a:srgbClr val="008000"/>
                </a:solidFill>
                <a:effectLst/>
                <a:latin typeface="Garamond" panose="02020404030301010803" pitchFamily="18" charset="0"/>
              </a:rPr>
              <a:t>Vert</a:t>
            </a:r>
            <a:r>
              <a:rPr lang="fr-FR" sz="1600" b="0" i="0" dirty="0">
                <a:solidFill>
                  <a:srgbClr val="202122"/>
                </a:solidFill>
                <a:effectLst/>
                <a:latin typeface="Garamond" panose="02020404030301010803" pitchFamily="18" charset="0"/>
              </a:rPr>
              <a:t> : Cl</a:t>
            </a:r>
            <a:r>
              <a:rPr lang="fr-FR" sz="1600" b="0" i="0" baseline="30000" dirty="0">
                <a:solidFill>
                  <a:srgbClr val="202122"/>
                </a:solidFill>
                <a:effectLst/>
                <a:latin typeface="Garamond" panose="02020404030301010803" pitchFamily="18" charset="0"/>
              </a:rPr>
              <a:t>–</a:t>
            </a:r>
            <a:endParaRPr lang="fr-FR" sz="16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02A058-C2A7-4764-84FA-21E43331F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496" y="2317119"/>
            <a:ext cx="3652168" cy="331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leur de Sel Sea Salts">
            <a:extLst>
              <a:ext uri="{FF2B5EF4-FFF2-40B4-BE49-F238E27FC236}">
                <a16:creationId xmlns:a16="http://schemas.microsoft.com/office/drawing/2014/main" id="{3A9AD6BD-7335-4855-8D59-C4C0E1D98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303" y="2911151"/>
            <a:ext cx="3631002" cy="242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Liaisons hydrogène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D20721D-9467-4085-89DF-5185291E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2" y="2397633"/>
            <a:ext cx="82962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Liaisons hydrogène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B70645-EDEE-4BD8-A1F2-0FCDDEAC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7" y="4109629"/>
            <a:ext cx="7439025" cy="221932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52361EB-B21C-4827-AF6C-C60A588E6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559" y="2269854"/>
            <a:ext cx="3734882" cy="183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07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Interactions de Van der Waals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9833FC0-D00C-4698-ADDA-7E3CD17D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466" y="2355434"/>
            <a:ext cx="8771067" cy="364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1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6206A23A-A3CA-4C36-9BF4-525A5DF93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9427097"/>
              </p:ext>
            </p:extLst>
          </p:nvPr>
        </p:nvGraphicFramePr>
        <p:xfrm>
          <a:off x="2834527" y="2727202"/>
          <a:ext cx="6522945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315">
                  <a:extLst>
                    <a:ext uri="{9D8B030D-6E8A-4147-A177-3AD203B41FA5}">
                      <a16:colId xmlns:a16="http://schemas.microsoft.com/office/drawing/2014/main" val="913522265"/>
                    </a:ext>
                  </a:extLst>
                </a:gridCol>
                <a:gridCol w="2174315">
                  <a:extLst>
                    <a:ext uri="{9D8B030D-6E8A-4147-A177-3AD203B41FA5}">
                      <a16:colId xmlns:a16="http://schemas.microsoft.com/office/drawing/2014/main" val="1088169101"/>
                    </a:ext>
                  </a:extLst>
                </a:gridCol>
                <a:gridCol w="2174315">
                  <a:extLst>
                    <a:ext uri="{9D8B030D-6E8A-4147-A177-3AD203B41FA5}">
                      <a16:colId xmlns:a16="http://schemas.microsoft.com/office/drawing/2014/main" val="539903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Liaison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Energie typique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Exemple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5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Covalente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300 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O – H dans H</a:t>
                      </a:r>
                      <a:r>
                        <a:rPr lang="fr-FR" sz="2000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Covalente 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600 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 = O dans CO</a:t>
                      </a:r>
                      <a:r>
                        <a:rPr lang="fr-FR" sz="2000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86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Covalente triple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900 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N</a:t>
                      </a:r>
                      <a:r>
                        <a:rPr lang="fr-FR" sz="2000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51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Ionique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800 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NaCl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31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Hydrogène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50 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Glace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5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Van der Waals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10 kJ.mol</a:t>
                      </a:r>
                      <a:r>
                        <a:rPr lang="fr-FR" sz="2000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Pattes </a:t>
                      </a:r>
                      <a:r>
                        <a:rPr lang="fr-FR"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du gecko</a:t>
                      </a:r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49744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473260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109</TotalTime>
  <Words>172</Words>
  <Application>Microsoft Office PowerPoint</Application>
  <PresentationFormat>Grand écran</PresentationFormat>
  <Paragraphs>60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Garamond</vt:lpstr>
      <vt:lpstr>Gill Sans MT</vt:lpstr>
      <vt:lpstr>Colis</vt:lpstr>
      <vt:lpstr>LC1 : liaisons chimiques</vt:lpstr>
      <vt:lpstr>Règles du duet et de l’octet</vt:lpstr>
      <vt:lpstr>Energies de liaison</vt:lpstr>
      <vt:lpstr>Solide ionique</vt:lpstr>
      <vt:lpstr>Liaisons hydrogène</vt:lpstr>
      <vt:lpstr>Liaisons hydrogène</vt:lpstr>
      <vt:lpstr>Interactions de Van der Waals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12</cp:revision>
  <dcterms:created xsi:type="dcterms:W3CDTF">2020-09-19T14:45:32Z</dcterms:created>
  <dcterms:modified xsi:type="dcterms:W3CDTF">2021-05-08T16:22:08Z</dcterms:modified>
</cp:coreProperties>
</file>