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01/06/2021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01/06/2021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01/06/2021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01/06/2021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01/06/2021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01/06/2021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01/06/2021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01/06/2021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01/06/2021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01/06/2021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01/06/2021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01/06/2021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01/06/2021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214" y="1358283"/>
            <a:ext cx="10245571" cy="285193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LC9 : Synthèse chimique, aspect macroscopique et mécanisme réactionnel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178167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de l’acétate d’isoamyle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FE9E00-AA94-4258-8E19-AE899F996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332" y="2219417"/>
            <a:ext cx="6650885" cy="4044223"/>
          </a:xfrm>
          <a:prstGeom prst="rect">
            <a:avLst/>
          </a:prstGeom>
        </p:spPr>
      </p:pic>
      <p:pic>
        <p:nvPicPr>
          <p:cNvPr id="1026" name="Picture 2" descr="Image illustrative de l’article Acétate de 3-méthylbutyle">
            <a:extLst>
              <a:ext uri="{FF2B5EF4-FFF2-40B4-BE49-F238E27FC236}">
                <a16:creationId xmlns:a16="http://schemas.microsoft.com/office/drawing/2014/main" id="{B5522CE8-61CE-4DEC-85C9-80E062D72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446" y="2893234"/>
            <a:ext cx="2381812" cy="98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illustrative de l’article 3-Méthylbutan-1-ol">
            <a:extLst>
              <a:ext uri="{FF2B5EF4-FFF2-40B4-BE49-F238E27FC236}">
                <a16:creationId xmlns:a16="http://schemas.microsoft.com/office/drawing/2014/main" id="{6B65BBED-1F30-4C84-A923-85FB94B0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646" y="2298108"/>
            <a:ext cx="2010412" cy="90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B240352-8C37-4026-B1C5-172325B69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783" y="3255309"/>
            <a:ext cx="1449401" cy="12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B73919CB-6468-4015-B3AD-890EBB341F1E}"/>
              </a:ext>
            </a:extLst>
          </p:cNvPr>
          <p:cNvSpPr/>
          <p:nvPr/>
        </p:nvSpPr>
        <p:spPr>
          <a:xfrm>
            <a:off x="3548761" y="3198605"/>
            <a:ext cx="801982" cy="429208"/>
          </a:xfrm>
          <a:prstGeom prst="rightArrow">
            <a:avLst>
              <a:gd name="adj1" fmla="val 50000"/>
              <a:gd name="adj2" fmla="val 706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Spectre infrarouge du produit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F455F8B-9F31-4EC1-B138-78BED13A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77" y="2230648"/>
            <a:ext cx="7888845" cy="411022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860D96AD-2384-46E4-85B5-B02077113107}"/>
              </a:ext>
            </a:extLst>
          </p:cNvPr>
          <p:cNvSpPr/>
          <p:nvPr/>
        </p:nvSpPr>
        <p:spPr>
          <a:xfrm>
            <a:off x="5734975" y="3204839"/>
            <a:ext cx="692458" cy="26884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D3BB06C-6450-486B-AF31-506462BC0557}"/>
              </a:ext>
            </a:extLst>
          </p:cNvPr>
          <p:cNvSpPr txBox="1"/>
          <p:nvPr/>
        </p:nvSpPr>
        <p:spPr>
          <a:xfrm>
            <a:off x="6137851" y="5688821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Garamond" panose="02020404030301010803" pitchFamily="18" charset="0"/>
              </a:rPr>
              <a:t>C=O (1745cm</a:t>
            </a:r>
            <a:r>
              <a:rPr lang="fr-FR" baseline="30000" dirty="0">
                <a:solidFill>
                  <a:srgbClr val="FF0000"/>
                </a:solidFill>
                <a:latin typeface="Garamond" panose="02020404030301010803" pitchFamily="18" charset="0"/>
              </a:rPr>
              <a:t>-1</a:t>
            </a:r>
            <a:r>
              <a:rPr lang="fr-FR" dirty="0">
                <a:solidFill>
                  <a:srgbClr val="FF0000"/>
                </a:solidFill>
                <a:latin typeface="Garamond" panose="020204040303010108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707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Conditions expérimentales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9D9E90A5-B534-4E9B-9B01-71CD2105C8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324780"/>
              </p:ext>
            </p:extLst>
          </p:nvPr>
        </p:nvGraphicFramePr>
        <p:xfrm>
          <a:off x="1098688" y="3281426"/>
          <a:ext cx="9994623" cy="185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1679">
                  <a:extLst>
                    <a:ext uri="{9D8B030D-6E8A-4147-A177-3AD203B41FA5}">
                      <a16:colId xmlns:a16="http://schemas.microsoft.com/office/drawing/2014/main" val="3123250383"/>
                    </a:ext>
                  </a:extLst>
                </a:gridCol>
                <a:gridCol w="1111567">
                  <a:extLst>
                    <a:ext uri="{9D8B030D-6E8A-4147-A177-3AD203B41FA5}">
                      <a16:colId xmlns:a16="http://schemas.microsoft.com/office/drawing/2014/main" val="2184703118"/>
                    </a:ext>
                  </a:extLst>
                </a:gridCol>
                <a:gridCol w="3167380">
                  <a:extLst>
                    <a:ext uri="{9D8B030D-6E8A-4147-A177-3AD203B41FA5}">
                      <a16:colId xmlns:a16="http://schemas.microsoft.com/office/drawing/2014/main" val="1769418808"/>
                    </a:ext>
                  </a:extLst>
                </a:gridCol>
                <a:gridCol w="915733">
                  <a:extLst>
                    <a:ext uri="{9D8B030D-6E8A-4147-A177-3AD203B41FA5}">
                      <a16:colId xmlns:a16="http://schemas.microsoft.com/office/drawing/2014/main" val="3012469549"/>
                    </a:ext>
                  </a:extLst>
                </a:gridCol>
                <a:gridCol w="3308264">
                  <a:extLst>
                    <a:ext uri="{9D8B030D-6E8A-4147-A177-3AD203B41FA5}">
                      <a16:colId xmlns:a16="http://schemas.microsoft.com/office/drawing/2014/main" val="2925418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57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Aucun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1mL d’acide sulfurique 18mol.L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Aucun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1mL d’acide sulfurique 18mol.L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82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Ambiante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Ambiante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60°C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3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V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45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514484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85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Chauffer et catalyser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1026" name="Picture 2" descr="Schéma du montage de chauffage à reflux">
            <a:extLst>
              <a:ext uri="{FF2B5EF4-FFF2-40B4-BE49-F238E27FC236}">
                <a16:creationId xmlns:a16="http://schemas.microsoft.com/office/drawing/2014/main" id="{112889FE-450F-44D8-91FA-9734FFF90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145" y="2191885"/>
            <a:ext cx="1129167" cy="456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au 6">
            <a:extLst>
              <a:ext uri="{FF2B5EF4-FFF2-40B4-BE49-F238E27FC236}">
                <a16:creationId xmlns:a16="http://schemas.microsoft.com/office/drawing/2014/main" id="{4380C9A6-1F45-4789-BC34-F022CF118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441709"/>
              </p:ext>
            </p:extLst>
          </p:nvPr>
        </p:nvGraphicFramePr>
        <p:xfrm>
          <a:off x="3604334" y="2998303"/>
          <a:ext cx="7949733" cy="2793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8222">
                  <a:extLst>
                    <a:ext uri="{9D8B030D-6E8A-4147-A177-3AD203B41FA5}">
                      <a16:colId xmlns:a16="http://schemas.microsoft.com/office/drawing/2014/main" val="1114433641"/>
                    </a:ext>
                  </a:extLst>
                </a:gridCol>
                <a:gridCol w="1932893">
                  <a:extLst>
                    <a:ext uri="{9D8B030D-6E8A-4147-A177-3AD203B41FA5}">
                      <a16:colId xmlns:a16="http://schemas.microsoft.com/office/drawing/2014/main" val="1635355881"/>
                    </a:ext>
                  </a:extLst>
                </a:gridCol>
                <a:gridCol w="2316209">
                  <a:extLst>
                    <a:ext uri="{9D8B030D-6E8A-4147-A177-3AD203B41FA5}">
                      <a16:colId xmlns:a16="http://schemas.microsoft.com/office/drawing/2014/main" val="2598429305"/>
                    </a:ext>
                  </a:extLst>
                </a:gridCol>
                <a:gridCol w="2012409">
                  <a:extLst>
                    <a:ext uri="{9D8B030D-6E8A-4147-A177-3AD203B41FA5}">
                      <a16:colId xmlns:a16="http://schemas.microsoft.com/office/drawing/2014/main" val="2118509863"/>
                    </a:ext>
                  </a:extLst>
                </a:gridCol>
              </a:tblGrid>
              <a:tr h="91637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Type de catalyse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Homogène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Hétérogène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Enzymatique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84125"/>
                  </a:ext>
                </a:extLst>
              </a:tr>
              <a:tr h="96056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Pratique et efficace.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facilement réutilisable (écologique).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polluante.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coûteuse.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36112"/>
                  </a:ext>
                </a:extLst>
              </a:tr>
              <a:tr h="91637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Inconvénients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difficile à récupérer.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Seule la surface du catalyseur est utile.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Coûteuse en général.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Efficacité fortement dépendante du milieu.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39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668620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151</TotalTime>
  <Words>138</Words>
  <Application>Microsoft Office PowerPoint</Application>
  <PresentationFormat>Grand écran</PresentationFormat>
  <Paragraphs>47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Garamond</vt:lpstr>
      <vt:lpstr>Gill Sans MT</vt:lpstr>
      <vt:lpstr>Colis</vt:lpstr>
      <vt:lpstr>LC9 : Synthèse chimique, aspect macroscopique et mécanisme réactionnel</vt:lpstr>
      <vt:lpstr>Synthèse de l’acétate d’isoamyle</vt:lpstr>
      <vt:lpstr>Spectre infrarouge du produit</vt:lpstr>
      <vt:lpstr>Conditions expérimentales</vt:lpstr>
      <vt:lpstr>Chauffer et catalyser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11</cp:revision>
  <dcterms:created xsi:type="dcterms:W3CDTF">2020-09-19T14:45:32Z</dcterms:created>
  <dcterms:modified xsi:type="dcterms:W3CDTF">2021-06-01T09:51:45Z</dcterms:modified>
</cp:coreProperties>
</file>