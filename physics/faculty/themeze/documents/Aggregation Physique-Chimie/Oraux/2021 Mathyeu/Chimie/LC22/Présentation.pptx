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51CE3-9C7E-4F9E-B0F4-FC988528060B}" type="datetimeFigureOut">
              <a:rPr lang="fr-FR" smtClean="0"/>
              <a:t>27/05/2021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36B36-6E90-4BAD-A4C4-085410494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8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2011-4AF3-484A-ACC1-E81F8CC48133}" type="datetime1">
              <a:rPr lang="fr-FR" smtClean="0"/>
              <a:t>27/05/2021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51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9F49-D0D3-47CD-901D-4E1D3BAF5AB2}" type="datetime1">
              <a:rPr lang="fr-FR" smtClean="0"/>
              <a:t>27/05/2021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2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54A85-7B2E-4FD7-93A7-AC2D6F4C0A02}" type="datetime1">
              <a:rPr lang="fr-FR" smtClean="0"/>
              <a:t>27/05/2021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3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58BB-11B9-447F-A8B8-D817CD81C453}" type="datetime1">
              <a:rPr lang="fr-FR" smtClean="0"/>
              <a:t>27/05/2021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24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71A8-43F5-4B50-930C-AFD958D07321}" type="datetime1">
              <a:rPr lang="fr-FR" smtClean="0"/>
              <a:t>27/05/2021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2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0F49-8265-4A3A-AE23-F264A7AB982A}" type="datetime1">
              <a:rPr lang="fr-FR" smtClean="0"/>
              <a:t>27/05/2021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65DF-E2E8-4A8D-93BF-EBD582E9762B}" type="datetime1">
              <a:rPr lang="fr-FR" smtClean="0"/>
              <a:t>27/05/2021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9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A8A5-9239-458E-ABD9-01BE91958835}" type="datetime1">
              <a:rPr lang="fr-FR" smtClean="0"/>
              <a:t>27/05/2021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43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18A53AF-E335-485C-9F4D-A75E166D6BF6}" type="datetime1">
              <a:rPr lang="fr-FR" smtClean="0"/>
              <a:t>27/05/2021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2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ABF6-F35E-4280-B9BC-AEA6A61FEC11}" type="datetime1">
              <a:rPr lang="fr-FR" smtClean="0"/>
              <a:t>27/05/2021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30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294D-F84B-4A3B-92A2-8E351A2EA1CD}" type="datetime1">
              <a:rPr lang="fr-FR" smtClean="0"/>
              <a:t>27/05/2021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4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D0C986-FF24-43ED-ABC3-B4FAE3FAE3F0}" type="datetime1">
              <a:rPr lang="fr-FR" smtClean="0"/>
              <a:t>27/05/2021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16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youtube.com/watch?v=uCOFDeaP4t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6647E-EBC3-4C35-A08A-ED41E77A3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265562"/>
            <a:ext cx="8991600" cy="2194987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6000" b="1" cap="none" dirty="0">
                <a:latin typeface="Garamond" panose="02020404030301010803" pitchFamily="18" charset="0"/>
              </a:rPr>
              <a:t>LC22 : Evolution et équilibre chimique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E999F2-7A5D-42D8-8020-0BE6951E3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876326"/>
            <a:ext cx="6801612" cy="1239894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Garamond" panose="02020404030301010803" pitchFamily="18" charset="0"/>
              </a:rPr>
              <a:t>Mathieu </a:t>
            </a:r>
            <a:r>
              <a:rPr lang="fr-FR" sz="3200" b="1" dirty="0" err="1">
                <a:latin typeface="Garamond" panose="02020404030301010803" pitchFamily="18" charset="0"/>
              </a:rPr>
              <a:t>Markovitch</a:t>
            </a:r>
            <a:endParaRPr lang="fr-FR" sz="32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58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Un premier équilibre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2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19573AC-D2F5-44E1-B604-8C3BE7287E29}"/>
              </a:ext>
            </a:extLst>
          </p:cNvPr>
          <p:cNvSpPr txBox="1"/>
          <p:nvPr/>
        </p:nvSpPr>
        <p:spPr>
          <a:xfrm>
            <a:off x="3639749" y="5175103"/>
            <a:ext cx="4912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hlinkClick r:id="rId2"/>
              </a:rPr>
              <a:t>https://www.youtube.com/watch?v=uCOFDeaP4tE</a:t>
            </a:r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F96508BF-B04A-427A-8E33-63643C7B9A8B}"/>
                  </a:ext>
                </a:extLst>
              </p:cNvPr>
              <p:cNvSpPr txBox="1"/>
              <p:nvPr/>
            </p:nvSpPr>
            <p:spPr>
              <a:xfrm>
                <a:off x="4233790" y="3182778"/>
                <a:ext cx="372441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sSub>
                        <m:sSubPr>
                          <m:ctrlPr>
                            <a:rPr lang="fr-F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fr-FR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sz="32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fr-F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200" b="0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fr-FR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200" b="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</m:oMath>
                  </m:oMathPara>
                </a14:m>
                <a:endParaRPr lang="fr-FR" sz="3200" dirty="0"/>
              </a:p>
            </p:txBody>
          </p:sp>
        </mc:Choice>
        <mc:Fallback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F96508BF-B04A-427A-8E33-63643C7B9A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3790" y="3182778"/>
                <a:ext cx="3724418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8">
            <a:extLst>
              <a:ext uri="{FF2B5EF4-FFF2-40B4-BE49-F238E27FC236}">
                <a16:creationId xmlns:a16="http://schemas.microsoft.com/office/drawing/2014/main" id="{94D645E7-0E6F-4C2B-B44C-F06ADD4709B7}"/>
              </a:ext>
            </a:extLst>
          </p:cNvPr>
          <p:cNvSpPr txBox="1"/>
          <p:nvPr/>
        </p:nvSpPr>
        <p:spPr>
          <a:xfrm>
            <a:off x="4556945" y="3919635"/>
            <a:ext cx="659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Garamond" panose="02020404030301010803" pitchFamily="18" charset="0"/>
              </a:rPr>
              <a:t>Roux</a:t>
            </a:r>
            <a:endParaRPr lang="fr-FR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6CC0FD3-937A-4AAF-A51E-F0A0B8889BAF}"/>
              </a:ext>
            </a:extLst>
          </p:cNvPr>
          <p:cNvSpPr txBox="1"/>
          <p:nvPr/>
        </p:nvSpPr>
        <p:spPr>
          <a:xfrm>
            <a:off x="6402280" y="3919635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tx2">
                    <a:lumMod val="40000"/>
                    <a:lumOff val="60000"/>
                  </a:schemeClr>
                </a:solidFill>
                <a:latin typeface="Garamond" panose="02020404030301010803" pitchFamily="18" charset="0"/>
              </a:rPr>
              <a:t>Incolore</a:t>
            </a:r>
            <a:endParaRPr lang="fr-FR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65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Hypothèses sur le système étudié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5DECA2-773A-43F2-99C3-01972FC9C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3792" y="2819858"/>
            <a:ext cx="8324415" cy="2777335"/>
          </a:xfrm>
        </p:spPr>
        <p:txBody>
          <a:bodyPr>
            <a:noAutofit/>
          </a:bodyPr>
          <a:lstStyle/>
          <a:p>
            <a:r>
              <a:rPr lang="fr-FR" sz="2800" dirty="0">
                <a:latin typeface="Garamond" panose="02020404030301010803" pitchFamily="18" charset="0"/>
              </a:rPr>
              <a:t>Système fermé siège d’une réaction chimique</a:t>
            </a:r>
          </a:p>
          <a:p>
            <a:r>
              <a:rPr lang="fr-FR" sz="2800" dirty="0">
                <a:latin typeface="Garamond" panose="02020404030301010803" pitchFamily="18" charset="0"/>
              </a:rPr>
              <a:t>Equilibre thermodynamique</a:t>
            </a:r>
          </a:p>
          <a:p>
            <a:r>
              <a:rPr lang="fr-FR" sz="2800" dirty="0">
                <a:latin typeface="Garamond" panose="02020404030301010803" pitchFamily="18" charset="0"/>
              </a:rPr>
              <a:t>Transformations isothermes (</a:t>
            </a:r>
            <a:r>
              <a:rPr lang="fr-FR" sz="2800" i="1" dirty="0">
                <a:latin typeface="Garamond" panose="02020404030301010803" pitchFamily="18" charset="0"/>
              </a:rPr>
              <a:t>T=</a:t>
            </a:r>
            <a:r>
              <a:rPr lang="fr-FR" sz="2800" i="1" dirty="0" err="1">
                <a:latin typeface="Garamond" panose="02020404030301010803" pitchFamily="18" charset="0"/>
              </a:rPr>
              <a:t>T</a:t>
            </a:r>
            <a:r>
              <a:rPr lang="fr-FR" sz="2800" i="1" baseline="-25000" dirty="0" err="1">
                <a:latin typeface="Garamond" panose="02020404030301010803" pitchFamily="18" charset="0"/>
              </a:rPr>
              <a:t>ext</a:t>
            </a:r>
            <a:r>
              <a:rPr lang="fr-FR" sz="2800" dirty="0">
                <a:latin typeface="Garamond" panose="02020404030301010803" pitchFamily="18" charset="0"/>
              </a:rPr>
              <a:t>) et isobares (</a:t>
            </a:r>
            <a:r>
              <a:rPr lang="fr-FR" sz="2800" i="1" dirty="0">
                <a:latin typeface="Garamond" panose="02020404030301010803" pitchFamily="18" charset="0"/>
              </a:rPr>
              <a:t>P=</a:t>
            </a:r>
            <a:r>
              <a:rPr lang="fr-FR" sz="2800" i="1" dirty="0" err="1">
                <a:latin typeface="Garamond" panose="02020404030301010803" pitchFamily="18" charset="0"/>
              </a:rPr>
              <a:t>P</a:t>
            </a:r>
            <a:r>
              <a:rPr lang="fr-FR" sz="2800" i="1" baseline="-25000" dirty="0" err="1">
                <a:latin typeface="Garamond" panose="02020404030301010803" pitchFamily="18" charset="0"/>
              </a:rPr>
              <a:t>ext</a:t>
            </a:r>
            <a:r>
              <a:rPr lang="fr-FR" sz="2800" dirty="0">
                <a:latin typeface="Garamond" panose="02020404030301010803" pitchFamily="18" charset="0"/>
              </a:rPr>
              <a:t>)</a:t>
            </a:r>
          </a:p>
          <a:p>
            <a:r>
              <a:rPr lang="fr-FR" sz="2800" dirty="0">
                <a:latin typeface="Garamond" panose="02020404030301010803" pitchFamily="18" charset="0"/>
              </a:rPr>
              <a:t>Pas de travail autre que celui des forces de pression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2116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Retour sur l’équilibre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au 6">
                <a:extLst>
                  <a:ext uri="{FF2B5EF4-FFF2-40B4-BE49-F238E27FC236}">
                    <a16:creationId xmlns:a16="http://schemas.microsoft.com/office/drawing/2014/main" id="{1293B794-02B0-4536-9B17-E0DFC7341F0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25695085"/>
                  </p:ext>
                </p:extLst>
              </p:nvPr>
            </p:nvGraphicFramePr>
            <p:xfrm>
              <a:off x="3846882" y="3268739"/>
              <a:ext cx="4418229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25949">
                      <a:extLst>
                        <a:ext uri="{9D8B030D-6E8A-4147-A177-3AD203B41FA5}">
                          <a16:colId xmlns:a16="http://schemas.microsoft.com/office/drawing/2014/main" val="2813921038"/>
                        </a:ext>
                      </a:extLst>
                    </a:gridCol>
                    <a:gridCol w="1296140">
                      <a:extLst>
                        <a:ext uri="{9D8B030D-6E8A-4147-A177-3AD203B41FA5}">
                          <a16:colId xmlns:a16="http://schemas.microsoft.com/office/drawing/2014/main" val="1169374789"/>
                        </a:ext>
                      </a:extLst>
                    </a:gridCol>
                    <a:gridCol w="1296140">
                      <a:extLst>
                        <a:ext uri="{9D8B030D-6E8A-4147-A177-3AD203B41FA5}">
                          <a16:colId xmlns:a16="http://schemas.microsoft.com/office/drawing/2014/main" val="224800651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fr-F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sSub>
                                  <m:sSubPr>
                                    <m:ctrlPr>
                                      <a:rPr lang="fr-FR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fr-FR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fr-FR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fr-FR" sz="18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fr-FR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fr-FR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18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2337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Etat initial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n</a:t>
                          </a:r>
                          <a:r>
                            <a:rPr lang="fr-FR" baseline="-250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n</a:t>
                          </a:r>
                          <a:r>
                            <a:rPr lang="fr-FR" baseline="-250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45393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Etat d’équilibre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n</a:t>
                          </a:r>
                          <a:r>
                            <a:rPr lang="fr-FR" baseline="-250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r>
                            <a:rPr lang="fr-FR" baseline="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  <a:r>
                            <a:rPr lang="el-GR" baseline="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ξ</a:t>
                          </a:r>
                          <a:endParaRPr lang="fr-FR" baseline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n</a:t>
                          </a:r>
                          <a:r>
                            <a:rPr lang="fr-FR" baseline="-250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r>
                            <a:rPr lang="fr-FR" baseline="0" dirty="0">
                              <a:solidFill>
                                <a:schemeClr val="tx1"/>
                              </a:solidFill>
                            </a:rPr>
                            <a:t>+</a:t>
                          </a:r>
                          <a:r>
                            <a:rPr lang="el-GR" baseline="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ξ</a:t>
                          </a:r>
                          <a:endParaRPr lang="fr-FR" baseline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4392842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au 6">
                <a:extLst>
                  <a:ext uri="{FF2B5EF4-FFF2-40B4-BE49-F238E27FC236}">
                    <a16:creationId xmlns:a16="http://schemas.microsoft.com/office/drawing/2014/main" id="{1293B794-02B0-4536-9B17-E0DFC7341F0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25695085"/>
                  </p:ext>
                </p:extLst>
              </p:nvPr>
            </p:nvGraphicFramePr>
            <p:xfrm>
              <a:off x="3846882" y="3268739"/>
              <a:ext cx="4418229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25949">
                      <a:extLst>
                        <a:ext uri="{9D8B030D-6E8A-4147-A177-3AD203B41FA5}">
                          <a16:colId xmlns:a16="http://schemas.microsoft.com/office/drawing/2014/main" val="2813921038"/>
                        </a:ext>
                      </a:extLst>
                    </a:gridCol>
                    <a:gridCol w="1296140">
                      <a:extLst>
                        <a:ext uri="{9D8B030D-6E8A-4147-A177-3AD203B41FA5}">
                          <a16:colId xmlns:a16="http://schemas.microsoft.com/office/drawing/2014/main" val="1169374789"/>
                        </a:ext>
                      </a:extLst>
                    </a:gridCol>
                    <a:gridCol w="1296140">
                      <a:extLst>
                        <a:ext uri="{9D8B030D-6E8A-4147-A177-3AD203B41FA5}">
                          <a16:colId xmlns:a16="http://schemas.microsoft.com/office/drawing/2014/main" val="224800651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41981" t="-1639" r="-102358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40845" t="-1639" r="-1878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2337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Etat initial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n</a:t>
                          </a:r>
                          <a:r>
                            <a:rPr lang="fr-FR" baseline="-250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n</a:t>
                          </a:r>
                          <a:r>
                            <a:rPr lang="fr-FR" baseline="-250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45393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Etat d’équilibre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n</a:t>
                          </a:r>
                          <a:r>
                            <a:rPr lang="fr-FR" baseline="-250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r>
                            <a:rPr lang="fr-FR" baseline="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  <a:r>
                            <a:rPr lang="el-GR" baseline="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ξ</a:t>
                          </a:r>
                          <a:endParaRPr lang="fr-FR" baseline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n</a:t>
                          </a:r>
                          <a:r>
                            <a:rPr lang="fr-FR" baseline="-250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r>
                            <a:rPr lang="fr-FR" baseline="0" dirty="0">
                              <a:solidFill>
                                <a:schemeClr val="tx1"/>
                              </a:solidFill>
                            </a:rPr>
                            <a:t>+</a:t>
                          </a:r>
                          <a:r>
                            <a:rPr lang="el-GR" baseline="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ξ</a:t>
                          </a:r>
                          <a:endParaRPr lang="fr-FR" baseline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439284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4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09643BD-BD18-4C3E-95A4-C2D649F576D7}"/>
              </a:ext>
            </a:extLst>
          </p:cNvPr>
          <p:cNvSpPr txBox="1"/>
          <p:nvPr/>
        </p:nvSpPr>
        <p:spPr>
          <a:xfrm>
            <a:off x="6809173" y="3268739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4123685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Evolution vers l’équilibre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5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7A04946-1A1C-4595-9800-62C637564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349" y="2226556"/>
            <a:ext cx="5781301" cy="403708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3E70BC97-ECAF-4C82-870B-8FB2995D82A7}"/>
                  </a:ext>
                </a:extLst>
              </p:cNvPr>
              <p:cNvSpPr txBox="1"/>
              <p:nvPr/>
            </p:nvSpPr>
            <p:spPr>
              <a:xfrm>
                <a:off x="4122274" y="5666601"/>
                <a:ext cx="892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3E70BC97-ECAF-4C82-870B-8FB2995D8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2274" y="5666601"/>
                <a:ext cx="892232" cy="276999"/>
              </a:xfrm>
              <a:prstGeom prst="rect">
                <a:avLst/>
              </a:prstGeom>
              <a:blipFill>
                <a:blip r:embed="rId3"/>
                <a:stretch>
                  <a:fillRect l="-4762" r="-5442" b="-13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D8B11EB5-F423-4AB0-9A17-794B2CD813C4}"/>
                  </a:ext>
                </a:extLst>
              </p:cNvPr>
              <p:cNvSpPr txBox="1"/>
              <p:nvPr/>
            </p:nvSpPr>
            <p:spPr>
              <a:xfrm>
                <a:off x="6731380" y="5666600"/>
                <a:ext cx="892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D8B11EB5-F423-4AB0-9A17-794B2CD81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1380" y="5666600"/>
                <a:ext cx="892232" cy="276999"/>
              </a:xfrm>
              <a:prstGeom prst="rect">
                <a:avLst/>
              </a:prstGeom>
              <a:blipFill>
                <a:blip r:embed="rId4"/>
                <a:stretch>
                  <a:fillRect l="-4762" r="-5442" b="-13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9644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Influence de la pression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5DECA2-773A-43F2-99C3-01972FC9C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6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0A10386-0D60-493E-AA42-3A258CE50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568" y="2771325"/>
            <a:ext cx="9418864" cy="3121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011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Conclusion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7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E9BFF10-9B5F-4E6E-AB98-7A0B5821B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1993" y="4918139"/>
            <a:ext cx="2508493" cy="166554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46316F8-4285-4C9A-BBCA-CC15ED17D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7021" y="2223198"/>
            <a:ext cx="6997958" cy="2411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8246218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170</TotalTime>
  <Words>127</Words>
  <Application>Microsoft Office PowerPoint</Application>
  <PresentationFormat>Grand écran</PresentationFormat>
  <Paragraphs>39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Cambria</vt:lpstr>
      <vt:lpstr>Cambria Math</vt:lpstr>
      <vt:lpstr>Garamond</vt:lpstr>
      <vt:lpstr>Gill Sans MT</vt:lpstr>
      <vt:lpstr>Colis</vt:lpstr>
      <vt:lpstr>LC22 : Evolution et équilibre chimique</vt:lpstr>
      <vt:lpstr>Un premier équilibre</vt:lpstr>
      <vt:lpstr>Hypothèses sur le système étudié</vt:lpstr>
      <vt:lpstr>Retour sur l’équilibre</vt:lpstr>
      <vt:lpstr>Evolution vers l’équilibre</vt:lpstr>
      <vt:lpstr>Influence de la pression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Leçon : </dc:title>
  <dc:creator>Mathieu</dc:creator>
  <cp:lastModifiedBy>Mathieu</cp:lastModifiedBy>
  <cp:revision>12</cp:revision>
  <dcterms:created xsi:type="dcterms:W3CDTF">2020-09-19T14:45:32Z</dcterms:created>
  <dcterms:modified xsi:type="dcterms:W3CDTF">2021-05-27T16:27:36Z</dcterms:modified>
</cp:coreProperties>
</file>