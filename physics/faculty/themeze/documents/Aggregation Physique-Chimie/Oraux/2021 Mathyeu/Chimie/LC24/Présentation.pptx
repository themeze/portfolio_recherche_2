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0"/>
  </p:notesMasterIdLst>
  <p:sldIdLst>
    <p:sldId id="256" r:id="rId2"/>
    <p:sldId id="257" r:id="rId3"/>
    <p:sldId id="262" r:id="rId4"/>
    <p:sldId id="259" r:id="rId5"/>
    <p:sldId id="265" r:id="rId6"/>
    <p:sldId id="261" r:id="rId7"/>
    <p:sldId id="264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51CE3-9C7E-4F9E-B0F4-FC988528060B}" type="datetimeFigureOut">
              <a:rPr lang="fr-FR" smtClean="0"/>
              <a:t>02/06/2021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36B36-6E90-4BAD-A4C4-085410494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88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2011-4AF3-484A-ACC1-E81F8CC48133}" type="datetime1">
              <a:rPr lang="fr-FR" smtClean="0"/>
              <a:t>02/06/2021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51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9F49-D0D3-47CD-901D-4E1D3BAF5AB2}" type="datetime1">
              <a:rPr lang="fr-FR" smtClean="0"/>
              <a:t>02/06/2021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42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54A85-7B2E-4FD7-93A7-AC2D6F4C0A02}" type="datetime1">
              <a:rPr lang="fr-FR" smtClean="0"/>
              <a:t>02/06/2021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33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58BB-11B9-447F-A8B8-D817CD81C453}" type="datetime1">
              <a:rPr lang="fr-FR" smtClean="0"/>
              <a:t>02/06/2021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24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71A8-43F5-4B50-930C-AFD958D07321}" type="datetime1">
              <a:rPr lang="fr-FR" smtClean="0"/>
              <a:t>02/06/2021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52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0F49-8265-4A3A-AE23-F264A7AB982A}" type="datetime1">
              <a:rPr lang="fr-FR" smtClean="0"/>
              <a:t>02/06/2021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34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65DF-E2E8-4A8D-93BF-EBD582E9762B}" type="datetime1">
              <a:rPr lang="fr-FR" smtClean="0"/>
              <a:t>02/06/2021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9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A8A5-9239-458E-ABD9-01BE91958835}" type="datetime1">
              <a:rPr lang="fr-FR" smtClean="0"/>
              <a:t>02/06/2021</a:t>
            </a:fld>
            <a:endParaRPr lang="fr-F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43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18A53AF-E335-485C-9F4D-A75E166D6BF6}" type="datetime1">
              <a:rPr lang="fr-FR" smtClean="0"/>
              <a:t>02/06/2021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2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9ABF6-F35E-4280-B9BC-AEA6A61FEC11}" type="datetime1">
              <a:rPr lang="fr-FR" smtClean="0"/>
              <a:t>02/06/2021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30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E294D-F84B-4A3B-92A2-8E351A2EA1CD}" type="datetime1">
              <a:rPr lang="fr-FR" smtClean="0"/>
              <a:t>02/06/2021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46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0D0C986-FF24-43ED-ABC3-B4FAE3FAE3F0}" type="datetime1">
              <a:rPr lang="fr-FR" smtClean="0"/>
              <a:t>02/06/2021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16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youtu.be/9GEmhPIL76U?t=72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36647E-EBC3-4C35-A08A-ED41E77A3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220" y="1775534"/>
            <a:ext cx="9375559" cy="2035188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6000" b="1" cap="none" dirty="0">
                <a:latin typeface="Garamond" panose="02020404030301010803" pitchFamily="18" charset="0"/>
              </a:rPr>
              <a:t>LC24 : Optimisation d’un procédé chimique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E999F2-7A5D-42D8-8020-0BE6951E3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3" y="5098269"/>
            <a:ext cx="6801612" cy="1239894"/>
          </a:xfrm>
        </p:spPr>
        <p:txBody>
          <a:bodyPr>
            <a:normAutofit/>
          </a:bodyPr>
          <a:lstStyle/>
          <a:p>
            <a:r>
              <a:rPr lang="fr-FR" sz="3200" b="1" dirty="0">
                <a:latin typeface="Garamond" panose="02020404030301010803" pitchFamily="18" charset="0"/>
              </a:rPr>
              <a:t>Mathieu </a:t>
            </a:r>
            <a:r>
              <a:rPr lang="fr-FR" sz="3200" b="1" dirty="0" err="1">
                <a:latin typeface="Garamond" panose="02020404030301010803" pitchFamily="18" charset="0"/>
              </a:rPr>
              <a:t>Markovitch</a:t>
            </a:r>
            <a:endParaRPr lang="fr-FR" sz="32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58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Procédé Haber – Bosch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2</a:t>
            </a:fld>
            <a:endParaRPr lang="fr-FR"/>
          </a:p>
        </p:txBody>
      </p:sp>
      <p:pic>
        <p:nvPicPr>
          <p:cNvPr id="1026" name="Picture 2" descr="Image dans Infobox.">
            <a:extLst>
              <a:ext uri="{FF2B5EF4-FFF2-40B4-BE49-F238E27FC236}">
                <a16:creationId xmlns:a16="http://schemas.microsoft.com/office/drawing/2014/main" id="{AB9493BE-CFF0-4D8C-8422-CFF46BE0B2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2556" y="2197380"/>
            <a:ext cx="2024110" cy="2862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84320E9-EC10-481C-88EF-2A81D30E066C}"/>
              </a:ext>
            </a:extLst>
          </p:cNvPr>
          <p:cNvSpPr txBox="1"/>
          <p:nvPr/>
        </p:nvSpPr>
        <p:spPr>
          <a:xfrm>
            <a:off x="2089580" y="5060050"/>
            <a:ext cx="2590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Garamond" panose="02020404030301010803" pitchFamily="18" charset="0"/>
              </a:rPr>
              <a:t>Fritz Haber (1868-1934)</a:t>
            </a:r>
          </a:p>
          <a:p>
            <a:pPr algn="ctr"/>
            <a:r>
              <a:rPr lang="fr-FR" dirty="0">
                <a:latin typeface="Garamond" panose="02020404030301010803" pitchFamily="18" charset="0"/>
              </a:rPr>
              <a:t>Prix Nobel de Chimie 1918 pour la synthèse de l’ammoniac</a:t>
            </a:r>
          </a:p>
        </p:txBody>
      </p:sp>
      <p:pic>
        <p:nvPicPr>
          <p:cNvPr id="1028" name="Picture 4" descr="Image dans Infobox.">
            <a:extLst>
              <a:ext uri="{FF2B5EF4-FFF2-40B4-BE49-F238E27FC236}">
                <a16:creationId xmlns:a16="http://schemas.microsoft.com/office/drawing/2014/main" id="{AFA7FB70-3CF7-4C91-81B7-4A380005D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5361" y="2197380"/>
            <a:ext cx="2024110" cy="2862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E0C6B97A-F2C6-4FDF-8DBB-5169DB380BE4}"/>
              </a:ext>
            </a:extLst>
          </p:cNvPr>
          <p:cNvSpPr txBox="1"/>
          <p:nvPr/>
        </p:nvSpPr>
        <p:spPr>
          <a:xfrm>
            <a:off x="4382385" y="5063311"/>
            <a:ext cx="2590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Garamond" panose="02020404030301010803" pitchFamily="18" charset="0"/>
              </a:rPr>
              <a:t>Carl Bosch (1874-1940)</a:t>
            </a:r>
          </a:p>
          <a:p>
            <a:pPr algn="ctr"/>
            <a:r>
              <a:rPr lang="fr-FR" dirty="0">
                <a:latin typeface="Garamond" panose="02020404030301010803" pitchFamily="18" charset="0"/>
              </a:rPr>
              <a:t>Prix Nobel de Chimie 1931 pour les procédés haute pression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CB811AC0-C08E-4573-A393-56B47C9999F4}"/>
                  </a:ext>
                </a:extLst>
              </p:cNvPr>
              <p:cNvSpPr txBox="1"/>
              <p:nvPr/>
            </p:nvSpPr>
            <p:spPr>
              <a:xfrm>
                <a:off x="6958166" y="3121223"/>
                <a:ext cx="298896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+3</m:t>
                    </m:r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lang="fr-FR" sz="20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endParaRPr lang="fr-FR" sz="2000" dirty="0"/>
              </a:p>
            </p:txBody>
          </p:sp>
        </mc:Choice>
        <mc:Fallback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CB811AC0-C08E-4573-A393-56B47C9999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8166" y="3121223"/>
                <a:ext cx="2988960" cy="307777"/>
              </a:xfrm>
              <a:prstGeom prst="rect">
                <a:avLst/>
              </a:prstGeom>
              <a:blipFill>
                <a:blip r:embed="rId4"/>
                <a:stretch>
                  <a:fillRect l="-2851" t="-25490" b="-4902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au 9">
            <a:extLst>
              <a:ext uri="{FF2B5EF4-FFF2-40B4-BE49-F238E27FC236}">
                <a16:creationId xmlns:a16="http://schemas.microsoft.com/office/drawing/2014/main" id="{A80CF64A-595F-4456-89CD-AFCF4F2D0F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570966"/>
              </p:ext>
            </p:extLst>
          </p:nvPr>
        </p:nvGraphicFramePr>
        <p:xfrm>
          <a:off x="7038403" y="4396811"/>
          <a:ext cx="2922461" cy="1112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33068">
                  <a:extLst>
                    <a:ext uri="{9D8B030D-6E8A-4147-A177-3AD203B41FA5}">
                      <a16:colId xmlns:a16="http://schemas.microsoft.com/office/drawing/2014/main" val="1044370583"/>
                    </a:ext>
                  </a:extLst>
                </a:gridCol>
                <a:gridCol w="1489393">
                  <a:extLst>
                    <a:ext uri="{9D8B030D-6E8A-4147-A177-3AD203B41FA5}">
                      <a16:colId xmlns:a16="http://schemas.microsoft.com/office/drawing/2014/main" val="24387433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Garamond" panose="02020404030301010803" pitchFamily="18" charset="0"/>
                        </a:rPr>
                        <a:t>Température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Garamond" panose="02020404030301010803" pitchFamily="18" charset="0"/>
                        </a:rPr>
                        <a:t>350 – 500 °C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700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Garamond" panose="02020404030301010803" pitchFamily="18" charset="0"/>
                        </a:rPr>
                        <a:t>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Garamond" panose="02020404030301010803" pitchFamily="18" charset="0"/>
                        </a:rPr>
                        <a:t>8 – 30 MPa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277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Garamond" panose="02020404030301010803" pitchFamily="18" charset="0"/>
                        </a:rPr>
                        <a:t>Catalyse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Garamond" panose="02020404030301010803" pitchFamily="18" charset="0"/>
                        </a:rPr>
                        <a:t>Fer solide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560745"/>
                  </a:ext>
                </a:extLst>
              </a:tr>
            </a:tbl>
          </a:graphicData>
        </a:graphic>
      </p:graphicFrame>
      <p:sp>
        <p:nvSpPr>
          <p:cNvPr id="12" name="ZoneTexte 11">
            <a:extLst>
              <a:ext uri="{FF2B5EF4-FFF2-40B4-BE49-F238E27FC236}">
                <a16:creationId xmlns:a16="http://schemas.microsoft.com/office/drawing/2014/main" id="{A06628C9-4778-458D-9695-A242E510F44A}"/>
              </a:ext>
            </a:extLst>
          </p:cNvPr>
          <p:cNvSpPr txBox="1"/>
          <p:nvPr/>
        </p:nvSpPr>
        <p:spPr>
          <a:xfrm>
            <a:off x="7204602" y="3956339"/>
            <a:ext cx="2590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latin typeface="Garamond" panose="02020404030301010803" pitchFamily="18" charset="0"/>
              </a:rPr>
              <a:t>Conditions :</a:t>
            </a:r>
          </a:p>
        </p:txBody>
      </p:sp>
    </p:spTree>
    <p:extLst>
      <p:ext uri="{BB962C8B-B14F-4D97-AF65-F5344CB8AC3E}">
        <p14:creationId xmlns:p14="http://schemas.microsoft.com/office/powerpoint/2010/main" val="357865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Equilibre entre deux gaz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3</a:t>
            </a:fld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F96508BF-B04A-427A-8E33-63643C7B9A8B}"/>
                  </a:ext>
                </a:extLst>
              </p:cNvPr>
              <p:cNvSpPr txBox="1"/>
              <p:nvPr/>
            </p:nvSpPr>
            <p:spPr>
              <a:xfrm>
                <a:off x="4340322" y="2428176"/>
                <a:ext cx="372441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  <m:sSub>
                        <m:sSubPr>
                          <m:ctrlPr>
                            <a:rPr lang="fr-FR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fr-FR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sz="32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fr-F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200" b="0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fr-FR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200" b="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</m:oMath>
                  </m:oMathPara>
                </a14:m>
                <a:endParaRPr lang="fr-FR" sz="3200" dirty="0"/>
              </a:p>
            </p:txBody>
          </p:sp>
        </mc:Choice>
        <mc:Fallback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F96508BF-B04A-427A-8E33-63643C7B9A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0322" y="2428176"/>
                <a:ext cx="3724418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ZoneTexte 8">
            <a:extLst>
              <a:ext uri="{FF2B5EF4-FFF2-40B4-BE49-F238E27FC236}">
                <a16:creationId xmlns:a16="http://schemas.microsoft.com/office/drawing/2014/main" id="{94D645E7-0E6F-4C2B-B44C-F06ADD4709B7}"/>
              </a:ext>
            </a:extLst>
          </p:cNvPr>
          <p:cNvSpPr txBox="1"/>
          <p:nvPr/>
        </p:nvSpPr>
        <p:spPr>
          <a:xfrm>
            <a:off x="4663477" y="3028749"/>
            <a:ext cx="659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Garamond" panose="02020404030301010803" pitchFamily="18" charset="0"/>
              </a:rPr>
              <a:t>Roux</a:t>
            </a:r>
            <a:endParaRPr lang="fr-FR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6CC0FD3-937A-4AAF-A51E-F0A0B8889BAF}"/>
              </a:ext>
            </a:extLst>
          </p:cNvPr>
          <p:cNvSpPr txBox="1"/>
          <p:nvPr/>
        </p:nvSpPr>
        <p:spPr>
          <a:xfrm>
            <a:off x="6558710" y="3028749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tx2">
                    <a:lumMod val="40000"/>
                    <a:lumOff val="60000"/>
                  </a:schemeClr>
                </a:solidFill>
                <a:latin typeface="Garamond" panose="02020404030301010803" pitchFamily="18" charset="0"/>
              </a:rPr>
              <a:t>Incolore</a:t>
            </a:r>
            <a:endParaRPr lang="fr-FR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68088121-71F8-44EB-BC6D-C0E6747CC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626" y="3525122"/>
            <a:ext cx="8376747" cy="277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84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Cas de l’ammoniac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4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725B69C-BE06-4D4F-B0BB-7B1DF13B0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650" y="2639380"/>
            <a:ext cx="4076700" cy="1266825"/>
          </a:xfrm>
          <a:prstGeom prst="rect">
            <a:avLst/>
          </a:prstGeom>
        </p:spPr>
      </p:pic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BA026DF0-4584-4258-A54F-440EA6D94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173669"/>
              </p:ext>
            </p:extLst>
          </p:nvPr>
        </p:nvGraphicFramePr>
        <p:xfrm>
          <a:off x="4346210" y="4392173"/>
          <a:ext cx="3499580" cy="518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16066">
                  <a:extLst>
                    <a:ext uri="{9D8B030D-6E8A-4147-A177-3AD203B41FA5}">
                      <a16:colId xmlns:a16="http://schemas.microsoft.com/office/drawing/2014/main" val="4151411577"/>
                    </a:ext>
                  </a:extLst>
                </a:gridCol>
                <a:gridCol w="1783514">
                  <a:extLst>
                    <a:ext uri="{9D8B030D-6E8A-4147-A177-3AD203B41FA5}">
                      <a16:colId xmlns:a16="http://schemas.microsoft.com/office/drawing/2014/main" val="13497111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>
                          <a:latin typeface="Garamond" panose="02020404030301010803" pitchFamily="18" charset="0"/>
                        </a:rPr>
                        <a:t>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>
                          <a:latin typeface="Garamond" panose="02020404030301010803" pitchFamily="18" charset="0"/>
                        </a:rPr>
                        <a:t>8 – 30 MPa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976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2092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Température et solubilité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5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D9AA6E6-FD1D-43ED-8FF2-E29C5CBF1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001" y="2206915"/>
            <a:ext cx="8341998" cy="405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05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La température : un facteur cinétique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6</a:t>
            </a:fld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ce réservé du contenu 2">
                <a:extLst>
                  <a:ext uri="{FF2B5EF4-FFF2-40B4-BE49-F238E27FC236}">
                    <a16:creationId xmlns:a16="http://schemas.microsoft.com/office/drawing/2014/main" id="{8BC74E8C-A96F-4584-8F45-3E2E5BDB23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31136" y="2602532"/>
                <a:ext cx="7729728" cy="2839477"/>
              </a:xfrm>
            </p:spPr>
            <p:txBody>
              <a:bodyPr>
                <a:no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2</m:t>
                      </m:r>
                      <m:sSubSup>
                        <m:sSubSupPr>
                          <m:ctrlPr>
                            <a:rPr lang="fr-FR" sz="3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fr-FR" sz="3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fr-FR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32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fr-F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8 </m:t>
                          </m:r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𝑎𝑞</m:t>
                          </m:r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fr-FR" sz="3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𝑆𝑂</m:t>
                          </m:r>
                        </m:e>
                        <m:sub>
                          <m: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𝑎𝑞</m:t>
                          </m:r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2−</m:t>
                          </m:r>
                        </m:sup>
                      </m:sSubSup>
                    </m:oMath>
                  </m:oMathPara>
                </a14:m>
                <a:endParaRPr lang="fr-FR" sz="3200" i="1" dirty="0">
                  <a:latin typeface="Garamond" panose="02020404030301010803" pitchFamily="18" charset="0"/>
                </a:endParaRPr>
              </a:p>
              <a:p>
                <a:pPr marL="0" indent="0" algn="ctr">
                  <a:buNone/>
                </a:pPr>
                <a:endParaRPr lang="fr-FR" sz="3200" i="1" dirty="0">
                  <a:latin typeface="Garamond" panose="02020404030301010803" pitchFamily="18" charset="0"/>
                </a:endParaRPr>
              </a:p>
              <a:p>
                <a:pPr marL="0" indent="0" algn="ctr">
                  <a:buNone/>
                </a:pPr>
                <a:endParaRPr lang="fr-FR" sz="3200" i="1" dirty="0">
                  <a:latin typeface="Garamond" panose="02020404030301010803" pitchFamily="18" charset="0"/>
                </a:endParaRPr>
              </a:p>
              <a:p>
                <a:pPr marL="0" indent="0" algn="ctr">
                  <a:buNone/>
                </a:pPr>
                <a:r>
                  <a:rPr lang="fr-FR" sz="3200" i="1" dirty="0">
                    <a:latin typeface="Garamond" panose="02020404030301010803" pitchFamily="18" charset="0"/>
                    <a:hlinkClick r:id="rId2"/>
                  </a:rPr>
                  <a:t>https://youtu.be/9GEmhPIL76U?t=72</a:t>
                </a:r>
                <a:endParaRPr lang="fr-FR" sz="3200" i="1" dirty="0">
                  <a:latin typeface="Garamond" panose="02020404030301010803" pitchFamily="18" charset="0"/>
                </a:endParaRPr>
              </a:p>
            </p:txBody>
          </p:sp>
        </mc:Choice>
        <mc:Fallback>
          <p:sp>
            <p:nvSpPr>
              <p:cNvPr id="6" name="Espace réservé du contenu 2">
                <a:extLst>
                  <a:ext uri="{FF2B5EF4-FFF2-40B4-BE49-F238E27FC236}">
                    <a16:creationId xmlns:a16="http://schemas.microsoft.com/office/drawing/2014/main" id="{8BC74E8C-A96F-4584-8F45-3E2E5BDB23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31136" y="2602532"/>
                <a:ext cx="7729728" cy="283947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509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La catalyse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7</a:t>
            </a:fld>
            <a:endParaRPr lang="fr-FR"/>
          </a:p>
        </p:txBody>
      </p:sp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639136D0-1C7E-4BE6-957B-EED6B66952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3074671"/>
              </p:ext>
            </p:extLst>
          </p:nvPr>
        </p:nvGraphicFramePr>
        <p:xfrm>
          <a:off x="1220496" y="2598058"/>
          <a:ext cx="9751007" cy="34017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34095">
                  <a:extLst>
                    <a:ext uri="{9D8B030D-6E8A-4147-A177-3AD203B41FA5}">
                      <a16:colId xmlns:a16="http://schemas.microsoft.com/office/drawing/2014/main" val="1114433641"/>
                    </a:ext>
                  </a:extLst>
                </a:gridCol>
                <a:gridCol w="2572304">
                  <a:extLst>
                    <a:ext uri="{9D8B030D-6E8A-4147-A177-3AD203B41FA5}">
                      <a16:colId xmlns:a16="http://schemas.microsoft.com/office/drawing/2014/main" val="1635355881"/>
                    </a:ext>
                  </a:extLst>
                </a:gridCol>
                <a:gridCol w="2572304">
                  <a:extLst>
                    <a:ext uri="{9D8B030D-6E8A-4147-A177-3AD203B41FA5}">
                      <a16:colId xmlns:a16="http://schemas.microsoft.com/office/drawing/2014/main" val="2598429305"/>
                    </a:ext>
                  </a:extLst>
                </a:gridCol>
                <a:gridCol w="2572304">
                  <a:extLst>
                    <a:ext uri="{9D8B030D-6E8A-4147-A177-3AD203B41FA5}">
                      <a16:colId xmlns:a16="http://schemas.microsoft.com/office/drawing/2014/main" val="2118509863"/>
                    </a:ext>
                  </a:extLst>
                </a:gridCol>
              </a:tblGrid>
              <a:tr h="1045571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Type de catalyse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Homogène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Hétérogène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Enzymatique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284125"/>
                  </a:ext>
                </a:extLst>
              </a:tr>
              <a:tr h="1283951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Avantages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Pratique et efficace.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Catalyseur facilement réutilisable (écologique).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Peu polluante.</a:t>
                      </a:r>
                    </a:p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Peu coûteuse.</a:t>
                      </a:r>
                    </a:p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Sélective.</a:t>
                      </a:r>
                    </a:p>
                    <a:p>
                      <a:pPr algn="ctr"/>
                      <a:endParaRPr lang="fr-FR" sz="200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136112"/>
                  </a:ext>
                </a:extLst>
              </a:tr>
              <a:tr h="1045571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Inconvénients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Catalyseur difficile à récupérer.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Seule la surface du catalyseur est utile.</a:t>
                      </a:r>
                    </a:p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Coûteuse en général.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Efficacité fortement dépendante du milieu.</a:t>
                      </a:r>
                    </a:p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 Sélective…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2398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0425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Conclusion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8</a:t>
            </a:fld>
            <a:endParaRPr lang="fr-FR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08259E9-C198-499B-BBFD-B0492F5C90C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801" y="2751423"/>
            <a:ext cx="8456398" cy="2914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2B7613E0-0037-4AB7-838C-0056BB16C98A}"/>
              </a:ext>
            </a:extLst>
          </p:cNvPr>
          <p:cNvSpPr/>
          <p:nvPr/>
        </p:nvSpPr>
        <p:spPr>
          <a:xfrm>
            <a:off x="3639844" y="3382901"/>
            <a:ext cx="719092" cy="126899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2B7AB052-38C3-4204-9F4E-B6FC76E650D4}"/>
              </a:ext>
            </a:extLst>
          </p:cNvPr>
          <p:cNvSpPr/>
          <p:nvPr/>
        </p:nvSpPr>
        <p:spPr>
          <a:xfrm>
            <a:off x="6939853" y="4208525"/>
            <a:ext cx="961274" cy="65643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64701867"/>
      </p:ext>
    </p:extLst>
  </p:cSld>
  <p:clrMapOvr>
    <a:masterClrMapping/>
  </p:clrMapOvr>
</p:sld>
</file>

<file path=ppt/theme/theme1.xml><?xml version="1.0" encoding="utf-8"?>
<a:theme xmlns:a="http://schemas.openxmlformats.org/drawingml/2006/main" name="Colis">
  <a:themeElements>
    <a:clrScheme name="Colis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olis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lis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Colis</Template>
  <TotalTime>111</TotalTime>
  <Words>202</Words>
  <Application>Microsoft Office PowerPoint</Application>
  <PresentationFormat>Grand écran</PresentationFormat>
  <Paragraphs>60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Cambria Math</vt:lpstr>
      <vt:lpstr>Garamond</vt:lpstr>
      <vt:lpstr>Gill Sans MT</vt:lpstr>
      <vt:lpstr>Colis</vt:lpstr>
      <vt:lpstr>LC24 : Optimisation d’un procédé chimique</vt:lpstr>
      <vt:lpstr>Procédé Haber – Bosch</vt:lpstr>
      <vt:lpstr>Equilibre entre deux gaz</vt:lpstr>
      <vt:lpstr>Cas de l’ammoniac</vt:lpstr>
      <vt:lpstr>Température et solubilité</vt:lpstr>
      <vt:lpstr>La température : un facteur cinétique</vt:lpstr>
      <vt:lpstr>La catalyse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Leçon : </dc:title>
  <dc:creator>Mathieu</dc:creator>
  <cp:lastModifiedBy>Mathieu</cp:lastModifiedBy>
  <cp:revision>11</cp:revision>
  <dcterms:created xsi:type="dcterms:W3CDTF">2020-09-19T14:45:32Z</dcterms:created>
  <dcterms:modified xsi:type="dcterms:W3CDTF">2021-06-02T10:41:39Z</dcterms:modified>
</cp:coreProperties>
</file>