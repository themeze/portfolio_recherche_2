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22/05/2021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22/05/2021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22/05/2021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22/05/2021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22/05/2021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22/05/2021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22/05/2021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22/05/2021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584" y="1500325"/>
            <a:ext cx="10244831" cy="239029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5000" b="1" cap="none" dirty="0">
                <a:latin typeface="Garamond" panose="02020404030301010803" pitchFamily="18" charset="0"/>
              </a:rPr>
              <a:t>LC19 : Application du premier principe de la thermodynamique à la réaction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4858571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Etats standards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019E8D37-D21C-4F13-A288-98C61C8CB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295602"/>
              </p:ext>
            </p:extLst>
          </p:nvPr>
        </p:nvGraphicFramePr>
        <p:xfrm>
          <a:off x="3255169" y="2830294"/>
          <a:ext cx="5680264" cy="198120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392349">
                  <a:extLst>
                    <a:ext uri="{9D8B030D-6E8A-4147-A177-3AD203B41FA5}">
                      <a16:colId xmlns:a16="http://schemas.microsoft.com/office/drawing/2014/main" val="854477541"/>
                    </a:ext>
                  </a:extLst>
                </a:gridCol>
                <a:gridCol w="4287915">
                  <a:extLst>
                    <a:ext uri="{9D8B030D-6E8A-4147-A177-3AD203B41FA5}">
                      <a16:colId xmlns:a16="http://schemas.microsoft.com/office/drawing/2014/main" val="3016804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Solide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Solide pur à P°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4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Liquide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Liquide pur à P°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83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Solvant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>
                          <a:latin typeface="Garamond" panose="02020404030301010803" pitchFamily="18" charset="0"/>
                        </a:rPr>
                        <a:t>Liquide pur à P°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8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Soluté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Soluté à c° et P°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2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Gaz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Garamond" panose="02020404030301010803" pitchFamily="18" charset="0"/>
                        </a:rPr>
                        <a:t>Gaz parfait pur à P°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0739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20D0D2-86B2-48A5-994F-E063CCFD5942}"/>
              </a:ext>
            </a:extLst>
          </p:cNvPr>
          <p:cNvSpPr txBox="1"/>
          <p:nvPr/>
        </p:nvSpPr>
        <p:spPr>
          <a:xfrm>
            <a:off x="4840791" y="5137457"/>
            <a:ext cx="2509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Garamond" panose="02020404030301010803" pitchFamily="18" charset="0"/>
              </a:rPr>
              <a:t>P°=1 bar, c°=1 mol.L</a:t>
            </a:r>
            <a:r>
              <a:rPr lang="fr-FR" sz="2000" baseline="30000" dirty="0">
                <a:latin typeface="Garamond" panose="02020404030301010803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de phases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E1E242-A6C9-4048-BF8D-EFB1DE0DB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991" y="2236644"/>
            <a:ext cx="5104017" cy="408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5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Dans la cuisine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34456D-89CD-4EAD-956B-8B7A62F9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69" y="2288313"/>
            <a:ext cx="9086461" cy="3975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7465125-2F7C-40A4-96B6-388FBC1D3FC8}"/>
                  </a:ext>
                </a:extLst>
              </p:cNvPr>
              <p:cNvSpPr txBox="1"/>
              <p:nvPr/>
            </p:nvSpPr>
            <p:spPr>
              <a:xfrm>
                <a:off x="2441359" y="5335478"/>
                <a:ext cx="221053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7465125-2F7C-40A4-96B6-388FBC1D3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359" y="5335478"/>
                <a:ext cx="2210539" cy="307777"/>
              </a:xfrm>
              <a:prstGeom prst="rect">
                <a:avLst/>
              </a:prstGeom>
              <a:blipFill>
                <a:blip r:embed="rId3"/>
                <a:stretch>
                  <a:fillRect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19946FB-C2F0-439E-AD11-9E9F1DD6B859}"/>
                  </a:ext>
                </a:extLst>
              </p:cNvPr>
              <p:cNvSpPr txBox="1"/>
              <p:nvPr/>
            </p:nvSpPr>
            <p:spPr>
              <a:xfrm>
                <a:off x="6223246" y="5335477"/>
                <a:ext cx="463792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19946FB-C2F0-439E-AD11-9E9F1DD6B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246" y="5335477"/>
                <a:ext cx="4637925" cy="307777"/>
              </a:xfrm>
              <a:prstGeom prst="rect">
                <a:avLst/>
              </a:prstGeom>
              <a:blipFill>
                <a:blip r:embed="rId4"/>
                <a:stretch>
                  <a:fillRect b="-352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87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Réaction standard de formation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503E8A5-153A-4ECC-9386-8A811E7C0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3313939"/>
            <a:ext cx="113061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87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Interaction of methane with oxygen - combustion reaction ...">
            <a:extLst>
              <a:ext uri="{FF2B5EF4-FFF2-40B4-BE49-F238E27FC236}">
                <a16:creationId xmlns:a16="http://schemas.microsoft.com/office/drawing/2014/main" id="{F64E9EBA-1A17-4CEA-A852-F9C824A91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661" y="2273621"/>
            <a:ext cx="3036985" cy="17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4016940-445F-4C99-A271-4BAC5B007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246" y="2711472"/>
            <a:ext cx="1724609" cy="253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OH 50 - GE Healthcare Life Sciences">
            <a:extLst>
              <a:ext uri="{FF2B5EF4-FFF2-40B4-BE49-F238E27FC236}">
                <a16:creationId xmlns:a16="http://schemas.microsoft.com/office/drawing/2014/main" id="{AB73B0F1-D219-42D4-BB56-C91404773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336" y="2839140"/>
            <a:ext cx="1351056" cy="228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'ai testé les chaufferettes jetables Aptonia.... - Mes ...">
            <a:extLst>
              <a:ext uri="{FF2B5EF4-FFF2-40B4-BE49-F238E27FC236}">
                <a16:creationId xmlns:a16="http://schemas.microsoft.com/office/drawing/2014/main" id="{88A2A903-F013-43D9-9BEB-808EFDB93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082" y="4073720"/>
            <a:ext cx="2184002" cy="218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B0ACECA-7CEB-4203-803C-F79013320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806" y="3766766"/>
            <a:ext cx="2813469" cy="187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C58E9432-A2EA-4D28-853C-3AFB779C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232265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186</TotalTime>
  <Words>112</Words>
  <Application>Microsoft Office PowerPoint</Application>
  <PresentationFormat>Grand écran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Gill Sans MT</vt:lpstr>
      <vt:lpstr>Colis</vt:lpstr>
      <vt:lpstr>LC19 : Application du premier principe de la thermodynamique à la réaction chimique</vt:lpstr>
      <vt:lpstr>Etats standards</vt:lpstr>
      <vt:lpstr>Diagramme de phases de l’eau</vt:lpstr>
      <vt:lpstr>Dans la cuisine</vt:lpstr>
      <vt:lpstr>Réaction standard de formation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13</cp:revision>
  <dcterms:created xsi:type="dcterms:W3CDTF">2020-09-19T14:45:32Z</dcterms:created>
  <dcterms:modified xsi:type="dcterms:W3CDTF">2021-05-22T16:51:30Z</dcterms:modified>
</cp:coreProperties>
</file>