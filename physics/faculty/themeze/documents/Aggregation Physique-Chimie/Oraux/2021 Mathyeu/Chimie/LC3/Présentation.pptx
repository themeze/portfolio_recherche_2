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15/05/2021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15/05/2021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15/05/2021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15/05/2021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15/05/2021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15/05/2021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15/05/2021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15/05/2021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15/05/2021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15/05/2021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15/05/2021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15/05/2021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15/05/2021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het.colorado.edu/sims/html/molecule-shapes/latest/molecule-shapes_fr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022759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LC3 : Structure spatiale des molécules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911837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Le méthane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 descr="How is a single covalent bond formed? + Example">
            <a:extLst>
              <a:ext uri="{FF2B5EF4-FFF2-40B4-BE49-F238E27FC236}">
                <a16:creationId xmlns:a16="http://schemas.microsoft.com/office/drawing/2014/main" id="{19E53CCC-5F7B-45C9-BDC5-D8231A18C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36" y="2448272"/>
            <a:ext cx="3103789" cy="318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167FF75-FCC7-40EF-9E1D-53DDD80F17F1}"/>
              </a:ext>
            </a:extLst>
          </p:cNvPr>
          <p:cNvSpPr txBox="1"/>
          <p:nvPr/>
        </p:nvSpPr>
        <p:spPr>
          <a:xfrm>
            <a:off x="5785282" y="3746861"/>
            <a:ext cx="4478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3"/>
              </a:rPr>
              <a:t>https://phet.colorado.edu/sims/html/molecule-shapes/latest/molecule-shapes_fr.html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5543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Théorie VSEPR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CA62B63-3C4D-4A42-BADD-47056B67F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169" y="1824280"/>
            <a:ext cx="6141661" cy="443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8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Diastéréoisomères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7F8C8C5-A17C-4120-B186-5ADE5F49A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5046" y="2545570"/>
            <a:ext cx="7361907" cy="310197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B0AFD46-FEE4-4622-8093-EE7FCE35A036}"/>
              </a:ext>
            </a:extLst>
          </p:cNvPr>
          <p:cNvSpPr txBox="1"/>
          <p:nvPr/>
        </p:nvSpPr>
        <p:spPr>
          <a:xfrm>
            <a:off x="2132399" y="3774871"/>
            <a:ext cx="453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rgbClr val="FF0000"/>
                </a:solidFill>
                <a:latin typeface="Garamond" panose="02020404030301010803" pitchFamily="18" charset="0"/>
              </a:rPr>
              <a:t>Z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FCC88C5-955C-46CD-82C9-066D7F059F95}"/>
              </a:ext>
            </a:extLst>
          </p:cNvPr>
          <p:cNvSpPr txBox="1"/>
          <p:nvPr/>
        </p:nvSpPr>
        <p:spPr>
          <a:xfrm>
            <a:off x="9605630" y="3804169"/>
            <a:ext cx="453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rgbClr val="FF0000"/>
                </a:solidFill>
                <a:latin typeface="Garamond" panose="02020404030301010803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56989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688" y="796016"/>
            <a:ext cx="8744623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Deux carbones asymétriques : la thréonine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C8D8F06-F01B-45A6-A99E-438FDCD6C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76" y="2164703"/>
            <a:ext cx="8382648" cy="379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8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75" y="589207"/>
            <a:ext cx="5513449" cy="115292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Isomérie des molécules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8AD73EE-F55D-467B-AA79-60928C76872F}"/>
              </a:ext>
            </a:extLst>
          </p:cNvPr>
          <p:cNvSpPr/>
          <p:nvPr/>
        </p:nvSpPr>
        <p:spPr>
          <a:xfrm>
            <a:off x="4223792" y="5759584"/>
            <a:ext cx="2520280" cy="50405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92A2E0A-68F3-4D11-A729-41851C49811B}"/>
              </a:ext>
            </a:extLst>
          </p:cNvPr>
          <p:cNvSpPr/>
          <p:nvPr/>
        </p:nvSpPr>
        <p:spPr>
          <a:xfrm>
            <a:off x="3143672" y="4124666"/>
            <a:ext cx="2016224" cy="91483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3E6F4E3-5B72-4638-923C-F9B30A3C3F69}"/>
              </a:ext>
            </a:extLst>
          </p:cNvPr>
          <p:cNvSpPr/>
          <p:nvPr/>
        </p:nvSpPr>
        <p:spPr>
          <a:xfrm>
            <a:off x="5951984" y="4124666"/>
            <a:ext cx="2016224" cy="91483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7538C6F-B33A-48FA-8439-E70D5B872B01}"/>
              </a:ext>
            </a:extLst>
          </p:cNvPr>
          <p:cNvSpPr/>
          <p:nvPr/>
        </p:nvSpPr>
        <p:spPr>
          <a:xfrm>
            <a:off x="8400256" y="2663240"/>
            <a:ext cx="3384376" cy="50405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58B6B25-2656-4234-A5B3-FE76805C12C8}"/>
              </a:ext>
            </a:extLst>
          </p:cNvPr>
          <p:cNvSpPr/>
          <p:nvPr/>
        </p:nvSpPr>
        <p:spPr>
          <a:xfrm>
            <a:off x="4079776" y="2663240"/>
            <a:ext cx="2232248" cy="50405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E1925DE-A9C0-4C41-8CD3-5A18EBAA4028}"/>
              </a:ext>
            </a:extLst>
          </p:cNvPr>
          <p:cNvSpPr/>
          <p:nvPr/>
        </p:nvSpPr>
        <p:spPr>
          <a:xfrm>
            <a:off x="6384032" y="1151072"/>
            <a:ext cx="1728192" cy="50405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813606F-1124-429A-A58A-9FC7FAAE26F4}"/>
              </a:ext>
            </a:extLst>
          </p:cNvPr>
          <p:cNvSpPr txBox="1"/>
          <p:nvPr/>
        </p:nvSpPr>
        <p:spPr>
          <a:xfrm>
            <a:off x="6096000" y="503000"/>
            <a:ext cx="495520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Soient </a:t>
            </a:r>
            <a:r>
              <a:rPr lang="fr-FR" dirty="0">
                <a:solidFill>
                  <a:srgbClr val="FF0000"/>
                </a:solidFill>
              </a:rPr>
              <a:t>deux molécules </a:t>
            </a:r>
            <a:r>
              <a:rPr lang="fr-FR" dirty="0"/>
              <a:t>de même formule brute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0210EEF-B77F-4B84-A5B5-2C14A3F0DFCC}"/>
              </a:ext>
            </a:extLst>
          </p:cNvPr>
          <p:cNvSpPr txBox="1"/>
          <p:nvPr/>
        </p:nvSpPr>
        <p:spPr>
          <a:xfrm>
            <a:off x="9612292" y="1213788"/>
            <a:ext cx="123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identiques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E3654F7-6F34-43F4-A358-0BC9CB8E7148}"/>
              </a:ext>
            </a:extLst>
          </p:cNvPr>
          <p:cNvSpPr txBox="1"/>
          <p:nvPr/>
        </p:nvSpPr>
        <p:spPr>
          <a:xfrm>
            <a:off x="6600056" y="1223080"/>
            <a:ext cx="131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  <a:r>
              <a:rPr lang="fr-FR" dirty="0">
                <a:solidFill>
                  <a:srgbClr val="FF0000"/>
                </a:solidFill>
              </a:rPr>
              <a:t> isomères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371F1B8-AA81-4D1F-9678-78F8178C9110}"/>
              </a:ext>
            </a:extLst>
          </p:cNvPr>
          <p:cNvSpPr txBox="1"/>
          <p:nvPr/>
        </p:nvSpPr>
        <p:spPr>
          <a:xfrm>
            <a:off x="4223792" y="2736989"/>
            <a:ext cx="195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 </a:t>
            </a:r>
            <a:r>
              <a:rPr lang="fr-FR" dirty="0" err="1">
                <a:solidFill>
                  <a:srgbClr val="FF0000"/>
                </a:solidFill>
              </a:rPr>
              <a:t>stéréoisomères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91C9CB5-5434-4193-A754-6EE6B58036FD}"/>
              </a:ext>
            </a:extLst>
          </p:cNvPr>
          <p:cNvSpPr txBox="1"/>
          <p:nvPr/>
        </p:nvSpPr>
        <p:spPr>
          <a:xfrm>
            <a:off x="8688288" y="2736989"/>
            <a:ext cx="2877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 </a:t>
            </a:r>
            <a:r>
              <a:rPr lang="fr-FR" dirty="0">
                <a:solidFill>
                  <a:srgbClr val="FF0000"/>
                </a:solidFill>
              </a:rPr>
              <a:t>Isomères de constitution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F9B2AC3-3332-45F9-8D5A-3AD94EA1AA48}"/>
              </a:ext>
            </a:extLst>
          </p:cNvPr>
          <p:cNvSpPr txBox="1"/>
          <p:nvPr/>
        </p:nvSpPr>
        <p:spPr>
          <a:xfrm>
            <a:off x="6055891" y="4249157"/>
            <a:ext cx="1864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Stéréoisomères</a:t>
            </a:r>
            <a:r>
              <a:rPr lang="fr-FR" dirty="0"/>
              <a:t> </a:t>
            </a:r>
          </a:p>
          <a:p>
            <a:r>
              <a:rPr lang="fr-FR" dirty="0"/>
              <a:t>de </a:t>
            </a:r>
            <a:r>
              <a:rPr lang="fr-FR" dirty="0">
                <a:solidFill>
                  <a:srgbClr val="FF0000"/>
                </a:solidFill>
              </a:rPr>
              <a:t>configuration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B7C7504-769E-434F-B5A1-33BB5FA446DA}"/>
              </a:ext>
            </a:extLst>
          </p:cNvPr>
          <p:cNvSpPr txBox="1"/>
          <p:nvPr/>
        </p:nvSpPr>
        <p:spPr>
          <a:xfrm>
            <a:off x="3258212" y="4249157"/>
            <a:ext cx="1864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Stéréoisomères</a:t>
            </a:r>
            <a:r>
              <a:rPr lang="fr-FR" dirty="0"/>
              <a:t> </a:t>
            </a:r>
          </a:p>
          <a:p>
            <a:r>
              <a:rPr lang="fr-FR" dirty="0"/>
              <a:t>de </a:t>
            </a:r>
            <a:r>
              <a:rPr lang="fr-FR" dirty="0">
                <a:solidFill>
                  <a:srgbClr val="FF0000"/>
                </a:solidFill>
              </a:rPr>
              <a:t>conformation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CC8E265-CDFC-4F1F-8CBA-BC1B9A23D3BA}"/>
              </a:ext>
            </a:extLst>
          </p:cNvPr>
          <p:cNvCxnSpPr>
            <a:cxnSpLocks/>
          </p:cNvCxnSpPr>
          <p:nvPr/>
        </p:nvCxnSpPr>
        <p:spPr>
          <a:xfrm flipH="1">
            <a:off x="5735960" y="1623229"/>
            <a:ext cx="1080120" cy="104001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7D75149-0022-49A7-A15D-E13A0A3CD973}"/>
              </a:ext>
            </a:extLst>
          </p:cNvPr>
          <p:cNvSpPr txBox="1"/>
          <p:nvPr/>
        </p:nvSpPr>
        <p:spPr>
          <a:xfrm>
            <a:off x="3729470" y="1943160"/>
            <a:ext cx="368241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Formules semi-développées identiques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7D029B9-3A78-4C46-A61C-4C819D35B3E3}"/>
              </a:ext>
            </a:extLst>
          </p:cNvPr>
          <p:cNvCxnSpPr>
            <a:cxnSpLocks/>
          </p:cNvCxnSpPr>
          <p:nvPr/>
        </p:nvCxnSpPr>
        <p:spPr>
          <a:xfrm flipH="1">
            <a:off x="7968208" y="935048"/>
            <a:ext cx="648072" cy="2880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105645B-EF01-4D0E-AEBE-B9221D3A683D}"/>
              </a:ext>
            </a:extLst>
          </p:cNvPr>
          <p:cNvCxnSpPr>
            <a:cxnSpLocks/>
          </p:cNvCxnSpPr>
          <p:nvPr/>
        </p:nvCxnSpPr>
        <p:spPr>
          <a:xfrm>
            <a:off x="8760296" y="935048"/>
            <a:ext cx="720080" cy="2880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947AA9DE-5AB2-4A5D-85E7-3678C249D2F0}"/>
              </a:ext>
            </a:extLst>
          </p:cNvPr>
          <p:cNvCxnSpPr>
            <a:cxnSpLocks/>
          </p:cNvCxnSpPr>
          <p:nvPr/>
        </p:nvCxnSpPr>
        <p:spPr>
          <a:xfrm>
            <a:off x="7824192" y="1601963"/>
            <a:ext cx="1368152" cy="106127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2D4BE44F-93DE-4688-A48D-E1C1A900524B}"/>
              </a:ext>
            </a:extLst>
          </p:cNvPr>
          <p:cNvSpPr txBox="1"/>
          <p:nvPr/>
        </p:nvSpPr>
        <p:spPr>
          <a:xfrm>
            <a:off x="7648237" y="1932747"/>
            <a:ext cx="370434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Formules semi-développées différentes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3E42B3BE-F1B3-4B9A-B554-D9B3507A8EBF}"/>
              </a:ext>
            </a:extLst>
          </p:cNvPr>
          <p:cNvCxnSpPr>
            <a:cxnSpLocks/>
          </p:cNvCxnSpPr>
          <p:nvPr/>
        </p:nvCxnSpPr>
        <p:spPr>
          <a:xfrm flipH="1">
            <a:off x="4079776" y="3167296"/>
            <a:ext cx="936104" cy="9361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70BD56BA-D39F-4A2C-91A3-E01B9CB76F99}"/>
              </a:ext>
            </a:extLst>
          </p:cNvPr>
          <p:cNvCxnSpPr>
            <a:cxnSpLocks/>
          </p:cNvCxnSpPr>
          <p:nvPr/>
        </p:nvCxnSpPr>
        <p:spPr>
          <a:xfrm>
            <a:off x="5591944" y="3167296"/>
            <a:ext cx="1152128" cy="9361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212CA694-D2FA-4B60-8A41-4DE43FE2FE83}"/>
              </a:ext>
            </a:extLst>
          </p:cNvPr>
          <p:cNvCxnSpPr>
            <a:cxnSpLocks/>
          </p:cNvCxnSpPr>
          <p:nvPr/>
        </p:nvCxnSpPr>
        <p:spPr>
          <a:xfrm>
            <a:off x="7752184" y="4895488"/>
            <a:ext cx="864096" cy="7920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0F8323F-5209-4DC5-8972-193FD8F32FFF}"/>
              </a:ext>
            </a:extLst>
          </p:cNvPr>
          <p:cNvCxnSpPr>
            <a:cxnSpLocks/>
          </p:cNvCxnSpPr>
          <p:nvPr/>
        </p:nvCxnSpPr>
        <p:spPr>
          <a:xfrm flipH="1">
            <a:off x="5375920" y="4967496"/>
            <a:ext cx="936104" cy="72008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67125C5-543D-470A-B139-49D0D899A589}"/>
              </a:ext>
            </a:extLst>
          </p:cNvPr>
          <p:cNvSpPr txBox="1"/>
          <p:nvPr/>
        </p:nvSpPr>
        <p:spPr>
          <a:xfrm>
            <a:off x="4816433" y="5143411"/>
            <a:ext cx="221567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Images dans un miroir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5D556C6-6BE5-4EBB-BAA4-8C4598249E59}"/>
              </a:ext>
            </a:extLst>
          </p:cNvPr>
          <p:cNvSpPr txBox="1"/>
          <p:nvPr/>
        </p:nvSpPr>
        <p:spPr>
          <a:xfrm>
            <a:off x="3647728" y="3383320"/>
            <a:ext cx="155202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Simple rotation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4D38E7A-FDB9-46CD-878A-D4939AB5BC78}"/>
              </a:ext>
            </a:extLst>
          </p:cNvPr>
          <p:cNvSpPr txBox="1"/>
          <p:nvPr/>
        </p:nvSpPr>
        <p:spPr>
          <a:xfrm>
            <a:off x="5458093" y="3383320"/>
            <a:ext cx="210826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Rupture d’une liaison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3476BDA5-B0CC-4A07-829C-B6203FF1F9F6}"/>
              </a:ext>
            </a:extLst>
          </p:cNvPr>
          <p:cNvSpPr/>
          <p:nvPr/>
        </p:nvSpPr>
        <p:spPr>
          <a:xfrm>
            <a:off x="7392144" y="5759584"/>
            <a:ext cx="2520280" cy="50405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44D38D4-04BB-4999-B919-4F05702BE1E3}"/>
              </a:ext>
            </a:extLst>
          </p:cNvPr>
          <p:cNvSpPr txBox="1"/>
          <p:nvPr/>
        </p:nvSpPr>
        <p:spPr>
          <a:xfrm>
            <a:off x="4655840" y="5831592"/>
            <a:ext cx="180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 </a:t>
            </a:r>
            <a:r>
              <a:rPr lang="fr-FR" dirty="0">
                <a:solidFill>
                  <a:srgbClr val="FF0000"/>
                </a:solidFill>
              </a:rPr>
              <a:t>énantiomères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C410CBA3-009C-4E65-9122-F67BD984EF6D}"/>
              </a:ext>
            </a:extLst>
          </p:cNvPr>
          <p:cNvSpPr txBox="1"/>
          <p:nvPr/>
        </p:nvSpPr>
        <p:spPr>
          <a:xfrm>
            <a:off x="7521205" y="5822080"/>
            <a:ext cx="2262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 </a:t>
            </a:r>
            <a:r>
              <a:rPr lang="fr-FR" dirty="0">
                <a:solidFill>
                  <a:srgbClr val="FF0000"/>
                </a:solidFill>
              </a:rPr>
              <a:t>diastéréoisomères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4EE7A89-26E1-4BC8-A188-8654BA40F6D5}"/>
              </a:ext>
            </a:extLst>
          </p:cNvPr>
          <p:cNvSpPr txBox="1"/>
          <p:nvPr/>
        </p:nvSpPr>
        <p:spPr>
          <a:xfrm>
            <a:off x="7779319" y="5114155"/>
            <a:ext cx="76495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 Sinon</a:t>
            </a:r>
          </a:p>
        </p:txBody>
      </p:sp>
    </p:spTree>
    <p:extLst>
      <p:ext uri="{BB962C8B-B14F-4D97-AF65-F5344CB8AC3E}">
        <p14:creationId xmlns:p14="http://schemas.microsoft.com/office/powerpoint/2010/main" val="2608538495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96</TotalTime>
  <Words>103</Words>
  <Application>Microsoft Office PowerPoint</Application>
  <PresentationFormat>Grand écran</PresentationFormat>
  <Paragraphs>37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Garamond</vt:lpstr>
      <vt:lpstr>Gill Sans MT</vt:lpstr>
      <vt:lpstr>Colis</vt:lpstr>
      <vt:lpstr>LC3 : Structure spatiale des molécules</vt:lpstr>
      <vt:lpstr>Le méthane</vt:lpstr>
      <vt:lpstr>Théorie VSEPR</vt:lpstr>
      <vt:lpstr>Diastéréoisomères</vt:lpstr>
      <vt:lpstr>Deux carbones asymétriques : la thréonine</vt:lpstr>
      <vt:lpstr>Isomérie des molécules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12</cp:revision>
  <dcterms:created xsi:type="dcterms:W3CDTF">2020-09-19T14:45:32Z</dcterms:created>
  <dcterms:modified xsi:type="dcterms:W3CDTF">2021-05-15T10:02:59Z</dcterms:modified>
</cp:coreProperties>
</file>