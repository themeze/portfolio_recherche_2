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8"/>
  </p:notesMasterIdLst>
  <p:sldIdLst>
    <p:sldId id="256" r:id="rId2"/>
    <p:sldId id="257" r:id="rId3"/>
    <p:sldId id="259" r:id="rId4"/>
    <p:sldId id="262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18/05/2021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18/05/2021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18/05/2021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18/05/2021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18/05/2021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18/05/2021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18/05/2021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18/05/2021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18/05/2021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 dirty="0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18/05/2021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 dirty="0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18/05/2021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18/05/2021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18/05/2021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 dirty="0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media" Target="../media/media2.mp4"/><Relationship Id="rId7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5" Type="http://schemas.microsoft.com/office/2007/relationships/media" Target="../media/media3.mp4"/><Relationship Id="rId10" Type="http://schemas.openxmlformats.org/officeDocument/2006/relationships/image" Target="../media/image7.png"/><Relationship Id="rId4" Type="http://schemas.openxmlformats.org/officeDocument/2006/relationships/video" Target="../media/media2.mp4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985" y="1996126"/>
            <a:ext cx="10938029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LC21 : Cinétique homogène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760917"/>
            <a:ext cx="6801612" cy="610073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Markovitch</a:t>
            </a: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Vitesse d’une réaction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45DECA2-773A-43F2-99C3-01972FC9C6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4795" y="2709063"/>
                <a:ext cx="7729728" cy="2839477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fr-FR" sz="3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𝑎𝑞</m:t>
                        </m:r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fr-FR" sz="32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fr-FR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𝐴𝑔</m:t>
                        </m:r>
                      </m:e>
                      <m:sub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𝑎𝑞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fr-FR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3200" b="0" i="1" smtClean="0">
                        <a:latin typeface="Cambria Math" panose="02040503050406030204" pitchFamily="18" charset="0"/>
                      </a:rPr>
                      <m:t>𝐴𝑔</m:t>
                    </m:r>
                    <m:sSub>
                      <m:sSubPr>
                        <m:ctrlPr>
                          <a:rPr lang="fr-FR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fr-FR" sz="3200" i="1" dirty="0">
                  <a:latin typeface="Garamond" panose="02020404030301010803" pitchFamily="18" charset="0"/>
                </a:endParaRPr>
              </a:p>
              <a:p>
                <a:endParaRPr lang="fr-FR" sz="3200" i="1" dirty="0">
                  <a:latin typeface="Garamond" panose="02020404030301010803" pitchFamily="18" charset="0"/>
                </a:endParaRPr>
              </a:p>
              <a:p>
                <a:endParaRPr lang="fr-FR" sz="3200" i="1" dirty="0">
                  <a:latin typeface="Garamond" panose="02020404030301010803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sz="3200" b="0" i="1" smtClean="0">
                        <a:latin typeface="Cambria Math" panose="02040503050406030204" pitchFamily="18" charset="0"/>
                      </a:rPr>
                      <m:t>2</m:t>
                    </m:r>
                    <m:sSubSup>
                      <m:sSubSupPr>
                        <m:ctrlPr>
                          <a:rPr lang="fr-FR" sz="3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𝑎𝑞</m:t>
                        </m:r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fr-FR" sz="32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fr-FR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fr-FR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32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8 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𝑎𝑞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fr-FR" sz="3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𝑎𝑞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fr-FR" sz="32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fr-FR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𝑆𝑂</m:t>
                        </m:r>
                      </m:e>
                      <m:sub>
                        <m:r>
                          <a:rPr lang="fr-FR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𝑎𝑞</m:t>
                        </m:r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fr-FR" sz="3200" i="1">
                            <a:latin typeface="Cambria Math" panose="02040503050406030204" pitchFamily="18" charset="0"/>
                          </a:rPr>
                          <m:t>2−</m:t>
                        </m:r>
                      </m:sup>
                    </m:sSubSup>
                  </m:oMath>
                </a14:m>
                <a:endParaRPr lang="fr-FR" sz="3200" i="1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45DECA2-773A-43F2-99C3-01972FC9C6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4795" y="2709063"/>
                <a:ext cx="7729728" cy="283947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EA97936-96AD-476E-8E77-9F2AC41D6FC0}"/>
              </a:ext>
            </a:extLst>
          </p:cNvPr>
          <p:cNvSpPr txBox="1"/>
          <p:nvPr/>
        </p:nvSpPr>
        <p:spPr>
          <a:xfrm>
            <a:off x="9490348" y="2851530"/>
            <a:ext cx="18198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70C0"/>
                </a:solidFill>
                <a:latin typeface="Garamond" panose="02020404030301010803" pitchFamily="18" charset="0"/>
              </a:rPr>
              <a:t>Rapide</a:t>
            </a:r>
          </a:p>
          <a:p>
            <a:endParaRPr lang="fr-FR" sz="3200" b="1" dirty="0">
              <a:solidFill>
                <a:srgbClr val="0070C0"/>
              </a:solidFill>
              <a:latin typeface="Garamond" panose="02020404030301010803" pitchFamily="18" charset="0"/>
            </a:endParaRPr>
          </a:p>
          <a:p>
            <a:endParaRPr lang="fr-FR" sz="3200" b="1" dirty="0">
              <a:solidFill>
                <a:srgbClr val="0070C0"/>
              </a:solidFill>
              <a:latin typeface="Garamond" panose="02020404030301010803" pitchFamily="18" charset="0"/>
            </a:endParaRPr>
          </a:p>
          <a:p>
            <a:endParaRPr lang="fr-FR" sz="3200" b="1" dirty="0">
              <a:solidFill>
                <a:srgbClr val="0070C0"/>
              </a:solidFill>
              <a:latin typeface="Garamond" panose="02020404030301010803" pitchFamily="18" charset="0"/>
            </a:endParaRPr>
          </a:p>
          <a:p>
            <a:r>
              <a:rPr lang="fr-FR" sz="3200" b="1" dirty="0">
                <a:solidFill>
                  <a:srgbClr val="0070C0"/>
                </a:solidFill>
                <a:latin typeface="Garamond" panose="02020404030301010803" pitchFamily="18" charset="0"/>
              </a:rPr>
              <a:t>Lente</a:t>
            </a:r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512" y="884793"/>
            <a:ext cx="9484975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Réaction entre les ions iodure et peroxodisulfate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au 9">
                <a:extLst>
                  <a:ext uri="{FF2B5EF4-FFF2-40B4-BE49-F238E27FC236}">
                    <a16:creationId xmlns:a16="http://schemas.microsoft.com/office/drawing/2014/main" id="{7BEF4F81-CD46-4B89-8C13-CCADB74E6F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6177384"/>
                  </p:ext>
                </p:extLst>
              </p:nvPr>
            </p:nvGraphicFramePr>
            <p:xfrm>
              <a:off x="1353512" y="2316539"/>
              <a:ext cx="9484975" cy="2627215"/>
            </p:xfrm>
            <a:graphic>
              <a:graphicData uri="http://schemas.openxmlformats.org/drawingml/2006/table">
                <a:tbl>
                  <a:tblPr firstRow="1">
                    <a:tableStyleId>{21E4AEA4-8DFA-4A89-87EB-49C32662AFE0}</a:tableStyleId>
                  </a:tblPr>
                  <a:tblGrid>
                    <a:gridCol w="1896995">
                      <a:extLst>
                        <a:ext uri="{9D8B030D-6E8A-4147-A177-3AD203B41FA5}">
                          <a16:colId xmlns:a16="http://schemas.microsoft.com/office/drawing/2014/main" val="1104667345"/>
                        </a:ext>
                      </a:extLst>
                    </a:gridCol>
                    <a:gridCol w="1896995">
                      <a:extLst>
                        <a:ext uri="{9D8B030D-6E8A-4147-A177-3AD203B41FA5}">
                          <a16:colId xmlns:a16="http://schemas.microsoft.com/office/drawing/2014/main" val="3702297056"/>
                        </a:ext>
                      </a:extLst>
                    </a:gridCol>
                    <a:gridCol w="1896995">
                      <a:extLst>
                        <a:ext uri="{9D8B030D-6E8A-4147-A177-3AD203B41FA5}">
                          <a16:colId xmlns:a16="http://schemas.microsoft.com/office/drawing/2014/main" val="2231410313"/>
                        </a:ext>
                      </a:extLst>
                    </a:gridCol>
                    <a:gridCol w="1896995">
                      <a:extLst>
                        <a:ext uri="{9D8B030D-6E8A-4147-A177-3AD203B41FA5}">
                          <a16:colId xmlns:a16="http://schemas.microsoft.com/office/drawing/2014/main" val="3202538284"/>
                        </a:ext>
                      </a:extLst>
                    </a:gridCol>
                    <a:gridCol w="1896995">
                      <a:extLst>
                        <a:ext uri="{9D8B030D-6E8A-4147-A177-3AD203B41FA5}">
                          <a16:colId xmlns:a16="http://schemas.microsoft.com/office/drawing/2014/main" val="1103196964"/>
                        </a:ext>
                      </a:extLst>
                    </a:gridCol>
                  </a:tblGrid>
                  <a:tr h="565192">
                    <a:tc>
                      <a:txBody>
                        <a:bodyPr/>
                        <a:lstStyle/>
                        <a:p>
                          <a:endParaRPr lang="fr-FR" i="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lang="fr-FR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(</m:t>
                                    </m:r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𝑎𝑞</m:t>
                                    </m:r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1800" i="1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fr-FR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fr-FR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8 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𝑎𝑞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(</m:t>
                                    </m:r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𝑎𝑞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𝑆𝑂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(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𝑎𝑞</m:t>
                                    </m:r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fr-FR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530122764"/>
                      </a:ext>
                    </a:extLst>
                  </a:tr>
                  <a:tr h="687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800" b="0" i="0" dirty="0">
                              <a:latin typeface="Garamond" panose="02020404030301010803" pitchFamily="18" charset="0"/>
                            </a:rPr>
                            <a:t>t</a:t>
                          </a:r>
                          <a:r>
                            <a:rPr lang="fr-FR" sz="2800" b="0" i="0" baseline="-25000" dirty="0">
                              <a:latin typeface="Garamond" panose="02020404030301010803" pitchFamily="18" charset="0"/>
                            </a:rPr>
                            <a:t>i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(excès)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5370662"/>
                      </a:ext>
                    </a:extLst>
                  </a:tr>
                  <a:tr h="687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800" b="0" i="0" dirty="0">
                              <a:latin typeface="Garamond" panose="02020404030301010803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(excès)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-</a:t>
                          </a:r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endParaRPr lang="fr-FR" sz="2400" baseline="-250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endParaRPr lang="fr-FR" sz="24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2</a:t>
                          </a:r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endParaRPr lang="fr-FR" sz="24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86302973"/>
                      </a:ext>
                    </a:extLst>
                  </a:tr>
                  <a:tr h="687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800" b="0" i="0" dirty="0" err="1">
                              <a:latin typeface="Garamond" panose="02020404030301010803" pitchFamily="18" charset="0"/>
                            </a:rPr>
                            <a:t>t</a:t>
                          </a:r>
                          <a:r>
                            <a:rPr lang="fr-FR" sz="2800" b="0" i="0" baseline="-25000" dirty="0" err="1">
                              <a:latin typeface="Garamond" panose="02020404030301010803" pitchFamily="18" charset="0"/>
                            </a:rPr>
                            <a:t>f</a:t>
                          </a:r>
                          <a:endParaRPr lang="fr-FR" sz="2800" b="0" i="0" baseline="-250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(excès)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-</a:t>
                          </a:r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f 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= 0</a:t>
                          </a:r>
                          <a:endParaRPr lang="fr-FR" sz="2400" baseline="-250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f 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= 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fr-FR" sz="24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2</a:t>
                          </a:r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f 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= 2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fr-FR" sz="24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875867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au 9">
                <a:extLst>
                  <a:ext uri="{FF2B5EF4-FFF2-40B4-BE49-F238E27FC236}">
                    <a16:creationId xmlns:a16="http://schemas.microsoft.com/office/drawing/2014/main" id="{7BEF4F81-CD46-4B89-8C13-CCADB74E6F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6177384"/>
                  </p:ext>
                </p:extLst>
              </p:nvPr>
            </p:nvGraphicFramePr>
            <p:xfrm>
              <a:off x="1353512" y="2316539"/>
              <a:ext cx="9484975" cy="2627215"/>
            </p:xfrm>
            <a:graphic>
              <a:graphicData uri="http://schemas.openxmlformats.org/drawingml/2006/table">
                <a:tbl>
                  <a:tblPr firstRow="1">
                    <a:tableStyleId>{21E4AEA4-8DFA-4A89-87EB-49C32662AFE0}</a:tableStyleId>
                  </a:tblPr>
                  <a:tblGrid>
                    <a:gridCol w="1896995">
                      <a:extLst>
                        <a:ext uri="{9D8B030D-6E8A-4147-A177-3AD203B41FA5}">
                          <a16:colId xmlns:a16="http://schemas.microsoft.com/office/drawing/2014/main" val="1104667345"/>
                        </a:ext>
                      </a:extLst>
                    </a:gridCol>
                    <a:gridCol w="1896995">
                      <a:extLst>
                        <a:ext uri="{9D8B030D-6E8A-4147-A177-3AD203B41FA5}">
                          <a16:colId xmlns:a16="http://schemas.microsoft.com/office/drawing/2014/main" val="3702297056"/>
                        </a:ext>
                      </a:extLst>
                    </a:gridCol>
                    <a:gridCol w="1896995">
                      <a:extLst>
                        <a:ext uri="{9D8B030D-6E8A-4147-A177-3AD203B41FA5}">
                          <a16:colId xmlns:a16="http://schemas.microsoft.com/office/drawing/2014/main" val="2231410313"/>
                        </a:ext>
                      </a:extLst>
                    </a:gridCol>
                    <a:gridCol w="1896995">
                      <a:extLst>
                        <a:ext uri="{9D8B030D-6E8A-4147-A177-3AD203B41FA5}">
                          <a16:colId xmlns:a16="http://schemas.microsoft.com/office/drawing/2014/main" val="3202538284"/>
                        </a:ext>
                      </a:extLst>
                    </a:gridCol>
                    <a:gridCol w="1896995">
                      <a:extLst>
                        <a:ext uri="{9D8B030D-6E8A-4147-A177-3AD203B41FA5}">
                          <a16:colId xmlns:a16="http://schemas.microsoft.com/office/drawing/2014/main" val="1103196964"/>
                        </a:ext>
                      </a:extLst>
                    </a:gridCol>
                  </a:tblGrid>
                  <a:tr h="565192">
                    <a:tc>
                      <a:txBody>
                        <a:bodyPr/>
                        <a:lstStyle/>
                        <a:p>
                          <a:endParaRPr lang="fr-FR" i="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643" r="-301286" b="-3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r="-200321" b="-3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965" r="-100965" b="-3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965" r="-965" b="-3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0122764"/>
                      </a:ext>
                    </a:extLst>
                  </a:tr>
                  <a:tr h="687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800" b="0" i="0" dirty="0">
                              <a:latin typeface="Garamond" panose="02020404030301010803" pitchFamily="18" charset="0"/>
                            </a:rPr>
                            <a:t>t</a:t>
                          </a:r>
                          <a:r>
                            <a:rPr lang="fr-FR" sz="2800" b="0" i="0" baseline="-25000" dirty="0">
                              <a:latin typeface="Garamond" panose="02020404030301010803" pitchFamily="18" charset="0"/>
                            </a:rPr>
                            <a:t>i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(excès)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25370662"/>
                      </a:ext>
                    </a:extLst>
                  </a:tr>
                  <a:tr h="687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800" b="0" i="0" dirty="0">
                              <a:latin typeface="Garamond" panose="02020404030301010803" pitchFamily="18" charset="0"/>
                            </a:rPr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(excès)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-</a:t>
                          </a:r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endParaRPr lang="fr-FR" sz="2400" baseline="-250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endParaRPr lang="fr-FR" sz="24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2</a:t>
                          </a:r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endParaRPr lang="fr-FR" sz="24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86302973"/>
                      </a:ext>
                    </a:extLst>
                  </a:tr>
                  <a:tr h="6873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800" b="0" i="0" dirty="0" err="1">
                              <a:latin typeface="Garamond" panose="02020404030301010803" pitchFamily="18" charset="0"/>
                            </a:rPr>
                            <a:t>t</a:t>
                          </a:r>
                          <a:r>
                            <a:rPr lang="fr-FR" sz="2800" b="0" i="0" baseline="-25000" dirty="0" err="1">
                              <a:latin typeface="Garamond" panose="02020404030301010803" pitchFamily="18" charset="0"/>
                            </a:rPr>
                            <a:t>f</a:t>
                          </a:r>
                          <a:endParaRPr lang="fr-FR" sz="2800" b="0" i="0" baseline="-250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dirty="0">
                              <a:latin typeface="Garamond" panose="02020404030301010803" pitchFamily="18" charset="0"/>
                            </a:rPr>
                            <a:t>(excès)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-</a:t>
                          </a:r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f 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= 0</a:t>
                          </a:r>
                          <a:endParaRPr lang="fr-FR" sz="2400" baseline="-250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f 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= 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fr-FR" sz="24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2</a:t>
                          </a:r>
                          <a:r>
                            <a:rPr lang="el-G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ξ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f 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  <a:ea typeface="Cambria" panose="02040503050406030204" pitchFamily="18" charset="0"/>
                            </a:rPr>
                            <a:t>= 2</a:t>
                          </a:r>
                          <a:r>
                            <a:rPr lang="fr-FR" sz="2400" baseline="0" dirty="0">
                              <a:latin typeface="Garamond" panose="02020404030301010803" pitchFamily="18" charset="0"/>
                            </a:rPr>
                            <a:t>n</a:t>
                          </a:r>
                          <a:r>
                            <a:rPr lang="fr-FR" sz="2400" baseline="-25000" dirty="0">
                              <a:latin typeface="Garamond" panose="02020404030301010803" pitchFamily="18" charset="0"/>
                            </a:rPr>
                            <a:t>0</a:t>
                          </a:r>
                          <a:endParaRPr lang="fr-FR" sz="2400" dirty="0">
                            <a:latin typeface="Garamond" panose="02020404030301010803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875867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ZoneTexte 10">
            <a:extLst>
              <a:ext uri="{FF2B5EF4-FFF2-40B4-BE49-F238E27FC236}">
                <a16:creationId xmlns:a16="http://schemas.microsoft.com/office/drawing/2014/main" id="{14109BCF-AFCA-4A05-920C-81FA985B33FB}"/>
              </a:ext>
            </a:extLst>
          </p:cNvPr>
          <p:cNvSpPr txBox="1"/>
          <p:nvPr/>
        </p:nvSpPr>
        <p:spPr>
          <a:xfrm>
            <a:off x="4820574" y="2316539"/>
            <a:ext cx="4962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fr-FR" dirty="0">
                <a:latin typeface="Cambria Math" panose="02040503050406030204" pitchFamily="18" charset="0"/>
                <a:ea typeface="Cambria Math" panose="02040503050406030204" pitchFamily="18" charset="0"/>
              </a:rPr>
              <a:t>+                                  =                                  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E7CE85B-357E-4B91-9740-0BF3FB609A39}"/>
                  </a:ext>
                </a:extLst>
              </p:cNvPr>
              <p:cNvSpPr txBox="1"/>
              <p:nvPr/>
            </p:nvSpPr>
            <p:spPr>
              <a:xfrm>
                <a:off x="2766873" y="5300728"/>
                <a:ext cx="6658252" cy="560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num>
                        <m:den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</m:sup>
                          </m:sSub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Sup>
                            <m:sSub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</m:sup>
                          </m:sSub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E7CE85B-357E-4B91-9740-0BF3FB609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6873" y="5300728"/>
                <a:ext cx="6658252" cy="560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228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Réaction du type </a:t>
            </a:r>
            <a:r>
              <a:rPr lang="el-GR" sz="3200" b="1" cap="none" dirty="0">
                <a:latin typeface="Garamond" panose="02020404030301010803" pitchFamily="18" charset="0"/>
                <a:ea typeface="Cambria Math" panose="02040503050406030204" pitchFamily="18" charset="0"/>
              </a:rPr>
              <a:t>α</a:t>
            </a:r>
            <a:r>
              <a:rPr lang="fr-FR" sz="3200" b="1" cap="none" dirty="0">
                <a:latin typeface="Garamond" panose="02020404030301010803" pitchFamily="18" charset="0"/>
                <a:ea typeface="Cambria Math" panose="02040503050406030204" pitchFamily="18" charset="0"/>
              </a:rPr>
              <a:t>A</a:t>
            </a:r>
            <a:r>
              <a:rPr lang="fr-FR" sz="3200" b="1" cap="none" dirty="0">
                <a:latin typeface="Garamond" panose="02020404030301010803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→</a:t>
            </a:r>
            <a:r>
              <a:rPr lang="el-GR" sz="3200" b="1" cap="none" dirty="0">
                <a:latin typeface="Garamond" panose="02020404030301010803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β</a:t>
            </a:r>
            <a:r>
              <a:rPr lang="fr-FR" sz="3200" b="1" cap="none" dirty="0">
                <a:latin typeface="Garamond" panose="02020404030301010803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B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au 5">
                <a:extLst>
                  <a:ext uri="{FF2B5EF4-FFF2-40B4-BE49-F238E27FC236}">
                    <a16:creationId xmlns:a16="http://schemas.microsoft.com/office/drawing/2014/main" id="{9C7CE4AB-D557-4F96-A31F-82B6094ED2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3148489"/>
                  </p:ext>
                </p:extLst>
              </p:nvPr>
            </p:nvGraphicFramePr>
            <p:xfrm>
              <a:off x="1442129" y="3091625"/>
              <a:ext cx="9307742" cy="16129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1690">
                      <a:extLst>
                        <a:ext uri="{9D8B030D-6E8A-4147-A177-3AD203B41FA5}">
                          <a16:colId xmlns:a16="http://schemas.microsoft.com/office/drawing/2014/main" val="342649242"/>
                        </a:ext>
                      </a:extLst>
                    </a:gridCol>
                    <a:gridCol w="2371407">
                      <a:extLst>
                        <a:ext uri="{9D8B030D-6E8A-4147-A177-3AD203B41FA5}">
                          <a16:colId xmlns:a16="http://schemas.microsoft.com/office/drawing/2014/main" val="2391345138"/>
                        </a:ext>
                      </a:extLst>
                    </a:gridCol>
                    <a:gridCol w="2754484">
                      <a:extLst>
                        <a:ext uri="{9D8B030D-6E8A-4147-A177-3AD203B41FA5}">
                          <a16:colId xmlns:a16="http://schemas.microsoft.com/office/drawing/2014/main" val="2076206356"/>
                        </a:ext>
                      </a:extLst>
                    </a:gridCol>
                    <a:gridCol w="1492126">
                      <a:extLst>
                        <a:ext uri="{9D8B030D-6E8A-4147-A177-3AD203B41FA5}">
                          <a16:colId xmlns:a16="http://schemas.microsoft.com/office/drawing/2014/main" val="2472071360"/>
                        </a:ext>
                      </a:extLst>
                    </a:gridCol>
                    <a:gridCol w="1338035">
                      <a:extLst>
                        <a:ext uri="{9D8B030D-6E8A-4147-A177-3AD203B41FA5}">
                          <a16:colId xmlns:a16="http://schemas.microsoft.com/office/drawing/2014/main" val="39719325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Ordre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Vitesse (</a:t>
                          </a:r>
                          <a14:m>
                            <m:oMath xmlns:m="http://schemas.openxmlformats.org/officeDocument/2006/math">
                              <m:r>
                                <a:rPr lang="fr-FR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fr-FR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fr-F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FR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fr-FR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</m:oMath>
                          </a14:m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Concentration en réactif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aseline="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t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Unité de 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23307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[A](t) = [A]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0 </a:t>
                          </a:r>
                          <a:r>
                            <a:rPr lang="fr-FR" baseline="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 </a:t>
                          </a:r>
                          <a:r>
                            <a:rPr lang="el-G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α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[A]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  <a:r>
                            <a:rPr lang="fr-FR" baseline="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/(2</a:t>
                          </a:r>
                          <a:r>
                            <a:rPr lang="el-G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α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mol.L</a:t>
                          </a:r>
                          <a:r>
                            <a:rPr lang="fr-FR" baseline="30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-1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.s</a:t>
                          </a:r>
                          <a:r>
                            <a:rPr lang="fr-FR" baseline="30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8891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k[A]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[A](t) = [A]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  <a:r>
                            <a:rPr lang="fr-FR" baseline="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e</a:t>
                          </a:r>
                          <a:r>
                            <a:rPr lang="fr-FR" baseline="30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</a:t>
                          </a:r>
                          <a:r>
                            <a:rPr lang="el-GR" baseline="30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α</a:t>
                          </a:r>
                          <a:r>
                            <a:rPr lang="fr-FR" baseline="30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ln(2)/</a:t>
                          </a:r>
                          <a:r>
                            <a:rPr lang="fr-FR" baseline="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(</a:t>
                          </a:r>
                          <a:r>
                            <a:rPr lang="el-G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α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aseline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s</a:t>
                          </a:r>
                          <a:r>
                            <a:rPr lang="fr-FR" baseline="3000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-1</a:t>
                          </a:r>
                          <a:endParaRPr lang="fr-FR" baseline="30000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50210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k[A]</a:t>
                          </a:r>
                          <a:r>
                            <a:rPr lang="fr-FR" baseline="30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[A](t)</a:t>
                          </a:r>
                          <a:r>
                            <a:rPr lang="fr-FR" baseline="30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-1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 = [A]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  <a:r>
                            <a:rPr lang="fr-FR" baseline="30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-1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 + </a:t>
                          </a:r>
                          <a:r>
                            <a:rPr lang="el-G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α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1/([A]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  <a:r>
                            <a:rPr lang="el-G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α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L.mol</a:t>
                          </a:r>
                          <a:r>
                            <a:rPr lang="fr-FR" baseline="3000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-1</a:t>
                          </a:r>
                          <a:r>
                            <a:rPr lang="fr-FR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.s</a:t>
                          </a:r>
                          <a:r>
                            <a:rPr lang="fr-FR" baseline="3000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-1</a:t>
                          </a:r>
                          <a:endParaRPr lang="fr-FR" baseline="30000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04513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au 5">
                <a:extLst>
                  <a:ext uri="{FF2B5EF4-FFF2-40B4-BE49-F238E27FC236}">
                    <a16:creationId xmlns:a16="http://schemas.microsoft.com/office/drawing/2014/main" id="{9C7CE4AB-D557-4F96-A31F-82B6094ED2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3148489"/>
                  </p:ext>
                </p:extLst>
              </p:nvPr>
            </p:nvGraphicFramePr>
            <p:xfrm>
              <a:off x="1442129" y="3091625"/>
              <a:ext cx="9307742" cy="16129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1690">
                      <a:extLst>
                        <a:ext uri="{9D8B030D-6E8A-4147-A177-3AD203B41FA5}">
                          <a16:colId xmlns:a16="http://schemas.microsoft.com/office/drawing/2014/main" val="342649242"/>
                        </a:ext>
                      </a:extLst>
                    </a:gridCol>
                    <a:gridCol w="2371407">
                      <a:extLst>
                        <a:ext uri="{9D8B030D-6E8A-4147-A177-3AD203B41FA5}">
                          <a16:colId xmlns:a16="http://schemas.microsoft.com/office/drawing/2014/main" val="2391345138"/>
                        </a:ext>
                      </a:extLst>
                    </a:gridCol>
                    <a:gridCol w="2754484">
                      <a:extLst>
                        <a:ext uri="{9D8B030D-6E8A-4147-A177-3AD203B41FA5}">
                          <a16:colId xmlns:a16="http://schemas.microsoft.com/office/drawing/2014/main" val="2076206356"/>
                        </a:ext>
                      </a:extLst>
                    </a:gridCol>
                    <a:gridCol w="1492126">
                      <a:extLst>
                        <a:ext uri="{9D8B030D-6E8A-4147-A177-3AD203B41FA5}">
                          <a16:colId xmlns:a16="http://schemas.microsoft.com/office/drawing/2014/main" val="2472071360"/>
                        </a:ext>
                      </a:extLst>
                    </a:gridCol>
                    <a:gridCol w="1338035">
                      <a:extLst>
                        <a:ext uri="{9D8B030D-6E8A-4147-A177-3AD203B41FA5}">
                          <a16:colId xmlns:a16="http://schemas.microsoft.com/office/drawing/2014/main" val="3971932537"/>
                        </a:ext>
                      </a:extLst>
                    </a:gridCol>
                  </a:tblGrid>
                  <a:tr h="5004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Ordre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57326" t="-6098" r="-236761" b="-2414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Concentration en réactif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aseline="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t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1/2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Unité de k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23307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[A](t) = [A]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0 </a:t>
                          </a:r>
                          <a:r>
                            <a:rPr lang="fr-FR" baseline="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 </a:t>
                          </a:r>
                          <a:r>
                            <a:rPr lang="el-G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α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[A]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  <a:r>
                            <a:rPr lang="fr-FR" baseline="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/(2</a:t>
                          </a:r>
                          <a:r>
                            <a:rPr lang="el-G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α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mol.L</a:t>
                          </a:r>
                          <a:r>
                            <a:rPr lang="fr-FR" baseline="30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-1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.s</a:t>
                          </a:r>
                          <a:r>
                            <a:rPr lang="fr-FR" baseline="30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8891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k[A]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[A](t) = [A]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  <a:r>
                            <a:rPr lang="fr-FR" baseline="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e</a:t>
                          </a:r>
                          <a:r>
                            <a:rPr lang="fr-FR" baseline="30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</a:t>
                          </a:r>
                          <a:r>
                            <a:rPr lang="el-GR" baseline="30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α</a:t>
                          </a:r>
                          <a:r>
                            <a:rPr lang="fr-FR" baseline="30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ln(2)/</a:t>
                          </a:r>
                          <a:r>
                            <a:rPr lang="fr-FR" baseline="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(</a:t>
                          </a:r>
                          <a:r>
                            <a:rPr lang="el-G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α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aseline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s</a:t>
                          </a:r>
                          <a:r>
                            <a:rPr lang="fr-FR" baseline="3000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-1</a:t>
                          </a:r>
                          <a:endParaRPr lang="fr-FR" baseline="30000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50210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k[A]</a:t>
                          </a:r>
                          <a:r>
                            <a:rPr lang="fr-FR" baseline="30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[A](t)</a:t>
                          </a:r>
                          <a:r>
                            <a:rPr lang="fr-FR" baseline="30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-1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 = [A]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  <a:r>
                            <a:rPr lang="fr-FR" baseline="30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-1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 + </a:t>
                          </a:r>
                          <a:r>
                            <a:rPr lang="el-G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α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1/([A]</a:t>
                          </a:r>
                          <a:r>
                            <a:rPr lang="fr-FR" baseline="-25000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0</a:t>
                          </a:r>
                          <a:r>
                            <a:rPr lang="el-G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α</a:t>
                          </a:r>
                          <a:r>
                            <a:rPr lang="fr-FR" dirty="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k)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L.mol</a:t>
                          </a:r>
                          <a:r>
                            <a:rPr lang="fr-FR" baseline="3000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-1</a:t>
                          </a:r>
                          <a:r>
                            <a:rPr lang="fr-FR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.s</a:t>
                          </a:r>
                          <a:r>
                            <a:rPr lang="fr-FR" baseline="30000">
                              <a:solidFill>
                                <a:schemeClr val="tx1"/>
                              </a:solidFill>
                              <a:latin typeface="Garamond" panose="02020404030301010803" pitchFamily="18" charset="0"/>
                            </a:rPr>
                            <a:t>-1</a:t>
                          </a:r>
                          <a:endParaRPr lang="fr-FR" baseline="30000" dirty="0">
                            <a:solidFill>
                              <a:schemeClr val="tx1"/>
                            </a:solidFill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804513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91869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34267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Facteurs cinétiques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7" name="20 8">
            <a:hlinkClick r:id="" action="ppaction://media"/>
            <a:extLst>
              <a:ext uri="{FF2B5EF4-FFF2-40B4-BE49-F238E27FC236}">
                <a16:creationId xmlns:a16="http://schemas.microsoft.com/office/drawing/2014/main" id="{E79DABC8-9308-4E94-B47C-5177A1E788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193155" y="4141980"/>
            <a:ext cx="4117680" cy="2656568"/>
          </a:xfrm>
          <a:prstGeom prst="rect">
            <a:avLst/>
          </a:prstGeom>
        </p:spPr>
      </p:pic>
      <p:pic>
        <p:nvPicPr>
          <p:cNvPr id="8" name="40 5">
            <a:hlinkClick r:id="" action="ppaction://media"/>
            <a:extLst>
              <a:ext uri="{FF2B5EF4-FFF2-40B4-BE49-F238E27FC236}">
                <a16:creationId xmlns:a16="http://schemas.microsoft.com/office/drawing/2014/main" id="{41F8CF1C-8560-48A5-8710-98CFCE64BA8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193155" y="1355592"/>
            <a:ext cx="4117680" cy="2656568"/>
          </a:xfrm>
          <a:prstGeom prst="rect">
            <a:avLst/>
          </a:prstGeom>
        </p:spPr>
      </p:pic>
      <p:pic>
        <p:nvPicPr>
          <p:cNvPr id="6" name="20 5">
            <a:hlinkClick r:id="" action="ppaction://media"/>
            <a:extLst>
              <a:ext uri="{FF2B5EF4-FFF2-40B4-BE49-F238E27FC236}">
                <a16:creationId xmlns:a16="http://schemas.microsoft.com/office/drawing/2014/main" id="{4AB00AC1-B523-4EAA-B213-29EC386B0BD8}"/>
              </a:ext>
            </a:extLst>
          </p:cNvPr>
          <p:cNvPicPr>
            <a:picLocks noGrp="1" noChangeAspect="1"/>
          </p:cNvPicPr>
          <p:nvPr>
            <p:ph idx="1"/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490527" y="2372629"/>
            <a:ext cx="4118088" cy="2656568"/>
          </a:xfrm>
        </p:spPr>
      </p:pic>
    </p:spTree>
    <p:extLst>
      <p:ext uri="{BB962C8B-B14F-4D97-AF65-F5344CB8AC3E}">
        <p14:creationId xmlns:p14="http://schemas.microsoft.com/office/powerpoint/2010/main" val="2679158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4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20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146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13629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Conclusion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1136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Markovitch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1026" name="Picture 2" descr="Los Angeles : un café et une addition... très corsée - Le Point">
            <a:extLst>
              <a:ext uri="{FF2B5EF4-FFF2-40B4-BE49-F238E27FC236}">
                <a16:creationId xmlns:a16="http://schemas.microsoft.com/office/drawing/2014/main" id="{287E2C9F-EA70-4840-83DA-12A80C656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00" y="1828280"/>
            <a:ext cx="3953168" cy="197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IGO A 2 PORTES RDSA 180K20W ACTIVE LINE BEKO">
            <a:extLst>
              <a:ext uri="{FF2B5EF4-FFF2-40B4-BE49-F238E27FC236}">
                <a16:creationId xmlns:a16="http://schemas.microsoft.com/office/drawing/2014/main" id="{2C3BA66D-49B5-4E9F-8B72-0AE486574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6179" y="1828280"/>
            <a:ext cx="3249224" cy="3715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utocuiseur traditionnel en inox 8 L - Mathon.fr">
            <a:extLst>
              <a:ext uri="{FF2B5EF4-FFF2-40B4-BE49-F238E27FC236}">
                <a16:creationId xmlns:a16="http://schemas.microsoft.com/office/drawing/2014/main" id="{C9B270E3-6288-4187-BA02-17B083247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722" y="3822954"/>
            <a:ext cx="2324828" cy="2324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illustrative de l’article Carbone">
            <a:extLst>
              <a:ext uri="{FF2B5EF4-FFF2-40B4-BE49-F238E27FC236}">
                <a16:creationId xmlns:a16="http://schemas.microsoft.com/office/drawing/2014/main" id="{D69FC1B5-BD73-4CAA-93F3-CFD1427CF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400" y="3804864"/>
            <a:ext cx="4006306" cy="234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URIER BLACK SATIN AB - PLANT - FERME DE SAINTE MARTHE">
            <a:extLst>
              <a:ext uri="{FF2B5EF4-FFF2-40B4-BE49-F238E27FC236}">
                <a16:creationId xmlns:a16="http://schemas.microsoft.com/office/drawing/2014/main" id="{34BDBBF4-D567-4A64-BEE3-5FED4F887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403" y="1828280"/>
            <a:ext cx="2061620" cy="2061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2A74156-8588-4E60-9D99-A5F18C181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989" y="1828280"/>
            <a:ext cx="2166768" cy="2881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676671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271</TotalTime>
  <Words>218</Words>
  <Application>Microsoft Office PowerPoint</Application>
  <PresentationFormat>Grand écran</PresentationFormat>
  <Paragraphs>67</Paragraphs>
  <Slides>6</Slides>
  <Notes>0</Notes>
  <HiddenSlides>0</HiddenSlides>
  <MMClips>3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 Math</vt:lpstr>
      <vt:lpstr>Garamond</vt:lpstr>
      <vt:lpstr>Gill Sans MT</vt:lpstr>
      <vt:lpstr>Colis</vt:lpstr>
      <vt:lpstr>LC21 : Cinétique homogène</vt:lpstr>
      <vt:lpstr>Vitesse d’une réaction</vt:lpstr>
      <vt:lpstr>Réaction entre les ions iodure et peroxodisulfate</vt:lpstr>
      <vt:lpstr>Réaction du type αA→βB</vt:lpstr>
      <vt:lpstr>Facteurs cinétiques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31</cp:revision>
  <dcterms:created xsi:type="dcterms:W3CDTF">2020-09-19T14:45:32Z</dcterms:created>
  <dcterms:modified xsi:type="dcterms:W3CDTF">2021-05-18T16:05:26Z</dcterms:modified>
</cp:coreProperties>
</file>