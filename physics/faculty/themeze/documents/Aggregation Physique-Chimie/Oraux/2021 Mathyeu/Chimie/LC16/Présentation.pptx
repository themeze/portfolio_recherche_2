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0"/>
  </p:notesMasterIdLst>
  <p:sldIdLst>
    <p:sldId id="256" r:id="rId2"/>
    <p:sldId id="257" r:id="rId3"/>
    <p:sldId id="258" r:id="rId4"/>
    <p:sldId id="264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51CE3-9C7E-4F9E-B0F4-FC988528060B}" type="datetimeFigureOut">
              <a:rPr lang="fr-FR" smtClean="0"/>
              <a:t>13/05/2021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36B36-6E90-4BAD-A4C4-085410494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884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2011-4AF3-484A-ACC1-E81F8CC48133}" type="datetime1">
              <a:rPr lang="fr-FR" smtClean="0"/>
              <a:t>13/05/2021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51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09F49-D0D3-47CD-901D-4E1D3BAF5AB2}" type="datetime1">
              <a:rPr lang="fr-FR" smtClean="0"/>
              <a:t>13/05/2021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421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54A85-7B2E-4FD7-93A7-AC2D6F4C0A02}" type="datetime1">
              <a:rPr lang="fr-FR" smtClean="0"/>
              <a:t>13/05/2021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338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58BB-11B9-447F-A8B8-D817CD81C453}" type="datetime1">
              <a:rPr lang="fr-FR" smtClean="0"/>
              <a:t>13/05/2021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24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A71A8-43F5-4B50-930C-AFD958D07321}" type="datetime1">
              <a:rPr lang="fr-FR" smtClean="0"/>
              <a:t>13/05/2021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52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0F49-8265-4A3A-AE23-F264A7AB982A}" type="datetime1">
              <a:rPr lang="fr-FR" smtClean="0"/>
              <a:t>13/05/2021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34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65DF-E2E8-4A8D-93BF-EBD582E9762B}" type="datetime1">
              <a:rPr lang="fr-FR" smtClean="0"/>
              <a:t>13/05/2021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9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A8A5-9239-458E-ABD9-01BE91958835}" type="datetime1">
              <a:rPr lang="fr-FR" smtClean="0"/>
              <a:t>13/05/2021</a:t>
            </a:fld>
            <a:endParaRPr lang="fr-F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643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18A53AF-E335-485C-9F4D-A75E166D6BF6}" type="datetime1">
              <a:rPr lang="fr-FR" smtClean="0"/>
              <a:t>13/05/2021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2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9ABF6-F35E-4280-B9BC-AEA6A61FEC11}" type="datetime1">
              <a:rPr lang="fr-FR" smtClean="0"/>
              <a:t>13/05/2021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930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E294D-F84B-4A3B-92A2-8E351A2EA1CD}" type="datetime1">
              <a:rPr lang="fr-FR" smtClean="0"/>
              <a:t>13/05/2021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467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0D0C986-FF24-43ED-ABC3-B4FAE3FAE3F0}" type="datetime1">
              <a:rPr lang="fr-FR" smtClean="0"/>
              <a:t>13/05/2021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3165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36647E-EBC3-4C35-A08A-ED41E77A3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3669" y="1925105"/>
            <a:ext cx="10964662" cy="16459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fr-FR" sz="6000" b="1" cap="none" dirty="0">
                <a:latin typeface="Garamond" panose="02020404030301010803" pitchFamily="18" charset="0"/>
              </a:rPr>
              <a:t>LC16 : Classification périodique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E999F2-7A5D-42D8-8020-0BE6951E3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4840815"/>
            <a:ext cx="6801612" cy="1239894"/>
          </a:xfrm>
        </p:spPr>
        <p:txBody>
          <a:bodyPr>
            <a:normAutofit/>
          </a:bodyPr>
          <a:lstStyle/>
          <a:p>
            <a:r>
              <a:rPr lang="fr-FR" sz="3200" b="1" dirty="0">
                <a:latin typeface="Garamond" panose="02020404030301010803" pitchFamily="18" charset="0"/>
              </a:rPr>
              <a:t>Mathieu </a:t>
            </a:r>
            <a:r>
              <a:rPr lang="fr-FR" sz="3200" b="1" dirty="0" err="1">
                <a:latin typeface="Garamond" panose="02020404030301010803" pitchFamily="18" charset="0"/>
              </a:rPr>
              <a:t>Markovitch</a:t>
            </a:r>
            <a:endParaRPr lang="fr-FR" sz="3200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58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5" y="444718"/>
            <a:ext cx="7729728" cy="11887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La classification périodique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5DECA2-773A-43F2-99C3-01972FC9C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2</a:t>
            </a:fld>
            <a:endParaRPr lang="fr-F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5F15BF7-475C-4F10-B1C1-87B55F8F2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1221" y="1778922"/>
            <a:ext cx="7909555" cy="4484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865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51509"/>
            <a:ext cx="7729728" cy="11887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Historique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3</a:t>
            </a:fld>
            <a:endParaRPr lang="fr-FR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0A60F93-D306-4476-A863-C2405F835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7629" y="1741502"/>
            <a:ext cx="1674586" cy="4842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E2BD2FE8-E09C-4B1A-8976-544C037B81AD}"/>
              </a:ext>
            </a:extLst>
          </p:cNvPr>
          <p:cNvSpPr txBox="1"/>
          <p:nvPr/>
        </p:nvSpPr>
        <p:spPr>
          <a:xfrm>
            <a:off x="3626499" y="2728542"/>
            <a:ext cx="23037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latin typeface="Garamond" panose="02020404030301010803" pitchFamily="18" charset="0"/>
              </a:rPr>
              <a:t>Nomenclature chimique de Lavoisier (1787)</a:t>
            </a:r>
          </a:p>
        </p:txBody>
      </p:sp>
      <p:pic>
        <p:nvPicPr>
          <p:cNvPr id="2052" name="Picture 4" descr="Avogadro's Law: Definition, Formula, Equation and Examples">
            <a:extLst>
              <a:ext uri="{FF2B5EF4-FFF2-40B4-BE49-F238E27FC236}">
                <a16:creationId xmlns:a16="http://schemas.microsoft.com/office/drawing/2014/main" id="{587DA311-B4F1-473E-B588-54B32E198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3276" y="1872327"/>
            <a:ext cx="1746965" cy="2079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Découvrir &amp; Comprendre - L'atome">
            <a:extLst>
              <a:ext uri="{FF2B5EF4-FFF2-40B4-BE49-F238E27FC236}">
                <a16:creationId xmlns:a16="http://schemas.microsoft.com/office/drawing/2014/main" id="{33642081-B14B-4E4F-9987-888D1C613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7258" y="1872328"/>
            <a:ext cx="1682529" cy="2079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C67E91EE-E21D-445C-B1B3-8B05B1FE4D7B}"/>
              </a:ext>
            </a:extLst>
          </p:cNvPr>
          <p:cNvSpPr txBox="1"/>
          <p:nvPr/>
        </p:nvSpPr>
        <p:spPr>
          <a:xfrm>
            <a:off x="6473016" y="4014755"/>
            <a:ext cx="38535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latin typeface="Garamond" panose="02020404030301010803" pitchFamily="18" charset="0"/>
              </a:rPr>
              <a:t>Travaux de Dalton (1804) et Avogadro (1811)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B45B567-9FDE-4981-82F6-B0610907AC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6167" y="4824050"/>
            <a:ext cx="4870391" cy="1283533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BB431091-E36B-4937-A1F8-0F38098E1DD2}"/>
              </a:ext>
            </a:extLst>
          </p:cNvPr>
          <p:cNvSpPr txBox="1"/>
          <p:nvPr/>
        </p:nvSpPr>
        <p:spPr>
          <a:xfrm>
            <a:off x="3924491" y="5173428"/>
            <a:ext cx="1873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latin typeface="Garamond" panose="02020404030301010803" pitchFamily="18" charset="0"/>
              </a:rPr>
              <a:t>Triades de </a:t>
            </a:r>
            <a:r>
              <a:rPr lang="fr-FR" sz="1600" dirty="0" err="1">
                <a:latin typeface="Garamond" panose="02020404030301010803" pitchFamily="18" charset="0"/>
              </a:rPr>
              <a:t>Döbereiner</a:t>
            </a:r>
            <a:r>
              <a:rPr lang="fr-FR" sz="1600" dirty="0">
                <a:latin typeface="Garamond" panose="02020404030301010803" pitchFamily="18" charset="0"/>
              </a:rPr>
              <a:t> (1817)</a:t>
            </a:r>
          </a:p>
        </p:txBody>
      </p:sp>
    </p:spTree>
    <p:extLst>
      <p:ext uri="{BB962C8B-B14F-4D97-AF65-F5344CB8AC3E}">
        <p14:creationId xmlns:p14="http://schemas.microsoft.com/office/powerpoint/2010/main" val="1168920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51509"/>
            <a:ext cx="7729728" cy="11887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Historique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4</a:t>
            </a:fld>
            <a:endParaRPr lang="fr-FR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0A60F93-D306-4476-A863-C2405F835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7629" y="1741502"/>
            <a:ext cx="1674586" cy="4842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E2BD2FE8-E09C-4B1A-8976-544C037B81AD}"/>
              </a:ext>
            </a:extLst>
          </p:cNvPr>
          <p:cNvSpPr txBox="1"/>
          <p:nvPr/>
        </p:nvSpPr>
        <p:spPr>
          <a:xfrm>
            <a:off x="3626499" y="2728542"/>
            <a:ext cx="23037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latin typeface="Garamond" panose="02020404030301010803" pitchFamily="18" charset="0"/>
              </a:rPr>
              <a:t>Nomenclature chimique de Lavoisier (1787)</a:t>
            </a:r>
          </a:p>
        </p:txBody>
      </p:sp>
      <p:pic>
        <p:nvPicPr>
          <p:cNvPr id="2052" name="Picture 4" descr="Avogadro's Law: Definition, Formula, Equation and Examples">
            <a:extLst>
              <a:ext uri="{FF2B5EF4-FFF2-40B4-BE49-F238E27FC236}">
                <a16:creationId xmlns:a16="http://schemas.microsoft.com/office/drawing/2014/main" id="{587DA311-B4F1-473E-B588-54B32E198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3276" y="1872327"/>
            <a:ext cx="1746965" cy="2079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Découvrir &amp; Comprendre - L'atome">
            <a:extLst>
              <a:ext uri="{FF2B5EF4-FFF2-40B4-BE49-F238E27FC236}">
                <a16:creationId xmlns:a16="http://schemas.microsoft.com/office/drawing/2014/main" id="{33642081-B14B-4E4F-9987-888D1C613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7258" y="1872328"/>
            <a:ext cx="1682529" cy="2079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C67E91EE-E21D-445C-B1B3-8B05B1FE4D7B}"/>
              </a:ext>
            </a:extLst>
          </p:cNvPr>
          <p:cNvSpPr txBox="1"/>
          <p:nvPr/>
        </p:nvSpPr>
        <p:spPr>
          <a:xfrm>
            <a:off x="6473016" y="4014755"/>
            <a:ext cx="38535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latin typeface="Garamond" panose="02020404030301010803" pitchFamily="18" charset="0"/>
              </a:rPr>
              <a:t>Travaux de Dalton (1804) et Avogadro (1811)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B45B567-9FDE-4981-82F6-B0610907AC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6167" y="4824050"/>
            <a:ext cx="4870391" cy="1283533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BB431091-E36B-4937-A1F8-0F38098E1DD2}"/>
              </a:ext>
            </a:extLst>
          </p:cNvPr>
          <p:cNvSpPr txBox="1"/>
          <p:nvPr/>
        </p:nvSpPr>
        <p:spPr>
          <a:xfrm>
            <a:off x="3924491" y="5173428"/>
            <a:ext cx="1873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latin typeface="Garamond" panose="02020404030301010803" pitchFamily="18" charset="0"/>
              </a:rPr>
              <a:t>Triades de </a:t>
            </a:r>
            <a:r>
              <a:rPr lang="fr-FR" sz="1600" dirty="0" err="1">
                <a:latin typeface="Garamond" panose="02020404030301010803" pitchFamily="18" charset="0"/>
              </a:rPr>
              <a:t>Döbereiner</a:t>
            </a:r>
            <a:r>
              <a:rPr lang="fr-FR" sz="1600" dirty="0">
                <a:latin typeface="Garamond" panose="02020404030301010803" pitchFamily="18" charset="0"/>
              </a:rPr>
              <a:t> (1817)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B2964D2-EC94-43EA-9E8E-DEF1B81A62C1}"/>
              </a:ext>
            </a:extLst>
          </p:cNvPr>
          <p:cNvSpPr txBox="1"/>
          <p:nvPr/>
        </p:nvSpPr>
        <p:spPr>
          <a:xfrm>
            <a:off x="5532342" y="6000946"/>
            <a:ext cx="5129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>
                <a:solidFill>
                  <a:srgbClr val="FF0000"/>
                </a:solidFill>
              </a:rPr>
              <a:t>Propriété : Formation d’anions qui précipitent avec Ag</a:t>
            </a:r>
            <a:r>
              <a:rPr lang="fr-FR" i="1" baseline="30000" dirty="0">
                <a:solidFill>
                  <a:srgbClr val="FF0000"/>
                </a:solidFill>
              </a:rPr>
              <a:t>+</a:t>
            </a:r>
            <a:r>
              <a:rPr lang="fr-FR" i="1" baseline="-25000" dirty="0">
                <a:solidFill>
                  <a:srgbClr val="FF0000"/>
                </a:solidFill>
              </a:rPr>
              <a:t>.</a:t>
            </a:r>
            <a:endParaRPr lang="fr-FR" i="1" baseline="30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7464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51509"/>
            <a:ext cx="7729728" cy="11887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Historique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5</a:t>
            </a:fld>
            <a:endParaRPr lang="fr-FR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45C46E5-0A03-4B5E-A4ED-2DF46A0D40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311" y="1793462"/>
            <a:ext cx="4289458" cy="3711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C5710121-155B-43F1-8D15-FCB019A7B5A9}"/>
              </a:ext>
            </a:extLst>
          </p:cNvPr>
          <p:cNvSpPr txBox="1"/>
          <p:nvPr/>
        </p:nvSpPr>
        <p:spPr>
          <a:xfrm>
            <a:off x="1353620" y="5545950"/>
            <a:ext cx="40268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latin typeface="Garamond" panose="02020404030301010803" pitchFamily="18" charset="0"/>
              </a:rPr>
              <a:t>Vis tellurique de </a:t>
            </a:r>
            <a:r>
              <a:rPr lang="fr-FR" sz="1600" dirty="0" err="1">
                <a:latin typeface="Garamond" panose="02020404030301010803" pitchFamily="18" charset="0"/>
              </a:rPr>
              <a:t>Chancourtois</a:t>
            </a:r>
            <a:r>
              <a:rPr lang="fr-FR" sz="1600" dirty="0">
                <a:latin typeface="Garamond" panose="02020404030301010803" pitchFamily="18" charset="0"/>
              </a:rPr>
              <a:t> (1862)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12A70E9E-4FF7-4D1B-8783-5010B28C5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998" y="2311992"/>
            <a:ext cx="4962031" cy="2674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30388213-3209-4E42-B890-6B8AC489CF67}"/>
              </a:ext>
            </a:extLst>
          </p:cNvPr>
          <p:cNvSpPr txBox="1"/>
          <p:nvPr/>
        </p:nvSpPr>
        <p:spPr>
          <a:xfrm>
            <a:off x="6375593" y="5094547"/>
            <a:ext cx="40268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latin typeface="Garamond" panose="02020404030301010803" pitchFamily="18" charset="0"/>
              </a:rPr>
              <a:t>Classification de Mendeleïev (1869)</a:t>
            </a:r>
          </a:p>
        </p:txBody>
      </p:sp>
    </p:spTree>
    <p:extLst>
      <p:ext uri="{BB962C8B-B14F-4D97-AF65-F5344CB8AC3E}">
        <p14:creationId xmlns:p14="http://schemas.microsoft.com/office/powerpoint/2010/main" val="3989013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7970" y="498348"/>
            <a:ext cx="8346668" cy="11887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Classification et configuration électronique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5DECA2-773A-43F2-99C3-01972FC9C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6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5229042-98CE-4F22-BF17-83D501868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666" y="1943777"/>
            <a:ext cx="8346668" cy="4133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288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51509"/>
            <a:ext cx="7729728" cy="11887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Electronégativité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7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EBCB4BD-35B8-4FEC-92D4-0A05DB2A3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795267" y="972618"/>
            <a:ext cx="4601465" cy="598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004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51509"/>
            <a:ext cx="7729728" cy="11887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Conclusion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8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DAEDC21-2AF4-402D-AE9B-04A219B1B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079" y="1743956"/>
            <a:ext cx="8730343" cy="4415957"/>
          </a:xfrm>
          <a:prstGeom prst="rect">
            <a:avLst/>
          </a:prstGeom>
        </p:spPr>
      </p:pic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F88916B7-4830-41F9-AF68-0AAF39EE9D51}"/>
              </a:ext>
            </a:extLst>
          </p:cNvPr>
          <p:cNvCxnSpPr>
            <a:cxnSpLocks/>
          </p:cNvCxnSpPr>
          <p:nvPr/>
        </p:nvCxnSpPr>
        <p:spPr>
          <a:xfrm flipV="1">
            <a:off x="10828193" y="3429000"/>
            <a:ext cx="296489" cy="36933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E8CCCFC2-6579-438A-B2E5-759DD4B90B67}"/>
              </a:ext>
            </a:extLst>
          </p:cNvPr>
          <p:cNvSpPr txBox="1"/>
          <p:nvPr/>
        </p:nvSpPr>
        <p:spPr>
          <a:xfrm>
            <a:off x="10187424" y="3448519"/>
            <a:ext cx="640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1"/>
                </a:solidFill>
                <a:latin typeface="Garamond" panose="02020404030301010803" pitchFamily="18" charset="0"/>
              </a:rPr>
              <a:t>EI, </a:t>
            </a:r>
            <a:r>
              <a:rPr lang="el-GR" dirty="0">
                <a:solidFill>
                  <a:schemeClr val="accent1"/>
                </a:solidFill>
                <a:latin typeface="Garamond" panose="02020404030301010803" pitchFamily="18" charset="0"/>
                <a:ea typeface="Cambria Math" panose="02040503050406030204" pitchFamily="18" charset="0"/>
              </a:rPr>
              <a:t>χ</a:t>
            </a:r>
            <a:endParaRPr lang="fr-FR" dirty="0">
              <a:solidFill>
                <a:schemeClr val="accent1"/>
              </a:solidFill>
              <a:latin typeface="Garamond" panose="02020404030301010803" pitchFamily="18" charset="0"/>
            </a:endParaRPr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94D1F65C-0C5A-43C1-9686-7060E4CB3D3D}"/>
              </a:ext>
            </a:extLst>
          </p:cNvPr>
          <p:cNvCxnSpPr>
            <a:cxnSpLocks/>
          </p:cNvCxnSpPr>
          <p:nvPr/>
        </p:nvCxnSpPr>
        <p:spPr>
          <a:xfrm flipH="1">
            <a:off x="10828193" y="4080653"/>
            <a:ext cx="275653" cy="38846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B1D4DA35-C88C-4C8A-B3DF-61B25DDF83A2}"/>
              </a:ext>
            </a:extLst>
          </p:cNvPr>
          <p:cNvSpPr txBox="1"/>
          <p:nvPr/>
        </p:nvSpPr>
        <p:spPr>
          <a:xfrm>
            <a:off x="10344708" y="4099783"/>
            <a:ext cx="326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1"/>
                </a:solidFill>
                <a:latin typeface="Garamond" panose="02020404030301010803" pitchFamily="18" charset="0"/>
                <a:ea typeface="Cambria Math" panose="02040503050406030204" pitchFamily="18" charset="0"/>
              </a:rPr>
              <a:t>ρ</a:t>
            </a:r>
            <a:endParaRPr lang="fr-FR" dirty="0">
              <a:solidFill>
                <a:schemeClr val="accent1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491190"/>
      </p:ext>
    </p:extLst>
  </p:cSld>
  <p:clrMapOvr>
    <a:masterClrMapping/>
  </p:clrMapOvr>
</p:sld>
</file>

<file path=ppt/theme/theme1.xml><?xml version="1.0" encoding="utf-8"?>
<a:theme xmlns:a="http://schemas.openxmlformats.org/drawingml/2006/main" name="Colis">
  <a:themeElements>
    <a:clrScheme name="Colis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olis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lis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Colis</Template>
  <TotalTime>146</TotalTime>
  <Words>113</Words>
  <Application>Microsoft Office PowerPoint</Application>
  <PresentationFormat>Grand écran</PresentationFormat>
  <Paragraphs>34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Arial</vt:lpstr>
      <vt:lpstr>Calibri</vt:lpstr>
      <vt:lpstr>Garamond</vt:lpstr>
      <vt:lpstr>Gill Sans MT</vt:lpstr>
      <vt:lpstr>Colis</vt:lpstr>
      <vt:lpstr>LC16 : Classification périodique</vt:lpstr>
      <vt:lpstr>La classification périodique</vt:lpstr>
      <vt:lpstr>Historique</vt:lpstr>
      <vt:lpstr>Historique</vt:lpstr>
      <vt:lpstr>Historique</vt:lpstr>
      <vt:lpstr>Classification et configuration électronique</vt:lpstr>
      <vt:lpstr>Electronégativité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Leçon : </dc:title>
  <dc:creator>Mathieu</dc:creator>
  <cp:lastModifiedBy>Mathieu</cp:lastModifiedBy>
  <cp:revision>15</cp:revision>
  <dcterms:created xsi:type="dcterms:W3CDTF">2020-09-19T14:45:32Z</dcterms:created>
  <dcterms:modified xsi:type="dcterms:W3CDTF">2021-05-13T15:59:56Z</dcterms:modified>
</cp:coreProperties>
</file>