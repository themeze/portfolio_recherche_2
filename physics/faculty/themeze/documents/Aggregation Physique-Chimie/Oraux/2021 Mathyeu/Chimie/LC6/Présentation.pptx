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F51CE3-9C7E-4F9E-B0F4-FC988528060B}" type="datetimeFigureOut">
              <a:rPr lang="fr-FR" smtClean="0"/>
              <a:t>27/05/2021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536B36-6E90-4BAD-A4C4-0854104948A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08884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22011-4AF3-484A-ACC1-E81F8CC48133}" type="datetime1">
              <a:rPr lang="fr-FR" smtClean="0"/>
              <a:t>27/05/2021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Mathieu Markovitch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505161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09F49-D0D3-47CD-901D-4E1D3BAF5AB2}" type="datetime1">
              <a:rPr lang="fr-FR" smtClean="0"/>
              <a:t>27/05/2021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Mathieu Markovitch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364214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54A85-7B2E-4FD7-93A7-AC2D6F4C0A02}" type="datetime1">
              <a:rPr lang="fr-FR" smtClean="0"/>
              <a:t>27/05/2021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Mathieu Markovitch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14338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F58BB-11B9-447F-A8B8-D817CD81C453}" type="datetime1">
              <a:rPr lang="fr-FR" smtClean="0"/>
              <a:t>27/05/2021</a:t>
            </a:fld>
            <a:endParaRPr lang="fr-FR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Mathieu Markovitch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942449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A71A8-43F5-4B50-930C-AFD958D07321}" type="datetime1">
              <a:rPr lang="fr-FR" smtClean="0"/>
              <a:t>27/05/2021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Mathieu Markovitch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95248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D0F49-8265-4A3A-AE23-F264A7AB982A}" type="datetime1">
              <a:rPr lang="fr-FR" smtClean="0"/>
              <a:t>27/05/2021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Mathieu Markovitch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333462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365DF-E2E8-4A8D-93BF-EBD582E9762B}" type="datetime1">
              <a:rPr lang="fr-FR" smtClean="0"/>
              <a:t>27/05/2021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Mathieu Markovitch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149948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A8A5-9239-458E-ABD9-01BE91958835}" type="datetime1">
              <a:rPr lang="fr-FR" smtClean="0"/>
              <a:t>27/05/2021</a:t>
            </a:fld>
            <a:endParaRPr lang="fr-FR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r>
              <a:rPr lang="fr-FR"/>
              <a:t>Mathieu Markovitch</a:t>
            </a: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564351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F18A53AF-E335-485C-9F4D-A75E166D6BF6}" type="datetime1">
              <a:rPr lang="fr-FR" smtClean="0"/>
              <a:t>27/05/2021</a:t>
            </a:fld>
            <a:endParaRPr lang="fr-FR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r>
              <a:rPr lang="fr-FR"/>
              <a:t>Mathieu Markovitch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74247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9ABF6-F35E-4280-B9BC-AEA6A61FEC11}" type="datetime1">
              <a:rPr lang="fr-FR" smtClean="0"/>
              <a:t>27/05/2021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Mathieu Markovitch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193066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4E294D-F84B-4A3B-92A2-8E351A2EA1CD}" type="datetime1">
              <a:rPr lang="fr-FR" smtClean="0"/>
              <a:t>27/05/2021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Mathieu Markovitch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164678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A0D0C986-FF24-43ED-ABC3-B4FAE3FAE3F0}" type="datetime1">
              <a:rPr lang="fr-FR" smtClean="0"/>
              <a:t>27/05/2021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r>
              <a:rPr lang="fr-FR"/>
              <a:t>Mathieu Markovitch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131651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A36647E-EBC3-4C35-A08A-ED41E77A3A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8170" y="1766298"/>
            <a:ext cx="9295660" cy="2035188"/>
          </a:xfrm>
          <a:solidFill>
            <a:schemeClr val="accent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fr-FR" sz="6000" b="1" cap="none" dirty="0">
                <a:latin typeface="Garamond" panose="02020404030301010803" pitchFamily="18" charset="0"/>
              </a:rPr>
              <a:t>LC6 : Chimie analytique quantitative et fiabilité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56E999F2-7A5D-42D8-8020-0BE6951E39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95194" y="4831938"/>
            <a:ext cx="6801612" cy="1239894"/>
          </a:xfrm>
        </p:spPr>
        <p:txBody>
          <a:bodyPr>
            <a:normAutofit/>
          </a:bodyPr>
          <a:lstStyle/>
          <a:p>
            <a:r>
              <a:rPr lang="fr-FR" sz="3200" b="1" dirty="0">
                <a:latin typeface="Garamond" panose="02020404030301010803" pitchFamily="18" charset="0"/>
              </a:rPr>
              <a:t>Mathieu </a:t>
            </a:r>
            <a:r>
              <a:rPr lang="fr-FR" sz="3200" b="1" dirty="0" err="1">
                <a:latin typeface="Garamond" panose="02020404030301010803" pitchFamily="18" charset="0"/>
              </a:rPr>
              <a:t>Markovitch</a:t>
            </a:r>
            <a:endParaRPr lang="fr-FR" sz="3200" b="1" dirty="0"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11584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69A4F7-3E34-4AA1-88E3-76F0480113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414185"/>
            <a:ext cx="7729728" cy="1188720"/>
          </a:xfrm>
          <a:solidFill>
            <a:schemeClr val="accent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fr-FR" sz="3200" b="1" cap="none" dirty="0">
                <a:latin typeface="Garamond" panose="02020404030301010803" pitchFamily="18" charset="0"/>
              </a:rPr>
              <a:t>Les contrôles de qualité au quotidien</a:t>
            </a:r>
            <a:endParaRPr lang="fr-FR" sz="3200" b="1" dirty="0">
              <a:latin typeface="Garamond" panose="02020404030301010803" pitchFamily="18" charset="0"/>
            </a:endParaRP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7B8DF43-DCB9-4BA8-8B29-3299A4CC5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32177" y="6263640"/>
            <a:ext cx="1569128" cy="320040"/>
          </a:xfrm>
        </p:spPr>
        <p:txBody>
          <a:bodyPr/>
          <a:lstStyle/>
          <a:p>
            <a:r>
              <a:rPr lang="fr-FR" sz="1200" dirty="0">
                <a:latin typeface="Garamond" panose="02020404030301010803" pitchFamily="18" charset="0"/>
              </a:rPr>
              <a:t>Mathieu </a:t>
            </a:r>
            <a:r>
              <a:rPr lang="fr-FR" sz="1200" dirty="0" err="1">
                <a:latin typeface="Garamond" panose="02020404030301010803" pitchFamily="18" charset="0"/>
              </a:rPr>
              <a:t>Markovitch</a:t>
            </a:r>
            <a:endParaRPr lang="fr-FR" sz="1200" dirty="0">
              <a:latin typeface="Garamond" panose="02020404030301010803" pitchFamily="18" charset="0"/>
            </a:endParaRP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57561A7-7104-44B2-8184-4D27ACCF7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2</a:t>
            </a:fld>
            <a:endParaRPr lang="fr-FR"/>
          </a:p>
        </p:txBody>
      </p:sp>
      <p:pic>
        <p:nvPicPr>
          <p:cNvPr id="1026" name="Picture 2" descr="Sirop menthe verte - Sirop Shop">
            <a:extLst>
              <a:ext uri="{FF2B5EF4-FFF2-40B4-BE49-F238E27FC236}">
                <a16:creationId xmlns:a16="http://schemas.microsoft.com/office/drawing/2014/main" id="{4422C28B-A8B7-40C7-B85F-A78F460116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8341" y="1696212"/>
            <a:ext cx="2166662" cy="21666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B9E6535F-7147-4CFF-B208-B833DBD7135C}"/>
              </a:ext>
            </a:extLst>
          </p:cNvPr>
          <p:cNvSpPr txBox="1"/>
          <p:nvPr/>
        </p:nvSpPr>
        <p:spPr>
          <a:xfrm>
            <a:off x="7359559" y="3862874"/>
            <a:ext cx="20842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dirty="0">
                <a:latin typeface="Garamond" panose="02020404030301010803" pitchFamily="18" charset="0"/>
              </a:rPr>
              <a:t>Colorants dans un sirop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F41C86B8-2180-4E13-8DB5-A6ECD0F9D6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61856" y="1696213"/>
            <a:ext cx="2166662" cy="21666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46CDA7DE-CEBF-423A-974F-623C0E18B1BB}"/>
              </a:ext>
            </a:extLst>
          </p:cNvPr>
          <p:cNvSpPr txBox="1"/>
          <p:nvPr/>
        </p:nvSpPr>
        <p:spPr>
          <a:xfrm>
            <a:off x="2184579" y="3862874"/>
            <a:ext cx="411824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dirty="0">
                <a:latin typeface="Garamond" panose="02020404030301010803" pitchFamily="18" charset="0"/>
              </a:rPr>
              <a:t>Chlorure de sodium dans le sérum physiologique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13E1DECC-4D69-4C85-8608-771935F3C3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0272" y="4427671"/>
            <a:ext cx="2402798" cy="1601865"/>
          </a:xfrm>
          <a:prstGeom prst="rect">
            <a:avLst/>
          </a:prstGeom>
        </p:spPr>
      </p:pic>
      <p:sp>
        <p:nvSpPr>
          <p:cNvPr id="12" name="ZoneTexte 11">
            <a:extLst>
              <a:ext uri="{FF2B5EF4-FFF2-40B4-BE49-F238E27FC236}">
                <a16:creationId xmlns:a16="http://schemas.microsoft.com/office/drawing/2014/main" id="{E24ADBA3-0E1A-44CA-9C13-00D1E0712C35}"/>
              </a:ext>
            </a:extLst>
          </p:cNvPr>
          <p:cNvSpPr txBox="1"/>
          <p:nvPr/>
        </p:nvSpPr>
        <p:spPr>
          <a:xfrm>
            <a:off x="7515324" y="6029536"/>
            <a:ext cx="177269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dirty="0">
                <a:latin typeface="Garamond" panose="02020404030301010803" pitchFamily="18" charset="0"/>
              </a:rPr>
              <a:t>Qualité de l’eau</a:t>
            </a:r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E620645B-C2AE-4F75-8DAB-EE869B11C24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59882" y="4954718"/>
            <a:ext cx="2767631" cy="867761"/>
          </a:xfrm>
          <a:prstGeom prst="rect">
            <a:avLst/>
          </a:prstGeom>
        </p:spPr>
      </p:pic>
      <p:sp>
        <p:nvSpPr>
          <p:cNvPr id="15" name="ZoneTexte 14">
            <a:extLst>
              <a:ext uri="{FF2B5EF4-FFF2-40B4-BE49-F238E27FC236}">
                <a16:creationId xmlns:a16="http://schemas.microsoft.com/office/drawing/2014/main" id="{DC135C73-38AB-4C5E-B6F1-44E0B2C5C477}"/>
              </a:ext>
            </a:extLst>
          </p:cNvPr>
          <p:cNvSpPr txBox="1"/>
          <p:nvPr/>
        </p:nvSpPr>
        <p:spPr>
          <a:xfrm>
            <a:off x="3459132" y="5953567"/>
            <a:ext cx="156912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dirty="0">
                <a:latin typeface="Garamond" panose="02020404030301010803" pitchFamily="18" charset="0"/>
              </a:rPr>
              <a:t>Principe actif</a:t>
            </a:r>
          </a:p>
        </p:txBody>
      </p:sp>
    </p:spTree>
    <p:extLst>
      <p:ext uri="{BB962C8B-B14F-4D97-AF65-F5344CB8AC3E}">
        <p14:creationId xmlns:p14="http://schemas.microsoft.com/office/powerpoint/2010/main" val="35786506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69A4F7-3E34-4AA1-88E3-76F0480113D5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fr-FR" sz="3200" b="1" cap="none" dirty="0">
                <a:latin typeface="Garamond" panose="02020404030301010803" pitchFamily="18" charset="0"/>
              </a:rPr>
              <a:t>Dosage d’un colorant</a:t>
            </a:r>
            <a:endParaRPr lang="fr-FR" sz="3200" b="1" dirty="0">
              <a:latin typeface="Garamond" panose="02020404030301010803" pitchFamily="18" charset="0"/>
            </a:endParaRP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7B8DF43-DCB9-4BA8-8B29-3299A4CC5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32177" y="6263640"/>
            <a:ext cx="1569128" cy="320040"/>
          </a:xfrm>
        </p:spPr>
        <p:txBody>
          <a:bodyPr/>
          <a:lstStyle/>
          <a:p>
            <a:r>
              <a:rPr lang="fr-FR" sz="1200" dirty="0">
                <a:latin typeface="Garamond" panose="02020404030301010803" pitchFamily="18" charset="0"/>
              </a:rPr>
              <a:t>Mathieu </a:t>
            </a:r>
            <a:r>
              <a:rPr lang="fr-FR" sz="1200" dirty="0" err="1">
                <a:latin typeface="Garamond" panose="02020404030301010803" pitchFamily="18" charset="0"/>
              </a:rPr>
              <a:t>Markovitch</a:t>
            </a:r>
            <a:endParaRPr lang="fr-FR" sz="1200" dirty="0">
              <a:latin typeface="Garamond" panose="02020404030301010803" pitchFamily="18" charset="0"/>
            </a:endParaRP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57561A7-7104-44B2-8184-4D27ACCF7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3</a:t>
            </a:fld>
            <a:endParaRPr lang="fr-FR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25A79E40-9025-46B5-8C32-BBB3D5380C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9475" y="2370964"/>
            <a:ext cx="2676525" cy="2333625"/>
          </a:xfrm>
          <a:prstGeom prst="rect">
            <a:avLst/>
          </a:prstGeom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AE0BAD32-9ED5-4DB3-BFAE-AB20974FBEB6}"/>
              </a:ext>
            </a:extLst>
          </p:cNvPr>
          <p:cNvSpPr txBox="1"/>
          <p:nvPr/>
        </p:nvSpPr>
        <p:spPr>
          <a:xfrm>
            <a:off x="3309817" y="4951241"/>
            <a:ext cx="28958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fr-FR" sz="1600" dirty="0">
                <a:latin typeface="Garamond" panose="02020404030301010803" pitchFamily="18" charset="0"/>
              </a:rPr>
              <a:t>E102 : jaune de tartrazine</a:t>
            </a:r>
          </a:p>
          <a:p>
            <a:pPr algn="just"/>
            <a:r>
              <a:rPr lang="fr-FR" sz="1600" dirty="0">
                <a:latin typeface="Garamond" panose="02020404030301010803" pitchFamily="18" charset="0"/>
              </a:rPr>
              <a:t>E131 : bleu patenté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96BAE2BA-F20C-4C4B-B8D3-BB5C106CC5AB}"/>
              </a:ext>
            </a:extLst>
          </p:cNvPr>
          <p:cNvSpPr txBox="1"/>
          <p:nvPr/>
        </p:nvSpPr>
        <p:spPr>
          <a:xfrm>
            <a:off x="5536501" y="5197462"/>
            <a:ext cx="411824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dirty="0">
                <a:latin typeface="Garamond" panose="02020404030301010803" pitchFamily="18" charset="0"/>
              </a:rPr>
              <a:t>Dose journalière admissible 2,5 mg.kg</a:t>
            </a:r>
            <a:r>
              <a:rPr lang="fr-FR" sz="1600" baseline="30000" dirty="0">
                <a:latin typeface="Garamond" panose="02020404030301010803" pitchFamily="18" charset="0"/>
              </a:rPr>
              <a:t>-1</a:t>
            </a:r>
            <a:r>
              <a:rPr lang="fr-FR" sz="1600" dirty="0">
                <a:latin typeface="Garamond" panose="02020404030301010803" pitchFamily="18" charset="0"/>
              </a:rPr>
              <a:t>.j</a:t>
            </a:r>
            <a:r>
              <a:rPr lang="fr-FR" sz="1600" baseline="30000" dirty="0">
                <a:latin typeface="Garamond" panose="02020404030301010803" pitchFamily="18" charset="0"/>
              </a:rPr>
              <a:t>-1</a:t>
            </a:r>
          </a:p>
        </p:txBody>
      </p:sp>
      <p:sp>
        <p:nvSpPr>
          <p:cNvPr id="12" name="Flèche : droite 11">
            <a:extLst>
              <a:ext uri="{FF2B5EF4-FFF2-40B4-BE49-F238E27FC236}">
                <a16:creationId xmlns:a16="http://schemas.microsoft.com/office/drawing/2014/main" id="{DBDC75CA-74C7-4EC2-A8DE-57982F414F30}"/>
              </a:ext>
            </a:extLst>
          </p:cNvPr>
          <p:cNvSpPr/>
          <p:nvPr/>
        </p:nvSpPr>
        <p:spPr>
          <a:xfrm>
            <a:off x="5216741" y="5240297"/>
            <a:ext cx="453706" cy="252884"/>
          </a:xfrm>
          <a:prstGeom prst="rightArrow">
            <a:avLst>
              <a:gd name="adj1" fmla="val 50000"/>
              <a:gd name="adj2" fmla="val 7457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664811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69A4F7-3E34-4AA1-88E3-76F0480113D5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fr-FR" sz="3200" b="1" cap="none" dirty="0">
                <a:latin typeface="Garamond" panose="02020404030301010803" pitchFamily="18" charset="0"/>
              </a:rPr>
              <a:t>Conductimétrie</a:t>
            </a:r>
            <a:endParaRPr lang="fr-FR" sz="3200" b="1" dirty="0">
              <a:latin typeface="Garamond" panose="02020404030301010803" pitchFamily="18" charset="0"/>
            </a:endParaRP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7B8DF43-DCB9-4BA8-8B29-3299A4CC5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32177" y="6263640"/>
            <a:ext cx="1569128" cy="320040"/>
          </a:xfrm>
        </p:spPr>
        <p:txBody>
          <a:bodyPr/>
          <a:lstStyle/>
          <a:p>
            <a:r>
              <a:rPr lang="fr-FR" sz="1200" dirty="0">
                <a:latin typeface="Garamond" panose="02020404030301010803" pitchFamily="18" charset="0"/>
              </a:rPr>
              <a:t>Mathieu </a:t>
            </a:r>
            <a:r>
              <a:rPr lang="fr-FR" sz="1200" dirty="0" err="1">
                <a:latin typeface="Garamond" panose="02020404030301010803" pitchFamily="18" charset="0"/>
              </a:rPr>
              <a:t>Markovitch</a:t>
            </a:r>
            <a:endParaRPr lang="fr-FR" sz="1200" dirty="0">
              <a:latin typeface="Garamond" panose="02020404030301010803" pitchFamily="18" charset="0"/>
            </a:endParaRP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57561A7-7104-44B2-8184-4D27ACCF7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4</a:t>
            </a:fld>
            <a:endParaRPr lang="fr-FR"/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EB4A1820-105A-4FA9-9DBB-6E0DE89732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5412" y="2304956"/>
            <a:ext cx="4691785" cy="3807139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7A23F41F-453B-4D82-A554-354BED7D8C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130" y="5172123"/>
            <a:ext cx="670542" cy="373227"/>
          </a:xfrm>
          <a:prstGeom prst="rect">
            <a:avLst/>
          </a:prstGeom>
        </p:spPr>
      </p:pic>
      <p:sp>
        <p:nvSpPr>
          <p:cNvPr id="12" name="ZoneTexte 11">
            <a:extLst>
              <a:ext uri="{FF2B5EF4-FFF2-40B4-BE49-F238E27FC236}">
                <a16:creationId xmlns:a16="http://schemas.microsoft.com/office/drawing/2014/main" id="{863BD14C-C6A2-430B-9B15-537C8343C3CE}"/>
              </a:ext>
            </a:extLst>
          </p:cNvPr>
          <p:cNvSpPr txBox="1"/>
          <p:nvPr/>
        </p:nvSpPr>
        <p:spPr>
          <a:xfrm>
            <a:off x="1998148" y="4039248"/>
            <a:ext cx="232527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dirty="0">
                <a:latin typeface="Garamond" panose="02020404030301010803" pitchFamily="18" charset="0"/>
              </a:rPr>
              <a:t>Cellule conductimétrique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28C3835A-B072-4720-B363-48B4C95F7A62}"/>
              </a:ext>
            </a:extLst>
          </p:cNvPr>
          <p:cNvSpPr txBox="1"/>
          <p:nvPr/>
        </p:nvSpPr>
        <p:spPr>
          <a:xfrm>
            <a:off x="8083865" y="3793026"/>
            <a:ext cx="220535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dirty="0">
                <a:latin typeface="Garamond" panose="02020404030301010803" pitchFamily="18" charset="0"/>
              </a:rPr>
              <a:t>Le conductimètre impose une tension et mesure une résistance</a:t>
            </a:r>
          </a:p>
        </p:txBody>
      </p:sp>
    </p:spTree>
    <p:extLst>
      <p:ext uri="{BB962C8B-B14F-4D97-AF65-F5344CB8AC3E}">
        <p14:creationId xmlns:p14="http://schemas.microsoft.com/office/powerpoint/2010/main" val="7740192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69A4F7-3E34-4AA1-88E3-76F0480113D5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fr-FR" sz="3200" b="1" cap="none" dirty="0">
                <a:latin typeface="Garamond" panose="02020404030301010803" pitchFamily="18" charset="0"/>
              </a:rPr>
              <a:t>Titrage</a:t>
            </a:r>
            <a:endParaRPr lang="fr-FR" sz="3200" b="1" dirty="0">
              <a:latin typeface="Garamond" panose="02020404030301010803" pitchFamily="18" charset="0"/>
            </a:endParaRP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7B8DF43-DCB9-4BA8-8B29-3299A4CC5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32177" y="6263640"/>
            <a:ext cx="1569128" cy="320040"/>
          </a:xfrm>
        </p:spPr>
        <p:txBody>
          <a:bodyPr/>
          <a:lstStyle/>
          <a:p>
            <a:r>
              <a:rPr lang="fr-FR" sz="1200" dirty="0">
                <a:latin typeface="Garamond" panose="02020404030301010803" pitchFamily="18" charset="0"/>
              </a:rPr>
              <a:t>Mathieu </a:t>
            </a:r>
            <a:r>
              <a:rPr lang="fr-FR" sz="1200" dirty="0" err="1">
                <a:latin typeface="Garamond" panose="02020404030301010803" pitchFamily="18" charset="0"/>
              </a:rPr>
              <a:t>Markovitch</a:t>
            </a:r>
            <a:endParaRPr lang="fr-FR" sz="1200" dirty="0">
              <a:latin typeface="Garamond" panose="02020404030301010803" pitchFamily="18" charset="0"/>
            </a:endParaRP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57561A7-7104-44B2-8184-4D27ACCF7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5</a:t>
            </a:fld>
            <a:endParaRPr lang="fr-FR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D1711821-A6FA-4F1B-AB4E-C89EA61E1A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6262" y="2265045"/>
            <a:ext cx="3419475" cy="3952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75615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69A4F7-3E34-4AA1-88E3-76F0480113D5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fr-FR" sz="3200" b="1" cap="none" dirty="0">
                <a:latin typeface="Garamond" panose="02020404030301010803" pitchFamily="18" charset="0"/>
              </a:rPr>
              <a:t>Evolution de la conductivité</a:t>
            </a:r>
            <a:endParaRPr lang="fr-FR" sz="3200" b="1" dirty="0">
              <a:latin typeface="Garamond" panose="02020404030301010803" pitchFamily="18" charset="0"/>
            </a:endParaRP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7B8DF43-DCB9-4BA8-8B29-3299A4CC5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32177" y="6263640"/>
            <a:ext cx="1569128" cy="320040"/>
          </a:xfrm>
        </p:spPr>
        <p:txBody>
          <a:bodyPr/>
          <a:lstStyle/>
          <a:p>
            <a:r>
              <a:rPr lang="fr-FR" sz="1200" dirty="0">
                <a:latin typeface="Garamond" panose="02020404030301010803" pitchFamily="18" charset="0"/>
              </a:rPr>
              <a:t>Mathieu </a:t>
            </a:r>
            <a:r>
              <a:rPr lang="fr-FR" sz="1200" dirty="0" err="1">
                <a:latin typeface="Garamond" panose="02020404030301010803" pitchFamily="18" charset="0"/>
              </a:rPr>
              <a:t>Markovitch</a:t>
            </a:r>
            <a:endParaRPr lang="fr-FR" sz="1200" dirty="0">
              <a:latin typeface="Garamond" panose="02020404030301010803" pitchFamily="18" charset="0"/>
            </a:endParaRP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57561A7-7104-44B2-8184-4D27ACCF7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6</a:t>
            </a:fld>
            <a:endParaRPr lang="fr-FR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E6619909-107E-4420-8005-0E97474E74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2511" y="2254939"/>
            <a:ext cx="8946977" cy="3378474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421253E2-8BE4-4803-BD51-E4E9122E69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6375" y="5621806"/>
            <a:ext cx="6219248" cy="701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17597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69A4F7-3E34-4AA1-88E3-76F0480113D5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fr-FR" sz="3200" b="1" cap="none" dirty="0">
                <a:latin typeface="Garamond" panose="02020404030301010803" pitchFamily="18" charset="0"/>
              </a:rPr>
              <a:t>Méthodes en chimie analytique</a:t>
            </a:r>
            <a:endParaRPr lang="fr-FR" sz="3200" b="1" dirty="0">
              <a:latin typeface="Garamond" panose="02020404030301010803" pitchFamily="18" charset="0"/>
            </a:endParaRPr>
          </a:p>
        </p:txBody>
      </p:sp>
      <p:graphicFrame>
        <p:nvGraphicFramePr>
          <p:cNvPr id="6" name="Tableau 6">
            <a:extLst>
              <a:ext uri="{FF2B5EF4-FFF2-40B4-BE49-F238E27FC236}">
                <a16:creationId xmlns:a16="http://schemas.microsoft.com/office/drawing/2014/main" id="{66D01958-1E8F-4079-AB0F-B370F3818C0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12449761"/>
              </p:ext>
            </p:extLst>
          </p:nvPr>
        </p:nvGraphicFramePr>
        <p:xfrm>
          <a:off x="574089" y="2925826"/>
          <a:ext cx="11043821" cy="2473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8906">
                  <a:extLst>
                    <a:ext uri="{9D8B030D-6E8A-4147-A177-3AD203B41FA5}">
                      <a16:colId xmlns:a16="http://schemas.microsoft.com/office/drawing/2014/main" val="436030084"/>
                    </a:ext>
                  </a:extLst>
                </a:gridCol>
                <a:gridCol w="3914337">
                  <a:extLst>
                    <a:ext uri="{9D8B030D-6E8A-4147-A177-3AD203B41FA5}">
                      <a16:colId xmlns:a16="http://schemas.microsoft.com/office/drawing/2014/main" val="2085833408"/>
                    </a:ext>
                  </a:extLst>
                </a:gridCol>
                <a:gridCol w="2092170">
                  <a:extLst>
                    <a:ext uri="{9D8B030D-6E8A-4147-A177-3AD203B41FA5}">
                      <a16:colId xmlns:a16="http://schemas.microsoft.com/office/drawing/2014/main" val="903061750"/>
                    </a:ext>
                  </a:extLst>
                </a:gridCol>
                <a:gridCol w="3018408">
                  <a:extLst>
                    <a:ext uri="{9D8B030D-6E8A-4147-A177-3AD203B41FA5}">
                      <a16:colId xmlns:a16="http://schemas.microsoft.com/office/drawing/2014/main" val="154107554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FR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Type de dosage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Suivi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Avantages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Inconvénients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47617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Etalonnage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r>
                        <a:rPr lang="fr-FR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Conductimétrique si ions (loi de </a:t>
                      </a:r>
                      <a:r>
                        <a:rPr lang="fr-FR" dirty="0" err="1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Kohlraush</a:t>
                      </a:r>
                      <a:r>
                        <a:rPr lang="fr-FR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)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fr-FR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Spectrophotométrique si espèces colorées (loi de Beer-Lambert)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Non destructif, pratique une fois la droite d’étalonnage réalisée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Solutions étalons nécessaires, étalonnage long, grandeur physique pas toujours linéaire en concentration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01036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Titrage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r>
                        <a:rPr lang="fr-FR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Conductimétrique si ions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fr-FR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pH-métrique si réaction acido-basique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fr-FR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Colorimétrique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Précis et rapide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Destructif, nouveau titrage nécessaire à chaque mesure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6445039"/>
                  </a:ext>
                </a:extLst>
              </a:tr>
            </a:tbl>
          </a:graphicData>
        </a:graphic>
      </p:graphicFrame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7B8DF43-DCB9-4BA8-8B29-3299A4CC5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32177" y="6263640"/>
            <a:ext cx="1569128" cy="320040"/>
          </a:xfrm>
        </p:spPr>
        <p:txBody>
          <a:bodyPr/>
          <a:lstStyle/>
          <a:p>
            <a:r>
              <a:rPr lang="fr-FR" sz="1200" dirty="0">
                <a:latin typeface="Garamond" panose="02020404030301010803" pitchFamily="18" charset="0"/>
              </a:rPr>
              <a:t>Mathieu </a:t>
            </a:r>
            <a:r>
              <a:rPr lang="fr-FR" sz="1200" dirty="0" err="1">
                <a:latin typeface="Garamond" panose="02020404030301010803" pitchFamily="18" charset="0"/>
              </a:rPr>
              <a:t>Markovitch</a:t>
            </a:r>
            <a:endParaRPr lang="fr-FR" sz="1200" dirty="0">
              <a:latin typeface="Garamond" panose="02020404030301010803" pitchFamily="18" charset="0"/>
            </a:endParaRP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57561A7-7104-44B2-8184-4D27ACCF7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18294441"/>
      </p:ext>
    </p:extLst>
  </p:cSld>
  <p:clrMapOvr>
    <a:masterClrMapping/>
  </p:clrMapOvr>
</p:sld>
</file>

<file path=ppt/theme/theme1.xml><?xml version="1.0" encoding="utf-8"?>
<a:theme xmlns:a="http://schemas.openxmlformats.org/drawingml/2006/main" name="Colis">
  <a:themeElements>
    <a:clrScheme name="Colis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Colis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olis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Colis</Template>
  <TotalTime>149</TotalTime>
  <Words>159</Words>
  <Application>Microsoft Office PowerPoint</Application>
  <PresentationFormat>Grand écran</PresentationFormat>
  <Paragraphs>44</Paragraphs>
  <Slides>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2" baseType="lpstr">
      <vt:lpstr>Arial</vt:lpstr>
      <vt:lpstr>Calibri</vt:lpstr>
      <vt:lpstr>Garamond</vt:lpstr>
      <vt:lpstr>Gill Sans MT</vt:lpstr>
      <vt:lpstr>Colis</vt:lpstr>
      <vt:lpstr>LC6 : Chimie analytique quantitative et fiabilité</vt:lpstr>
      <vt:lpstr>Les contrôles de qualité au quotidien</vt:lpstr>
      <vt:lpstr>Dosage d’un colorant</vt:lpstr>
      <vt:lpstr>Conductimétrie</vt:lpstr>
      <vt:lpstr>Titrage</vt:lpstr>
      <vt:lpstr>Evolution de la conductivité</vt:lpstr>
      <vt:lpstr>Méthodes en chimie analytique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Leçon : </dc:title>
  <dc:creator>Mathieu</dc:creator>
  <cp:lastModifiedBy>Mathieu</cp:lastModifiedBy>
  <cp:revision>16</cp:revision>
  <dcterms:created xsi:type="dcterms:W3CDTF">2020-09-19T14:45:32Z</dcterms:created>
  <dcterms:modified xsi:type="dcterms:W3CDTF">2021-05-27T10:33:00Z</dcterms:modified>
</cp:coreProperties>
</file>