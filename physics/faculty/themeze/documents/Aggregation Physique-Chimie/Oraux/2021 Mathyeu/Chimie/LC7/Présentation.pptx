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F51CE3-9C7E-4F9E-B0F4-FC988528060B}" type="datetimeFigureOut">
              <a:rPr lang="fr-FR" smtClean="0"/>
              <a:t>30/05/2021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536B36-6E90-4BAD-A4C4-085410494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8884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22011-4AF3-484A-ACC1-E81F8CC48133}" type="datetime1">
              <a:rPr lang="fr-FR" smtClean="0"/>
              <a:t>30/05/2021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0516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09F49-D0D3-47CD-901D-4E1D3BAF5AB2}" type="datetime1">
              <a:rPr lang="fr-FR" smtClean="0"/>
              <a:t>30/05/2021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6421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54A85-7B2E-4FD7-93A7-AC2D6F4C0A02}" type="datetime1">
              <a:rPr lang="fr-FR" smtClean="0"/>
              <a:t>30/05/2021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4338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58BB-11B9-447F-A8B8-D817CD81C453}" type="datetime1">
              <a:rPr lang="fr-FR" smtClean="0"/>
              <a:t>30/05/2021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4244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A71A8-43F5-4B50-930C-AFD958D07321}" type="datetime1">
              <a:rPr lang="fr-FR" smtClean="0"/>
              <a:t>30/05/2021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524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D0F49-8265-4A3A-AE23-F264A7AB982A}" type="datetime1">
              <a:rPr lang="fr-FR" smtClean="0"/>
              <a:t>30/05/2021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3346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365DF-E2E8-4A8D-93BF-EBD582E9762B}" type="datetime1">
              <a:rPr lang="fr-FR" smtClean="0"/>
              <a:t>30/05/2021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49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A8A5-9239-458E-ABD9-01BE91958835}" type="datetime1">
              <a:rPr lang="fr-FR" smtClean="0"/>
              <a:t>30/05/2021</a:t>
            </a:fld>
            <a:endParaRPr lang="fr-F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6435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F18A53AF-E335-485C-9F4D-A75E166D6BF6}" type="datetime1">
              <a:rPr lang="fr-FR" smtClean="0"/>
              <a:t>30/05/2021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424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9ABF6-F35E-4280-B9BC-AEA6A61FEC11}" type="datetime1">
              <a:rPr lang="fr-FR" smtClean="0"/>
              <a:t>30/05/2021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9306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E294D-F84B-4A3B-92A2-8E351A2EA1CD}" type="datetime1">
              <a:rPr lang="fr-FR" smtClean="0"/>
              <a:t>30/05/2021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6467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0D0C986-FF24-43ED-ABC3-B4FAE3FAE3F0}" type="datetime1">
              <a:rPr lang="fr-FR" smtClean="0"/>
              <a:t>30/05/2021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3165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gif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36647E-EBC3-4C35-A08A-ED41E77A3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6379" y="1447912"/>
            <a:ext cx="9979241" cy="2274885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6000" b="1" cap="none" dirty="0">
                <a:latin typeface="Garamond" panose="02020404030301010803" pitchFamily="18" charset="0"/>
              </a:rPr>
              <a:t>LC7 : Evolution spontanée d’un système chimique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6E999F2-7A5D-42D8-8020-0BE6951E39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3" y="5062757"/>
            <a:ext cx="6801612" cy="1239894"/>
          </a:xfrm>
        </p:spPr>
        <p:txBody>
          <a:bodyPr>
            <a:normAutofit/>
          </a:bodyPr>
          <a:lstStyle/>
          <a:p>
            <a:r>
              <a:rPr lang="fr-FR" sz="3200" b="1" dirty="0">
                <a:latin typeface="Garamond" panose="02020404030301010803" pitchFamily="18" charset="0"/>
              </a:rPr>
              <a:t>Mathieu </a:t>
            </a:r>
            <a:r>
              <a:rPr lang="fr-FR" sz="3200" b="1" dirty="0" err="1">
                <a:latin typeface="Garamond" panose="02020404030301010803" pitchFamily="18" charset="0"/>
              </a:rPr>
              <a:t>Markovitch</a:t>
            </a:r>
            <a:endParaRPr lang="fr-FR" sz="3200" b="1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158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Le fer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2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B94C7E8-34B6-4850-A9F1-1DC2DA608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415" y="3269576"/>
            <a:ext cx="1872768" cy="1877899"/>
          </a:xfrm>
          <a:prstGeom prst="rect">
            <a:avLst/>
          </a:prstGeom>
        </p:spPr>
      </p:pic>
      <p:pic>
        <p:nvPicPr>
          <p:cNvPr id="1026" name="Picture 2" descr="Hémoglobine">
            <a:extLst>
              <a:ext uri="{FF2B5EF4-FFF2-40B4-BE49-F238E27FC236}">
                <a16:creationId xmlns:a16="http://schemas.microsoft.com/office/drawing/2014/main" id="{B30945FF-C992-4252-B541-23856C48AC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0464" y="2260608"/>
            <a:ext cx="2727619" cy="2204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91BDD7E-CF65-4F7F-B63D-1A8B32F3ED43}"/>
              </a:ext>
            </a:extLst>
          </p:cNvPr>
          <p:cNvSpPr/>
          <p:nvPr/>
        </p:nvSpPr>
        <p:spPr>
          <a:xfrm>
            <a:off x="7220895" y="2260608"/>
            <a:ext cx="1686758" cy="3760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4AE55F-8717-4C75-9336-7E477865EBD2}"/>
              </a:ext>
            </a:extLst>
          </p:cNvPr>
          <p:cNvSpPr/>
          <p:nvPr/>
        </p:nvSpPr>
        <p:spPr>
          <a:xfrm>
            <a:off x="7404017" y="2636668"/>
            <a:ext cx="1225078" cy="3760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028" name="Picture 4" descr="Acier - Eco-3e">
            <a:extLst>
              <a:ext uri="{FF2B5EF4-FFF2-40B4-BE49-F238E27FC236}">
                <a16:creationId xmlns:a16="http://schemas.microsoft.com/office/drawing/2014/main" id="{062B63F4-5D8F-4B38-9617-2A6AE5EA96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2001" y="4525979"/>
            <a:ext cx="2609110" cy="1424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2B760049-F8E0-444C-B261-C7ABFE0D11BC}"/>
              </a:ext>
            </a:extLst>
          </p:cNvPr>
          <p:cNvSpPr txBox="1"/>
          <p:nvPr/>
        </p:nvSpPr>
        <p:spPr>
          <a:xfrm>
            <a:off x="7794594" y="5812053"/>
            <a:ext cx="9948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Garamond" panose="02020404030301010803" pitchFamily="18" charset="0"/>
              </a:rPr>
              <a:t>Barres d’acier</a:t>
            </a:r>
          </a:p>
        </p:txBody>
      </p:sp>
    </p:spTree>
    <p:extLst>
      <p:ext uri="{BB962C8B-B14F-4D97-AF65-F5344CB8AC3E}">
        <p14:creationId xmlns:p14="http://schemas.microsoft.com/office/powerpoint/2010/main" val="3578650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Deux réactions spontanées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3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A9C7F6E-BC98-4E4A-BB76-682300467A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0250" y="3066775"/>
            <a:ext cx="4500132" cy="259159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1B989BE5-9EB3-4383-9840-BC360A0626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31619" y="2525508"/>
            <a:ext cx="4689522" cy="3132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080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Tableau d’avancement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graphicFrame>
        <p:nvGraphicFramePr>
          <p:cNvPr id="6" name="Tableau 6">
            <a:extLst>
              <a:ext uri="{FF2B5EF4-FFF2-40B4-BE49-F238E27FC236}">
                <a16:creationId xmlns:a16="http://schemas.microsoft.com/office/drawing/2014/main" id="{3694ACFB-75FB-4BDD-8386-151ADEB560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21604"/>
              </p:ext>
            </p:extLst>
          </p:nvPr>
        </p:nvGraphicFramePr>
        <p:xfrm>
          <a:off x="2229740" y="2872740"/>
          <a:ext cx="773112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2781">
                  <a:extLst>
                    <a:ext uri="{9D8B030D-6E8A-4147-A177-3AD203B41FA5}">
                      <a16:colId xmlns:a16="http://schemas.microsoft.com/office/drawing/2014/main" val="183001088"/>
                    </a:ext>
                  </a:extLst>
                </a:gridCol>
                <a:gridCol w="1932781">
                  <a:extLst>
                    <a:ext uri="{9D8B030D-6E8A-4147-A177-3AD203B41FA5}">
                      <a16:colId xmlns:a16="http://schemas.microsoft.com/office/drawing/2014/main" val="1473250414"/>
                    </a:ext>
                  </a:extLst>
                </a:gridCol>
                <a:gridCol w="1932781">
                  <a:extLst>
                    <a:ext uri="{9D8B030D-6E8A-4147-A177-3AD203B41FA5}">
                      <a16:colId xmlns:a16="http://schemas.microsoft.com/office/drawing/2014/main" val="483555344"/>
                    </a:ext>
                  </a:extLst>
                </a:gridCol>
                <a:gridCol w="1932781">
                  <a:extLst>
                    <a:ext uri="{9D8B030D-6E8A-4147-A177-3AD203B41FA5}">
                      <a16:colId xmlns:a16="http://schemas.microsoft.com/office/drawing/2014/main" val="254816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fr-FR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Fe</a:t>
                      </a:r>
                      <a:r>
                        <a:rPr lang="fr-FR" baseline="30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3+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SCN</a:t>
                      </a:r>
                      <a:r>
                        <a:rPr lang="fr-FR" baseline="30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Fe(SCN)</a:t>
                      </a:r>
                      <a:r>
                        <a:rPr lang="fr-FR" baseline="30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2+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9922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Etat initial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c</a:t>
                      </a:r>
                      <a:r>
                        <a:rPr lang="fr-FR" baseline="-25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c</a:t>
                      </a:r>
                      <a:r>
                        <a:rPr lang="fr-FR" baseline="-25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8201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Equilibre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c</a:t>
                      </a:r>
                      <a:r>
                        <a:rPr lang="fr-FR" baseline="-25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0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-x</a:t>
                      </a:r>
                      <a:r>
                        <a:rPr lang="fr-FR" baseline="-25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c</a:t>
                      </a:r>
                      <a:r>
                        <a:rPr lang="fr-FR" baseline="-25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1</a:t>
                      </a:r>
                      <a:r>
                        <a:rPr lang="fr-FR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-x</a:t>
                      </a:r>
                      <a:r>
                        <a:rPr lang="fr-FR" baseline="-25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eq</a:t>
                      </a:r>
                      <a:endParaRPr lang="fr-FR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err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x</a:t>
                      </a:r>
                      <a:r>
                        <a:rPr lang="fr-FR" baseline="-25000" dirty="0" err="1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eq</a:t>
                      </a:r>
                      <a:endParaRPr lang="fr-FR" dirty="0">
                        <a:solidFill>
                          <a:schemeClr val="tx1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6884687"/>
                  </a:ext>
                </a:extLst>
              </a:tr>
            </a:tbl>
          </a:graphicData>
        </a:graphic>
      </p:graphicFrame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4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C222198-AE15-4AF8-ABC6-B68095B3C750}"/>
              </a:ext>
            </a:extLst>
          </p:cNvPr>
          <p:cNvSpPr txBox="1"/>
          <p:nvPr/>
        </p:nvSpPr>
        <p:spPr>
          <a:xfrm>
            <a:off x="5926025" y="2872740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latin typeface="Garamond" panose="02020404030301010803" pitchFamily="18" charset="0"/>
              </a:rPr>
              <a:t>+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F4036CC-C6F9-45C5-BE13-ADE063ADA401}"/>
              </a:ext>
            </a:extLst>
          </p:cNvPr>
          <p:cNvSpPr txBox="1"/>
          <p:nvPr/>
        </p:nvSpPr>
        <p:spPr>
          <a:xfrm>
            <a:off x="7853959" y="2872740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latin typeface="Garamond" panose="02020404030301010803" pitchFamily="18" charset="0"/>
              </a:rPr>
              <a:t>=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21F0251C-8962-404F-876B-ED62855B3D76}"/>
                  </a:ext>
                </a:extLst>
              </p:cNvPr>
              <p:cNvSpPr txBox="1"/>
              <p:nvPr/>
            </p:nvSpPr>
            <p:spPr>
              <a:xfrm>
                <a:off x="4812066" y="4620174"/>
                <a:ext cx="2452659" cy="5848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𝐾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fr-FR" dirty="0">
                              <a:latin typeface="Garamond" panose="02020404030301010803" pitchFamily="18" charset="0"/>
                            </a:rPr>
                            <m:t>c</m:t>
                          </m:r>
                          <m:r>
                            <m:rPr>
                              <m:nor/>
                            </m:rPr>
                            <a:rPr lang="fr-FR" baseline="-25000" dirty="0">
                              <a:latin typeface="Garamond" panose="02020404030301010803" pitchFamily="18" charset="0"/>
                            </a:rPr>
                            <m:t>0</m:t>
                          </m:r>
                          <m:r>
                            <m:rPr>
                              <m:nor/>
                            </m:rPr>
                            <a:rPr lang="fr-FR" dirty="0">
                              <a:latin typeface="Garamond" panose="02020404030301010803" pitchFamily="18" charset="0"/>
                            </a:rPr>
                            <m:t>-</m:t>
                          </m:r>
                          <m:r>
                            <m:rPr>
                              <m:nor/>
                            </m:rPr>
                            <a:rPr lang="fr-FR" dirty="0">
                              <a:latin typeface="Garamond" panose="02020404030301010803" pitchFamily="18" charset="0"/>
                            </a:rPr>
                            <m:t>xeq</m:t>
                          </m:r>
                          <m:r>
                            <a:rPr lang="fr-FR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fr-FR" dirty="0">
                              <a:latin typeface="Garamond" panose="02020404030301010803" pitchFamily="18" charset="0"/>
                            </a:rPr>
                            <m:t>c</m:t>
                          </m:r>
                          <m:r>
                            <m:rPr>
                              <m:nor/>
                            </m:rPr>
                            <a:rPr lang="fr-FR" baseline="-25000" dirty="0">
                              <a:latin typeface="Garamond" panose="02020404030301010803" pitchFamily="18" charset="0"/>
                            </a:rPr>
                            <m:t>0</m:t>
                          </m:r>
                          <m:r>
                            <m:rPr>
                              <m:nor/>
                            </m:rPr>
                            <a:rPr lang="fr-FR" dirty="0">
                              <a:latin typeface="Garamond" panose="02020404030301010803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fr-FR" dirty="0">
                              <a:latin typeface="Garamond" panose="02020404030301010803" pitchFamily="18" charset="0"/>
                            </a:rPr>
                            <m:t>xeq</m:t>
                          </m:r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fr-FR" dirty="0">
                              <a:latin typeface="Garamond" panose="02020404030301010803" pitchFamily="18" charset="0"/>
                            </a:rPr>
                            <m:t>c</m:t>
                          </m:r>
                          <m:r>
                            <m:rPr>
                              <m:nor/>
                            </m:rPr>
                            <a:rPr lang="fr-FR" b="0" i="0" baseline="-25000" dirty="0" smtClean="0">
                              <a:latin typeface="Garamond" panose="02020404030301010803" pitchFamily="18" charset="0"/>
                            </a:rPr>
                            <m:t>1</m:t>
                          </m:r>
                          <m:r>
                            <m:rPr>
                              <m:nor/>
                            </m:rPr>
                            <a:rPr lang="fr-FR" dirty="0">
                              <a:latin typeface="Garamond" panose="02020404030301010803" pitchFamily="18" charset="0"/>
                            </a:rPr>
                            <m:t>−</m:t>
                          </m:r>
                          <m:r>
                            <m:rPr>
                              <m:nor/>
                            </m:rPr>
                            <a:rPr lang="fr-FR" dirty="0">
                              <a:latin typeface="Garamond" panose="02020404030301010803" pitchFamily="18" charset="0"/>
                            </a:rPr>
                            <m:t>xeq</m:t>
                          </m:r>
                          <m:r>
                            <a:rPr lang="fr-FR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fr-FR" dirty="0">
                  <a:latin typeface="Garamond" panose="02020404030301010803" pitchFamily="18" charset="0"/>
                </a:endParaRPr>
              </a:p>
            </p:txBody>
          </p:sp>
        </mc:Choice>
        <mc:Fallback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21F0251C-8962-404F-876B-ED62855B3D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2066" y="4620174"/>
                <a:ext cx="2452659" cy="584840"/>
              </a:xfrm>
              <a:prstGeom prst="rect">
                <a:avLst/>
              </a:prstGeom>
              <a:blipFill>
                <a:blip r:embed="rId2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0004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Pile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5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B13991F-4DB5-4886-978D-37508F8AC055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contrast="20000"/>
          </a:blip>
          <a:stretch>
            <a:fillRect/>
          </a:stretch>
        </p:blipFill>
        <p:spPr>
          <a:xfrm>
            <a:off x="2604727" y="2595995"/>
            <a:ext cx="6982545" cy="3297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179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Protection contre la corrosion du fer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6</a:t>
            </a:fld>
            <a:endParaRPr lang="fr-FR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DFEBD05-DD33-43AD-B3BE-8CFA48E4F3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3540" y="2211361"/>
            <a:ext cx="3004920" cy="4006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7971659"/>
      </p:ext>
    </p:extLst>
  </p:cSld>
  <p:clrMapOvr>
    <a:masterClrMapping/>
  </p:clrMapOvr>
</p:sld>
</file>

<file path=ppt/theme/theme1.xml><?xml version="1.0" encoding="utf-8"?>
<a:theme xmlns:a="http://schemas.openxmlformats.org/drawingml/2006/main" name="Colis">
  <a:themeElements>
    <a:clrScheme name="Colis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Colis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olis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Colis</Template>
  <TotalTime>104</TotalTime>
  <Words>64</Words>
  <Application>Microsoft Office PowerPoint</Application>
  <PresentationFormat>Grand écran</PresentationFormat>
  <Paragraphs>32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Cambria Math</vt:lpstr>
      <vt:lpstr>Garamond</vt:lpstr>
      <vt:lpstr>Gill Sans MT</vt:lpstr>
      <vt:lpstr>Colis</vt:lpstr>
      <vt:lpstr>LC7 : Evolution spontanée d’un système chimique</vt:lpstr>
      <vt:lpstr>Le fer</vt:lpstr>
      <vt:lpstr>Deux réactions spontanées</vt:lpstr>
      <vt:lpstr>Tableau d’avancement</vt:lpstr>
      <vt:lpstr>Pile</vt:lpstr>
      <vt:lpstr>Protection contre la corrosion du fer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Leçon : </dc:title>
  <dc:creator>Mathieu</dc:creator>
  <cp:lastModifiedBy>Mathieu</cp:lastModifiedBy>
  <cp:revision>13</cp:revision>
  <dcterms:created xsi:type="dcterms:W3CDTF">2020-09-19T14:45:32Z</dcterms:created>
  <dcterms:modified xsi:type="dcterms:W3CDTF">2021-05-30T10:12:55Z</dcterms:modified>
</cp:coreProperties>
</file>