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27/09/2020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27/09/2020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27/09/2020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27/09/2020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27/09/2020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27/09/2020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27/09/2020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27/09/2020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27/09/2020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27/09/2020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27/09/2020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27/09/2020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27/09/2020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4.png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985" y="1996126"/>
            <a:ext cx="10938029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LC8 : Cinétique et catalyse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60917"/>
            <a:ext cx="6801612" cy="610073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Markovitch</a:t>
            </a: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Réaction lente ou rapide ?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5DECA2-773A-43F2-99C3-01972FC9C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4795" y="2709063"/>
                <a:ext cx="7729728" cy="2839477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𝐴𝑔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𝐴𝑔</m:t>
                    </m:r>
                    <m:sSub>
                      <m:sSubPr>
                        <m:ctrlPr>
                          <a:rPr lang="fr-F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fr-FR" sz="3200" i="1" dirty="0">
                  <a:latin typeface="Garamond" panose="02020404030301010803" pitchFamily="18" charset="0"/>
                </a:endParaRPr>
              </a:p>
              <a:p>
                <a:endParaRPr lang="fr-FR" sz="3200" i="1" dirty="0">
                  <a:latin typeface="Garamond" panose="02020404030301010803" pitchFamily="18" charset="0"/>
                </a:endParaRPr>
              </a:p>
              <a:p>
                <a:endParaRPr lang="fr-FR" sz="3200" i="1" dirty="0">
                  <a:latin typeface="Garamond" panose="02020404030301010803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fr-FR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fr-FR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3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8 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𝑆𝑂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2−</m:t>
                        </m:r>
                      </m:sup>
                    </m:sSubSup>
                  </m:oMath>
                </a14:m>
                <a:endParaRPr lang="fr-FR" sz="3200" i="1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5DECA2-773A-43F2-99C3-01972FC9C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4795" y="2709063"/>
                <a:ext cx="7729728" cy="28394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A97936-96AD-476E-8E77-9F2AC41D6FC0}"/>
              </a:ext>
            </a:extLst>
          </p:cNvPr>
          <p:cNvSpPr txBox="1"/>
          <p:nvPr/>
        </p:nvSpPr>
        <p:spPr>
          <a:xfrm>
            <a:off x="9490348" y="2851530"/>
            <a:ext cx="18198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  <a:latin typeface="Garamond" panose="02020404030301010803" pitchFamily="18" charset="0"/>
              </a:rPr>
              <a:t>Rapide</a:t>
            </a:r>
          </a:p>
          <a:p>
            <a:endParaRPr lang="fr-FR" sz="3200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endParaRPr lang="fr-FR" sz="3200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endParaRPr lang="fr-FR" sz="3200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r>
              <a:rPr lang="fr-FR" sz="3200" b="1" dirty="0">
                <a:solidFill>
                  <a:srgbClr val="0070C0"/>
                </a:solidFill>
                <a:latin typeface="Garamond" panose="02020404030301010803" pitchFamily="18" charset="0"/>
              </a:rPr>
              <a:t>Lente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4267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Facteurs cinétiques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20 8">
            <a:hlinkClick r:id="" action="ppaction://media"/>
            <a:extLst>
              <a:ext uri="{FF2B5EF4-FFF2-40B4-BE49-F238E27FC236}">
                <a16:creationId xmlns:a16="http://schemas.microsoft.com/office/drawing/2014/main" id="{E79DABC8-9308-4E94-B47C-5177A1E788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93155" y="4141980"/>
            <a:ext cx="4117680" cy="2656568"/>
          </a:xfrm>
          <a:prstGeom prst="rect">
            <a:avLst/>
          </a:prstGeom>
        </p:spPr>
      </p:pic>
      <p:pic>
        <p:nvPicPr>
          <p:cNvPr id="8" name="40 5">
            <a:hlinkClick r:id="" action="ppaction://media"/>
            <a:extLst>
              <a:ext uri="{FF2B5EF4-FFF2-40B4-BE49-F238E27FC236}">
                <a16:creationId xmlns:a16="http://schemas.microsoft.com/office/drawing/2014/main" id="{41F8CF1C-8560-48A5-8710-98CFCE64BA8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193155" y="1355592"/>
            <a:ext cx="4117680" cy="2656568"/>
          </a:xfrm>
          <a:prstGeom prst="rect">
            <a:avLst/>
          </a:prstGeom>
        </p:spPr>
      </p:pic>
      <p:pic>
        <p:nvPicPr>
          <p:cNvPr id="6" name="20 5">
            <a:hlinkClick r:id="" action="ppaction://media"/>
            <a:extLst>
              <a:ext uri="{FF2B5EF4-FFF2-40B4-BE49-F238E27FC236}">
                <a16:creationId xmlns:a16="http://schemas.microsoft.com/office/drawing/2014/main" id="{4AB00AC1-B523-4EAA-B213-29EC386B0BD8}"/>
              </a:ext>
            </a:extLst>
          </p:cNvPr>
          <p:cNvPicPr>
            <a:picLocks noGrp="1" noChangeAspect="1"/>
          </p:cNvPicPr>
          <p:nvPr>
            <p:ph idx="1"/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490527" y="2372629"/>
            <a:ext cx="4118088" cy="2656568"/>
          </a:xfrm>
        </p:spPr>
      </p:pic>
    </p:spTree>
    <p:extLst>
      <p:ext uri="{BB962C8B-B14F-4D97-AF65-F5344CB8AC3E}">
        <p14:creationId xmlns:p14="http://schemas.microsoft.com/office/powerpoint/2010/main" val="267915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0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14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Avancement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au 9">
                <a:extLst>
                  <a:ext uri="{FF2B5EF4-FFF2-40B4-BE49-F238E27FC236}">
                    <a16:creationId xmlns:a16="http://schemas.microsoft.com/office/drawing/2014/main" id="{7BEF4F81-CD46-4B89-8C13-CCADB74E6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01626"/>
                  </p:ext>
                </p:extLst>
              </p:nvPr>
            </p:nvGraphicFramePr>
            <p:xfrm>
              <a:off x="1353512" y="2849199"/>
              <a:ext cx="9484975" cy="2627215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896995">
                      <a:extLst>
                        <a:ext uri="{9D8B030D-6E8A-4147-A177-3AD203B41FA5}">
                          <a16:colId xmlns:a16="http://schemas.microsoft.com/office/drawing/2014/main" val="1104667345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702297056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2231410313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202538284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1103196964"/>
                        </a:ext>
                      </a:extLst>
                    </a:gridCol>
                  </a:tblGrid>
                  <a:tr h="565192">
                    <a:tc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800" i="1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fr-FR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8 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𝑆𝑂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122764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>
                              <a:latin typeface="Garamond" panose="02020404030301010803" pitchFamily="18" charset="0"/>
                            </a:rPr>
                            <a:t>i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5370662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6302973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 err="1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 err="1">
                              <a:latin typeface="Garamond" panose="02020404030301010803" pitchFamily="18" charset="0"/>
                            </a:rPr>
                            <a:t>f</a:t>
                          </a:r>
                          <a:endParaRPr lang="fr-FR" sz="2800" b="0" i="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0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2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75867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au 9">
                <a:extLst>
                  <a:ext uri="{FF2B5EF4-FFF2-40B4-BE49-F238E27FC236}">
                    <a16:creationId xmlns:a16="http://schemas.microsoft.com/office/drawing/2014/main" id="{7BEF4F81-CD46-4B89-8C13-CCADB74E6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01626"/>
                  </p:ext>
                </p:extLst>
              </p:nvPr>
            </p:nvGraphicFramePr>
            <p:xfrm>
              <a:off x="1353512" y="2849199"/>
              <a:ext cx="9484975" cy="2627215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896995">
                      <a:extLst>
                        <a:ext uri="{9D8B030D-6E8A-4147-A177-3AD203B41FA5}">
                          <a16:colId xmlns:a16="http://schemas.microsoft.com/office/drawing/2014/main" val="1104667345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702297056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2231410313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202538284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1103196964"/>
                        </a:ext>
                      </a:extLst>
                    </a:gridCol>
                  </a:tblGrid>
                  <a:tr h="565192">
                    <a:tc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43" r="-301286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200321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65" r="-100965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965" r="-965" b="-3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0122764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>
                              <a:latin typeface="Garamond" panose="02020404030301010803" pitchFamily="18" charset="0"/>
                            </a:rPr>
                            <a:t>i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5370662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6302973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 err="1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 err="1">
                              <a:latin typeface="Garamond" panose="02020404030301010803" pitchFamily="18" charset="0"/>
                            </a:rPr>
                            <a:t>f</a:t>
                          </a:r>
                          <a:endParaRPr lang="fr-FR" sz="2800" b="0" i="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0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2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75867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14109BCF-AFCA-4A05-920C-81FA985B33FB}"/>
              </a:ext>
            </a:extLst>
          </p:cNvPr>
          <p:cNvSpPr txBox="1"/>
          <p:nvPr/>
        </p:nvSpPr>
        <p:spPr>
          <a:xfrm>
            <a:off x="4820574" y="2849199"/>
            <a:ext cx="496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fr-FR" dirty="0">
                <a:latin typeface="Cambria Math" panose="02040503050406030204" pitchFamily="18" charset="0"/>
                <a:ea typeface="Cambria Math" panose="02040503050406030204" pitchFamily="18" charset="0"/>
              </a:rPr>
              <a:t>+                                  =                                  +</a:t>
            </a:r>
          </a:p>
        </p:txBody>
      </p:sp>
    </p:spTree>
    <p:extLst>
      <p:ext uri="{BB962C8B-B14F-4D97-AF65-F5344CB8AC3E}">
        <p14:creationId xmlns:p14="http://schemas.microsoft.com/office/powerpoint/2010/main" val="68622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Catalyse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AAD4C9E3-74EC-4581-9568-1E3A260B7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993228"/>
              </p:ext>
            </p:extLst>
          </p:nvPr>
        </p:nvGraphicFramePr>
        <p:xfrm>
          <a:off x="951392" y="2491526"/>
          <a:ext cx="10289216" cy="3401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2304">
                  <a:extLst>
                    <a:ext uri="{9D8B030D-6E8A-4147-A177-3AD203B41FA5}">
                      <a16:colId xmlns:a16="http://schemas.microsoft.com/office/drawing/2014/main" val="1114433641"/>
                    </a:ext>
                  </a:extLst>
                </a:gridCol>
                <a:gridCol w="2572304">
                  <a:extLst>
                    <a:ext uri="{9D8B030D-6E8A-4147-A177-3AD203B41FA5}">
                      <a16:colId xmlns:a16="http://schemas.microsoft.com/office/drawing/2014/main" val="1635355881"/>
                    </a:ext>
                  </a:extLst>
                </a:gridCol>
                <a:gridCol w="2572304">
                  <a:extLst>
                    <a:ext uri="{9D8B030D-6E8A-4147-A177-3AD203B41FA5}">
                      <a16:colId xmlns:a16="http://schemas.microsoft.com/office/drawing/2014/main" val="2598429305"/>
                    </a:ext>
                  </a:extLst>
                </a:gridCol>
                <a:gridCol w="2572304">
                  <a:extLst>
                    <a:ext uri="{9D8B030D-6E8A-4147-A177-3AD203B41FA5}">
                      <a16:colId xmlns:a16="http://schemas.microsoft.com/office/drawing/2014/main" val="2118509863"/>
                    </a:ext>
                  </a:extLst>
                </a:gridCol>
              </a:tblGrid>
              <a:tr h="104557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Type de catalyse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Homogène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Hétérogène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Enzymatique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84125"/>
                  </a:ext>
                </a:extLst>
              </a:tr>
              <a:tr h="128395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Pratique et efficace.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facilement réutilisable (écologique).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polluante.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coûteuse.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Sélective.</a:t>
                      </a:r>
                    </a:p>
                    <a:p>
                      <a:pPr algn="ctr"/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36112"/>
                  </a:ext>
                </a:extLst>
              </a:tr>
              <a:tr h="104557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Inconvénients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difficile à récupérer.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Seule la surface du catalyseur est utile.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Coûteuse en général.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Efficacité fortement dépendante du milieu.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39838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960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1362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Cinétique et catalyse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Los Angeles : un café et une addition... très corsée - Le Point">
            <a:extLst>
              <a:ext uri="{FF2B5EF4-FFF2-40B4-BE49-F238E27FC236}">
                <a16:creationId xmlns:a16="http://schemas.microsoft.com/office/drawing/2014/main" id="{287E2C9F-EA70-4840-83DA-12A80C656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00" y="1828280"/>
            <a:ext cx="3953168" cy="197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IGO A 2 PORTES RDSA 180K20W ACTIVE LINE BEKO">
            <a:extLst>
              <a:ext uri="{FF2B5EF4-FFF2-40B4-BE49-F238E27FC236}">
                <a16:creationId xmlns:a16="http://schemas.microsoft.com/office/drawing/2014/main" id="{2C3BA66D-49B5-4E9F-8B72-0AE486574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179" y="1828280"/>
            <a:ext cx="3249224" cy="371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utocuiseur traditionnel en inox 8 L - Mathon.fr">
            <a:extLst>
              <a:ext uri="{FF2B5EF4-FFF2-40B4-BE49-F238E27FC236}">
                <a16:creationId xmlns:a16="http://schemas.microsoft.com/office/drawing/2014/main" id="{C9B270E3-6288-4187-BA02-17B083247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722" y="3822954"/>
            <a:ext cx="2324828" cy="232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illustrative de l’article Carbone">
            <a:extLst>
              <a:ext uri="{FF2B5EF4-FFF2-40B4-BE49-F238E27FC236}">
                <a16:creationId xmlns:a16="http://schemas.microsoft.com/office/drawing/2014/main" id="{D69FC1B5-BD73-4CAA-93F3-CFD1427CF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400" y="3804864"/>
            <a:ext cx="4006306" cy="234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RIER BLACK SATIN AB - PLANT - FERME DE SAINTE MARTHE">
            <a:extLst>
              <a:ext uri="{FF2B5EF4-FFF2-40B4-BE49-F238E27FC236}">
                <a16:creationId xmlns:a16="http://schemas.microsoft.com/office/drawing/2014/main" id="{34BDBBF4-D567-4A64-BEE3-5FED4F887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436" y="1977720"/>
            <a:ext cx="2709689" cy="270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Quelle est la différence entre un pot catalytique et un ...">
            <a:extLst>
              <a:ext uri="{FF2B5EF4-FFF2-40B4-BE49-F238E27FC236}">
                <a16:creationId xmlns:a16="http://schemas.microsoft.com/office/drawing/2014/main" id="{76B42843-4613-47EE-8E6C-12ECFA463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564" y="1828280"/>
            <a:ext cx="2964875" cy="197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676671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193</TotalTime>
  <Words>154</Words>
  <Application>Microsoft Office PowerPoint</Application>
  <PresentationFormat>Grand écran</PresentationFormat>
  <Paragraphs>62</Paragraphs>
  <Slides>6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Garamond</vt:lpstr>
      <vt:lpstr>Gill Sans MT</vt:lpstr>
      <vt:lpstr>Colis</vt:lpstr>
      <vt:lpstr>LC8 : Cinétique et catalyse</vt:lpstr>
      <vt:lpstr>Réaction lente ou rapide ?</vt:lpstr>
      <vt:lpstr>Facteurs cinétiques</vt:lpstr>
      <vt:lpstr>Avancement</vt:lpstr>
      <vt:lpstr>Catalyse</vt:lpstr>
      <vt:lpstr>Cinétique et catalyse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21</cp:revision>
  <dcterms:created xsi:type="dcterms:W3CDTF">2020-09-19T14:45:32Z</dcterms:created>
  <dcterms:modified xsi:type="dcterms:W3CDTF">2020-09-27T15:07:27Z</dcterms:modified>
</cp:coreProperties>
</file>