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0"/>
  </p:notesMasterIdLst>
  <p:sldIdLst>
    <p:sldId id="256" r:id="rId2"/>
    <p:sldId id="264" r:id="rId3"/>
    <p:sldId id="258" r:id="rId4"/>
    <p:sldId id="266" r:id="rId5"/>
    <p:sldId id="267" r:id="rId6"/>
    <p:sldId id="259" r:id="rId7"/>
    <p:sldId id="263" r:id="rId8"/>
    <p:sldId id="25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08/06/2021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08/06/2021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08/06/2021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08/06/2021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08/06/2021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08/06/2021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08/06/2021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08/06/2021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08/06/2021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08/06/2021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08/06/2021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08/06/2021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08/06/2021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4387" y="1725964"/>
            <a:ext cx="10343226" cy="1768857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LC13 : Stratégie de synthèse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965103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Synthèse de l’acétate d’isoamyle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  <p:pic>
        <p:nvPicPr>
          <p:cNvPr id="1026" name="Picture 2" descr="Image illustrative de l’article Acétate de 3-méthylbutyle">
            <a:extLst>
              <a:ext uri="{FF2B5EF4-FFF2-40B4-BE49-F238E27FC236}">
                <a16:creationId xmlns:a16="http://schemas.microsoft.com/office/drawing/2014/main" id="{B5522CE8-61CE-4DEC-85C9-80E062D72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7972" y="3312663"/>
            <a:ext cx="2381812" cy="986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illustrative de l’article 3-Méthylbutan-1-ol">
            <a:extLst>
              <a:ext uri="{FF2B5EF4-FFF2-40B4-BE49-F238E27FC236}">
                <a16:creationId xmlns:a16="http://schemas.microsoft.com/office/drawing/2014/main" id="{6B65BBED-1F30-4C84-A923-85FB94B0D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555" y="3355525"/>
            <a:ext cx="2010412" cy="900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B240352-8C37-4026-B1C5-172325B69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528" y="3181629"/>
            <a:ext cx="1449401" cy="12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B73919CB-6468-4015-B3AD-890EBB341F1E}"/>
              </a:ext>
            </a:extLst>
          </p:cNvPr>
          <p:cNvSpPr/>
          <p:nvPr/>
        </p:nvSpPr>
        <p:spPr>
          <a:xfrm>
            <a:off x="5868959" y="3591169"/>
            <a:ext cx="801982" cy="429208"/>
          </a:xfrm>
          <a:prstGeom prst="rightArrow">
            <a:avLst>
              <a:gd name="adj1" fmla="val 50000"/>
              <a:gd name="adj2" fmla="val 706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E356658-9CA2-4D4A-8A95-FA1399AD8C0A}"/>
              </a:ext>
            </a:extLst>
          </p:cNvPr>
          <p:cNvSpPr txBox="1"/>
          <p:nvPr/>
        </p:nvSpPr>
        <p:spPr>
          <a:xfrm>
            <a:off x="10311427" y="361455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</a:t>
            </a:r>
            <a:r>
              <a:rPr lang="fr-FR" baseline="-25000" dirty="0"/>
              <a:t>2</a:t>
            </a:r>
            <a:r>
              <a:rPr lang="fr-FR" dirty="0"/>
              <a:t>O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F205414-2735-48FB-887C-2C8367C74605}"/>
              </a:ext>
            </a:extLst>
          </p:cNvPr>
          <p:cNvSpPr txBox="1"/>
          <p:nvPr/>
        </p:nvSpPr>
        <p:spPr>
          <a:xfrm>
            <a:off x="5868238" y="4038488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</a:t>
            </a:r>
            <a:r>
              <a:rPr lang="fr-FR" baseline="-25000" dirty="0"/>
              <a:t>2</a:t>
            </a:r>
            <a:r>
              <a:rPr lang="fr-FR" dirty="0"/>
              <a:t>SO</a:t>
            </a:r>
            <a:r>
              <a:rPr lang="fr-FR" baseline="-25000" dirty="0"/>
              <a:t>4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760E57F-31F8-4A0B-B41A-EE258C3B1E44}"/>
              </a:ext>
            </a:extLst>
          </p:cNvPr>
          <p:cNvSpPr txBox="1"/>
          <p:nvPr/>
        </p:nvSpPr>
        <p:spPr>
          <a:xfrm>
            <a:off x="3354535" y="3621107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+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582E7FB-595A-4A8C-8CA7-C6B61551F570}"/>
              </a:ext>
            </a:extLst>
          </p:cNvPr>
          <p:cNvSpPr txBox="1"/>
          <p:nvPr/>
        </p:nvSpPr>
        <p:spPr>
          <a:xfrm>
            <a:off x="9721064" y="3621107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+</a:t>
            </a:r>
          </a:p>
        </p:txBody>
      </p:sp>
      <p:pic>
        <p:nvPicPr>
          <p:cNvPr id="10" name="Picture 4" descr="SGH05 : Corrosif">
            <a:extLst>
              <a:ext uri="{FF2B5EF4-FFF2-40B4-BE49-F238E27FC236}">
                <a16:creationId xmlns:a16="http://schemas.microsoft.com/office/drawing/2014/main" id="{9483F50C-6E53-4B55-927E-CACB362AD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604" y="4411235"/>
            <a:ext cx="964691" cy="964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SGH02 : Inflammable">
            <a:extLst>
              <a:ext uri="{FF2B5EF4-FFF2-40B4-BE49-F238E27FC236}">
                <a16:creationId xmlns:a16="http://schemas.microsoft.com/office/drawing/2014/main" id="{6B835D1E-9FE3-4C87-8612-CEE121654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357" y="4396390"/>
            <a:ext cx="964691" cy="964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GH07 : Toxique, irritant, sensibilisant, narcotique">
            <a:extLst>
              <a:ext uri="{FF2B5EF4-FFF2-40B4-BE49-F238E27FC236}">
                <a16:creationId xmlns:a16="http://schemas.microsoft.com/office/drawing/2014/main" id="{5BE1FEDA-2548-4FCC-B8A3-72FC333DA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483" y="4396390"/>
            <a:ext cx="964691" cy="964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SGH02 : Inflammable">
            <a:extLst>
              <a:ext uri="{FF2B5EF4-FFF2-40B4-BE49-F238E27FC236}">
                <a16:creationId xmlns:a16="http://schemas.microsoft.com/office/drawing/2014/main" id="{5F857E81-0E7F-417F-B7DF-700709DC7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332" y="4401986"/>
            <a:ext cx="964691" cy="964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SGH05 : Corrosif">
            <a:extLst>
              <a:ext uri="{FF2B5EF4-FFF2-40B4-BE49-F238E27FC236}">
                <a16:creationId xmlns:a16="http://schemas.microsoft.com/office/drawing/2014/main" id="{A7274127-73B0-410F-8A0D-E16D8C9B7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8129" y="4405804"/>
            <a:ext cx="964691" cy="964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SGH02 : Inflammable">
            <a:extLst>
              <a:ext uri="{FF2B5EF4-FFF2-40B4-BE49-F238E27FC236}">
                <a16:creationId xmlns:a16="http://schemas.microsoft.com/office/drawing/2014/main" id="{9C28D2E2-D076-425C-97B5-61AD85743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6532" y="4401985"/>
            <a:ext cx="964691" cy="964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0077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Modifications de molécules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7C870B8-5D5E-44B9-8DB5-8D3065846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637" y="2503736"/>
            <a:ext cx="7324725" cy="104775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A96EA726-058B-47B5-A8FE-05F222ACE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549" y="4828481"/>
            <a:ext cx="6438900" cy="485775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E8A6FA1D-16B0-4F63-8127-521062D20F7F}"/>
              </a:ext>
            </a:extLst>
          </p:cNvPr>
          <p:cNvSpPr txBox="1"/>
          <p:nvPr/>
        </p:nvSpPr>
        <p:spPr>
          <a:xfrm>
            <a:off x="4860821" y="3551486"/>
            <a:ext cx="247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rgbClr val="0070C0"/>
                </a:solidFill>
                <a:latin typeface="Garamond" panose="02020404030301010803" pitchFamily="18" charset="0"/>
              </a:rPr>
              <a:t>Modification de chaîne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EA655A6-F916-473D-BD24-732F77869559}"/>
              </a:ext>
            </a:extLst>
          </p:cNvPr>
          <p:cNvSpPr txBox="1"/>
          <p:nvPr/>
        </p:nvSpPr>
        <p:spPr>
          <a:xfrm>
            <a:off x="4828665" y="5314256"/>
            <a:ext cx="2534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rgbClr val="C00000"/>
                </a:solidFill>
                <a:latin typeface="Garamond" panose="02020404030301010803" pitchFamily="18" charset="0"/>
              </a:rPr>
              <a:t>Modification de groupe</a:t>
            </a:r>
          </a:p>
        </p:txBody>
      </p:sp>
    </p:spTree>
    <p:extLst>
      <p:ext uri="{BB962C8B-B14F-4D97-AF65-F5344CB8AC3E}">
        <p14:creationId xmlns:p14="http://schemas.microsoft.com/office/powerpoint/2010/main" val="4092392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Conditions expérimentales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9D9E90A5-B534-4E9B-9B01-71CD2105C8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8688" y="3281426"/>
          <a:ext cx="9994623" cy="1854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1679">
                  <a:extLst>
                    <a:ext uri="{9D8B030D-6E8A-4147-A177-3AD203B41FA5}">
                      <a16:colId xmlns:a16="http://schemas.microsoft.com/office/drawing/2014/main" val="3123250383"/>
                    </a:ext>
                  </a:extLst>
                </a:gridCol>
                <a:gridCol w="1111567">
                  <a:extLst>
                    <a:ext uri="{9D8B030D-6E8A-4147-A177-3AD203B41FA5}">
                      <a16:colId xmlns:a16="http://schemas.microsoft.com/office/drawing/2014/main" val="2184703118"/>
                    </a:ext>
                  </a:extLst>
                </a:gridCol>
                <a:gridCol w="3167380">
                  <a:extLst>
                    <a:ext uri="{9D8B030D-6E8A-4147-A177-3AD203B41FA5}">
                      <a16:colId xmlns:a16="http://schemas.microsoft.com/office/drawing/2014/main" val="1769418808"/>
                    </a:ext>
                  </a:extLst>
                </a:gridCol>
                <a:gridCol w="915733">
                  <a:extLst>
                    <a:ext uri="{9D8B030D-6E8A-4147-A177-3AD203B41FA5}">
                      <a16:colId xmlns:a16="http://schemas.microsoft.com/office/drawing/2014/main" val="3012469549"/>
                    </a:ext>
                  </a:extLst>
                </a:gridCol>
                <a:gridCol w="3308264">
                  <a:extLst>
                    <a:ext uri="{9D8B030D-6E8A-4147-A177-3AD203B41FA5}">
                      <a16:colId xmlns:a16="http://schemas.microsoft.com/office/drawing/2014/main" val="2925418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Tube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Tube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Tube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Tube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573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Acide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Aucun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1mL d’acide sulfurique 18mol.L</a:t>
                      </a:r>
                      <a:r>
                        <a:rPr lang="fr-FR" baseline="30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Aucun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1mL d’acide sulfurique 18mol.L</a:t>
                      </a:r>
                      <a:r>
                        <a:rPr lang="fr-FR" baseline="30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822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Température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Ambiante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Ambiante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60°C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60°C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533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V</a:t>
                      </a:r>
                      <a:r>
                        <a:rPr lang="fr-FR" baseline="-25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145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Avancement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514484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2851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Chauffer et catalyser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1026" name="Picture 2" descr="Schéma du montage de chauffage à reflux">
            <a:extLst>
              <a:ext uri="{FF2B5EF4-FFF2-40B4-BE49-F238E27FC236}">
                <a16:creationId xmlns:a16="http://schemas.microsoft.com/office/drawing/2014/main" id="{112889FE-450F-44D8-91FA-9734FFF90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145" y="2191885"/>
            <a:ext cx="1129167" cy="456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au 6">
            <a:extLst>
              <a:ext uri="{FF2B5EF4-FFF2-40B4-BE49-F238E27FC236}">
                <a16:creationId xmlns:a16="http://schemas.microsoft.com/office/drawing/2014/main" id="{4380C9A6-1F45-4789-BC34-F022CF1180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04334" y="2998303"/>
          <a:ext cx="7949733" cy="2793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8222">
                  <a:extLst>
                    <a:ext uri="{9D8B030D-6E8A-4147-A177-3AD203B41FA5}">
                      <a16:colId xmlns:a16="http://schemas.microsoft.com/office/drawing/2014/main" val="1114433641"/>
                    </a:ext>
                  </a:extLst>
                </a:gridCol>
                <a:gridCol w="1932893">
                  <a:extLst>
                    <a:ext uri="{9D8B030D-6E8A-4147-A177-3AD203B41FA5}">
                      <a16:colId xmlns:a16="http://schemas.microsoft.com/office/drawing/2014/main" val="1635355881"/>
                    </a:ext>
                  </a:extLst>
                </a:gridCol>
                <a:gridCol w="2316209">
                  <a:extLst>
                    <a:ext uri="{9D8B030D-6E8A-4147-A177-3AD203B41FA5}">
                      <a16:colId xmlns:a16="http://schemas.microsoft.com/office/drawing/2014/main" val="2598429305"/>
                    </a:ext>
                  </a:extLst>
                </a:gridCol>
                <a:gridCol w="2012409">
                  <a:extLst>
                    <a:ext uri="{9D8B030D-6E8A-4147-A177-3AD203B41FA5}">
                      <a16:colId xmlns:a16="http://schemas.microsoft.com/office/drawing/2014/main" val="2118509863"/>
                    </a:ext>
                  </a:extLst>
                </a:gridCol>
              </a:tblGrid>
              <a:tr h="91637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Type de catalyse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Homogène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Hétérogène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Enzymatique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284125"/>
                  </a:ext>
                </a:extLst>
              </a:tr>
              <a:tr h="960564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Pratique et efficace.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Catalyseur facilement réutilisable (écologique).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Peu polluante.</a:t>
                      </a:r>
                    </a:p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Peu coûteuse.</a:t>
                      </a:r>
                    </a:p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Sélective.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136112"/>
                  </a:ext>
                </a:extLst>
              </a:tr>
              <a:tr h="91637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Inconvénients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Catalyseur difficile à récupérer.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Seule la surface du catalyseur est utile.</a:t>
                      </a:r>
                    </a:p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Coûteuse en général.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Efficacité fortement dépendante du milieu.</a:t>
                      </a:r>
                    </a:p>
                    <a:p>
                      <a:pPr algn="ctr"/>
                      <a:r>
                        <a:rPr lang="fr-FR" sz="16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Sélective…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39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3668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5" y="601399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Protection/</a:t>
            </a:r>
            <a:r>
              <a:rPr lang="fr-FR" sz="3200" b="1" cap="none" dirty="0" err="1">
                <a:latin typeface="Garamond" panose="02020404030301010803" pitchFamily="18" charset="0"/>
              </a:rPr>
              <a:t>déprotection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A374A14F-840C-4A9D-A13C-174B1D0FFF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8505" y="1902274"/>
            <a:ext cx="2514988" cy="4427797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A8BCCA-4866-48F7-903A-1C0E8449C38F}"/>
              </a:ext>
            </a:extLst>
          </p:cNvPr>
          <p:cNvSpPr/>
          <p:nvPr/>
        </p:nvSpPr>
        <p:spPr>
          <a:xfrm>
            <a:off x="4648307" y="1902274"/>
            <a:ext cx="502741" cy="26075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B0FF4F-4F70-4E56-BB10-BB650CD50DAC}"/>
              </a:ext>
            </a:extLst>
          </p:cNvPr>
          <p:cNvSpPr/>
          <p:nvPr/>
        </p:nvSpPr>
        <p:spPr>
          <a:xfrm>
            <a:off x="4689740" y="5436427"/>
            <a:ext cx="502741" cy="573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9C0BB7-0058-46B6-8E9E-0AE4180E08E4}"/>
              </a:ext>
            </a:extLst>
          </p:cNvPr>
          <p:cNvSpPr/>
          <p:nvPr/>
        </p:nvSpPr>
        <p:spPr>
          <a:xfrm>
            <a:off x="4960849" y="3829369"/>
            <a:ext cx="936097" cy="5736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3762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99304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Synthèse du paracétamol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7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1593ABB-77A0-475A-AB8D-7EDC02F6A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544" y="4057259"/>
            <a:ext cx="6342912" cy="227296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6275E94-10C0-493D-9F16-113D8F4FD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4544" y="1571344"/>
            <a:ext cx="6342912" cy="2336009"/>
          </a:xfrm>
          <a:prstGeom prst="rect">
            <a:avLst/>
          </a:prstGeom>
        </p:spPr>
      </p:pic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B357F542-4C3F-4E63-95F3-21FD619F41C1}"/>
              </a:ext>
            </a:extLst>
          </p:cNvPr>
          <p:cNvCxnSpPr/>
          <p:nvPr/>
        </p:nvCxnSpPr>
        <p:spPr>
          <a:xfrm>
            <a:off x="2861984" y="3907353"/>
            <a:ext cx="6468031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912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Choix d’un protocole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8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C625FCC-05D3-4B5E-8569-5BA2C1601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569" y="2227790"/>
            <a:ext cx="7018861" cy="404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187</TotalTime>
  <Words>154</Words>
  <Application>Microsoft Office PowerPoint</Application>
  <PresentationFormat>Grand écran</PresentationFormat>
  <Paragraphs>61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Calibri</vt:lpstr>
      <vt:lpstr>Garamond</vt:lpstr>
      <vt:lpstr>Gill Sans MT</vt:lpstr>
      <vt:lpstr>Colis</vt:lpstr>
      <vt:lpstr>LC13 : Stratégie de synthèse</vt:lpstr>
      <vt:lpstr>Synthèse de l’acétate d’isoamyle</vt:lpstr>
      <vt:lpstr>Modifications de molécules</vt:lpstr>
      <vt:lpstr>Conditions expérimentales</vt:lpstr>
      <vt:lpstr>Chauffer et catalyser</vt:lpstr>
      <vt:lpstr>Protection/déprotection</vt:lpstr>
      <vt:lpstr>Synthèse du paracétamol</vt:lpstr>
      <vt:lpstr>Choix d’un protocole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14</cp:revision>
  <dcterms:created xsi:type="dcterms:W3CDTF">2020-09-19T14:45:32Z</dcterms:created>
  <dcterms:modified xsi:type="dcterms:W3CDTF">2021-06-08T16:04:35Z</dcterms:modified>
</cp:coreProperties>
</file>