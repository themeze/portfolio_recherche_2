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F51CE3-9C7E-4F9E-B0F4-FC988528060B}" type="datetimeFigureOut">
              <a:rPr lang="fr-FR" smtClean="0"/>
              <a:t>20/05/2021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536B36-6E90-4BAD-A4C4-085410494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84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22011-4AF3-484A-ACC1-E81F8CC48133}" type="datetime1">
              <a:rPr lang="fr-FR" smtClean="0"/>
              <a:t>20/05/2021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051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09F49-D0D3-47CD-901D-4E1D3BAF5AB2}" type="datetime1">
              <a:rPr lang="fr-FR" smtClean="0"/>
              <a:t>20/05/2021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6421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54A85-7B2E-4FD7-93A7-AC2D6F4C0A02}" type="datetime1">
              <a:rPr lang="fr-FR" smtClean="0"/>
              <a:t>20/05/2021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4338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F58BB-11B9-447F-A8B8-D817CD81C453}" type="datetime1">
              <a:rPr lang="fr-FR" smtClean="0"/>
              <a:t>20/05/2021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244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A71A8-43F5-4B50-930C-AFD958D07321}" type="datetime1">
              <a:rPr lang="fr-FR" smtClean="0"/>
              <a:t>20/05/2021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524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D0F49-8265-4A3A-AE23-F264A7AB982A}" type="datetime1">
              <a:rPr lang="fr-FR" smtClean="0"/>
              <a:t>20/05/2021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3346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365DF-E2E8-4A8D-93BF-EBD582E9762B}" type="datetime1">
              <a:rPr lang="fr-FR" smtClean="0"/>
              <a:t>20/05/2021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9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A8A5-9239-458E-ABD9-01BE91958835}" type="datetime1">
              <a:rPr lang="fr-FR" smtClean="0"/>
              <a:t>20/05/2021</a:t>
            </a:fld>
            <a:endParaRPr lang="fr-FR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6435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A53AF-E335-485C-9F4D-A75E166D6BF6}" type="datetime1">
              <a:rPr lang="fr-FR" smtClean="0"/>
              <a:t>20/05/2021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42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A9ABF6-F35E-4280-B9BC-AEA6A61FEC11}" type="datetime1">
              <a:rPr lang="fr-FR" smtClean="0"/>
              <a:t>20/05/2021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9306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E294D-F84B-4A3B-92A2-8E351A2EA1CD}" type="datetime1">
              <a:rPr lang="fr-FR" smtClean="0"/>
              <a:t>20/05/2021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6467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0D0C986-FF24-43ED-ABC3-B4FAE3FAE3F0}" type="datetime1">
              <a:rPr lang="fr-FR" smtClean="0"/>
              <a:t>20/05/2021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r>
              <a:rPr lang="fr-FR"/>
              <a:t>Mathieu Markovitch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3004290-8CBA-49F1-AB52-FC5171BD612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3165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36647E-EBC3-4C35-A08A-ED41E77A3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8461" y="1436833"/>
            <a:ext cx="11515078" cy="1645920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 fontScale="90000"/>
          </a:bodyPr>
          <a:lstStyle/>
          <a:p>
            <a:r>
              <a:rPr lang="fr-FR" sz="6000" b="1" cap="none" dirty="0">
                <a:latin typeface="Garamond" panose="02020404030301010803" pitchFamily="18" charset="0"/>
              </a:rPr>
              <a:t>LC10 : Séparations, purifications, contrôles de pureté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6E999F2-7A5D-42D8-8020-0BE6951E3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526013"/>
            <a:ext cx="6801612" cy="1239894"/>
          </a:xfrm>
        </p:spPr>
        <p:txBody>
          <a:bodyPr>
            <a:normAutofit/>
          </a:bodyPr>
          <a:lstStyle/>
          <a:p>
            <a:r>
              <a:rPr lang="fr-FR" sz="3200" b="1" dirty="0">
                <a:latin typeface="Garamond" panose="02020404030301010803" pitchFamily="18" charset="0"/>
              </a:rPr>
              <a:t>Mathieu </a:t>
            </a:r>
            <a:r>
              <a:rPr lang="fr-FR" sz="3200" b="1" dirty="0" err="1">
                <a:latin typeface="Garamond" panose="02020404030301010803" pitchFamily="18" charset="0"/>
              </a:rPr>
              <a:t>Markovitch</a:t>
            </a:r>
            <a:endParaRPr lang="fr-FR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584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Une synthèse organique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2</a:t>
            </a:fld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3F4618B-7CA1-4F75-8DAC-E9C7AC5996FD}"/>
              </a:ext>
            </a:extLst>
          </p:cNvPr>
          <p:cNvSpPr txBox="1"/>
          <p:nvPr/>
        </p:nvSpPr>
        <p:spPr>
          <a:xfrm>
            <a:off x="8927128" y="3915976"/>
            <a:ext cx="1828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Garamond" panose="02020404030301010803" pitchFamily="18" charset="0"/>
              </a:rPr>
              <a:t>Acide benzoïque</a:t>
            </a:r>
          </a:p>
        </p:txBody>
      </p:sp>
      <p:pic>
        <p:nvPicPr>
          <p:cNvPr id="1028" name="Picture 4" descr="Image illustrative de l’article Benzaldéhyde">
            <a:extLst>
              <a:ext uri="{FF2B5EF4-FFF2-40B4-BE49-F238E27FC236}">
                <a16:creationId xmlns:a16="http://schemas.microsoft.com/office/drawing/2014/main" id="{B12D05A4-FB1F-4E44-8822-281A4A8D16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6075" y="3040018"/>
            <a:ext cx="2922903" cy="264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DBFF69C3-3705-4FE6-9862-BDC8BF76E78E}"/>
              </a:ext>
            </a:extLst>
          </p:cNvPr>
          <p:cNvSpPr txBox="1"/>
          <p:nvPr/>
        </p:nvSpPr>
        <p:spPr>
          <a:xfrm>
            <a:off x="3717607" y="4914130"/>
            <a:ext cx="15617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Garamond" panose="02020404030301010803" pitchFamily="18" charset="0"/>
              </a:rPr>
              <a:t>Benzaldéhyde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B6B9D41-B26F-41E2-A1AA-407CED1D0B20}"/>
              </a:ext>
            </a:extLst>
          </p:cNvPr>
          <p:cNvSpPr txBox="1"/>
          <p:nvPr/>
        </p:nvSpPr>
        <p:spPr>
          <a:xfrm>
            <a:off x="8941145" y="5640956"/>
            <a:ext cx="19367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Garamond" panose="02020404030301010803" pitchFamily="18" charset="0"/>
              </a:rPr>
              <a:t>Alcool benzylique</a:t>
            </a:r>
          </a:p>
        </p:txBody>
      </p:sp>
      <p:pic>
        <p:nvPicPr>
          <p:cNvPr id="1032" name="Picture 8" descr="Image illustrative de l’article Alcool benzylique">
            <a:extLst>
              <a:ext uri="{FF2B5EF4-FFF2-40B4-BE49-F238E27FC236}">
                <a16:creationId xmlns:a16="http://schemas.microsoft.com/office/drawing/2014/main" id="{FF405C88-63A5-49B6-98FC-649F52E9D9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8267" y="4800772"/>
            <a:ext cx="2696355" cy="134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Image illustrative de l’article Benzaldéhyde">
            <a:extLst>
              <a:ext uri="{FF2B5EF4-FFF2-40B4-BE49-F238E27FC236}">
                <a16:creationId xmlns:a16="http://schemas.microsoft.com/office/drawing/2014/main" id="{CDF40875-77CD-4C05-B5E3-2D7DBA01F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1719" y="1990348"/>
            <a:ext cx="2922903" cy="264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CC8480F2-01BD-46E4-8035-C1898EA841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3892" y="3189643"/>
            <a:ext cx="657225" cy="400050"/>
          </a:xfrm>
          <a:prstGeom prst="rect">
            <a:avLst/>
          </a:prstGeom>
        </p:spPr>
      </p:pic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CEBAB76F-790E-4C7C-8916-205527F479DA}"/>
              </a:ext>
            </a:extLst>
          </p:cNvPr>
          <p:cNvSpPr/>
          <p:nvPr/>
        </p:nvSpPr>
        <p:spPr>
          <a:xfrm>
            <a:off x="5417966" y="4245736"/>
            <a:ext cx="1345337" cy="775781"/>
          </a:xfrm>
          <a:prstGeom prst="rightArrow">
            <a:avLst>
              <a:gd name="adj1" fmla="val 38556"/>
              <a:gd name="adj2" fmla="val 648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8650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Elimination du solvant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3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1558C720-37CC-4E4F-80E3-B72023C6F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959" y="2313847"/>
            <a:ext cx="4587065" cy="3579461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523898B-731C-4344-8799-7832CB5BBEB4}"/>
              </a:ext>
            </a:extLst>
          </p:cNvPr>
          <p:cNvSpPr txBox="1"/>
          <p:nvPr/>
        </p:nvSpPr>
        <p:spPr>
          <a:xfrm>
            <a:off x="7143263" y="5848588"/>
            <a:ext cx="327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Garamond" panose="02020404030301010803" pitchFamily="18" charset="0"/>
              </a:rPr>
              <a:t>Alcool benzylique</a:t>
            </a:r>
            <a:r>
              <a:rPr lang="fr-FR" dirty="0">
                <a:latin typeface="Garamond" panose="02020404030301010803" pitchFamily="18" charset="0"/>
              </a:rPr>
              <a:t> : </a:t>
            </a:r>
            <a:r>
              <a:rPr lang="fr-FR" dirty="0" err="1">
                <a:latin typeface="Garamond" panose="02020404030301010803" pitchFamily="18" charset="0"/>
              </a:rPr>
              <a:t>T</a:t>
            </a:r>
            <a:r>
              <a:rPr lang="fr-FR" baseline="-25000" dirty="0" err="1">
                <a:latin typeface="Garamond" panose="02020404030301010803" pitchFamily="18" charset="0"/>
              </a:rPr>
              <a:t>eb</a:t>
            </a:r>
            <a:r>
              <a:rPr lang="fr-FR" dirty="0">
                <a:latin typeface="Garamond" panose="02020404030301010803" pitchFamily="18" charset="0"/>
              </a:rPr>
              <a:t> = 205°C</a:t>
            </a:r>
            <a:endParaRPr lang="fr-FR" b="1" dirty="0">
              <a:latin typeface="Garamond" panose="02020404030301010803" pitchFamily="18" charset="0"/>
            </a:endParaRPr>
          </a:p>
        </p:txBody>
      </p:sp>
      <p:pic>
        <p:nvPicPr>
          <p:cNvPr id="9" name="Picture 8" descr="Image illustrative de l’article Alcool benzylique">
            <a:extLst>
              <a:ext uri="{FF2B5EF4-FFF2-40B4-BE49-F238E27FC236}">
                <a16:creationId xmlns:a16="http://schemas.microsoft.com/office/drawing/2014/main" id="{11E41DBB-2C19-4435-85E0-B4628C3A2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053" y="4500410"/>
            <a:ext cx="2696355" cy="134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 illustrative de l’article Éther diéthylique">
            <a:extLst>
              <a:ext uri="{FF2B5EF4-FFF2-40B4-BE49-F238E27FC236}">
                <a16:creationId xmlns:a16="http://schemas.microsoft.com/office/drawing/2014/main" id="{2548894E-8254-4AE6-8A3C-C4CA46900E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777" y="2414670"/>
            <a:ext cx="2789631" cy="787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B460CFEE-B1F3-4799-A9F6-4D70F8E7955A}"/>
              </a:ext>
            </a:extLst>
          </p:cNvPr>
          <p:cNvSpPr txBox="1"/>
          <p:nvPr/>
        </p:nvSpPr>
        <p:spPr>
          <a:xfrm>
            <a:off x="7254253" y="3202160"/>
            <a:ext cx="3057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>
                <a:latin typeface="Garamond" panose="02020404030301010803" pitchFamily="18" charset="0"/>
              </a:rPr>
              <a:t>Ether </a:t>
            </a:r>
            <a:r>
              <a:rPr lang="fr-FR" b="1" dirty="0" err="1">
                <a:latin typeface="Garamond" panose="02020404030301010803" pitchFamily="18" charset="0"/>
              </a:rPr>
              <a:t>diéthylique</a:t>
            </a:r>
            <a:r>
              <a:rPr lang="fr-FR" dirty="0">
                <a:latin typeface="Garamond" panose="02020404030301010803" pitchFamily="18" charset="0"/>
              </a:rPr>
              <a:t> : </a:t>
            </a:r>
            <a:r>
              <a:rPr lang="fr-FR" dirty="0" err="1">
                <a:latin typeface="Garamond" panose="02020404030301010803" pitchFamily="18" charset="0"/>
              </a:rPr>
              <a:t>T</a:t>
            </a:r>
            <a:r>
              <a:rPr lang="fr-FR" baseline="-25000" dirty="0" err="1">
                <a:latin typeface="Garamond" panose="02020404030301010803" pitchFamily="18" charset="0"/>
              </a:rPr>
              <a:t>eb</a:t>
            </a:r>
            <a:r>
              <a:rPr lang="fr-FR" dirty="0">
                <a:latin typeface="Garamond" panose="02020404030301010803" pitchFamily="18" charset="0"/>
              </a:rPr>
              <a:t> = 35°C</a:t>
            </a:r>
            <a:endParaRPr lang="fr-FR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986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Techniques de séparation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2124329A-F7BC-4775-803A-22CCE2DD5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8832065"/>
              </p:ext>
            </p:extLst>
          </p:nvPr>
        </p:nvGraphicFramePr>
        <p:xfrm>
          <a:off x="2537523" y="3064553"/>
          <a:ext cx="7116953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290">
                  <a:extLst>
                    <a:ext uri="{9D8B030D-6E8A-4147-A177-3AD203B41FA5}">
                      <a16:colId xmlns:a16="http://schemas.microsoft.com/office/drawing/2014/main" val="737932343"/>
                    </a:ext>
                  </a:extLst>
                </a:gridCol>
                <a:gridCol w="3208655">
                  <a:extLst>
                    <a:ext uri="{9D8B030D-6E8A-4147-A177-3AD203B41FA5}">
                      <a16:colId xmlns:a16="http://schemas.microsoft.com/office/drawing/2014/main" val="2277183352"/>
                    </a:ext>
                  </a:extLst>
                </a:gridCol>
                <a:gridCol w="2858008">
                  <a:extLst>
                    <a:ext uri="{9D8B030D-6E8A-4147-A177-3AD203B41FA5}">
                      <a16:colId xmlns:a16="http://schemas.microsoft.com/office/drawing/2014/main" val="1763496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Produit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Liquide (alcool benzylique)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Solide (acide benzoïque)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0345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Etapes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Lavage</a:t>
                      </a:r>
                    </a:p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Séchage</a:t>
                      </a:r>
                    </a:p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Elimination du solvant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Extraction</a:t>
                      </a:r>
                    </a:p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Essorage sur Büchner</a:t>
                      </a:r>
                    </a:p>
                    <a:p>
                      <a:pPr algn="just"/>
                      <a:r>
                        <a:rPr lang="fr-FR" sz="20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</a:rPr>
                        <a:t>Etuvage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501227"/>
                  </a:ext>
                </a:extLst>
              </a:tr>
            </a:tbl>
          </a:graphicData>
        </a:graphic>
      </p:graphicFrame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3419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Réfractométrie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5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B5E3EF94-BB40-43B6-ADB0-4CEA1277F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450" y="2427989"/>
            <a:ext cx="4791059" cy="2087724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F6481B8-E940-44C1-A2C2-37FEB08E5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795" y="4833140"/>
            <a:ext cx="4618368" cy="1155923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63002172-2350-4C2F-BD67-224223486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850" y="3086426"/>
            <a:ext cx="3389526" cy="2257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0625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Recristallisation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6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B979933-42BC-4247-BDA9-389301A2A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07" y="2230143"/>
            <a:ext cx="4970786" cy="4080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148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69A4F7-3E34-4AA1-88E3-76F0480113D5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fr-FR" sz="3200" b="1" cap="none" dirty="0">
                <a:latin typeface="Garamond" panose="02020404030301010803" pitchFamily="18" charset="0"/>
              </a:rPr>
              <a:t>Distillation fractionnée</a:t>
            </a:r>
            <a:endParaRPr lang="fr-FR" sz="3200" b="1" dirty="0">
              <a:latin typeface="Garamond" panose="02020404030301010803" pitchFamily="18" charset="0"/>
            </a:endParaRP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7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1F3BA43-798D-4145-9754-D0D6A7E7A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70" y="2194765"/>
            <a:ext cx="5425460" cy="413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6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B8DF43-DCB9-4BA8-8B29-3299A4CC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2177" y="6263640"/>
            <a:ext cx="1569128" cy="320040"/>
          </a:xfrm>
        </p:spPr>
        <p:txBody>
          <a:bodyPr/>
          <a:lstStyle/>
          <a:p>
            <a:r>
              <a:rPr lang="fr-FR" sz="1200" dirty="0">
                <a:latin typeface="Garamond" panose="02020404030301010803" pitchFamily="18" charset="0"/>
              </a:rPr>
              <a:t>Mathieu </a:t>
            </a:r>
            <a:r>
              <a:rPr lang="fr-FR" sz="1200" dirty="0" err="1">
                <a:latin typeface="Garamond" panose="02020404030301010803" pitchFamily="18" charset="0"/>
              </a:rPr>
              <a:t>Markovitch</a:t>
            </a:r>
            <a:endParaRPr lang="fr-FR" sz="1200" dirty="0">
              <a:latin typeface="Garamond" panose="02020404030301010803" pitchFamily="18" charset="0"/>
            </a:endParaRP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7561A7-7104-44B2-8184-4D27ACCF7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04290-8CBA-49F1-AB52-FC5171BD612C}" type="slidenum">
              <a:rPr lang="fr-FR" smtClean="0"/>
              <a:t>8</a:t>
            </a:fld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E8EC30FE-B9FF-42EE-B457-3A8ED344DBCE}"/>
              </a:ext>
            </a:extLst>
          </p:cNvPr>
          <p:cNvSpPr txBox="1"/>
          <p:nvPr/>
        </p:nvSpPr>
        <p:spPr>
          <a:xfrm>
            <a:off x="3027710" y="357004"/>
            <a:ext cx="330090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latin typeface="Garamond" panose="02020404030301010803" pitchFamily="18" charset="0"/>
              </a:rPr>
              <a:t>A </a:t>
            </a:r>
            <a:r>
              <a:rPr lang="en-US" b="1" dirty="0" err="1">
                <a:latin typeface="Garamond" panose="02020404030301010803" pitchFamily="18" charset="0"/>
              </a:rPr>
              <a:t>l’issue</a:t>
            </a:r>
            <a:r>
              <a:rPr lang="en-US" b="1" dirty="0">
                <a:latin typeface="Garamond" panose="02020404030301010803" pitchFamily="18" charset="0"/>
              </a:rPr>
              <a:t> de la </a:t>
            </a:r>
            <a:r>
              <a:rPr lang="en-US" b="1" dirty="0" err="1">
                <a:latin typeface="Garamond" panose="02020404030301010803" pitchFamily="18" charset="0"/>
              </a:rPr>
              <a:t>synthèse</a:t>
            </a:r>
            <a:r>
              <a:rPr lang="en-US" b="1" dirty="0">
                <a:latin typeface="Garamond" panose="02020404030301010803" pitchFamily="18" charset="0"/>
              </a:rPr>
              <a:t>, il y a …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6786B3B5-95AC-49CB-A8BA-8BC5273B680E}"/>
              </a:ext>
            </a:extLst>
          </p:cNvPr>
          <p:cNvSpPr txBox="1"/>
          <p:nvPr/>
        </p:nvSpPr>
        <p:spPr>
          <a:xfrm>
            <a:off x="2049739" y="1267976"/>
            <a:ext cx="1120820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Un </a:t>
            </a:r>
            <a:r>
              <a:rPr lang="en-US" dirty="0" err="1">
                <a:solidFill>
                  <a:srgbClr val="0070C0"/>
                </a:solidFill>
                <a:latin typeface="Garamond" panose="02020404030301010803" pitchFamily="18" charset="0"/>
              </a:rPr>
              <a:t>liquide</a:t>
            </a:r>
            <a:endParaRPr lang="en-US" dirty="0">
              <a:solidFill>
                <a:srgbClr val="0070C0"/>
              </a:solidFill>
              <a:latin typeface="Garamond" panose="02020404030301010803" pitchFamily="18" charset="0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B2EEF3BF-C7CB-4101-8F3E-F3F5B3C01F77}"/>
              </a:ext>
            </a:extLst>
          </p:cNvPr>
          <p:cNvSpPr txBox="1"/>
          <p:nvPr/>
        </p:nvSpPr>
        <p:spPr>
          <a:xfrm>
            <a:off x="5216317" y="1266641"/>
            <a:ext cx="2784737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Deux phases </a:t>
            </a:r>
            <a:r>
              <a:rPr lang="en-US" dirty="0" err="1">
                <a:solidFill>
                  <a:srgbClr val="0070C0"/>
                </a:solidFill>
                <a:latin typeface="Garamond" panose="02020404030301010803" pitchFamily="18" charset="0"/>
              </a:rPr>
              <a:t>liquide</a:t>
            </a:r>
            <a:r>
              <a:rPr lang="en-US" dirty="0">
                <a:latin typeface="Garamond" panose="02020404030301010803" pitchFamily="18" charset="0"/>
              </a:rPr>
              <a:t> et </a:t>
            </a:r>
            <a:r>
              <a:rPr lang="en-US" dirty="0" err="1">
                <a:solidFill>
                  <a:srgbClr val="C00000"/>
                </a:solidFill>
                <a:latin typeface="Garamond" panose="02020404030301010803" pitchFamily="18" charset="0"/>
              </a:rPr>
              <a:t>solide</a:t>
            </a:r>
            <a:endParaRPr lang="en-US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651F5E81-072F-429F-BCE7-50F0AAE34ED6}"/>
              </a:ext>
            </a:extLst>
          </p:cNvPr>
          <p:cNvSpPr txBox="1"/>
          <p:nvPr/>
        </p:nvSpPr>
        <p:spPr>
          <a:xfrm>
            <a:off x="5674973" y="1843826"/>
            <a:ext cx="23695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Garamond" panose="02020404030301010803" pitchFamily="18" charset="0"/>
              </a:rPr>
              <a:t>Séparation</a:t>
            </a:r>
            <a:r>
              <a:rPr lang="en-US" dirty="0">
                <a:latin typeface="Garamond" panose="02020404030301010803" pitchFamily="18" charset="0"/>
              </a:rPr>
              <a:t> physique</a:t>
            </a:r>
          </a:p>
          <a:p>
            <a:pPr algn="ctr"/>
            <a:r>
              <a:rPr lang="en-US" dirty="0">
                <a:latin typeface="Garamond" panose="02020404030301010803" pitchFamily="18" charset="0"/>
              </a:rPr>
              <a:t>La phase </a:t>
            </a:r>
            <a:r>
              <a:rPr lang="en-US" dirty="0" err="1">
                <a:latin typeface="Garamond" panose="02020404030301010803" pitchFamily="18" charset="0"/>
              </a:rPr>
              <a:t>désirée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est</a:t>
            </a:r>
            <a:r>
              <a:rPr lang="en-US" dirty="0">
                <a:latin typeface="Garamond" panose="02020404030301010803" pitchFamily="18" charset="0"/>
              </a:rPr>
              <a:t> … 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04971BB6-0321-4680-BAAC-88C22D34BB13}"/>
              </a:ext>
            </a:extLst>
          </p:cNvPr>
          <p:cNvSpPr txBox="1"/>
          <p:nvPr/>
        </p:nvSpPr>
        <p:spPr>
          <a:xfrm>
            <a:off x="1850967" y="4162028"/>
            <a:ext cx="151836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Garamond" panose="02020404030301010803" pitchFamily="18" charset="0"/>
              </a:rPr>
              <a:t>Réfractométrie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E063C6F3-541F-4137-AD87-C95873F9C4D0}"/>
              </a:ext>
            </a:extLst>
          </p:cNvPr>
          <p:cNvSpPr txBox="1"/>
          <p:nvPr/>
        </p:nvSpPr>
        <p:spPr>
          <a:xfrm>
            <a:off x="1349554" y="2566360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Une phase</a:t>
            </a:r>
          </a:p>
        </p:txBody>
      </p:sp>
      <p:sp>
        <p:nvSpPr>
          <p:cNvPr id="58" name="ZoneTexte 57">
            <a:extLst>
              <a:ext uri="{FF2B5EF4-FFF2-40B4-BE49-F238E27FC236}">
                <a16:creationId xmlns:a16="http://schemas.microsoft.com/office/drawing/2014/main" id="{10FC1B3E-FF95-467C-A5A4-50F15D854AC2}"/>
              </a:ext>
            </a:extLst>
          </p:cNvPr>
          <p:cNvSpPr txBox="1"/>
          <p:nvPr/>
        </p:nvSpPr>
        <p:spPr>
          <a:xfrm>
            <a:off x="3239761" y="1848312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Deux</a:t>
            </a:r>
            <a:r>
              <a:rPr lang="en-US" dirty="0"/>
              <a:t> </a:t>
            </a:r>
            <a:r>
              <a:rPr lang="en-US" dirty="0">
                <a:latin typeface="Garamond" panose="02020404030301010803" pitchFamily="18" charset="0"/>
              </a:rPr>
              <a:t>phases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latin typeface="Garamond" panose="02020404030301010803" pitchFamily="18" charset="0"/>
              </a:rPr>
              <a:t>non</a:t>
            </a:r>
            <a:r>
              <a:rPr lang="en-US" dirty="0"/>
              <a:t> </a:t>
            </a:r>
            <a:r>
              <a:rPr lang="en-US" dirty="0" err="1">
                <a:latin typeface="Garamond" panose="02020404030301010803" pitchFamily="18" charset="0"/>
              </a:rPr>
              <a:t>miscibles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59" name="ZoneTexte 58">
            <a:extLst>
              <a:ext uri="{FF2B5EF4-FFF2-40B4-BE49-F238E27FC236}">
                <a16:creationId xmlns:a16="http://schemas.microsoft.com/office/drawing/2014/main" id="{5D3CA8C2-FE54-4564-A870-BE846BC6CBC8}"/>
              </a:ext>
            </a:extLst>
          </p:cNvPr>
          <p:cNvSpPr txBox="1"/>
          <p:nvPr/>
        </p:nvSpPr>
        <p:spPr>
          <a:xfrm>
            <a:off x="3081630" y="2958144"/>
            <a:ext cx="1106392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Ampoule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latin typeface="Garamond" panose="02020404030301010803" pitchFamily="18" charset="0"/>
              </a:rPr>
              <a:t>à</a:t>
            </a:r>
            <a:r>
              <a:rPr lang="en-US" dirty="0"/>
              <a:t> </a:t>
            </a:r>
            <a:r>
              <a:rPr lang="en-US" dirty="0" err="1">
                <a:latin typeface="Garamond" panose="02020404030301010803" pitchFamily="18" charset="0"/>
              </a:rPr>
              <a:t>décanter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6A3B173-BE86-47E3-A4FC-13F27E2006BD}"/>
              </a:ext>
            </a:extLst>
          </p:cNvPr>
          <p:cNvSpPr txBox="1"/>
          <p:nvPr/>
        </p:nvSpPr>
        <p:spPr>
          <a:xfrm>
            <a:off x="5874702" y="4162028"/>
            <a:ext cx="1287532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Banc</a:t>
            </a:r>
            <a:r>
              <a:rPr lang="en-US" dirty="0"/>
              <a:t> </a:t>
            </a:r>
            <a:r>
              <a:rPr lang="en-US" dirty="0" err="1">
                <a:latin typeface="Garamond" panose="02020404030301010803" pitchFamily="18" charset="0"/>
              </a:rPr>
              <a:t>Kofler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74AB4C3E-DF0B-4C5D-AE12-4EC42567F965}"/>
              </a:ext>
            </a:extLst>
          </p:cNvPr>
          <p:cNvSpPr txBox="1"/>
          <p:nvPr/>
        </p:nvSpPr>
        <p:spPr>
          <a:xfrm>
            <a:off x="3122487" y="5024573"/>
            <a:ext cx="2977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Si le </a:t>
            </a:r>
            <a:r>
              <a:rPr lang="en-US" dirty="0" err="1">
                <a:latin typeface="Garamond" panose="02020404030301010803" pitchFamily="18" charset="0"/>
              </a:rPr>
              <a:t>produit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n’est</a:t>
            </a:r>
            <a:r>
              <a:rPr lang="en-US" dirty="0">
                <a:latin typeface="Garamond" panose="02020404030301010803" pitchFamily="18" charset="0"/>
              </a:rPr>
              <a:t> pas </a:t>
            </a:r>
            <a:r>
              <a:rPr lang="en-US" dirty="0" err="1">
                <a:latin typeface="Garamond" panose="02020404030301010803" pitchFamily="18" charset="0"/>
              </a:rPr>
              <a:t>assez</a:t>
            </a:r>
            <a:r>
              <a:rPr lang="en-US" dirty="0">
                <a:latin typeface="Garamond" panose="02020404030301010803" pitchFamily="18" charset="0"/>
              </a:rPr>
              <a:t> </a:t>
            </a:r>
            <a:r>
              <a:rPr lang="en-US" dirty="0" err="1">
                <a:latin typeface="Garamond" panose="02020404030301010803" pitchFamily="18" charset="0"/>
              </a:rPr>
              <a:t>pur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FAA27649-D2A0-4680-8217-D87971FB91B6}"/>
              </a:ext>
            </a:extLst>
          </p:cNvPr>
          <p:cNvSpPr txBox="1"/>
          <p:nvPr/>
        </p:nvSpPr>
        <p:spPr>
          <a:xfrm>
            <a:off x="5726103" y="5569335"/>
            <a:ext cx="1584729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Garamond" panose="02020404030301010803" pitchFamily="18" charset="0"/>
              </a:rPr>
              <a:t>Recristallisation</a:t>
            </a:r>
            <a:endParaRPr lang="en-US" dirty="0">
              <a:latin typeface="Garamond" panose="02020404030301010803" pitchFamily="18" charset="0"/>
            </a:endParaRP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50C7916C-F98F-4484-ADF2-9CC6864E727C}"/>
              </a:ext>
            </a:extLst>
          </p:cNvPr>
          <p:cNvSpPr txBox="1"/>
          <p:nvPr/>
        </p:nvSpPr>
        <p:spPr>
          <a:xfrm>
            <a:off x="2012068" y="5573047"/>
            <a:ext cx="1196161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Garamond" panose="02020404030301010803" pitchFamily="18" charset="0"/>
              </a:rPr>
              <a:t>Distillation</a:t>
            </a:r>
          </a:p>
        </p:txBody>
      </p:sp>
      <p:sp>
        <p:nvSpPr>
          <p:cNvPr id="65" name="ZoneTexte 64">
            <a:extLst>
              <a:ext uri="{FF2B5EF4-FFF2-40B4-BE49-F238E27FC236}">
                <a16:creationId xmlns:a16="http://schemas.microsoft.com/office/drawing/2014/main" id="{3660A02F-ACC9-4AD2-A430-B6F7DEC13630}"/>
              </a:ext>
            </a:extLst>
          </p:cNvPr>
          <p:cNvSpPr txBox="1"/>
          <p:nvPr/>
        </p:nvSpPr>
        <p:spPr>
          <a:xfrm>
            <a:off x="3569484" y="4067976"/>
            <a:ext cx="2105064" cy="369332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Garamond" panose="02020404030301010803" pitchFamily="18" charset="0"/>
              </a:rPr>
              <a:t>Identification CCM</a:t>
            </a:r>
          </a:p>
        </p:txBody>
      </p: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387F4F0F-59C4-4E52-954C-213B2A24F924}"/>
              </a:ext>
            </a:extLst>
          </p:cNvPr>
          <p:cNvCxnSpPr/>
          <p:nvPr/>
        </p:nvCxnSpPr>
        <p:spPr>
          <a:xfrm>
            <a:off x="8830906" y="345130"/>
            <a:ext cx="0" cy="626872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eur droit avec flèche 67">
            <a:extLst>
              <a:ext uri="{FF2B5EF4-FFF2-40B4-BE49-F238E27FC236}">
                <a16:creationId xmlns:a16="http://schemas.microsoft.com/office/drawing/2014/main" id="{1BE6BCA7-C4E8-41DE-832C-437E31478D4B}"/>
              </a:ext>
            </a:extLst>
          </p:cNvPr>
          <p:cNvCxnSpPr>
            <a:cxnSpLocks/>
            <a:stCxn id="53" idx="2"/>
            <a:endCxn id="59" idx="0"/>
          </p:cNvCxnSpPr>
          <p:nvPr/>
        </p:nvCxnSpPr>
        <p:spPr>
          <a:xfrm>
            <a:off x="2610149" y="1637308"/>
            <a:ext cx="1024677" cy="13208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FF2F8F19-7B87-45AE-9BCA-C7C58497334D}"/>
              </a:ext>
            </a:extLst>
          </p:cNvPr>
          <p:cNvCxnSpPr>
            <a:cxnSpLocks/>
            <a:stCxn id="55" idx="2"/>
            <a:endCxn id="81" idx="0"/>
          </p:cNvCxnSpPr>
          <p:nvPr/>
        </p:nvCxnSpPr>
        <p:spPr>
          <a:xfrm>
            <a:off x="6859752" y="2490157"/>
            <a:ext cx="1103835" cy="46798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cteur droit avec flèche 69">
            <a:extLst>
              <a:ext uri="{FF2B5EF4-FFF2-40B4-BE49-F238E27FC236}">
                <a16:creationId xmlns:a16="http://schemas.microsoft.com/office/drawing/2014/main" id="{85BB3813-61BE-43FD-94F1-7197A94C487E}"/>
              </a:ext>
            </a:extLst>
          </p:cNvPr>
          <p:cNvCxnSpPr>
            <a:cxnSpLocks/>
            <a:stCxn id="55" idx="2"/>
            <a:endCxn id="82" idx="0"/>
          </p:cNvCxnSpPr>
          <p:nvPr/>
        </p:nvCxnSpPr>
        <p:spPr>
          <a:xfrm flipH="1">
            <a:off x="5828895" y="2490157"/>
            <a:ext cx="1030857" cy="48523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013CD785-2343-41B4-AD35-CB2D40263DEE}"/>
              </a:ext>
            </a:extLst>
          </p:cNvPr>
          <p:cNvCxnSpPr>
            <a:cxnSpLocks/>
            <a:stCxn id="54" idx="2"/>
          </p:cNvCxnSpPr>
          <p:nvPr/>
        </p:nvCxnSpPr>
        <p:spPr>
          <a:xfrm>
            <a:off x="6608686" y="1635973"/>
            <a:ext cx="230595" cy="27554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ZoneTexte 71">
            <a:extLst>
              <a:ext uri="{FF2B5EF4-FFF2-40B4-BE49-F238E27FC236}">
                <a16:creationId xmlns:a16="http://schemas.microsoft.com/office/drawing/2014/main" id="{74A739CB-068D-4EC3-905A-6C0D1222C1DF}"/>
              </a:ext>
            </a:extLst>
          </p:cNvPr>
          <p:cNvSpPr txBox="1"/>
          <p:nvPr/>
        </p:nvSpPr>
        <p:spPr>
          <a:xfrm>
            <a:off x="5387074" y="2478294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aramond" panose="02020404030301010803" pitchFamily="18" charset="0"/>
              </a:rPr>
              <a:t>Liquide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B251C3E-1957-4C0D-BDCA-ABAE86DF4266}"/>
              </a:ext>
            </a:extLst>
          </p:cNvPr>
          <p:cNvSpPr txBox="1"/>
          <p:nvPr/>
        </p:nvSpPr>
        <p:spPr>
          <a:xfrm>
            <a:off x="7620589" y="2494643"/>
            <a:ext cx="729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Garamond" panose="02020404030301010803" pitchFamily="18" charset="0"/>
              </a:rPr>
              <a:t>Solide</a:t>
            </a:r>
            <a:endParaRPr lang="en-US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FC12D451-B085-441C-BA1D-A782A60680EA}"/>
              </a:ext>
            </a:extLst>
          </p:cNvPr>
          <p:cNvCxnSpPr>
            <a:cxnSpLocks/>
            <a:stCxn id="56" idx="2"/>
            <a:endCxn id="64" idx="0"/>
          </p:cNvCxnSpPr>
          <p:nvPr/>
        </p:nvCxnSpPr>
        <p:spPr>
          <a:xfrm>
            <a:off x="2610149" y="4531360"/>
            <a:ext cx="0" cy="104168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necteur droit avec flèche 75">
            <a:extLst>
              <a:ext uri="{FF2B5EF4-FFF2-40B4-BE49-F238E27FC236}">
                <a16:creationId xmlns:a16="http://schemas.microsoft.com/office/drawing/2014/main" id="{3D43964D-0A9C-4FDB-925D-C72EF92E6C6B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>
            <a:off x="6518468" y="4531360"/>
            <a:ext cx="0" cy="103797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avec flèche 76">
            <a:extLst>
              <a:ext uri="{FF2B5EF4-FFF2-40B4-BE49-F238E27FC236}">
                <a16:creationId xmlns:a16="http://schemas.microsoft.com/office/drawing/2014/main" id="{1FC7362E-9869-414D-B7A1-7F1ED945832A}"/>
              </a:ext>
            </a:extLst>
          </p:cNvPr>
          <p:cNvCxnSpPr>
            <a:cxnSpLocks/>
            <a:endCxn id="61" idx="0"/>
          </p:cNvCxnSpPr>
          <p:nvPr/>
        </p:nvCxnSpPr>
        <p:spPr>
          <a:xfrm flipH="1">
            <a:off x="6518468" y="3587342"/>
            <a:ext cx="1393091" cy="57468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necteur droit avec flèche 77">
            <a:extLst>
              <a:ext uri="{FF2B5EF4-FFF2-40B4-BE49-F238E27FC236}">
                <a16:creationId xmlns:a16="http://schemas.microsoft.com/office/drawing/2014/main" id="{E3949961-7C0C-4F2D-9D54-5CDC36A58959}"/>
              </a:ext>
            </a:extLst>
          </p:cNvPr>
          <p:cNvCxnSpPr>
            <a:cxnSpLocks/>
            <a:stCxn id="82" idx="2"/>
            <a:endCxn id="56" idx="0"/>
          </p:cNvCxnSpPr>
          <p:nvPr/>
        </p:nvCxnSpPr>
        <p:spPr>
          <a:xfrm flipH="1">
            <a:off x="2610149" y="3621723"/>
            <a:ext cx="3218746" cy="540305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3008EB21-E066-41EE-BADF-E696863CD3D5}"/>
              </a:ext>
            </a:extLst>
          </p:cNvPr>
          <p:cNvCxnSpPr>
            <a:cxnSpLocks/>
            <a:stCxn id="59" idx="2"/>
            <a:endCxn id="56" idx="0"/>
          </p:cNvCxnSpPr>
          <p:nvPr/>
        </p:nvCxnSpPr>
        <p:spPr>
          <a:xfrm flipH="1">
            <a:off x="2610149" y="3604475"/>
            <a:ext cx="1024677" cy="557553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necteur droit avec flèche 79">
            <a:extLst>
              <a:ext uri="{FF2B5EF4-FFF2-40B4-BE49-F238E27FC236}">
                <a16:creationId xmlns:a16="http://schemas.microsoft.com/office/drawing/2014/main" id="{D17F8391-886E-47CC-8847-D71C8B4DB0AB}"/>
              </a:ext>
            </a:extLst>
          </p:cNvPr>
          <p:cNvCxnSpPr>
            <a:cxnSpLocks/>
            <a:stCxn id="53" idx="2"/>
            <a:endCxn id="56" idx="0"/>
          </p:cNvCxnSpPr>
          <p:nvPr/>
        </p:nvCxnSpPr>
        <p:spPr>
          <a:xfrm>
            <a:off x="2610149" y="1637308"/>
            <a:ext cx="0" cy="252472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ZoneTexte 80">
            <a:extLst>
              <a:ext uri="{FF2B5EF4-FFF2-40B4-BE49-F238E27FC236}">
                <a16:creationId xmlns:a16="http://schemas.microsoft.com/office/drawing/2014/main" id="{3D8D51B8-1960-4411-9DE7-F3AC9BABE514}"/>
              </a:ext>
            </a:extLst>
          </p:cNvPr>
          <p:cNvSpPr txBox="1"/>
          <p:nvPr/>
        </p:nvSpPr>
        <p:spPr>
          <a:xfrm>
            <a:off x="7432704" y="2958143"/>
            <a:ext cx="1061766" cy="646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latin typeface="Garamond" panose="02020404030301010803" pitchFamily="18" charset="0"/>
              </a:rPr>
              <a:t>Essorage</a:t>
            </a:r>
            <a:r>
              <a:rPr lang="en-US" dirty="0"/>
              <a:t> </a:t>
            </a:r>
          </a:p>
          <a:p>
            <a:pPr algn="ctr"/>
            <a:r>
              <a:rPr lang="en-US" dirty="0">
                <a:latin typeface="Garamond" panose="02020404030301010803" pitchFamily="18" charset="0"/>
              </a:rPr>
              <a:t>Büchner</a:t>
            </a: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12A6198-BE65-41C7-B1E8-C2151BA6B10F}"/>
              </a:ext>
            </a:extLst>
          </p:cNvPr>
          <p:cNvSpPr txBox="1"/>
          <p:nvPr/>
        </p:nvSpPr>
        <p:spPr>
          <a:xfrm>
            <a:off x="5318178" y="2975392"/>
            <a:ext cx="1021433" cy="64633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Garamond" panose="02020404030301010803" pitchFamily="18" charset="0"/>
              </a:rPr>
              <a:t>Filtration</a:t>
            </a:r>
          </a:p>
          <a:p>
            <a:pPr algn="ctr"/>
            <a:r>
              <a:rPr lang="en-US" dirty="0"/>
              <a:t> </a:t>
            </a:r>
            <a:r>
              <a:rPr lang="en-US" dirty="0">
                <a:latin typeface="Garamond" panose="02020404030301010803" pitchFamily="18" charset="0"/>
              </a:rPr>
              <a:t>Büchner</a:t>
            </a:r>
          </a:p>
        </p:txBody>
      </p:sp>
      <p:grpSp>
        <p:nvGrpSpPr>
          <p:cNvPr id="83" name="Groupe 82">
            <a:extLst>
              <a:ext uri="{FF2B5EF4-FFF2-40B4-BE49-F238E27FC236}">
                <a16:creationId xmlns:a16="http://schemas.microsoft.com/office/drawing/2014/main" id="{1430E70C-4F63-4055-8771-8EEA1D4360F7}"/>
              </a:ext>
            </a:extLst>
          </p:cNvPr>
          <p:cNvGrpSpPr/>
          <p:nvPr/>
        </p:nvGrpSpPr>
        <p:grpSpPr>
          <a:xfrm>
            <a:off x="8965977" y="5104541"/>
            <a:ext cx="3161511" cy="929587"/>
            <a:chOff x="9174480" y="4565113"/>
            <a:chExt cx="2539970" cy="1666550"/>
          </a:xfrm>
        </p:grpSpPr>
        <p:sp>
          <p:nvSpPr>
            <p:cNvPr id="84" name="Rectangle : coins arrondis 83">
              <a:extLst>
                <a:ext uri="{FF2B5EF4-FFF2-40B4-BE49-F238E27FC236}">
                  <a16:creationId xmlns:a16="http://schemas.microsoft.com/office/drawing/2014/main" id="{EEFFB67D-2AC7-4A96-83AB-1F731CF9F176}"/>
                </a:ext>
              </a:extLst>
            </p:cNvPr>
            <p:cNvSpPr/>
            <p:nvPr/>
          </p:nvSpPr>
          <p:spPr>
            <a:xfrm>
              <a:off x="9174480" y="4565113"/>
              <a:ext cx="2539970" cy="1666550"/>
            </a:xfrm>
            <a:prstGeom prst="roundRect">
              <a:avLst/>
            </a:prstGeom>
            <a:noFill/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Connecteur droit avec flèche 84">
              <a:extLst>
                <a:ext uri="{FF2B5EF4-FFF2-40B4-BE49-F238E27FC236}">
                  <a16:creationId xmlns:a16="http://schemas.microsoft.com/office/drawing/2014/main" id="{D158B087-28F6-4781-A834-B9F7636E3968}"/>
                </a:ext>
              </a:extLst>
            </p:cNvPr>
            <p:cNvCxnSpPr>
              <a:cxnSpLocks/>
            </p:cNvCxnSpPr>
            <p:nvPr/>
          </p:nvCxnSpPr>
          <p:spPr>
            <a:xfrm>
              <a:off x="9174480" y="5167815"/>
              <a:ext cx="0" cy="4650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necteur droit avec flèche 85">
              <a:extLst>
                <a:ext uri="{FF2B5EF4-FFF2-40B4-BE49-F238E27FC236}">
                  <a16:creationId xmlns:a16="http://schemas.microsoft.com/office/drawing/2014/main" id="{C798569F-5B12-4808-83CF-0A56F10AB2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14450" y="5227071"/>
              <a:ext cx="0" cy="622575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ZoneTexte 86">
              <a:extLst>
                <a:ext uri="{FF2B5EF4-FFF2-40B4-BE49-F238E27FC236}">
                  <a16:creationId xmlns:a16="http://schemas.microsoft.com/office/drawing/2014/main" id="{690BA2EE-C9BE-4E4E-83BD-B0C565D97FC9}"/>
                </a:ext>
              </a:extLst>
            </p:cNvPr>
            <p:cNvSpPr txBox="1"/>
            <p:nvPr/>
          </p:nvSpPr>
          <p:spPr>
            <a:xfrm>
              <a:off x="9322748" y="4774249"/>
              <a:ext cx="2243432" cy="11587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latin typeface="Garamond" panose="02020404030301010803" pitchFamily="18" charset="0"/>
                </a:rPr>
                <a:t>Purification</a:t>
              </a:r>
            </a:p>
            <a:p>
              <a:pPr algn="ctr"/>
              <a:r>
                <a:rPr lang="en-US" dirty="0">
                  <a:latin typeface="Garamond" panose="02020404030301010803" pitchFamily="18" charset="0"/>
                </a:rPr>
                <a:t> (</a:t>
              </a:r>
              <a:r>
                <a:rPr lang="en-US" dirty="0" err="1">
                  <a:latin typeface="Garamond" panose="02020404030301010803" pitchFamily="18" charset="0"/>
                </a:rPr>
                <a:t>éventuellement</a:t>
              </a:r>
              <a:r>
                <a:rPr lang="en-US" dirty="0">
                  <a:latin typeface="Garamond" panose="02020404030301010803" pitchFamily="18" charset="0"/>
                </a:rPr>
                <a:t> </a:t>
              </a:r>
              <a:r>
                <a:rPr lang="en-US" dirty="0" err="1">
                  <a:latin typeface="Garamond" panose="02020404030301010803" pitchFamily="18" charset="0"/>
                </a:rPr>
                <a:t>répétée</a:t>
              </a:r>
              <a:r>
                <a:rPr lang="en-US" dirty="0">
                  <a:latin typeface="Garamond" panose="02020404030301010803" pitchFamily="18" charset="0"/>
                </a:rPr>
                <a:t>)</a:t>
              </a:r>
            </a:p>
          </p:txBody>
        </p:sp>
      </p:grpSp>
      <p:cxnSp>
        <p:nvCxnSpPr>
          <p:cNvPr id="88" name="Connecteur droit avec flèche 87">
            <a:extLst>
              <a:ext uri="{FF2B5EF4-FFF2-40B4-BE49-F238E27FC236}">
                <a16:creationId xmlns:a16="http://schemas.microsoft.com/office/drawing/2014/main" id="{9DAD9549-D2F1-4CC3-A46B-0029CEA63775}"/>
              </a:ext>
            </a:extLst>
          </p:cNvPr>
          <p:cNvCxnSpPr>
            <a:cxnSpLocks/>
            <a:stCxn id="52" idx="2"/>
            <a:endCxn id="54" idx="0"/>
          </p:cNvCxnSpPr>
          <p:nvPr/>
        </p:nvCxnSpPr>
        <p:spPr>
          <a:xfrm>
            <a:off x="4678162" y="726336"/>
            <a:ext cx="1930524" cy="54030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necteur droit avec flèche 88">
            <a:extLst>
              <a:ext uri="{FF2B5EF4-FFF2-40B4-BE49-F238E27FC236}">
                <a16:creationId xmlns:a16="http://schemas.microsoft.com/office/drawing/2014/main" id="{74C8D4A1-8297-42BE-BBDB-E65E9E401B22}"/>
              </a:ext>
            </a:extLst>
          </p:cNvPr>
          <p:cNvCxnSpPr>
            <a:cxnSpLocks/>
            <a:stCxn id="52" idx="2"/>
            <a:endCxn id="53" idx="0"/>
          </p:cNvCxnSpPr>
          <p:nvPr/>
        </p:nvCxnSpPr>
        <p:spPr>
          <a:xfrm flipH="1">
            <a:off x="2610149" y="726336"/>
            <a:ext cx="2068013" cy="54164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ZoneTexte 89">
            <a:extLst>
              <a:ext uri="{FF2B5EF4-FFF2-40B4-BE49-F238E27FC236}">
                <a16:creationId xmlns:a16="http://schemas.microsoft.com/office/drawing/2014/main" id="{B2691F6C-D176-4492-A8E0-19D27D231D43}"/>
              </a:ext>
            </a:extLst>
          </p:cNvPr>
          <p:cNvSpPr txBox="1"/>
          <p:nvPr/>
        </p:nvSpPr>
        <p:spPr>
          <a:xfrm>
            <a:off x="8849314" y="4054306"/>
            <a:ext cx="3450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latin typeface="Garamond" panose="02020404030301010803" pitchFamily="18" charset="0"/>
              </a:rPr>
              <a:t>Contrôle</a:t>
            </a:r>
            <a:r>
              <a:rPr lang="en-US" sz="3200" b="1" dirty="0">
                <a:latin typeface="Garamond" panose="02020404030301010803" pitchFamily="18" charset="0"/>
              </a:rPr>
              <a:t> de </a:t>
            </a:r>
            <a:r>
              <a:rPr lang="en-US" sz="3200" b="1" dirty="0" err="1">
                <a:latin typeface="Garamond" panose="02020404030301010803" pitchFamily="18" charset="0"/>
              </a:rPr>
              <a:t>pureté</a:t>
            </a:r>
            <a:endParaRPr lang="en-US" sz="3200" b="1" dirty="0">
              <a:latin typeface="Garamond" panose="02020404030301010803" pitchFamily="18" charset="0"/>
            </a:endParaRP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8AE02F00-2C29-44B0-AFE1-797BC2D2E4DF}"/>
              </a:ext>
            </a:extLst>
          </p:cNvPr>
          <p:cNvSpPr txBox="1"/>
          <p:nvPr/>
        </p:nvSpPr>
        <p:spPr>
          <a:xfrm>
            <a:off x="9460148" y="2894715"/>
            <a:ext cx="2031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>
                <a:latin typeface="Garamond" panose="02020404030301010803" pitchFamily="18" charset="0"/>
              </a:rPr>
              <a:t>Séparation</a:t>
            </a:r>
            <a:endParaRPr lang="en-US" sz="3200" b="1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693466"/>
      </p:ext>
    </p:extLst>
  </p:cSld>
  <p:clrMapOvr>
    <a:masterClrMapping/>
  </p:clrMapOvr>
</p:sld>
</file>

<file path=ppt/theme/theme1.xml><?xml version="1.0" encoding="utf-8"?>
<a:theme xmlns:a="http://schemas.openxmlformats.org/drawingml/2006/main" name="Colis">
  <a:themeElements>
    <a:clrScheme name="Colis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Colis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olis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Colis</Template>
  <TotalTime>146</TotalTime>
  <Words>152</Words>
  <Application>Microsoft Office PowerPoint</Application>
  <PresentationFormat>Grand écran</PresentationFormat>
  <Paragraphs>63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3" baseType="lpstr">
      <vt:lpstr>Arial</vt:lpstr>
      <vt:lpstr>Calibri</vt:lpstr>
      <vt:lpstr>Garamond</vt:lpstr>
      <vt:lpstr>Gill Sans MT</vt:lpstr>
      <vt:lpstr>Colis</vt:lpstr>
      <vt:lpstr>LC10 : Séparations, purifications, contrôles de pureté</vt:lpstr>
      <vt:lpstr>Une synthèse organique</vt:lpstr>
      <vt:lpstr>Elimination du solvant</vt:lpstr>
      <vt:lpstr>Techniques de séparation</vt:lpstr>
      <vt:lpstr>Réfractométrie</vt:lpstr>
      <vt:lpstr>Recristallisation</vt:lpstr>
      <vt:lpstr>Distillation fractionnée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Leçon : </dc:title>
  <dc:creator>Mathieu</dc:creator>
  <cp:lastModifiedBy>Mathieu</cp:lastModifiedBy>
  <cp:revision>20</cp:revision>
  <dcterms:created xsi:type="dcterms:W3CDTF">2020-09-19T14:45:32Z</dcterms:created>
  <dcterms:modified xsi:type="dcterms:W3CDTF">2021-05-20T16:06:08Z</dcterms:modified>
</cp:coreProperties>
</file>