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70" r:id="rId4"/>
    <p:sldId id="271" r:id="rId5"/>
    <p:sldId id="258" r:id="rId6"/>
    <p:sldId id="272" r:id="rId7"/>
    <p:sldId id="268" r:id="rId8"/>
    <p:sldId id="259" r:id="rId9"/>
    <p:sldId id="273" r:id="rId10"/>
    <p:sldId id="260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Du macroscopique au microscopique dans les </a:t>
            </a:r>
            <a:r>
              <a:rPr lang="fr-FR"/>
              <a:t>synthèses organiques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B1ABB-D435-4E17-9432-971A644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Réduction du </a:t>
            </a:r>
            <a:r>
              <a:rPr lang="fr-FR" dirty="0" err="1"/>
              <a:t>benzile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51BBCF-B982-4F82-99E4-6A3C1BC9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5571D4-B199-475A-87CB-2A54B6D3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grpSp>
        <p:nvGrpSpPr>
          <p:cNvPr id="88" name="Grouper 951">
            <a:extLst>
              <a:ext uri="{FF2B5EF4-FFF2-40B4-BE49-F238E27FC236}">
                <a16:creationId xmlns:a16="http://schemas.microsoft.com/office/drawing/2014/main" id="{32DE413D-E246-4723-A377-0F9F4318C5A6}"/>
              </a:ext>
            </a:extLst>
          </p:cNvPr>
          <p:cNvGrpSpPr/>
          <p:nvPr/>
        </p:nvGrpSpPr>
        <p:grpSpPr>
          <a:xfrm>
            <a:off x="3831346" y="3702282"/>
            <a:ext cx="1472880" cy="1378043"/>
            <a:chOff x="0" y="0"/>
            <a:chExt cx="1143000" cy="972185"/>
          </a:xfrm>
        </p:grpSpPr>
        <p:grpSp>
          <p:nvGrpSpPr>
            <p:cNvPr id="89" name="Grouper 952">
              <a:extLst>
                <a:ext uri="{FF2B5EF4-FFF2-40B4-BE49-F238E27FC236}">
                  <a16:creationId xmlns:a16="http://schemas.microsoft.com/office/drawing/2014/main" id="{0D0A96F3-52DD-4B26-9948-BCF703095E40}"/>
                </a:ext>
              </a:extLst>
            </p:cNvPr>
            <p:cNvGrpSpPr/>
            <p:nvPr/>
          </p:nvGrpSpPr>
          <p:grpSpPr>
            <a:xfrm>
              <a:off x="0" y="226695"/>
              <a:ext cx="1143000" cy="745490"/>
              <a:chOff x="0" y="0"/>
              <a:chExt cx="1143000" cy="74549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10804BA-5D79-4C27-9CB8-9E08C66A6DC2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74549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1D426E2B-EEAA-437C-8597-27BE86235F96}"/>
                  </a:ext>
                </a:extLst>
              </p:cNvPr>
              <p:cNvSpPr/>
              <p:nvPr/>
            </p:nvSpPr>
            <p:spPr>
              <a:xfrm>
                <a:off x="114300" y="49657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90" name="Corde 89">
              <a:extLst>
                <a:ext uri="{FF2B5EF4-FFF2-40B4-BE49-F238E27FC236}">
                  <a16:creationId xmlns:a16="http://schemas.microsoft.com/office/drawing/2014/main" id="{BDABE603-8437-415E-98B4-69F275D5B7C7}"/>
                </a:ext>
              </a:extLst>
            </p:cNvPr>
            <p:cNvSpPr/>
            <p:nvPr/>
          </p:nvSpPr>
          <p:spPr>
            <a:xfrm rot="17567007">
              <a:off x="227330" y="4445"/>
              <a:ext cx="706120" cy="697230"/>
            </a:xfrm>
            <a:prstGeom prst="chord">
              <a:avLst>
                <a:gd name="adj1" fmla="val 2700000"/>
                <a:gd name="adj2" fmla="val 16236166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93" name="Grouper 1156">
            <a:extLst>
              <a:ext uri="{FF2B5EF4-FFF2-40B4-BE49-F238E27FC236}">
                <a16:creationId xmlns:a16="http://schemas.microsoft.com/office/drawing/2014/main" id="{D28E6966-427C-488E-A03A-96F1C0CEFF28}"/>
              </a:ext>
            </a:extLst>
          </p:cNvPr>
          <p:cNvGrpSpPr/>
          <p:nvPr/>
        </p:nvGrpSpPr>
        <p:grpSpPr>
          <a:xfrm>
            <a:off x="3834619" y="5065923"/>
            <a:ext cx="1490882" cy="1155720"/>
            <a:chOff x="0" y="0"/>
            <a:chExt cx="1156970" cy="81534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A4CD3C1-F9E8-4792-8FFC-DFE239E44ECF}"/>
                </a:ext>
              </a:extLst>
            </p:cNvPr>
            <p:cNvSpPr/>
            <p:nvPr/>
          </p:nvSpPr>
          <p:spPr>
            <a:xfrm>
              <a:off x="0" y="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B5A9300-28DC-4B6F-B356-D1884716231C}"/>
                </a:ext>
              </a:extLst>
            </p:cNvPr>
            <p:cNvSpPr/>
            <p:nvPr/>
          </p:nvSpPr>
          <p:spPr>
            <a:xfrm>
              <a:off x="13970" y="71501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F07A75BC-6EC2-423B-851D-64DC4CF087E7}"/>
                </a:ext>
              </a:extLst>
            </p:cNvPr>
            <p:cNvCxnSpPr/>
            <p:nvPr/>
          </p:nvCxnSpPr>
          <p:spPr>
            <a:xfrm>
              <a:off x="113665" y="1003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D0F72C7B-F135-459D-838E-B5882DD019F1}"/>
                </a:ext>
              </a:extLst>
            </p:cNvPr>
            <p:cNvCxnSpPr/>
            <p:nvPr/>
          </p:nvCxnSpPr>
          <p:spPr>
            <a:xfrm flipH="1">
              <a:off x="113665" y="100330"/>
              <a:ext cx="924862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FD073132-DEC5-48E1-932F-F7D81926F65C}"/>
                </a:ext>
              </a:extLst>
            </p:cNvPr>
            <p:cNvCxnSpPr/>
            <p:nvPr/>
          </p:nvCxnSpPr>
          <p:spPr>
            <a:xfrm>
              <a:off x="113665" y="4051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38CDE137-13E0-46AC-B2AA-D54EC76E943E}"/>
                </a:ext>
              </a:extLst>
            </p:cNvPr>
            <p:cNvCxnSpPr/>
            <p:nvPr/>
          </p:nvCxnSpPr>
          <p:spPr>
            <a:xfrm flipH="1">
              <a:off x="113665" y="405130"/>
              <a:ext cx="924560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er 1287">
            <a:extLst>
              <a:ext uri="{FF2B5EF4-FFF2-40B4-BE49-F238E27FC236}">
                <a16:creationId xmlns:a16="http://schemas.microsoft.com/office/drawing/2014/main" id="{583EC16C-EA21-4EEE-9983-9165A715DF88}"/>
              </a:ext>
            </a:extLst>
          </p:cNvPr>
          <p:cNvGrpSpPr/>
          <p:nvPr/>
        </p:nvGrpSpPr>
        <p:grpSpPr>
          <a:xfrm>
            <a:off x="4129194" y="3443955"/>
            <a:ext cx="893548" cy="1252030"/>
            <a:chOff x="71120" y="0"/>
            <a:chExt cx="693420" cy="883285"/>
          </a:xfrm>
        </p:grpSpPr>
        <p:grpSp>
          <p:nvGrpSpPr>
            <p:cNvPr id="101" name="Grouper 1286">
              <a:extLst>
                <a:ext uri="{FF2B5EF4-FFF2-40B4-BE49-F238E27FC236}">
                  <a16:creationId xmlns:a16="http://schemas.microsoft.com/office/drawing/2014/main" id="{5666A998-9CD4-4AFE-A14E-21B4607849DD}"/>
                </a:ext>
              </a:extLst>
            </p:cNvPr>
            <p:cNvGrpSpPr/>
            <p:nvPr/>
          </p:nvGrpSpPr>
          <p:grpSpPr>
            <a:xfrm>
              <a:off x="71120" y="0"/>
              <a:ext cx="693420" cy="883285"/>
              <a:chOff x="0" y="0"/>
              <a:chExt cx="693420" cy="883285"/>
            </a:xfrm>
          </p:grpSpPr>
          <p:grpSp>
            <p:nvGrpSpPr>
              <p:cNvPr id="103" name="Grouper 1231">
                <a:extLst>
                  <a:ext uri="{FF2B5EF4-FFF2-40B4-BE49-F238E27FC236}">
                    <a16:creationId xmlns:a16="http://schemas.microsoft.com/office/drawing/2014/main" id="{3957F524-A83C-492D-AF3B-044DB8E68895}"/>
                  </a:ext>
                </a:extLst>
              </p:cNvPr>
              <p:cNvGrpSpPr/>
              <p:nvPr/>
            </p:nvGrpSpPr>
            <p:grpSpPr>
              <a:xfrm>
                <a:off x="0" y="0"/>
                <a:ext cx="693420" cy="883285"/>
                <a:chOff x="0" y="0"/>
                <a:chExt cx="693420" cy="883285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2D3972F-68D1-4A23-B3CF-F772506BEB8D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B56A5D87-52B1-4E2F-A658-BC4002FC698C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3" name="Ellipse 132">
                  <a:extLst>
                    <a:ext uri="{FF2B5EF4-FFF2-40B4-BE49-F238E27FC236}">
                      <a16:creationId xmlns:a16="http://schemas.microsoft.com/office/drawing/2014/main" id="{0ACE3906-2DAF-4F29-832E-7E8C9CF63FD9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88CF83CC-D892-4F3D-B463-2389552FD476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2FFDD1EE-F5DF-4047-ABB7-6F29BCC30218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04" name="Grouper 1285">
                <a:extLst>
                  <a:ext uri="{FF2B5EF4-FFF2-40B4-BE49-F238E27FC236}">
                    <a16:creationId xmlns:a16="http://schemas.microsoft.com/office/drawing/2014/main" id="{ABD9C444-A174-41F2-AE9F-CDB0E29037ED}"/>
                  </a:ext>
                </a:extLst>
              </p:cNvPr>
              <p:cNvGrpSpPr/>
              <p:nvPr/>
            </p:nvGrpSpPr>
            <p:grpSpPr>
              <a:xfrm>
                <a:off x="0" y="189230"/>
                <a:ext cx="693420" cy="693420"/>
                <a:chOff x="0" y="0"/>
                <a:chExt cx="693420" cy="693420"/>
              </a:xfrm>
            </p:grpSpPr>
            <p:sp>
              <p:nvSpPr>
                <p:cNvPr id="105" name="Corde 104">
                  <a:extLst>
                    <a:ext uri="{FF2B5EF4-FFF2-40B4-BE49-F238E27FC236}">
                      <a16:creationId xmlns:a16="http://schemas.microsoft.com/office/drawing/2014/main" id="{D2A7029C-7DD6-4899-95A1-0434AC34D73F}"/>
                    </a:ext>
                  </a:extLst>
                </p:cNvPr>
                <p:cNvSpPr/>
                <p:nvPr/>
              </p:nvSpPr>
              <p:spPr>
                <a:xfrm rot="17560116">
                  <a:off x="0" y="0"/>
                  <a:ext cx="693420" cy="693420"/>
                </a:xfrm>
                <a:prstGeom prst="chord">
                  <a:avLst>
                    <a:gd name="adj1" fmla="val 4447445"/>
                    <a:gd name="adj2" fmla="val 14321630"/>
                  </a:avLst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106" name="Grouper 1119">
                  <a:extLst>
                    <a:ext uri="{FF2B5EF4-FFF2-40B4-BE49-F238E27FC236}">
                      <a16:creationId xmlns:a16="http://schemas.microsoft.com/office/drawing/2014/main" id="{D30ACC95-190D-4299-95D1-1660B3F15DDC}"/>
                    </a:ext>
                  </a:extLst>
                </p:cNvPr>
                <p:cNvGrpSpPr/>
                <p:nvPr/>
              </p:nvGrpSpPr>
              <p:grpSpPr>
                <a:xfrm>
                  <a:off x="150495" y="434341"/>
                  <a:ext cx="410210" cy="220343"/>
                  <a:chOff x="0" y="1"/>
                  <a:chExt cx="410210" cy="220343"/>
                </a:xfrm>
              </p:grpSpPr>
              <p:grpSp>
                <p:nvGrpSpPr>
                  <p:cNvPr id="107" name="Grouper 1121">
                    <a:extLst>
                      <a:ext uri="{FF2B5EF4-FFF2-40B4-BE49-F238E27FC236}">
                        <a16:creationId xmlns:a16="http://schemas.microsoft.com/office/drawing/2014/main" id="{02E52333-594C-499F-86B5-BF826A2148E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4322" y="1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24" name="Ellipse 123">
                      <a:extLst>
                        <a:ext uri="{FF2B5EF4-FFF2-40B4-BE49-F238E27FC236}">
                          <a16:creationId xmlns:a16="http://schemas.microsoft.com/office/drawing/2014/main" id="{668331CD-27AB-4B58-8E2F-CBE3BBCE33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5" name="Ellipse 124">
                      <a:extLst>
                        <a:ext uri="{FF2B5EF4-FFF2-40B4-BE49-F238E27FC236}">
                          <a16:creationId xmlns:a16="http://schemas.microsoft.com/office/drawing/2014/main" id="{3CB6FA7E-9FEB-4B8D-8EF4-DE48F97B0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6" name="Ellipse 125">
                      <a:extLst>
                        <a:ext uri="{FF2B5EF4-FFF2-40B4-BE49-F238E27FC236}">
                          <a16:creationId xmlns:a16="http://schemas.microsoft.com/office/drawing/2014/main" id="{D9A861B3-437E-4663-9A80-983A8E2CC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7" name="Ellipse 126">
                      <a:extLst>
                        <a:ext uri="{FF2B5EF4-FFF2-40B4-BE49-F238E27FC236}">
                          <a16:creationId xmlns:a16="http://schemas.microsoft.com/office/drawing/2014/main" id="{D65C15FC-A076-4837-ABA6-AE59C7F068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8" name="Ellipse 127">
                      <a:extLst>
                        <a:ext uri="{FF2B5EF4-FFF2-40B4-BE49-F238E27FC236}">
                          <a16:creationId xmlns:a16="http://schemas.microsoft.com/office/drawing/2014/main" id="{CB947D67-B887-4E03-B4C9-5D9CC169BB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9" name="Ellipse 128">
                      <a:extLst>
                        <a:ext uri="{FF2B5EF4-FFF2-40B4-BE49-F238E27FC236}">
                          <a16:creationId xmlns:a16="http://schemas.microsoft.com/office/drawing/2014/main" id="{CC46E9B9-DCC6-47A0-94AF-F47CA5C3A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30" name="Ellipse 129">
                      <a:extLst>
                        <a:ext uri="{FF2B5EF4-FFF2-40B4-BE49-F238E27FC236}">
                          <a16:creationId xmlns:a16="http://schemas.microsoft.com/office/drawing/2014/main" id="{05BD9316-809D-45E6-B129-52FD5F687B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8" name="Grouper 1129">
                    <a:extLst>
                      <a:ext uri="{FF2B5EF4-FFF2-40B4-BE49-F238E27FC236}">
                        <a16:creationId xmlns:a16="http://schemas.microsoft.com/office/drawing/2014/main" id="{50C760F2-92A5-4189-BE5D-08A869DD22B1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36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17" name="Ellipse 116">
                      <a:extLst>
                        <a:ext uri="{FF2B5EF4-FFF2-40B4-BE49-F238E27FC236}">
                          <a16:creationId xmlns:a16="http://schemas.microsoft.com/office/drawing/2014/main" id="{CCCA3CE2-22BA-48B0-BCBD-698B57A3B7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8" name="Ellipse 117">
                      <a:extLst>
                        <a:ext uri="{FF2B5EF4-FFF2-40B4-BE49-F238E27FC236}">
                          <a16:creationId xmlns:a16="http://schemas.microsoft.com/office/drawing/2014/main" id="{F85A9D02-ADD1-4263-B53F-70863F539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9" name="Ellipse 118">
                      <a:extLst>
                        <a:ext uri="{FF2B5EF4-FFF2-40B4-BE49-F238E27FC236}">
                          <a16:creationId xmlns:a16="http://schemas.microsoft.com/office/drawing/2014/main" id="{4BDF9694-E657-4D74-9971-50DCAB1C7D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0" name="Ellipse 119">
                      <a:extLst>
                        <a:ext uri="{FF2B5EF4-FFF2-40B4-BE49-F238E27FC236}">
                          <a16:creationId xmlns:a16="http://schemas.microsoft.com/office/drawing/2014/main" id="{49FE0417-DFCC-4D18-9CCA-BFC6C88004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1" name="Ellipse 120">
                      <a:extLst>
                        <a:ext uri="{FF2B5EF4-FFF2-40B4-BE49-F238E27FC236}">
                          <a16:creationId xmlns:a16="http://schemas.microsoft.com/office/drawing/2014/main" id="{354F2722-AB1D-4446-BE98-01AB7773EA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2" name="Ellipse 121">
                      <a:extLst>
                        <a:ext uri="{FF2B5EF4-FFF2-40B4-BE49-F238E27FC236}">
                          <a16:creationId xmlns:a16="http://schemas.microsoft.com/office/drawing/2014/main" id="{E83DC7B6-F257-4A25-88F8-045FA5854E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3" name="Ellipse 122">
                      <a:extLst>
                        <a:ext uri="{FF2B5EF4-FFF2-40B4-BE49-F238E27FC236}">
                          <a16:creationId xmlns:a16="http://schemas.microsoft.com/office/drawing/2014/main" id="{5593C608-27AE-4981-BE22-D90B67823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9" name="Grouper 1137">
                    <a:extLst>
                      <a:ext uri="{FF2B5EF4-FFF2-40B4-BE49-F238E27FC236}">
                        <a16:creationId xmlns:a16="http://schemas.microsoft.com/office/drawing/2014/main" id="{AD8A721A-9698-442D-B41D-AE99D4122B2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139065" y="16504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10" name="Ellipse 109">
                      <a:extLst>
                        <a:ext uri="{FF2B5EF4-FFF2-40B4-BE49-F238E27FC236}">
                          <a16:creationId xmlns:a16="http://schemas.microsoft.com/office/drawing/2014/main" id="{D67DB373-70F4-4F1F-9B38-5E2F437EA1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1" name="Ellipse 110">
                      <a:extLst>
                        <a:ext uri="{FF2B5EF4-FFF2-40B4-BE49-F238E27FC236}">
                          <a16:creationId xmlns:a16="http://schemas.microsoft.com/office/drawing/2014/main" id="{5312F523-74FD-4B29-88BF-AD84965270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2" name="Ellipse 111">
                      <a:extLst>
                        <a:ext uri="{FF2B5EF4-FFF2-40B4-BE49-F238E27FC236}">
                          <a16:creationId xmlns:a16="http://schemas.microsoft.com/office/drawing/2014/main" id="{CE299AAC-3409-4C42-9F6A-B62DEB94F4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3" name="Ellipse 112">
                      <a:extLst>
                        <a:ext uri="{FF2B5EF4-FFF2-40B4-BE49-F238E27FC236}">
                          <a16:creationId xmlns:a16="http://schemas.microsoft.com/office/drawing/2014/main" id="{611CE482-4D2C-47B7-99C4-5F158D9D9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4" name="Ellipse 113">
                      <a:extLst>
                        <a:ext uri="{FF2B5EF4-FFF2-40B4-BE49-F238E27FC236}">
                          <a16:creationId xmlns:a16="http://schemas.microsoft.com/office/drawing/2014/main" id="{E1833F75-BD02-473B-A4FD-649EBED685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5" name="Ellipse 114">
                      <a:extLst>
                        <a:ext uri="{FF2B5EF4-FFF2-40B4-BE49-F238E27FC236}">
                          <a16:creationId xmlns:a16="http://schemas.microsoft.com/office/drawing/2014/main" id="{311BA56F-2C08-4DDF-A55B-598C852419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6" name="Ellipse 115">
                      <a:extLst>
                        <a:ext uri="{FF2B5EF4-FFF2-40B4-BE49-F238E27FC236}">
                          <a16:creationId xmlns:a16="http://schemas.microsoft.com/office/drawing/2014/main" id="{455F9846-E797-4C8D-9160-290C2DD5AD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</p:grpSp>
        </p:grp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AC10C6B1-DA1A-45AE-854A-BFA556B404B0}"/>
                </a:ext>
              </a:extLst>
            </p:cNvPr>
            <p:cNvSpPr/>
            <p:nvPr/>
          </p:nvSpPr>
          <p:spPr>
            <a:xfrm>
              <a:off x="338455" y="800100"/>
              <a:ext cx="146050" cy="755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975A09FD-D181-4AE9-AF6A-2E5A38A2DCFE}"/>
              </a:ext>
            </a:extLst>
          </p:cNvPr>
          <p:cNvGrpSpPr/>
          <p:nvPr/>
        </p:nvGrpSpPr>
        <p:grpSpPr>
          <a:xfrm>
            <a:off x="4181562" y="1590144"/>
            <a:ext cx="788809" cy="2003608"/>
            <a:chOff x="1792714" y="1633862"/>
            <a:chExt cx="788809" cy="2003608"/>
          </a:xfrm>
        </p:grpSpPr>
        <p:sp>
          <p:nvSpPr>
            <p:cNvPr id="137" name="Rectangle à coins arrondis 943">
              <a:extLst>
                <a:ext uri="{FF2B5EF4-FFF2-40B4-BE49-F238E27FC236}">
                  <a16:creationId xmlns:a16="http://schemas.microsoft.com/office/drawing/2014/main" id="{D319173D-2F4C-4209-ACF4-84CC8CAF1C1F}"/>
                </a:ext>
              </a:extLst>
            </p:cNvPr>
            <p:cNvSpPr/>
            <p:nvPr/>
          </p:nvSpPr>
          <p:spPr>
            <a:xfrm>
              <a:off x="1968641" y="1824682"/>
              <a:ext cx="434500" cy="166697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12D4F78-1DF8-4FC7-B293-072F3568979E}"/>
                </a:ext>
              </a:extLst>
            </p:cNvPr>
            <p:cNvSpPr/>
            <p:nvPr/>
          </p:nvSpPr>
          <p:spPr>
            <a:xfrm>
              <a:off x="2105292" y="1680667"/>
              <a:ext cx="167745" cy="1941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575507F-853D-4B58-BD9D-89952E7A6BEF}"/>
                </a:ext>
              </a:extLst>
            </p:cNvPr>
            <p:cNvSpPr/>
            <p:nvPr/>
          </p:nvSpPr>
          <p:spPr>
            <a:xfrm>
              <a:off x="2074198" y="1633862"/>
              <a:ext cx="218477" cy="63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40" name="Arc plein 139">
              <a:extLst>
                <a:ext uri="{FF2B5EF4-FFF2-40B4-BE49-F238E27FC236}">
                  <a16:creationId xmlns:a16="http://schemas.microsoft.com/office/drawing/2014/main" id="{4C9F2098-B480-466E-A858-5C996987DD68}"/>
                </a:ext>
              </a:extLst>
            </p:cNvPr>
            <p:cNvSpPr/>
            <p:nvPr/>
          </p:nvSpPr>
          <p:spPr>
            <a:xfrm rot="5400000">
              <a:off x="2193337" y="1981953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41" name="Arc plein 140">
              <a:extLst>
                <a:ext uri="{FF2B5EF4-FFF2-40B4-BE49-F238E27FC236}">
                  <a16:creationId xmlns:a16="http://schemas.microsoft.com/office/drawing/2014/main" id="{708E5503-624F-4A04-8A78-7C5C1DF4ADCF}"/>
                </a:ext>
              </a:extLst>
            </p:cNvPr>
            <p:cNvSpPr/>
            <p:nvPr/>
          </p:nvSpPr>
          <p:spPr>
            <a:xfrm rot="16200000" flipH="1">
              <a:off x="1759656" y="3249284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42" name="Groupe 141">
            <a:extLst>
              <a:ext uri="{FF2B5EF4-FFF2-40B4-BE49-F238E27FC236}">
                <a16:creationId xmlns:a16="http://schemas.microsoft.com/office/drawing/2014/main" id="{62DECC9C-0BD3-45CF-8916-A2996E0E637B}"/>
              </a:ext>
            </a:extLst>
          </p:cNvPr>
          <p:cNvGrpSpPr/>
          <p:nvPr/>
        </p:nvGrpSpPr>
        <p:grpSpPr>
          <a:xfrm>
            <a:off x="3769975" y="2744943"/>
            <a:ext cx="319567" cy="1184275"/>
            <a:chOff x="7335132" y="2261014"/>
            <a:chExt cx="319567" cy="1184275"/>
          </a:xfrm>
        </p:grpSpPr>
        <p:grpSp>
          <p:nvGrpSpPr>
            <p:cNvPr id="143" name="Grouper 679">
              <a:extLst>
                <a:ext uri="{FF2B5EF4-FFF2-40B4-BE49-F238E27FC236}">
                  <a16:creationId xmlns:a16="http://schemas.microsoft.com/office/drawing/2014/main" id="{0B103122-DB46-41ED-9EE9-AB4C5CFEAE83}"/>
                </a:ext>
              </a:extLst>
            </p:cNvPr>
            <p:cNvGrpSpPr/>
            <p:nvPr/>
          </p:nvGrpSpPr>
          <p:grpSpPr>
            <a:xfrm rot="19789929">
              <a:off x="7345291" y="2261014"/>
              <a:ext cx="300355" cy="1184275"/>
              <a:chOff x="0" y="0"/>
              <a:chExt cx="300355" cy="1184275"/>
            </a:xfrm>
          </p:grpSpPr>
          <p:sp>
            <p:nvSpPr>
              <p:cNvPr id="157" name="Cadre 156">
                <a:extLst>
                  <a:ext uri="{FF2B5EF4-FFF2-40B4-BE49-F238E27FC236}">
                    <a16:creationId xmlns:a16="http://schemas.microsoft.com/office/drawing/2014/main" id="{B9EC2828-9382-4201-923E-18CDF7420390}"/>
                  </a:ext>
                </a:extLst>
              </p:cNvPr>
              <p:cNvSpPr/>
              <p:nvPr/>
            </p:nvSpPr>
            <p:spPr>
              <a:xfrm>
                <a:off x="0" y="139065"/>
                <a:ext cx="210820" cy="826770"/>
              </a:xfrm>
              <a:prstGeom prst="frame">
                <a:avLst>
                  <a:gd name="adj1" fmla="val 25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0A9A016-B981-4D4B-9BE5-FD6A22216572}"/>
                  </a:ext>
                </a:extLst>
              </p:cNvPr>
              <p:cNvSpPr/>
              <p:nvPr/>
            </p:nvSpPr>
            <p:spPr>
              <a:xfrm>
                <a:off x="112395" y="13335"/>
                <a:ext cx="15240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364D838-D7E5-4DDB-A9A4-8990B13709B0}"/>
                  </a:ext>
                </a:extLst>
              </p:cNvPr>
              <p:cNvSpPr/>
              <p:nvPr/>
            </p:nvSpPr>
            <p:spPr>
              <a:xfrm>
                <a:off x="154940" y="815340"/>
                <a:ext cx="6350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0" name="Rectangle à coins arrondis 643">
                <a:extLst>
                  <a:ext uri="{FF2B5EF4-FFF2-40B4-BE49-F238E27FC236}">
                    <a16:creationId xmlns:a16="http://schemas.microsoft.com/office/drawing/2014/main" id="{4508BFE9-5D29-4F3B-B8D4-7F58A2CDF2F3}"/>
                  </a:ext>
                </a:extLst>
              </p:cNvPr>
              <p:cNvSpPr/>
              <p:nvPr/>
            </p:nvSpPr>
            <p:spPr>
              <a:xfrm>
                <a:off x="73660" y="100330"/>
                <a:ext cx="226695" cy="721360"/>
              </a:xfrm>
              <a:prstGeom prst="roundRect">
                <a:avLst>
                  <a:gd name="adj" fmla="val 4187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0EE6EBFD-F8E9-4AFB-9F10-F4AF59A4616A}"/>
                  </a:ext>
                </a:extLst>
              </p:cNvPr>
              <p:cNvSpPr/>
              <p:nvPr/>
            </p:nvSpPr>
            <p:spPr>
              <a:xfrm>
                <a:off x="120015" y="962660"/>
                <a:ext cx="13462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1064BDE-2374-40F4-8314-F5AB0FEE0213}"/>
                  </a:ext>
                </a:extLst>
              </p:cNvPr>
              <p:cNvSpPr/>
              <p:nvPr/>
            </p:nvSpPr>
            <p:spPr>
              <a:xfrm>
                <a:off x="120015" y="855345"/>
                <a:ext cx="144780" cy="4571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8772B056-7F78-431A-8D39-898F1BD5C772}"/>
                  </a:ext>
                </a:extLst>
              </p:cNvPr>
              <p:cNvSpPr/>
              <p:nvPr/>
            </p:nvSpPr>
            <p:spPr>
              <a:xfrm>
                <a:off x="255270" y="818515"/>
                <a:ext cx="45085" cy="1123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B1E98FF-2996-414F-983D-70FA55584783}"/>
                  </a:ext>
                </a:extLst>
              </p:cNvPr>
              <p:cNvSpPr/>
              <p:nvPr/>
            </p:nvSpPr>
            <p:spPr>
              <a:xfrm>
                <a:off x="127000" y="921385"/>
                <a:ext cx="85725" cy="11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A861ED38-D2F8-4951-BBBA-A480E85F0B08}"/>
                  </a:ext>
                </a:extLst>
              </p:cNvPr>
              <p:cNvSpPr/>
              <p:nvPr/>
            </p:nvSpPr>
            <p:spPr>
              <a:xfrm>
                <a:off x="127000" y="1066800"/>
                <a:ext cx="122555" cy="11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523B9140-C1DD-423B-B6D6-018D2C8A5D44}"/>
                  </a:ext>
                </a:extLst>
              </p:cNvPr>
              <p:cNvSpPr/>
              <p:nvPr/>
            </p:nvSpPr>
            <p:spPr>
              <a:xfrm>
                <a:off x="67945" y="918210"/>
                <a:ext cx="114935" cy="44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012B2CD-B5F6-48E5-B4C0-6103C2E73550}"/>
                  </a:ext>
                </a:extLst>
              </p:cNvPr>
              <p:cNvSpPr/>
              <p:nvPr/>
            </p:nvSpPr>
            <p:spPr>
              <a:xfrm>
                <a:off x="47625" y="143510"/>
                <a:ext cx="114935" cy="43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D9392D27-BBC1-4CA8-BB14-138E3A28F5D9}"/>
                  </a:ext>
                </a:extLst>
              </p:cNvPr>
              <p:cNvSpPr/>
              <p:nvPr/>
            </p:nvSpPr>
            <p:spPr>
              <a:xfrm>
                <a:off x="121285" y="0"/>
                <a:ext cx="132715" cy="1314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EFA944CB-6599-4E56-A788-040A0BAB318B}"/>
                  </a:ext>
                </a:extLst>
              </p:cNvPr>
              <p:cNvSpPr/>
              <p:nvPr/>
            </p:nvSpPr>
            <p:spPr>
              <a:xfrm rot="5400000">
                <a:off x="129540" y="757555"/>
                <a:ext cx="114935" cy="43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44" name="Grouper 685">
              <a:extLst>
                <a:ext uri="{FF2B5EF4-FFF2-40B4-BE49-F238E27FC236}">
                  <a16:creationId xmlns:a16="http://schemas.microsoft.com/office/drawing/2014/main" id="{EC3BBC24-9D39-4D7D-9AEE-C9B555C0889C}"/>
                </a:ext>
              </a:extLst>
            </p:cNvPr>
            <p:cNvGrpSpPr/>
            <p:nvPr/>
          </p:nvGrpSpPr>
          <p:grpSpPr>
            <a:xfrm rot="19789929">
              <a:off x="7435624" y="2638037"/>
              <a:ext cx="219075" cy="449580"/>
              <a:chOff x="0" y="2540"/>
              <a:chExt cx="226695" cy="465310"/>
            </a:xfrm>
            <a:solidFill>
              <a:srgbClr val="C6D9F1"/>
            </a:solidFill>
          </p:grpSpPr>
          <p:grpSp>
            <p:nvGrpSpPr>
              <p:cNvPr id="152" name="Grouper 681">
                <a:extLst>
                  <a:ext uri="{FF2B5EF4-FFF2-40B4-BE49-F238E27FC236}">
                    <a16:creationId xmlns:a16="http://schemas.microsoft.com/office/drawing/2014/main" id="{92C30A9A-1521-4565-939C-5B0DBFCAC5E5}"/>
                  </a:ext>
                </a:extLst>
              </p:cNvPr>
              <p:cNvGrpSpPr/>
              <p:nvPr/>
            </p:nvGrpSpPr>
            <p:grpSpPr>
              <a:xfrm>
                <a:off x="0" y="106045"/>
                <a:ext cx="226695" cy="361805"/>
                <a:chOff x="0" y="0"/>
                <a:chExt cx="226695" cy="361805"/>
              </a:xfrm>
              <a:grpFill/>
            </p:grpSpPr>
            <p:sp>
              <p:nvSpPr>
                <p:cNvPr id="155" name="Rectangle à coins arrondis 678">
                  <a:extLst>
                    <a:ext uri="{FF2B5EF4-FFF2-40B4-BE49-F238E27FC236}">
                      <a16:creationId xmlns:a16="http://schemas.microsoft.com/office/drawing/2014/main" id="{76E064CC-A344-4B4D-991A-6D12CEA2EE9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6695" cy="322580"/>
                </a:xfrm>
                <a:prstGeom prst="roundRect">
                  <a:avLst>
                    <a:gd name="adj" fmla="val 41877"/>
                  </a:avLst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 dirty="0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9CA9FAB2-3E8C-43B2-8F16-AFB99F4D4286}"/>
                    </a:ext>
                  </a:extLst>
                </p:cNvPr>
                <p:cNvSpPr/>
                <p:nvPr/>
              </p:nvSpPr>
              <p:spPr>
                <a:xfrm rot="5400000">
                  <a:off x="44932" y="271853"/>
                  <a:ext cx="132595" cy="47309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153" name="Triangle rectangle 152">
                <a:extLst>
                  <a:ext uri="{FF2B5EF4-FFF2-40B4-BE49-F238E27FC236}">
                    <a16:creationId xmlns:a16="http://schemas.microsoft.com/office/drawing/2014/main" id="{D6C943AE-4098-4FC8-A3D2-A52C72C35B24}"/>
                  </a:ext>
                </a:extLst>
              </p:cNvPr>
              <p:cNvSpPr/>
              <p:nvPr/>
            </p:nvSpPr>
            <p:spPr>
              <a:xfrm>
                <a:off x="0" y="2540"/>
                <a:ext cx="225425" cy="118110"/>
              </a:xfrm>
              <a:prstGeom prst="rtTriangl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F831E22-F75D-4E14-BE75-2B7A3B17B771}"/>
                  </a:ext>
                </a:extLst>
              </p:cNvPr>
              <p:cNvSpPr/>
              <p:nvPr/>
            </p:nvSpPr>
            <p:spPr>
              <a:xfrm>
                <a:off x="0" y="118745"/>
                <a:ext cx="225905" cy="148328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45" name="Grouper 672">
              <a:extLst>
                <a:ext uri="{FF2B5EF4-FFF2-40B4-BE49-F238E27FC236}">
                  <a16:creationId xmlns:a16="http://schemas.microsoft.com/office/drawing/2014/main" id="{1B75D1E0-17C7-43B7-882E-13D38FD5AACC}"/>
                </a:ext>
              </a:extLst>
            </p:cNvPr>
            <p:cNvGrpSpPr/>
            <p:nvPr/>
          </p:nvGrpSpPr>
          <p:grpSpPr>
            <a:xfrm rot="19789929">
              <a:off x="7545589" y="2582794"/>
              <a:ext cx="46355" cy="357783"/>
              <a:chOff x="571500" y="767444"/>
              <a:chExt cx="251460" cy="457200"/>
            </a:xfrm>
          </p:grpSpPr>
          <p:cxnSp>
            <p:nvCxnSpPr>
              <p:cNvPr id="147" name="Connecteur droit 146">
                <a:extLst>
                  <a:ext uri="{FF2B5EF4-FFF2-40B4-BE49-F238E27FC236}">
                    <a16:creationId xmlns:a16="http://schemas.microsoft.com/office/drawing/2014/main" id="{E31BA8C5-4B14-4AA0-BB2C-77FBED5F7637}"/>
                  </a:ext>
                </a:extLst>
              </p:cNvPr>
              <p:cNvCxnSpPr/>
              <p:nvPr/>
            </p:nvCxnSpPr>
            <p:spPr>
              <a:xfrm>
                <a:off x="571500" y="767444"/>
                <a:ext cx="2514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cteur droit 147">
                <a:extLst>
                  <a:ext uri="{FF2B5EF4-FFF2-40B4-BE49-F238E27FC236}">
                    <a16:creationId xmlns:a16="http://schemas.microsoft.com/office/drawing/2014/main" id="{56FE38CF-2036-4320-82B7-B578B87F562C}"/>
                  </a:ext>
                </a:extLst>
              </p:cNvPr>
              <p:cNvCxnSpPr/>
              <p:nvPr/>
            </p:nvCxnSpPr>
            <p:spPr>
              <a:xfrm>
                <a:off x="685800" y="12246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cteur droit 148">
                <a:extLst>
                  <a:ext uri="{FF2B5EF4-FFF2-40B4-BE49-F238E27FC236}">
                    <a16:creationId xmlns:a16="http://schemas.microsoft.com/office/drawing/2014/main" id="{890C997A-6397-4678-85C4-100B65BD700E}"/>
                  </a:ext>
                </a:extLst>
              </p:cNvPr>
              <p:cNvCxnSpPr/>
              <p:nvPr/>
            </p:nvCxnSpPr>
            <p:spPr>
              <a:xfrm>
                <a:off x="685800" y="11103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cteur droit 149">
                <a:extLst>
                  <a:ext uri="{FF2B5EF4-FFF2-40B4-BE49-F238E27FC236}">
                    <a16:creationId xmlns:a16="http://schemas.microsoft.com/office/drawing/2014/main" id="{D3017D47-233D-4E2D-B4AC-1FBE7F5661EF}"/>
                  </a:ext>
                </a:extLst>
              </p:cNvPr>
              <p:cNvCxnSpPr/>
              <p:nvPr/>
            </p:nvCxnSpPr>
            <p:spPr>
              <a:xfrm>
                <a:off x="685800" y="9960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cteur droit 150">
                <a:extLst>
                  <a:ext uri="{FF2B5EF4-FFF2-40B4-BE49-F238E27FC236}">
                    <a16:creationId xmlns:a16="http://schemas.microsoft.com/office/drawing/2014/main" id="{AE20D608-D217-4FBC-BA1F-1142E4663750}"/>
                  </a:ext>
                </a:extLst>
              </p:cNvPr>
              <p:cNvCxnSpPr/>
              <p:nvPr/>
            </p:nvCxnSpPr>
            <p:spPr>
              <a:xfrm>
                <a:off x="685800" y="8817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Connecteur droit 145">
              <a:extLst>
                <a:ext uri="{FF2B5EF4-FFF2-40B4-BE49-F238E27FC236}">
                  <a16:creationId xmlns:a16="http://schemas.microsoft.com/office/drawing/2014/main" id="{5F1D735C-3FD8-4C6A-ABAE-DB273BFB221F}"/>
                </a:ext>
              </a:extLst>
            </p:cNvPr>
            <p:cNvCxnSpPr/>
            <p:nvPr/>
          </p:nvCxnSpPr>
          <p:spPr>
            <a:xfrm>
              <a:off x="7335132" y="2721389"/>
              <a:ext cx="251512" cy="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F937D692-EF39-491E-B64D-7C85F1DCFAE0}"/>
              </a:ext>
            </a:extLst>
          </p:cNvPr>
          <p:cNvGrpSpPr/>
          <p:nvPr/>
        </p:nvGrpSpPr>
        <p:grpSpPr>
          <a:xfrm>
            <a:off x="3538375" y="2728987"/>
            <a:ext cx="211553" cy="199519"/>
            <a:chOff x="8086939" y="3519705"/>
            <a:chExt cx="296204" cy="195895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F36469D-FE8C-4259-AE18-1ECFED8A5322}"/>
                </a:ext>
              </a:extLst>
            </p:cNvPr>
            <p:cNvSpPr/>
            <p:nvPr/>
          </p:nvSpPr>
          <p:spPr>
            <a:xfrm rot="19859595">
              <a:off x="8209671" y="3550883"/>
              <a:ext cx="173472" cy="1647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1565426-C97A-4529-A0D7-0FC26BD54F50}"/>
                </a:ext>
              </a:extLst>
            </p:cNvPr>
            <p:cNvSpPr/>
            <p:nvPr/>
          </p:nvSpPr>
          <p:spPr>
            <a:xfrm rot="19859595">
              <a:off x="8086939" y="3519705"/>
              <a:ext cx="283120" cy="63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F6610326-98A4-43EA-8F26-95B01C4CA2CB}"/>
                  </a:ext>
                </a:extLst>
              </p:cNvPr>
              <p:cNvSpPr txBox="1"/>
              <p:nvPr/>
            </p:nvSpPr>
            <p:spPr>
              <a:xfrm>
                <a:off x="5405795" y="1517745"/>
                <a:ext cx="3103194" cy="12003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Benzile : 9,5 </a:t>
                </a:r>
                <a:r>
                  <a:rPr lang="fr-FR" dirty="0" err="1"/>
                  <a:t>mmol</a:t>
                </a:r>
                <a:endParaRPr lang="fr-F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Éthanol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10,6 </a:t>
                </a:r>
                <a:r>
                  <a:rPr lang="fr-FR" dirty="0" err="1"/>
                  <a:t>mmol</a:t>
                </a:r>
                <a:r>
                  <a:rPr lang="fr-FR" dirty="0"/>
                  <a:t>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NaB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fr-FR" dirty="0"/>
                  <a:t> une fois le </a:t>
                </a:r>
                <a:r>
                  <a:rPr lang="fr-FR" dirty="0" err="1"/>
                  <a:t>benzile</a:t>
                </a:r>
                <a:r>
                  <a:rPr lang="fr-FR" dirty="0"/>
                  <a:t> dissous</a:t>
                </a:r>
              </a:p>
            </p:txBody>
          </p:sp>
        </mc:Choice>
        <mc:Fallback xmlns="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F6610326-98A4-43EA-8F26-95B01C4CA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795" y="1517745"/>
                <a:ext cx="3103194" cy="1200329"/>
              </a:xfrm>
              <a:prstGeom prst="rect">
                <a:avLst/>
              </a:prstGeom>
              <a:blipFill>
                <a:blip r:embed="rId2"/>
                <a:stretch>
                  <a:fillRect l="-1172" t="-2500" b="-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3672EE78-3F2D-4F71-8156-E5D34AED71B0}"/>
              </a:ext>
            </a:extLst>
          </p:cNvPr>
          <p:cNvCxnSpPr>
            <a:cxnSpLocks/>
            <a:stCxn id="173" idx="2"/>
            <a:endCxn id="105" idx="2"/>
          </p:cNvCxnSpPr>
          <p:nvPr/>
        </p:nvCxnSpPr>
        <p:spPr>
          <a:xfrm flipH="1">
            <a:off x="4573024" y="2718074"/>
            <a:ext cx="2384368" cy="154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orme libre : forme 176">
            <a:extLst>
              <a:ext uri="{FF2B5EF4-FFF2-40B4-BE49-F238E27FC236}">
                <a16:creationId xmlns:a16="http://schemas.microsoft.com/office/drawing/2014/main" id="{894B647F-70EC-4B37-9C76-95CC44C09ECF}"/>
              </a:ext>
            </a:extLst>
          </p:cNvPr>
          <p:cNvSpPr/>
          <p:nvPr/>
        </p:nvSpPr>
        <p:spPr>
          <a:xfrm rot="10800000">
            <a:off x="8792249" y="2823055"/>
            <a:ext cx="905538" cy="924324"/>
          </a:xfrm>
          <a:custGeom>
            <a:avLst/>
            <a:gdLst>
              <a:gd name="connsiteX0" fmla="*/ 905538 w 905538"/>
              <a:gd name="connsiteY0" fmla="*/ 924324 h 924324"/>
              <a:gd name="connsiteX1" fmla="*/ 0 w 905538"/>
              <a:gd name="connsiteY1" fmla="*/ 924324 h 924324"/>
              <a:gd name="connsiteX2" fmla="*/ 0 w 905538"/>
              <a:gd name="connsiteY2" fmla="*/ 557623 h 924324"/>
              <a:gd name="connsiteX3" fmla="*/ 0 w 905538"/>
              <a:gd name="connsiteY3" fmla="*/ 556880 h 924324"/>
              <a:gd name="connsiteX4" fmla="*/ 1045 w 905538"/>
              <a:gd name="connsiteY4" fmla="*/ 556880 h 924324"/>
              <a:gd name="connsiteX5" fmla="*/ 255076 w 905538"/>
              <a:gd name="connsiteY5" fmla="*/ 376281 h 924324"/>
              <a:gd name="connsiteX6" fmla="*/ 253714 w 905538"/>
              <a:gd name="connsiteY6" fmla="*/ 376281 h 924324"/>
              <a:gd name="connsiteX7" fmla="*/ 253714 w 905538"/>
              <a:gd name="connsiteY7" fmla="*/ 0 h 924324"/>
              <a:gd name="connsiteX8" fmla="*/ 651661 w 905538"/>
              <a:gd name="connsiteY8" fmla="*/ 0 h 924324"/>
              <a:gd name="connsiteX9" fmla="*/ 651661 w 905538"/>
              <a:gd name="connsiteY9" fmla="*/ 376281 h 924324"/>
              <a:gd name="connsiteX10" fmla="*/ 649956 w 905538"/>
              <a:gd name="connsiteY10" fmla="*/ 376281 h 924324"/>
              <a:gd name="connsiteX11" fmla="*/ 903987 w 905538"/>
              <a:gd name="connsiteY11" fmla="*/ 556880 h 924324"/>
              <a:gd name="connsiteX12" fmla="*/ 905538 w 905538"/>
              <a:gd name="connsiteY12" fmla="*/ 556880 h 92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05538" h="924324">
                <a:moveTo>
                  <a:pt x="905538" y="924324"/>
                </a:moveTo>
                <a:lnTo>
                  <a:pt x="0" y="924324"/>
                </a:lnTo>
                <a:lnTo>
                  <a:pt x="0" y="557623"/>
                </a:lnTo>
                <a:lnTo>
                  <a:pt x="0" y="556880"/>
                </a:lnTo>
                <a:lnTo>
                  <a:pt x="1045" y="556880"/>
                </a:lnTo>
                <a:lnTo>
                  <a:pt x="255076" y="376281"/>
                </a:lnTo>
                <a:lnTo>
                  <a:pt x="253714" y="376281"/>
                </a:lnTo>
                <a:lnTo>
                  <a:pt x="253714" y="0"/>
                </a:lnTo>
                <a:lnTo>
                  <a:pt x="651661" y="0"/>
                </a:lnTo>
                <a:lnTo>
                  <a:pt x="651661" y="376281"/>
                </a:lnTo>
                <a:lnTo>
                  <a:pt x="649956" y="376281"/>
                </a:lnTo>
                <a:lnTo>
                  <a:pt x="903987" y="556880"/>
                </a:lnTo>
                <a:lnTo>
                  <a:pt x="905538" y="55688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78" name="Flèche : droite 177">
            <a:extLst>
              <a:ext uri="{FF2B5EF4-FFF2-40B4-BE49-F238E27FC236}">
                <a16:creationId xmlns:a16="http://schemas.microsoft.com/office/drawing/2014/main" id="{7A1D43CA-D711-41BF-ACE2-BDDF3910777A}"/>
              </a:ext>
            </a:extLst>
          </p:cNvPr>
          <p:cNvSpPr/>
          <p:nvPr/>
        </p:nvSpPr>
        <p:spPr>
          <a:xfrm>
            <a:off x="6010353" y="4616785"/>
            <a:ext cx="2038190" cy="233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532A223-5FD7-4725-96C3-B9761A1EBE92}"/>
              </a:ext>
            </a:extLst>
          </p:cNvPr>
          <p:cNvSpPr/>
          <p:nvPr/>
        </p:nvSpPr>
        <p:spPr>
          <a:xfrm>
            <a:off x="8916132" y="3541219"/>
            <a:ext cx="660319" cy="6683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orme libre : forme 179">
            <a:extLst>
              <a:ext uri="{FF2B5EF4-FFF2-40B4-BE49-F238E27FC236}">
                <a16:creationId xmlns:a16="http://schemas.microsoft.com/office/drawing/2014/main" id="{2C923A43-6DA7-4F76-9D02-C8F7403AB6D0}"/>
              </a:ext>
            </a:extLst>
          </p:cNvPr>
          <p:cNvSpPr/>
          <p:nvPr/>
        </p:nvSpPr>
        <p:spPr>
          <a:xfrm>
            <a:off x="8508169" y="5392883"/>
            <a:ext cx="1473698" cy="853052"/>
          </a:xfrm>
          <a:custGeom>
            <a:avLst/>
            <a:gdLst>
              <a:gd name="connsiteX0" fmla="*/ 126833 w 1473698"/>
              <a:gd name="connsiteY0" fmla="*/ 0 h 853052"/>
              <a:gd name="connsiteX1" fmla="*/ 1346866 w 1473698"/>
              <a:gd name="connsiteY1" fmla="*/ 0 h 853052"/>
              <a:gd name="connsiteX2" fmla="*/ 1473698 w 1473698"/>
              <a:gd name="connsiteY2" fmla="*/ 507330 h 853052"/>
              <a:gd name="connsiteX3" fmla="*/ 1473698 w 1473698"/>
              <a:gd name="connsiteY3" fmla="*/ 795431 h 853052"/>
              <a:gd name="connsiteX4" fmla="*/ 1416077 w 1473698"/>
              <a:gd name="connsiteY4" fmla="*/ 853052 h 853052"/>
              <a:gd name="connsiteX5" fmla="*/ 58436 w 1473698"/>
              <a:gd name="connsiteY5" fmla="*/ 853052 h 853052"/>
              <a:gd name="connsiteX6" fmla="*/ 815 w 1473698"/>
              <a:gd name="connsiteY6" fmla="*/ 795431 h 853052"/>
              <a:gd name="connsiteX7" fmla="*/ 815 w 1473698"/>
              <a:gd name="connsiteY7" fmla="*/ 507330 h 853052"/>
              <a:gd name="connsiteX8" fmla="*/ 0 w 1473698"/>
              <a:gd name="connsiteY8" fmla="*/ 507330 h 85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698" h="853052">
                <a:moveTo>
                  <a:pt x="126833" y="0"/>
                </a:moveTo>
                <a:lnTo>
                  <a:pt x="1346866" y="0"/>
                </a:lnTo>
                <a:lnTo>
                  <a:pt x="1473698" y="507330"/>
                </a:lnTo>
                <a:lnTo>
                  <a:pt x="1473698" y="795431"/>
                </a:lnTo>
                <a:cubicBezTo>
                  <a:pt x="1473698" y="827254"/>
                  <a:pt x="1447900" y="853052"/>
                  <a:pt x="1416077" y="853052"/>
                </a:cubicBezTo>
                <a:lnTo>
                  <a:pt x="58436" y="853052"/>
                </a:lnTo>
                <a:cubicBezTo>
                  <a:pt x="26613" y="853052"/>
                  <a:pt x="815" y="827254"/>
                  <a:pt x="815" y="795431"/>
                </a:cubicBezTo>
                <a:lnTo>
                  <a:pt x="815" y="507330"/>
                </a:lnTo>
                <a:lnTo>
                  <a:pt x="0" y="5073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orme libre : forme 180">
            <a:extLst>
              <a:ext uri="{FF2B5EF4-FFF2-40B4-BE49-F238E27FC236}">
                <a16:creationId xmlns:a16="http://schemas.microsoft.com/office/drawing/2014/main" id="{33417039-E158-4293-B99F-4B5DEE1E709E}"/>
              </a:ext>
            </a:extLst>
          </p:cNvPr>
          <p:cNvSpPr/>
          <p:nvPr/>
        </p:nvSpPr>
        <p:spPr>
          <a:xfrm rot="10800000">
            <a:off x="8508989" y="3541219"/>
            <a:ext cx="1472882" cy="2704716"/>
          </a:xfrm>
          <a:custGeom>
            <a:avLst/>
            <a:gdLst>
              <a:gd name="connsiteX0" fmla="*/ 1067408 w 1472882"/>
              <a:gd name="connsiteY0" fmla="*/ 2704716 h 2704716"/>
              <a:gd name="connsiteX1" fmla="*/ 405420 w 1472882"/>
              <a:gd name="connsiteY1" fmla="*/ 2704716 h 2704716"/>
              <a:gd name="connsiteX2" fmla="*/ 405420 w 1472882"/>
              <a:gd name="connsiteY2" fmla="*/ 2029470 h 2704716"/>
              <a:gd name="connsiteX3" fmla="*/ 0 w 1472882"/>
              <a:gd name="connsiteY3" fmla="*/ 345721 h 2704716"/>
              <a:gd name="connsiteX4" fmla="*/ 3 w 1472882"/>
              <a:gd name="connsiteY4" fmla="*/ 345721 h 2704716"/>
              <a:gd name="connsiteX5" fmla="*/ 3 w 1472882"/>
              <a:gd name="connsiteY5" fmla="*/ 57622 h 2704716"/>
              <a:gd name="connsiteX6" fmla="*/ 57625 w 1472882"/>
              <a:gd name="connsiteY6" fmla="*/ 0 h 2704716"/>
              <a:gd name="connsiteX7" fmla="*/ 1415260 w 1472882"/>
              <a:gd name="connsiteY7" fmla="*/ 0 h 2704716"/>
              <a:gd name="connsiteX8" fmla="*/ 1472882 w 1472882"/>
              <a:gd name="connsiteY8" fmla="*/ 57622 h 2704716"/>
              <a:gd name="connsiteX9" fmla="*/ 1472882 w 1472882"/>
              <a:gd name="connsiteY9" fmla="*/ 345723 h 2704716"/>
              <a:gd name="connsiteX10" fmla="*/ 1472880 w 1472882"/>
              <a:gd name="connsiteY10" fmla="*/ 345723 h 2704716"/>
              <a:gd name="connsiteX11" fmla="*/ 1067408 w 1472882"/>
              <a:gd name="connsiteY11" fmla="*/ 2029686 h 270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882" h="2704716">
                <a:moveTo>
                  <a:pt x="1067408" y="2704716"/>
                </a:moveTo>
                <a:lnTo>
                  <a:pt x="405420" y="2704716"/>
                </a:lnTo>
                <a:lnTo>
                  <a:pt x="405420" y="2029470"/>
                </a:lnTo>
                <a:lnTo>
                  <a:pt x="0" y="345721"/>
                </a:lnTo>
                <a:lnTo>
                  <a:pt x="3" y="345721"/>
                </a:lnTo>
                <a:lnTo>
                  <a:pt x="3" y="57622"/>
                </a:lnTo>
                <a:cubicBezTo>
                  <a:pt x="3" y="25798"/>
                  <a:pt x="25801" y="0"/>
                  <a:pt x="57625" y="0"/>
                </a:cubicBezTo>
                <a:lnTo>
                  <a:pt x="1415260" y="0"/>
                </a:lnTo>
                <a:cubicBezTo>
                  <a:pt x="1447084" y="0"/>
                  <a:pt x="1472882" y="25798"/>
                  <a:pt x="1472882" y="57622"/>
                </a:cubicBezTo>
                <a:lnTo>
                  <a:pt x="1472882" y="345723"/>
                </a:lnTo>
                <a:lnTo>
                  <a:pt x="1472880" y="345723"/>
                </a:lnTo>
                <a:lnTo>
                  <a:pt x="1067408" y="202968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4CA843A2-6FAF-4DB2-8CF8-888779D8A3B0}"/>
              </a:ext>
            </a:extLst>
          </p:cNvPr>
          <p:cNvSpPr txBox="1"/>
          <p:nvPr/>
        </p:nvSpPr>
        <p:spPr>
          <a:xfrm>
            <a:off x="7185145" y="5414938"/>
            <a:ext cx="19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Essorage Buchner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BB9D786B-A790-4ED1-9156-9D01B591B7A9}"/>
              </a:ext>
            </a:extLst>
          </p:cNvPr>
          <p:cNvSpPr txBox="1"/>
          <p:nvPr/>
        </p:nvSpPr>
        <p:spPr>
          <a:xfrm>
            <a:off x="2107196" y="5586400"/>
            <a:ext cx="19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Synthèse</a:t>
            </a:r>
          </a:p>
        </p:txBody>
      </p:sp>
    </p:spTree>
    <p:extLst>
      <p:ext uri="{BB962C8B-B14F-4D97-AF65-F5344CB8AC3E}">
        <p14:creationId xmlns:p14="http://schemas.microsoft.com/office/powerpoint/2010/main" val="343342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510B3-BD19-4E8D-8375-283E2B1C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Chromatographie sur couche mince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9FB715-4AC0-4A34-B314-4844435B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68EE61-2775-4792-8F46-F989DCB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sp>
        <p:nvSpPr>
          <p:cNvPr id="6" name="Arrondir un rectangle avec un coin du même côté 734">
            <a:extLst>
              <a:ext uri="{FF2B5EF4-FFF2-40B4-BE49-F238E27FC236}">
                <a16:creationId xmlns:a16="http://schemas.microsoft.com/office/drawing/2014/main" id="{DACFFFB9-4721-406C-935E-49C224980FCC}"/>
              </a:ext>
            </a:extLst>
          </p:cNvPr>
          <p:cNvSpPr/>
          <p:nvPr/>
        </p:nvSpPr>
        <p:spPr>
          <a:xfrm rot="10800000" flipH="1">
            <a:off x="2863744" y="2891963"/>
            <a:ext cx="2148139" cy="2726896"/>
          </a:xfrm>
          <a:custGeom>
            <a:avLst/>
            <a:gdLst>
              <a:gd name="connsiteX0" fmla="*/ 358030 w 2148139"/>
              <a:gd name="connsiteY0" fmla="*/ 0 h 2726896"/>
              <a:gd name="connsiteX1" fmla="*/ 1790109 w 2148139"/>
              <a:gd name="connsiteY1" fmla="*/ 0 h 2726896"/>
              <a:gd name="connsiteX2" fmla="*/ 2148139 w 2148139"/>
              <a:gd name="connsiteY2" fmla="*/ 358030 h 2726896"/>
              <a:gd name="connsiteX3" fmla="*/ 2148139 w 2148139"/>
              <a:gd name="connsiteY3" fmla="*/ 2726896 h 2726896"/>
              <a:gd name="connsiteX4" fmla="*/ 2148139 w 2148139"/>
              <a:gd name="connsiteY4" fmla="*/ 2726896 h 2726896"/>
              <a:gd name="connsiteX5" fmla="*/ 0 w 2148139"/>
              <a:gd name="connsiteY5" fmla="*/ 2726896 h 2726896"/>
              <a:gd name="connsiteX6" fmla="*/ 0 w 2148139"/>
              <a:gd name="connsiteY6" fmla="*/ 2726896 h 2726896"/>
              <a:gd name="connsiteX7" fmla="*/ 0 w 2148139"/>
              <a:gd name="connsiteY7" fmla="*/ 358030 h 2726896"/>
              <a:gd name="connsiteX8" fmla="*/ 358030 w 2148139"/>
              <a:gd name="connsiteY8" fmla="*/ 0 h 2726896"/>
              <a:gd name="connsiteX0" fmla="*/ 0 w 2239579"/>
              <a:gd name="connsiteY0" fmla="*/ 2726896 h 2818336"/>
              <a:gd name="connsiteX1" fmla="*/ 0 w 2239579"/>
              <a:gd name="connsiteY1" fmla="*/ 2726896 h 2818336"/>
              <a:gd name="connsiteX2" fmla="*/ 0 w 2239579"/>
              <a:gd name="connsiteY2" fmla="*/ 358030 h 2818336"/>
              <a:gd name="connsiteX3" fmla="*/ 358030 w 2239579"/>
              <a:gd name="connsiteY3" fmla="*/ 0 h 2818336"/>
              <a:gd name="connsiteX4" fmla="*/ 1790109 w 2239579"/>
              <a:gd name="connsiteY4" fmla="*/ 0 h 2818336"/>
              <a:gd name="connsiteX5" fmla="*/ 2148139 w 2239579"/>
              <a:gd name="connsiteY5" fmla="*/ 358030 h 2818336"/>
              <a:gd name="connsiteX6" fmla="*/ 2148139 w 2239579"/>
              <a:gd name="connsiteY6" fmla="*/ 2726896 h 2818336"/>
              <a:gd name="connsiteX7" fmla="*/ 2239579 w 2239579"/>
              <a:gd name="connsiteY7" fmla="*/ 2818336 h 2818336"/>
              <a:gd name="connsiteX0" fmla="*/ 0 w 2148139"/>
              <a:gd name="connsiteY0" fmla="*/ 2726896 h 2726896"/>
              <a:gd name="connsiteX1" fmla="*/ 0 w 2148139"/>
              <a:gd name="connsiteY1" fmla="*/ 2726896 h 2726896"/>
              <a:gd name="connsiteX2" fmla="*/ 0 w 2148139"/>
              <a:gd name="connsiteY2" fmla="*/ 358030 h 2726896"/>
              <a:gd name="connsiteX3" fmla="*/ 358030 w 2148139"/>
              <a:gd name="connsiteY3" fmla="*/ 0 h 2726896"/>
              <a:gd name="connsiteX4" fmla="*/ 1790109 w 2148139"/>
              <a:gd name="connsiteY4" fmla="*/ 0 h 2726896"/>
              <a:gd name="connsiteX5" fmla="*/ 2148139 w 2148139"/>
              <a:gd name="connsiteY5" fmla="*/ 358030 h 2726896"/>
              <a:gd name="connsiteX6" fmla="*/ 2148139 w 2148139"/>
              <a:gd name="connsiteY6" fmla="*/ 2726896 h 272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8139" h="2726896">
                <a:moveTo>
                  <a:pt x="0" y="2726896"/>
                </a:moveTo>
                <a:lnTo>
                  <a:pt x="0" y="2726896"/>
                </a:lnTo>
                <a:lnTo>
                  <a:pt x="0" y="358030"/>
                </a:lnTo>
                <a:cubicBezTo>
                  <a:pt x="0" y="160295"/>
                  <a:pt x="160295" y="0"/>
                  <a:pt x="358030" y="0"/>
                </a:cubicBezTo>
                <a:lnTo>
                  <a:pt x="1790109" y="0"/>
                </a:lnTo>
                <a:cubicBezTo>
                  <a:pt x="1987844" y="0"/>
                  <a:pt x="2148139" y="160295"/>
                  <a:pt x="2148139" y="358030"/>
                </a:cubicBezTo>
                <a:lnTo>
                  <a:pt x="2148139" y="2726896"/>
                </a:lnTo>
              </a:path>
            </a:pathLst>
          </a:cu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F5A10358-EA37-477D-ACC9-CC3FF289389A}"/>
              </a:ext>
            </a:extLst>
          </p:cNvPr>
          <p:cNvSpPr/>
          <p:nvPr/>
        </p:nvSpPr>
        <p:spPr>
          <a:xfrm rot="21208233" flipH="1">
            <a:off x="2932817" y="1673515"/>
            <a:ext cx="96139" cy="3893402"/>
          </a:xfrm>
          <a:prstGeom prst="parallelogram">
            <a:avLst>
              <a:gd name="adj" fmla="val 7793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A7EADBA-A60E-4C45-807B-FF33CB63FD54}"/>
              </a:ext>
            </a:extLst>
          </p:cNvPr>
          <p:cNvCxnSpPr>
            <a:cxnSpLocks/>
          </p:cNvCxnSpPr>
          <p:nvPr/>
        </p:nvCxnSpPr>
        <p:spPr>
          <a:xfrm>
            <a:off x="2863744" y="5080621"/>
            <a:ext cx="21481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2DF67E8C-58A8-46FA-85B7-80874FEF4BF2}"/>
              </a:ext>
            </a:extLst>
          </p:cNvPr>
          <p:cNvSpPr txBox="1"/>
          <p:nvPr/>
        </p:nvSpPr>
        <p:spPr>
          <a:xfrm>
            <a:off x="184299" y="4657107"/>
            <a:ext cx="247115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Eluant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Diéthyl</a:t>
            </a:r>
            <a:r>
              <a:rPr lang="fr-FR" dirty="0"/>
              <a:t> éther 1/10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Éther de pétrole 9/10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78A3B41-09EB-4F4C-A047-A4670F79557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655451" y="5118772"/>
            <a:ext cx="1512655" cy="198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A0DDAFC-0FDC-4ED6-A8F8-493BF304A643}"/>
              </a:ext>
            </a:extLst>
          </p:cNvPr>
          <p:cNvSpPr txBox="1"/>
          <p:nvPr/>
        </p:nvSpPr>
        <p:spPr>
          <a:xfrm>
            <a:off x="1314764" y="1916988"/>
            <a:ext cx="8476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Plaque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692383C-11A4-467E-B7C1-01643E5E2D4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162420" y="2101654"/>
            <a:ext cx="627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1C646-2502-4AD5-B45F-0C6B04B1CF6F}"/>
              </a:ext>
            </a:extLst>
          </p:cNvPr>
          <p:cNvSpPr/>
          <p:nvPr/>
        </p:nvSpPr>
        <p:spPr>
          <a:xfrm>
            <a:off x="8022932" y="2238546"/>
            <a:ext cx="2299954" cy="3380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6B13154-839E-4994-B0A1-AF8CC1F15C00}"/>
              </a:ext>
            </a:extLst>
          </p:cNvPr>
          <p:cNvCxnSpPr/>
          <p:nvPr/>
        </p:nvCxnSpPr>
        <p:spPr>
          <a:xfrm>
            <a:off x="8022932" y="5198380"/>
            <a:ext cx="22999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CD8BAB1D-BF47-4177-BECE-0CF17B84FC70}"/>
              </a:ext>
            </a:extLst>
          </p:cNvPr>
          <p:cNvSpPr/>
          <p:nvPr/>
        </p:nvSpPr>
        <p:spPr>
          <a:xfrm>
            <a:off x="8460868" y="5173967"/>
            <a:ext cx="60067" cy="600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0BDBB29-2E6F-4C7A-98CD-A1A698CB9270}"/>
              </a:ext>
            </a:extLst>
          </p:cNvPr>
          <p:cNvSpPr/>
          <p:nvPr/>
        </p:nvSpPr>
        <p:spPr>
          <a:xfrm>
            <a:off x="9142875" y="5168346"/>
            <a:ext cx="60067" cy="60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C45CD4E-EA3F-4ED9-9A37-1045A27E0C56}"/>
              </a:ext>
            </a:extLst>
          </p:cNvPr>
          <p:cNvSpPr/>
          <p:nvPr/>
        </p:nvSpPr>
        <p:spPr>
          <a:xfrm>
            <a:off x="9884949" y="5168346"/>
            <a:ext cx="60067" cy="600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2183A62-C0F4-428B-92C1-6F5F49860859}"/>
              </a:ext>
            </a:extLst>
          </p:cNvPr>
          <p:cNvSpPr txBox="1"/>
          <p:nvPr/>
        </p:nvSpPr>
        <p:spPr>
          <a:xfrm>
            <a:off x="7987153" y="5160491"/>
            <a:ext cx="94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Réactifs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2FC217D-5C56-4750-B749-7EA2FBFCDE1E}"/>
              </a:ext>
            </a:extLst>
          </p:cNvPr>
          <p:cNvSpPr txBox="1"/>
          <p:nvPr/>
        </p:nvSpPr>
        <p:spPr>
          <a:xfrm>
            <a:off x="8693930" y="4807933"/>
            <a:ext cx="957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2D050"/>
                </a:solidFill>
              </a:rPr>
              <a:t>Substrat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125B0C8-401E-49C3-B66F-93598E3982D6}"/>
              </a:ext>
            </a:extLst>
          </p:cNvPr>
          <p:cNvSpPr txBox="1"/>
          <p:nvPr/>
        </p:nvSpPr>
        <p:spPr>
          <a:xfrm>
            <a:off x="9535588" y="5245679"/>
            <a:ext cx="202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Produit commercial</a:t>
            </a:r>
          </a:p>
        </p:txBody>
      </p:sp>
    </p:spTree>
    <p:extLst>
      <p:ext uri="{BB962C8B-B14F-4D97-AF65-F5344CB8AC3E}">
        <p14:creationId xmlns:p14="http://schemas.microsoft.com/office/powerpoint/2010/main" val="195070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992A1-B201-4358-936F-B81C9AFF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du produit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A4FC667-7E9C-476B-B3FB-04A99A0AA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32" b="17556"/>
          <a:stretch/>
        </p:blipFill>
        <p:spPr>
          <a:xfrm>
            <a:off x="2403421" y="1478207"/>
            <a:ext cx="9245927" cy="469193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B2E59C-E228-4B8A-9F75-42FBE248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A67DD3-7790-40F4-8835-97316262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668FED-63AB-4CFF-818C-C986DBB25ED3}"/>
              </a:ext>
            </a:extLst>
          </p:cNvPr>
          <p:cNvSpPr/>
          <p:nvPr/>
        </p:nvSpPr>
        <p:spPr>
          <a:xfrm>
            <a:off x="8215420" y="1531088"/>
            <a:ext cx="3433927" cy="4132521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35DFBA1-AE86-45DF-8A8B-94B88B61CC57}"/>
              </a:ext>
            </a:extLst>
          </p:cNvPr>
          <p:cNvSpPr/>
          <p:nvPr/>
        </p:nvSpPr>
        <p:spPr>
          <a:xfrm>
            <a:off x="3697690" y="1793289"/>
            <a:ext cx="416247" cy="347116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DCE4C2A-21FD-4901-87F8-252CE5EA3787}"/>
              </a:ext>
            </a:extLst>
          </p:cNvPr>
          <p:cNvSpPr/>
          <p:nvPr/>
        </p:nvSpPr>
        <p:spPr>
          <a:xfrm>
            <a:off x="4255980" y="1793289"/>
            <a:ext cx="630315" cy="2343705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71F51BE-BE4F-40C2-905B-7856CC37B46C}"/>
              </a:ext>
            </a:extLst>
          </p:cNvPr>
          <p:cNvSpPr/>
          <p:nvPr/>
        </p:nvSpPr>
        <p:spPr>
          <a:xfrm>
            <a:off x="7727149" y="1686757"/>
            <a:ext cx="488270" cy="3204839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CD7521-5E05-4858-962D-FFA37469CB04}"/>
              </a:ext>
            </a:extLst>
          </p:cNvPr>
          <p:cNvSpPr txBox="1"/>
          <p:nvPr/>
        </p:nvSpPr>
        <p:spPr>
          <a:xfrm>
            <a:off x="6862406" y="5010461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Liaisons C=C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E71E58-D692-4604-81B0-CA53103320E2}"/>
              </a:ext>
            </a:extLst>
          </p:cNvPr>
          <p:cNvSpPr txBox="1"/>
          <p:nvPr/>
        </p:nvSpPr>
        <p:spPr>
          <a:xfrm>
            <a:off x="4159842" y="4136994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5"/>
                </a:solidFill>
              </a:rPr>
              <a:t>Liaisons C-H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7022AD0-2D00-4D4B-B211-7365132D54EF}"/>
              </a:ext>
            </a:extLst>
          </p:cNvPr>
          <p:cNvSpPr txBox="1"/>
          <p:nvPr/>
        </p:nvSpPr>
        <p:spPr>
          <a:xfrm>
            <a:off x="3295099" y="5254103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Liaisons O-H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FB845B2-E527-4DDA-9E48-4A94FA8BC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82" y="2101112"/>
            <a:ext cx="2049296" cy="31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2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53A0A-76F1-42B7-A8F9-29AB8455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Catégories de réactions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D1681D-AF30-4C0E-821C-7503E8012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 Substitution</a:t>
            </a:r>
            <a:r>
              <a:rPr lang="fr-FR" sz="2800" dirty="0"/>
              <a:t> : atome ou groupe d’atomes remplacé par un autre atome ou groupe d’atomes.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 Addition</a:t>
            </a:r>
            <a:r>
              <a:rPr lang="fr-FR" sz="2800" dirty="0"/>
              <a:t> : atome ou groupes d’atomes ajoutés aux atomes d’une liaison multiple.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 Élimination</a:t>
            </a:r>
            <a:r>
              <a:rPr lang="fr-FR" sz="2800" dirty="0"/>
              <a:t> : atome ou groupe d’atomes portés par des atomes adjacents éliminés pour former une liaison multiple.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987660-0904-40CD-8D3F-E6280DED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1FF686-1B28-43CA-808B-A5EE1994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71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97E1B-5701-4721-8A7A-3FEBE010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Sites donneurs et accepteurs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C8B990-60AF-48B2-B0BF-AB0F71E9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 Site donneur de doublet d’électrons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dirty="0"/>
              <a:t>Atome porteur de doublet non liant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dirty="0"/>
              <a:t>Atome porteur d’une charge négative (potentiellement partielle)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dirty="0"/>
              <a:t>Liaison multiple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 Site accepteur de doublet d’électrons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dirty="0"/>
              <a:t>Atome porteur d’une charge positive (potentiellement partielle)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3823E1-8EA4-4969-9460-8A5D192D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50F78C-499D-4E49-9A88-2CA7CC19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76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C30AB207-BA52-49FD-8984-39E231AF7E8A}"/>
              </a:ext>
            </a:extLst>
          </p:cNvPr>
          <p:cNvSpPr/>
          <p:nvPr/>
        </p:nvSpPr>
        <p:spPr>
          <a:xfrm rot="10800000">
            <a:off x="5853136" y="2779150"/>
            <a:ext cx="905538" cy="924324"/>
          </a:xfrm>
          <a:custGeom>
            <a:avLst/>
            <a:gdLst>
              <a:gd name="connsiteX0" fmla="*/ 905538 w 905538"/>
              <a:gd name="connsiteY0" fmla="*/ 924324 h 924324"/>
              <a:gd name="connsiteX1" fmla="*/ 0 w 905538"/>
              <a:gd name="connsiteY1" fmla="*/ 924324 h 924324"/>
              <a:gd name="connsiteX2" fmla="*/ 0 w 905538"/>
              <a:gd name="connsiteY2" fmla="*/ 557623 h 924324"/>
              <a:gd name="connsiteX3" fmla="*/ 0 w 905538"/>
              <a:gd name="connsiteY3" fmla="*/ 556880 h 924324"/>
              <a:gd name="connsiteX4" fmla="*/ 1045 w 905538"/>
              <a:gd name="connsiteY4" fmla="*/ 556880 h 924324"/>
              <a:gd name="connsiteX5" fmla="*/ 255076 w 905538"/>
              <a:gd name="connsiteY5" fmla="*/ 376281 h 924324"/>
              <a:gd name="connsiteX6" fmla="*/ 253714 w 905538"/>
              <a:gd name="connsiteY6" fmla="*/ 376281 h 924324"/>
              <a:gd name="connsiteX7" fmla="*/ 253714 w 905538"/>
              <a:gd name="connsiteY7" fmla="*/ 0 h 924324"/>
              <a:gd name="connsiteX8" fmla="*/ 651661 w 905538"/>
              <a:gd name="connsiteY8" fmla="*/ 0 h 924324"/>
              <a:gd name="connsiteX9" fmla="*/ 651661 w 905538"/>
              <a:gd name="connsiteY9" fmla="*/ 376281 h 924324"/>
              <a:gd name="connsiteX10" fmla="*/ 649956 w 905538"/>
              <a:gd name="connsiteY10" fmla="*/ 376281 h 924324"/>
              <a:gd name="connsiteX11" fmla="*/ 903987 w 905538"/>
              <a:gd name="connsiteY11" fmla="*/ 556880 h 924324"/>
              <a:gd name="connsiteX12" fmla="*/ 905538 w 905538"/>
              <a:gd name="connsiteY12" fmla="*/ 556880 h 92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05538" h="924324">
                <a:moveTo>
                  <a:pt x="905538" y="924324"/>
                </a:moveTo>
                <a:lnTo>
                  <a:pt x="0" y="924324"/>
                </a:lnTo>
                <a:lnTo>
                  <a:pt x="0" y="557623"/>
                </a:lnTo>
                <a:lnTo>
                  <a:pt x="0" y="556880"/>
                </a:lnTo>
                <a:lnTo>
                  <a:pt x="1045" y="556880"/>
                </a:lnTo>
                <a:lnTo>
                  <a:pt x="255076" y="376281"/>
                </a:lnTo>
                <a:lnTo>
                  <a:pt x="253714" y="376281"/>
                </a:lnTo>
                <a:lnTo>
                  <a:pt x="253714" y="0"/>
                </a:lnTo>
                <a:lnTo>
                  <a:pt x="651661" y="0"/>
                </a:lnTo>
                <a:lnTo>
                  <a:pt x="651661" y="376281"/>
                </a:lnTo>
                <a:lnTo>
                  <a:pt x="649956" y="376281"/>
                </a:lnTo>
                <a:lnTo>
                  <a:pt x="903987" y="556880"/>
                </a:lnTo>
                <a:lnTo>
                  <a:pt x="905538" y="55688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B17B9-8165-4A16-A753-E2FFBFBC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Saponification du salicylate de méthyle</a:t>
            </a:r>
          </a:p>
        </p:txBody>
      </p:sp>
      <p:grpSp>
        <p:nvGrpSpPr>
          <p:cNvPr id="73" name="Grouper 951">
            <a:extLst>
              <a:ext uri="{FF2B5EF4-FFF2-40B4-BE49-F238E27FC236}">
                <a16:creationId xmlns:a16="http://schemas.microsoft.com/office/drawing/2014/main" id="{213F17CE-26EF-45BC-ACC0-F78615F71676}"/>
              </a:ext>
            </a:extLst>
          </p:cNvPr>
          <p:cNvGrpSpPr/>
          <p:nvPr/>
        </p:nvGrpSpPr>
        <p:grpSpPr>
          <a:xfrm>
            <a:off x="1447406" y="3764110"/>
            <a:ext cx="1472880" cy="1378043"/>
            <a:chOff x="0" y="0"/>
            <a:chExt cx="1143000" cy="972185"/>
          </a:xfrm>
        </p:grpSpPr>
        <p:grpSp>
          <p:nvGrpSpPr>
            <p:cNvPr id="74" name="Grouper 952">
              <a:extLst>
                <a:ext uri="{FF2B5EF4-FFF2-40B4-BE49-F238E27FC236}">
                  <a16:creationId xmlns:a16="http://schemas.microsoft.com/office/drawing/2014/main" id="{7BAF91E8-3228-4CD2-9C41-2CB851FFC7BB}"/>
                </a:ext>
              </a:extLst>
            </p:cNvPr>
            <p:cNvGrpSpPr/>
            <p:nvPr/>
          </p:nvGrpSpPr>
          <p:grpSpPr>
            <a:xfrm>
              <a:off x="0" y="226695"/>
              <a:ext cx="1143000" cy="745490"/>
              <a:chOff x="0" y="0"/>
              <a:chExt cx="1143000" cy="74549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24055414-5C9C-4001-93B7-8B74D4FA20A2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74549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FEB5AAB6-EBBC-4973-A8E8-E846CBED428B}"/>
                  </a:ext>
                </a:extLst>
              </p:cNvPr>
              <p:cNvSpPr/>
              <p:nvPr/>
            </p:nvSpPr>
            <p:spPr>
              <a:xfrm>
                <a:off x="114300" y="49657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75" name="Corde 74">
              <a:extLst>
                <a:ext uri="{FF2B5EF4-FFF2-40B4-BE49-F238E27FC236}">
                  <a16:creationId xmlns:a16="http://schemas.microsoft.com/office/drawing/2014/main" id="{D0447A66-5B67-4620-BCF3-80FC9855F7E8}"/>
                </a:ext>
              </a:extLst>
            </p:cNvPr>
            <p:cNvSpPr/>
            <p:nvPr/>
          </p:nvSpPr>
          <p:spPr>
            <a:xfrm rot="17567007">
              <a:off x="227330" y="4445"/>
              <a:ext cx="706120" cy="697230"/>
            </a:xfrm>
            <a:prstGeom prst="chord">
              <a:avLst>
                <a:gd name="adj1" fmla="val 2700000"/>
                <a:gd name="adj2" fmla="val 16236166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78" name="Grouper 1156">
            <a:extLst>
              <a:ext uri="{FF2B5EF4-FFF2-40B4-BE49-F238E27FC236}">
                <a16:creationId xmlns:a16="http://schemas.microsoft.com/office/drawing/2014/main" id="{6A8EA1F7-E5A1-41BE-86FE-CF50C9209771}"/>
              </a:ext>
            </a:extLst>
          </p:cNvPr>
          <p:cNvGrpSpPr/>
          <p:nvPr/>
        </p:nvGrpSpPr>
        <p:grpSpPr>
          <a:xfrm>
            <a:off x="1450679" y="5127751"/>
            <a:ext cx="1490882" cy="1155720"/>
            <a:chOff x="0" y="0"/>
            <a:chExt cx="1156970" cy="81534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F9F3C1-7F26-4ADF-9F11-773D73F1C7C6}"/>
                </a:ext>
              </a:extLst>
            </p:cNvPr>
            <p:cNvSpPr/>
            <p:nvPr/>
          </p:nvSpPr>
          <p:spPr>
            <a:xfrm>
              <a:off x="0" y="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AE773A4-2693-477A-957D-8A59B7933075}"/>
                </a:ext>
              </a:extLst>
            </p:cNvPr>
            <p:cNvSpPr/>
            <p:nvPr/>
          </p:nvSpPr>
          <p:spPr>
            <a:xfrm>
              <a:off x="13970" y="71501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id="{218A8CC0-A6F8-4F43-A7D3-5524ABF749D8}"/>
                </a:ext>
              </a:extLst>
            </p:cNvPr>
            <p:cNvCxnSpPr/>
            <p:nvPr/>
          </p:nvCxnSpPr>
          <p:spPr>
            <a:xfrm>
              <a:off x="113665" y="1003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2CE48FC9-EFB7-46D8-9FBD-84E2496036F6}"/>
                </a:ext>
              </a:extLst>
            </p:cNvPr>
            <p:cNvCxnSpPr/>
            <p:nvPr/>
          </p:nvCxnSpPr>
          <p:spPr>
            <a:xfrm flipH="1">
              <a:off x="113665" y="100330"/>
              <a:ext cx="924862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0F5C3A6C-94B6-48A3-938D-E5CC3504DE47}"/>
                </a:ext>
              </a:extLst>
            </p:cNvPr>
            <p:cNvCxnSpPr/>
            <p:nvPr/>
          </p:nvCxnSpPr>
          <p:spPr>
            <a:xfrm>
              <a:off x="113665" y="4051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5D6F8C71-5347-482F-8042-BA488C98C6BA}"/>
                </a:ext>
              </a:extLst>
            </p:cNvPr>
            <p:cNvCxnSpPr/>
            <p:nvPr/>
          </p:nvCxnSpPr>
          <p:spPr>
            <a:xfrm flipH="1">
              <a:off x="113665" y="405130"/>
              <a:ext cx="924560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er 1287">
            <a:extLst>
              <a:ext uri="{FF2B5EF4-FFF2-40B4-BE49-F238E27FC236}">
                <a16:creationId xmlns:a16="http://schemas.microsoft.com/office/drawing/2014/main" id="{5A6879CE-4D28-40ED-AD33-8D1835F40E01}"/>
              </a:ext>
            </a:extLst>
          </p:cNvPr>
          <p:cNvGrpSpPr/>
          <p:nvPr/>
        </p:nvGrpSpPr>
        <p:grpSpPr>
          <a:xfrm>
            <a:off x="1653609" y="3505783"/>
            <a:ext cx="985193" cy="1252030"/>
            <a:chOff x="0" y="0"/>
            <a:chExt cx="764540" cy="883285"/>
          </a:xfrm>
        </p:grpSpPr>
        <p:grpSp>
          <p:nvGrpSpPr>
            <p:cNvPr id="86" name="Grouper 1286">
              <a:extLst>
                <a:ext uri="{FF2B5EF4-FFF2-40B4-BE49-F238E27FC236}">
                  <a16:creationId xmlns:a16="http://schemas.microsoft.com/office/drawing/2014/main" id="{EABB1156-2F6D-4DF7-94AC-CAEBFD797303}"/>
                </a:ext>
              </a:extLst>
            </p:cNvPr>
            <p:cNvGrpSpPr/>
            <p:nvPr/>
          </p:nvGrpSpPr>
          <p:grpSpPr>
            <a:xfrm>
              <a:off x="71120" y="0"/>
              <a:ext cx="693420" cy="883285"/>
              <a:chOff x="0" y="0"/>
              <a:chExt cx="693420" cy="883285"/>
            </a:xfrm>
          </p:grpSpPr>
          <p:grpSp>
            <p:nvGrpSpPr>
              <p:cNvPr id="91" name="Grouper 1231">
                <a:extLst>
                  <a:ext uri="{FF2B5EF4-FFF2-40B4-BE49-F238E27FC236}">
                    <a16:creationId xmlns:a16="http://schemas.microsoft.com/office/drawing/2014/main" id="{E3336366-E5E2-4BB8-B55E-58E19F1F9811}"/>
                  </a:ext>
                </a:extLst>
              </p:cNvPr>
              <p:cNvGrpSpPr/>
              <p:nvPr/>
            </p:nvGrpSpPr>
            <p:grpSpPr>
              <a:xfrm>
                <a:off x="0" y="0"/>
                <a:ext cx="693420" cy="883285"/>
                <a:chOff x="0" y="0"/>
                <a:chExt cx="693420" cy="883285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2FB2C02E-84D5-4C1A-BD32-ABC08926E155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0F502E95-7E76-499D-B375-2022B4F0FCD2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21" name="Ellipse 120">
                  <a:extLst>
                    <a:ext uri="{FF2B5EF4-FFF2-40B4-BE49-F238E27FC236}">
                      <a16:creationId xmlns:a16="http://schemas.microsoft.com/office/drawing/2014/main" id="{9B94DA5B-9623-4BA3-8400-51B916E4D61F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D368707-A0CD-4CEF-92BA-D28B95FAD6CB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9F29B41D-C9FC-4066-AE19-C47AAC3779F7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92" name="Grouper 1285">
                <a:extLst>
                  <a:ext uri="{FF2B5EF4-FFF2-40B4-BE49-F238E27FC236}">
                    <a16:creationId xmlns:a16="http://schemas.microsoft.com/office/drawing/2014/main" id="{D27620E7-ABC7-430F-ABD3-BF44A728B623}"/>
                  </a:ext>
                </a:extLst>
              </p:cNvPr>
              <p:cNvGrpSpPr/>
              <p:nvPr/>
            </p:nvGrpSpPr>
            <p:grpSpPr>
              <a:xfrm>
                <a:off x="0" y="189230"/>
                <a:ext cx="693420" cy="693420"/>
                <a:chOff x="0" y="0"/>
                <a:chExt cx="693420" cy="693420"/>
              </a:xfrm>
            </p:grpSpPr>
            <p:sp>
              <p:nvSpPr>
                <p:cNvPr id="93" name="Corde 92">
                  <a:extLst>
                    <a:ext uri="{FF2B5EF4-FFF2-40B4-BE49-F238E27FC236}">
                      <a16:creationId xmlns:a16="http://schemas.microsoft.com/office/drawing/2014/main" id="{D906A62B-03A9-49DC-A92C-83C3B5E1FD46}"/>
                    </a:ext>
                  </a:extLst>
                </p:cNvPr>
                <p:cNvSpPr/>
                <p:nvPr/>
              </p:nvSpPr>
              <p:spPr>
                <a:xfrm rot="17560116">
                  <a:off x="0" y="0"/>
                  <a:ext cx="693420" cy="693420"/>
                </a:xfrm>
                <a:prstGeom prst="chord">
                  <a:avLst>
                    <a:gd name="adj1" fmla="val 4447445"/>
                    <a:gd name="adj2" fmla="val 14321630"/>
                  </a:avLst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94" name="Grouper 1119">
                  <a:extLst>
                    <a:ext uri="{FF2B5EF4-FFF2-40B4-BE49-F238E27FC236}">
                      <a16:creationId xmlns:a16="http://schemas.microsoft.com/office/drawing/2014/main" id="{7E6BE0AF-5C69-485A-88A0-94F07B25A5C7}"/>
                    </a:ext>
                  </a:extLst>
                </p:cNvPr>
                <p:cNvGrpSpPr/>
                <p:nvPr/>
              </p:nvGrpSpPr>
              <p:grpSpPr>
                <a:xfrm>
                  <a:off x="150495" y="434341"/>
                  <a:ext cx="410210" cy="220343"/>
                  <a:chOff x="0" y="1"/>
                  <a:chExt cx="410210" cy="220343"/>
                </a:xfrm>
              </p:grpSpPr>
              <p:grpSp>
                <p:nvGrpSpPr>
                  <p:cNvPr id="95" name="Grouper 1121">
                    <a:extLst>
                      <a:ext uri="{FF2B5EF4-FFF2-40B4-BE49-F238E27FC236}">
                        <a16:creationId xmlns:a16="http://schemas.microsoft.com/office/drawing/2014/main" id="{DA211CF2-B3A9-4132-AA3A-B49330A77E13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4322" y="1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12" name="Ellipse 111">
                      <a:extLst>
                        <a:ext uri="{FF2B5EF4-FFF2-40B4-BE49-F238E27FC236}">
                          <a16:creationId xmlns:a16="http://schemas.microsoft.com/office/drawing/2014/main" id="{394387A7-2A19-4444-A5BB-6D1E8B6CAF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3" name="Ellipse 112">
                      <a:extLst>
                        <a:ext uri="{FF2B5EF4-FFF2-40B4-BE49-F238E27FC236}">
                          <a16:creationId xmlns:a16="http://schemas.microsoft.com/office/drawing/2014/main" id="{A7833537-0331-4106-BED6-9D1604C16C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4" name="Ellipse 113">
                      <a:extLst>
                        <a:ext uri="{FF2B5EF4-FFF2-40B4-BE49-F238E27FC236}">
                          <a16:creationId xmlns:a16="http://schemas.microsoft.com/office/drawing/2014/main" id="{59EA77F2-BB87-49AF-9FB3-CD5B57B2E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5" name="Ellipse 114">
                      <a:extLst>
                        <a:ext uri="{FF2B5EF4-FFF2-40B4-BE49-F238E27FC236}">
                          <a16:creationId xmlns:a16="http://schemas.microsoft.com/office/drawing/2014/main" id="{C9DF3655-0610-4C32-8C4F-651638B12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6" name="Ellipse 115">
                      <a:extLst>
                        <a:ext uri="{FF2B5EF4-FFF2-40B4-BE49-F238E27FC236}">
                          <a16:creationId xmlns:a16="http://schemas.microsoft.com/office/drawing/2014/main" id="{FA7B273A-E06F-4AFC-9458-D559646CA5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7" name="Ellipse 116">
                      <a:extLst>
                        <a:ext uri="{FF2B5EF4-FFF2-40B4-BE49-F238E27FC236}">
                          <a16:creationId xmlns:a16="http://schemas.microsoft.com/office/drawing/2014/main" id="{9FEB9824-3FFB-4620-8A78-E7042E05A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8" name="Ellipse 117">
                      <a:extLst>
                        <a:ext uri="{FF2B5EF4-FFF2-40B4-BE49-F238E27FC236}">
                          <a16:creationId xmlns:a16="http://schemas.microsoft.com/office/drawing/2014/main" id="{B99F2CE5-89E0-4595-8404-7397BD910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96" name="Grouper 1129">
                    <a:extLst>
                      <a:ext uri="{FF2B5EF4-FFF2-40B4-BE49-F238E27FC236}">
                        <a16:creationId xmlns:a16="http://schemas.microsoft.com/office/drawing/2014/main" id="{C77411ED-DF71-4E6E-94B0-04187C9DEA0D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36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05" name="Ellipse 104">
                      <a:extLst>
                        <a:ext uri="{FF2B5EF4-FFF2-40B4-BE49-F238E27FC236}">
                          <a16:creationId xmlns:a16="http://schemas.microsoft.com/office/drawing/2014/main" id="{681B4B85-3DFC-4F50-9EE0-181D76DEC1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6" name="Ellipse 105">
                      <a:extLst>
                        <a:ext uri="{FF2B5EF4-FFF2-40B4-BE49-F238E27FC236}">
                          <a16:creationId xmlns:a16="http://schemas.microsoft.com/office/drawing/2014/main" id="{6466B40B-3BB7-42F3-AED3-249AC22D5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7" name="Ellipse 106">
                      <a:extLst>
                        <a:ext uri="{FF2B5EF4-FFF2-40B4-BE49-F238E27FC236}">
                          <a16:creationId xmlns:a16="http://schemas.microsoft.com/office/drawing/2014/main" id="{7228FB97-2168-48DA-A97D-75A9EC4216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8" name="Ellipse 107">
                      <a:extLst>
                        <a:ext uri="{FF2B5EF4-FFF2-40B4-BE49-F238E27FC236}">
                          <a16:creationId xmlns:a16="http://schemas.microsoft.com/office/drawing/2014/main" id="{9D1A2688-293A-4FE7-8AA9-434A7B6D1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9" name="Ellipse 108">
                      <a:extLst>
                        <a:ext uri="{FF2B5EF4-FFF2-40B4-BE49-F238E27FC236}">
                          <a16:creationId xmlns:a16="http://schemas.microsoft.com/office/drawing/2014/main" id="{100BCB84-E815-440E-A267-B381E9A1B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0" name="Ellipse 109">
                      <a:extLst>
                        <a:ext uri="{FF2B5EF4-FFF2-40B4-BE49-F238E27FC236}">
                          <a16:creationId xmlns:a16="http://schemas.microsoft.com/office/drawing/2014/main" id="{282ACA60-AB64-4616-B58F-E6EB6D1B70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1" name="Ellipse 110">
                      <a:extLst>
                        <a:ext uri="{FF2B5EF4-FFF2-40B4-BE49-F238E27FC236}">
                          <a16:creationId xmlns:a16="http://schemas.microsoft.com/office/drawing/2014/main" id="{8EC769B1-9096-4516-8060-F5B1060287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97" name="Grouper 1137">
                    <a:extLst>
                      <a:ext uri="{FF2B5EF4-FFF2-40B4-BE49-F238E27FC236}">
                        <a16:creationId xmlns:a16="http://schemas.microsoft.com/office/drawing/2014/main" id="{0D0E3478-C9F8-401D-A441-69ABBF2F4F8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139065" y="16504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98" name="Ellipse 97">
                      <a:extLst>
                        <a:ext uri="{FF2B5EF4-FFF2-40B4-BE49-F238E27FC236}">
                          <a16:creationId xmlns:a16="http://schemas.microsoft.com/office/drawing/2014/main" id="{37B953E1-D177-4176-AF55-8F957690E7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99" name="Ellipse 98">
                      <a:extLst>
                        <a:ext uri="{FF2B5EF4-FFF2-40B4-BE49-F238E27FC236}">
                          <a16:creationId xmlns:a16="http://schemas.microsoft.com/office/drawing/2014/main" id="{00AA3AE6-81AE-4FC0-A397-12AE3E49D1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0" name="Ellipse 99">
                      <a:extLst>
                        <a:ext uri="{FF2B5EF4-FFF2-40B4-BE49-F238E27FC236}">
                          <a16:creationId xmlns:a16="http://schemas.microsoft.com/office/drawing/2014/main" id="{1B7D47DA-858C-4FDA-8F15-0A960C917A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1" name="Ellipse 100">
                      <a:extLst>
                        <a:ext uri="{FF2B5EF4-FFF2-40B4-BE49-F238E27FC236}">
                          <a16:creationId xmlns:a16="http://schemas.microsoft.com/office/drawing/2014/main" id="{D947F364-4AD7-4457-8675-678D6C8DC1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" name="Ellipse 101">
                      <a:extLst>
                        <a:ext uri="{FF2B5EF4-FFF2-40B4-BE49-F238E27FC236}">
                          <a16:creationId xmlns:a16="http://schemas.microsoft.com/office/drawing/2014/main" id="{A5A355FC-7B81-46BE-9391-48C15437F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3" name="Ellipse 102">
                      <a:extLst>
                        <a:ext uri="{FF2B5EF4-FFF2-40B4-BE49-F238E27FC236}">
                          <a16:creationId xmlns:a16="http://schemas.microsoft.com/office/drawing/2014/main" id="{EFC0A8A6-19AF-46B1-B581-D21060A076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4" name="Ellipse 103">
                      <a:extLst>
                        <a:ext uri="{FF2B5EF4-FFF2-40B4-BE49-F238E27FC236}">
                          <a16:creationId xmlns:a16="http://schemas.microsoft.com/office/drawing/2014/main" id="{1EF80D12-7536-447F-9E41-329209BAF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</p:grpSp>
        </p:grp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AE2948FA-6F70-41C2-97A7-FCD2AA675254}"/>
                </a:ext>
              </a:extLst>
            </p:cNvPr>
            <p:cNvSpPr/>
            <p:nvPr/>
          </p:nvSpPr>
          <p:spPr>
            <a:xfrm>
              <a:off x="338455" y="800100"/>
              <a:ext cx="146050" cy="755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88" name="Grouper 1282">
              <a:extLst>
                <a:ext uri="{FF2B5EF4-FFF2-40B4-BE49-F238E27FC236}">
                  <a16:creationId xmlns:a16="http://schemas.microsoft.com/office/drawing/2014/main" id="{BA4A6044-BA77-46D6-B4CD-6FE3959C1C57}"/>
                </a:ext>
              </a:extLst>
            </p:cNvPr>
            <p:cNvGrpSpPr/>
            <p:nvPr/>
          </p:nvGrpSpPr>
          <p:grpSpPr>
            <a:xfrm rot="19859595">
              <a:off x="0" y="89535"/>
              <a:ext cx="219710" cy="161925"/>
              <a:chOff x="0" y="0"/>
              <a:chExt cx="219710" cy="161925"/>
            </a:xfrm>
            <a:solidFill>
              <a:schemeClr val="bg1">
                <a:lumMod val="85000"/>
              </a:schemeClr>
            </a:solidFill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241F5DB-0A78-44DB-AD24-474724E91FD4}"/>
                  </a:ext>
                </a:extLst>
              </p:cNvPr>
              <p:cNvSpPr/>
              <p:nvPr/>
            </p:nvSpPr>
            <p:spPr>
              <a:xfrm>
                <a:off x="45720" y="45720"/>
                <a:ext cx="134620" cy="11620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DDC31AB-E4E5-4537-83B1-D4518300542C}"/>
                  </a:ext>
                </a:extLst>
              </p:cNvPr>
              <p:cNvSpPr/>
              <p:nvPr/>
            </p:nvSpPr>
            <p:spPr>
              <a:xfrm>
                <a:off x="0" y="0"/>
                <a:ext cx="219710" cy="450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126" name="Flèche : droite 125">
            <a:extLst>
              <a:ext uri="{FF2B5EF4-FFF2-40B4-BE49-F238E27FC236}">
                <a16:creationId xmlns:a16="http://schemas.microsoft.com/office/drawing/2014/main" id="{47B97255-7D26-46FF-970B-34AC8AB0399F}"/>
              </a:ext>
            </a:extLst>
          </p:cNvPr>
          <p:cNvSpPr/>
          <p:nvPr/>
        </p:nvSpPr>
        <p:spPr>
          <a:xfrm>
            <a:off x="3398826" y="4555772"/>
            <a:ext cx="2038190" cy="233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BE408CC-459C-4A76-9374-2F2A879E6097}"/>
              </a:ext>
            </a:extLst>
          </p:cNvPr>
          <p:cNvSpPr/>
          <p:nvPr/>
        </p:nvSpPr>
        <p:spPr>
          <a:xfrm>
            <a:off x="5977019" y="3497314"/>
            <a:ext cx="660319" cy="6683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Forme libre : forme 138">
            <a:extLst>
              <a:ext uri="{FF2B5EF4-FFF2-40B4-BE49-F238E27FC236}">
                <a16:creationId xmlns:a16="http://schemas.microsoft.com/office/drawing/2014/main" id="{D9DD2BE6-CA65-4B00-BE37-67E710384D95}"/>
              </a:ext>
            </a:extLst>
          </p:cNvPr>
          <p:cNvSpPr/>
          <p:nvPr/>
        </p:nvSpPr>
        <p:spPr>
          <a:xfrm>
            <a:off x="5569056" y="5348978"/>
            <a:ext cx="1473698" cy="853052"/>
          </a:xfrm>
          <a:custGeom>
            <a:avLst/>
            <a:gdLst>
              <a:gd name="connsiteX0" fmla="*/ 126833 w 1473698"/>
              <a:gd name="connsiteY0" fmla="*/ 0 h 853052"/>
              <a:gd name="connsiteX1" fmla="*/ 1346866 w 1473698"/>
              <a:gd name="connsiteY1" fmla="*/ 0 h 853052"/>
              <a:gd name="connsiteX2" fmla="*/ 1473698 w 1473698"/>
              <a:gd name="connsiteY2" fmla="*/ 507330 h 853052"/>
              <a:gd name="connsiteX3" fmla="*/ 1473698 w 1473698"/>
              <a:gd name="connsiteY3" fmla="*/ 795431 h 853052"/>
              <a:gd name="connsiteX4" fmla="*/ 1416077 w 1473698"/>
              <a:gd name="connsiteY4" fmla="*/ 853052 h 853052"/>
              <a:gd name="connsiteX5" fmla="*/ 58436 w 1473698"/>
              <a:gd name="connsiteY5" fmla="*/ 853052 h 853052"/>
              <a:gd name="connsiteX6" fmla="*/ 815 w 1473698"/>
              <a:gd name="connsiteY6" fmla="*/ 795431 h 853052"/>
              <a:gd name="connsiteX7" fmla="*/ 815 w 1473698"/>
              <a:gd name="connsiteY7" fmla="*/ 507330 h 853052"/>
              <a:gd name="connsiteX8" fmla="*/ 0 w 1473698"/>
              <a:gd name="connsiteY8" fmla="*/ 507330 h 85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698" h="853052">
                <a:moveTo>
                  <a:pt x="126833" y="0"/>
                </a:moveTo>
                <a:lnTo>
                  <a:pt x="1346866" y="0"/>
                </a:lnTo>
                <a:lnTo>
                  <a:pt x="1473698" y="507330"/>
                </a:lnTo>
                <a:lnTo>
                  <a:pt x="1473698" y="795431"/>
                </a:lnTo>
                <a:cubicBezTo>
                  <a:pt x="1473698" y="827254"/>
                  <a:pt x="1447900" y="853052"/>
                  <a:pt x="1416077" y="853052"/>
                </a:cubicBezTo>
                <a:lnTo>
                  <a:pt x="58436" y="853052"/>
                </a:lnTo>
                <a:cubicBezTo>
                  <a:pt x="26613" y="853052"/>
                  <a:pt x="815" y="827254"/>
                  <a:pt x="815" y="795431"/>
                </a:cubicBezTo>
                <a:lnTo>
                  <a:pt x="815" y="507330"/>
                </a:lnTo>
                <a:lnTo>
                  <a:pt x="0" y="5073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Forme libre : forme 134">
            <a:extLst>
              <a:ext uri="{FF2B5EF4-FFF2-40B4-BE49-F238E27FC236}">
                <a16:creationId xmlns:a16="http://schemas.microsoft.com/office/drawing/2014/main" id="{6E6AB4F6-364C-4808-8576-620A8B899E63}"/>
              </a:ext>
            </a:extLst>
          </p:cNvPr>
          <p:cNvSpPr/>
          <p:nvPr/>
        </p:nvSpPr>
        <p:spPr>
          <a:xfrm rot="10800000">
            <a:off x="5569876" y="3497314"/>
            <a:ext cx="1472882" cy="2704716"/>
          </a:xfrm>
          <a:custGeom>
            <a:avLst/>
            <a:gdLst>
              <a:gd name="connsiteX0" fmla="*/ 1067408 w 1472882"/>
              <a:gd name="connsiteY0" fmla="*/ 2704716 h 2704716"/>
              <a:gd name="connsiteX1" fmla="*/ 405420 w 1472882"/>
              <a:gd name="connsiteY1" fmla="*/ 2704716 h 2704716"/>
              <a:gd name="connsiteX2" fmla="*/ 405420 w 1472882"/>
              <a:gd name="connsiteY2" fmla="*/ 2029470 h 2704716"/>
              <a:gd name="connsiteX3" fmla="*/ 0 w 1472882"/>
              <a:gd name="connsiteY3" fmla="*/ 345721 h 2704716"/>
              <a:gd name="connsiteX4" fmla="*/ 3 w 1472882"/>
              <a:gd name="connsiteY4" fmla="*/ 345721 h 2704716"/>
              <a:gd name="connsiteX5" fmla="*/ 3 w 1472882"/>
              <a:gd name="connsiteY5" fmla="*/ 57622 h 2704716"/>
              <a:gd name="connsiteX6" fmla="*/ 57625 w 1472882"/>
              <a:gd name="connsiteY6" fmla="*/ 0 h 2704716"/>
              <a:gd name="connsiteX7" fmla="*/ 1415260 w 1472882"/>
              <a:gd name="connsiteY7" fmla="*/ 0 h 2704716"/>
              <a:gd name="connsiteX8" fmla="*/ 1472882 w 1472882"/>
              <a:gd name="connsiteY8" fmla="*/ 57622 h 2704716"/>
              <a:gd name="connsiteX9" fmla="*/ 1472882 w 1472882"/>
              <a:gd name="connsiteY9" fmla="*/ 345723 h 2704716"/>
              <a:gd name="connsiteX10" fmla="*/ 1472880 w 1472882"/>
              <a:gd name="connsiteY10" fmla="*/ 345723 h 2704716"/>
              <a:gd name="connsiteX11" fmla="*/ 1067408 w 1472882"/>
              <a:gd name="connsiteY11" fmla="*/ 2029686 h 270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882" h="2704716">
                <a:moveTo>
                  <a:pt x="1067408" y="2704716"/>
                </a:moveTo>
                <a:lnTo>
                  <a:pt x="405420" y="2704716"/>
                </a:lnTo>
                <a:lnTo>
                  <a:pt x="405420" y="2029470"/>
                </a:lnTo>
                <a:lnTo>
                  <a:pt x="0" y="345721"/>
                </a:lnTo>
                <a:lnTo>
                  <a:pt x="3" y="345721"/>
                </a:lnTo>
                <a:lnTo>
                  <a:pt x="3" y="57622"/>
                </a:lnTo>
                <a:cubicBezTo>
                  <a:pt x="3" y="25798"/>
                  <a:pt x="25801" y="0"/>
                  <a:pt x="57625" y="0"/>
                </a:cubicBezTo>
                <a:lnTo>
                  <a:pt x="1415260" y="0"/>
                </a:lnTo>
                <a:cubicBezTo>
                  <a:pt x="1447084" y="0"/>
                  <a:pt x="1472882" y="25798"/>
                  <a:pt x="1472882" y="57622"/>
                </a:cubicBezTo>
                <a:lnTo>
                  <a:pt x="1472882" y="345723"/>
                </a:lnTo>
                <a:lnTo>
                  <a:pt x="1472880" y="345723"/>
                </a:lnTo>
                <a:lnTo>
                  <a:pt x="1067408" y="202968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AECF9ADB-46E2-4838-8B53-9AB6B5805AF3}"/>
              </a:ext>
            </a:extLst>
          </p:cNvPr>
          <p:cNvSpPr txBox="1"/>
          <p:nvPr/>
        </p:nvSpPr>
        <p:spPr>
          <a:xfrm>
            <a:off x="4246032" y="5371033"/>
            <a:ext cx="193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Essorage Buchner</a:t>
            </a:r>
          </a:p>
        </p:txBody>
      </p:sp>
      <p:grpSp>
        <p:nvGrpSpPr>
          <p:cNvPr id="130" name="Grouper 951">
            <a:extLst>
              <a:ext uri="{FF2B5EF4-FFF2-40B4-BE49-F238E27FC236}">
                <a16:creationId xmlns:a16="http://schemas.microsoft.com/office/drawing/2014/main" id="{BC57C7B2-915F-4967-966D-F48C0CF19D67}"/>
              </a:ext>
            </a:extLst>
          </p:cNvPr>
          <p:cNvGrpSpPr/>
          <p:nvPr/>
        </p:nvGrpSpPr>
        <p:grpSpPr>
          <a:xfrm>
            <a:off x="9134270" y="3764110"/>
            <a:ext cx="1472880" cy="1378043"/>
            <a:chOff x="0" y="0"/>
            <a:chExt cx="1143000" cy="972185"/>
          </a:xfrm>
        </p:grpSpPr>
        <p:grpSp>
          <p:nvGrpSpPr>
            <p:cNvPr id="131" name="Grouper 952">
              <a:extLst>
                <a:ext uri="{FF2B5EF4-FFF2-40B4-BE49-F238E27FC236}">
                  <a16:creationId xmlns:a16="http://schemas.microsoft.com/office/drawing/2014/main" id="{F982E44D-039D-428F-B84B-EE0555F974D6}"/>
                </a:ext>
              </a:extLst>
            </p:cNvPr>
            <p:cNvGrpSpPr/>
            <p:nvPr/>
          </p:nvGrpSpPr>
          <p:grpSpPr>
            <a:xfrm>
              <a:off x="0" y="226695"/>
              <a:ext cx="1143000" cy="745490"/>
              <a:chOff x="0" y="0"/>
              <a:chExt cx="1143000" cy="745490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EAA0F12-E5DC-4BDE-9978-797BD5C379D2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74549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34" name="Ellipse 133">
                <a:extLst>
                  <a:ext uri="{FF2B5EF4-FFF2-40B4-BE49-F238E27FC236}">
                    <a16:creationId xmlns:a16="http://schemas.microsoft.com/office/drawing/2014/main" id="{8254994C-5B94-48B1-AB01-635A619B2F52}"/>
                  </a:ext>
                </a:extLst>
              </p:cNvPr>
              <p:cNvSpPr/>
              <p:nvPr/>
            </p:nvSpPr>
            <p:spPr>
              <a:xfrm>
                <a:off x="114300" y="49657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32" name="Corde 131">
              <a:extLst>
                <a:ext uri="{FF2B5EF4-FFF2-40B4-BE49-F238E27FC236}">
                  <a16:creationId xmlns:a16="http://schemas.microsoft.com/office/drawing/2014/main" id="{9D5B50D7-71A8-465A-9034-65D3A383E922}"/>
                </a:ext>
              </a:extLst>
            </p:cNvPr>
            <p:cNvSpPr/>
            <p:nvPr/>
          </p:nvSpPr>
          <p:spPr>
            <a:xfrm rot="17567007">
              <a:off x="227330" y="4445"/>
              <a:ext cx="706120" cy="697230"/>
            </a:xfrm>
            <a:prstGeom prst="chord">
              <a:avLst>
                <a:gd name="adj1" fmla="val 2700000"/>
                <a:gd name="adj2" fmla="val 16236166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37" name="Grouper 1156">
            <a:extLst>
              <a:ext uri="{FF2B5EF4-FFF2-40B4-BE49-F238E27FC236}">
                <a16:creationId xmlns:a16="http://schemas.microsoft.com/office/drawing/2014/main" id="{ACCAB5F4-092E-44F6-8962-3A880A371F9F}"/>
              </a:ext>
            </a:extLst>
          </p:cNvPr>
          <p:cNvGrpSpPr/>
          <p:nvPr/>
        </p:nvGrpSpPr>
        <p:grpSpPr>
          <a:xfrm>
            <a:off x="9137543" y="5127751"/>
            <a:ext cx="1490882" cy="1155720"/>
            <a:chOff x="0" y="0"/>
            <a:chExt cx="1156970" cy="81534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36E4AC5-A01E-4252-AE8C-DB2F9254DA6C}"/>
                </a:ext>
              </a:extLst>
            </p:cNvPr>
            <p:cNvSpPr/>
            <p:nvPr/>
          </p:nvSpPr>
          <p:spPr>
            <a:xfrm>
              <a:off x="0" y="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EC775F5-0720-4B6A-B36A-7BBFE9D2769C}"/>
                </a:ext>
              </a:extLst>
            </p:cNvPr>
            <p:cNvSpPr/>
            <p:nvPr/>
          </p:nvSpPr>
          <p:spPr>
            <a:xfrm>
              <a:off x="13970" y="715010"/>
              <a:ext cx="1143000" cy="10033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cxnSp>
          <p:nvCxnSpPr>
            <p:cNvPr id="141" name="Connecteur droit 140">
              <a:extLst>
                <a:ext uri="{FF2B5EF4-FFF2-40B4-BE49-F238E27FC236}">
                  <a16:creationId xmlns:a16="http://schemas.microsoft.com/office/drawing/2014/main" id="{7EC82D27-6160-4E58-93B5-C558B7CB623E}"/>
                </a:ext>
              </a:extLst>
            </p:cNvPr>
            <p:cNvCxnSpPr/>
            <p:nvPr/>
          </p:nvCxnSpPr>
          <p:spPr>
            <a:xfrm>
              <a:off x="113665" y="1003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eur droit 141">
              <a:extLst>
                <a:ext uri="{FF2B5EF4-FFF2-40B4-BE49-F238E27FC236}">
                  <a16:creationId xmlns:a16="http://schemas.microsoft.com/office/drawing/2014/main" id="{0FB970B0-2B27-4F64-AFB6-04FD611CF450}"/>
                </a:ext>
              </a:extLst>
            </p:cNvPr>
            <p:cNvCxnSpPr/>
            <p:nvPr/>
          </p:nvCxnSpPr>
          <p:spPr>
            <a:xfrm flipH="1">
              <a:off x="113665" y="100330"/>
              <a:ext cx="924862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eur droit 142">
              <a:extLst>
                <a:ext uri="{FF2B5EF4-FFF2-40B4-BE49-F238E27FC236}">
                  <a16:creationId xmlns:a16="http://schemas.microsoft.com/office/drawing/2014/main" id="{C7D5D105-3FF9-4CD8-BFE7-8BC2C0613182}"/>
                </a:ext>
              </a:extLst>
            </p:cNvPr>
            <p:cNvCxnSpPr/>
            <p:nvPr/>
          </p:nvCxnSpPr>
          <p:spPr>
            <a:xfrm>
              <a:off x="113665" y="405130"/>
              <a:ext cx="924227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eur droit 143">
              <a:extLst>
                <a:ext uri="{FF2B5EF4-FFF2-40B4-BE49-F238E27FC236}">
                  <a16:creationId xmlns:a16="http://schemas.microsoft.com/office/drawing/2014/main" id="{0AD9D2BF-05C3-481E-B11F-7D73BD6847B0}"/>
                </a:ext>
              </a:extLst>
            </p:cNvPr>
            <p:cNvCxnSpPr/>
            <p:nvPr/>
          </p:nvCxnSpPr>
          <p:spPr>
            <a:xfrm flipH="1">
              <a:off x="113665" y="405130"/>
              <a:ext cx="924560" cy="30480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er 1287">
            <a:extLst>
              <a:ext uri="{FF2B5EF4-FFF2-40B4-BE49-F238E27FC236}">
                <a16:creationId xmlns:a16="http://schemas.microsoft.com/office/drawing/2014/main" id="{35276BD7-5696-4733-AA0A-6E37A472EDD9}"/>
              </a:ext>
            </a:extLst>
          </p:cNvPr>
          <p:cNvGrpSpPr/>
          <p:nvPr/>
        </p:nvGrpSpPr>
        <p:grpSpPr>
          <a:xfrm>
            <a:off x="9432118" y="3505783"/>
            <a:ext cx="893548" cy="1252030"/>
            <a:chOff x="71120" y="0"/>
            <a:chExt cx="693420" cy="883285"/>
          </a:xfrm>
        </p:grpSpPr>
        <p:grpSp>
          <p:nvGrpSpPr>
            <p:cNvPr id="148" name="Grouper 1286">
              <a:extLst>
                <a:ext uri="{FF2B5EF4-FFF2-40B4-BE49-F238E27FC236}">
                  <a16:creationId xmlns:a16="http://schemas.microsoft.com/office/drawing/2014/main" id="{4322E705-CB8C-46C4-9B7E-C2FCC6C7CFCE}"/>
                </a:ext>
              </a:extLst>
            </p:cNvPr>
            <p:cNvGrpSpPr/>
            <p:nvPr/>
          </p:nvGrpSpPr>
          <p:grpSpPr>
            <a:xfrm>
              <a:off x="71120" y="0"/>
              <a:ext cx="693420" cy="883285"/>
              <a:chOff x="0" y="0"/>
              <a:chExt cx="693420" cy="883285"/>
            </a:xfrm>
          </p:grpSpPr>
          <p:grpSp>
            <p:nvGrpSpPr>
              <p:cNvPr id="153" name="Grouper 1231">
                <a:extLst>
                  <a:ext uri="{FF2B5EF4-FFF2-40B4-BE49-F238E27FC236}">
                    <a16:creationId xmlns:a16="http://schemas.microsoft.com/office/drawing/2014/main" id="{614A32DA-53F0-4616-B26B-52D6C5672DE6}"/>
                  </a:ext>
                </a:extLst>
              </p:cNvPr>
              <p:cNvGrpSpPr/>
              <p:nvPr/>
            </p:nvGrpSpPr>
            <p:grpSpPr>
              <a:xfrm>
                <a:off x="0" y="0"/>
                <a:ext cx="693420" cy="883285"/>
                <a:chOff x="0" y="0"/>
                <a:chExt cx="693420" cy="883285"/>
              </a:xfrm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6D413BC0-D865-4DA6-BE2B-E4F64D17827A}"/>
                    </a:ext>
                  </a:extLst>
                </p:cNvPr>
                <p:cNvSpPr/>
                <p:nvPr/>
              </p:nvSpPr>
              <p:spPr>
                <a:xfrm rot="19775393">
                  <a:off x="28575" y="14859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01E143DA-3385-41F9-9F2C-764E852E660A}"/>
                    </a:ext>
                  </a:extLst>
                </p:cNvPr>
                <p:cNvSpPr/>
                <p:nvPr/>
              </p:nvSpPr>
              <p:spPr>
                <a:xfrm>
                  <a:off x="272415" y="12700"/>
                  <a:ext cx="152400" cy="25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3" name="Ellipse 182">
                  <a:extLst>
                    <a:ext uri="{FF2B5EF4-FFF2-40B4-BE49-F238E27FC236}">
                      <a16:creationId xmlns:a16="http://schemas.microsoft.com/office/drawing/2014/main" id="{E55CDF72-CE7A-4501-BF5E-4D252F0715E2}"/>
                    </a:ext>
                  </a:extLst>
                </p:cNvPr>
                <p:cNvSpPr/>
                <p:nvPr/>
              </p:nvSpPr>
              <p:spPr>
                <a:xfrm>
                  <a:off x="0" y="189865"/>
                  <a:ext cx="693420" cy="6934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DC68F33B-043B-409B-8311-A7AEA24373D3}"/>
                    </a:ext>
                  </a:extLst>
                </p:cNvPr>
                <p:cNvSpPr/>
                <p:nvPr/>
              </p:nvSpPr>
              <p:spPr>
                <a:xfrm rot="19775393">
                  <a:off x="38735" y="136525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359BD3E9-57CF-4F82-818F-FEC2573771CB}"/>
                    </a:ext>
                  </a:extLst>
                </p:cNvPr>
                <p:cNvSpPr/>
                <p:nvPr/>
              </p:nvSpPr>
              <p:spPr>
                <a:xfrm>
                  <a:off x="280035" y="0"/>
                  <a:ext cx="134620" cy="2870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154" name="Grouper 1285">
                <a:extLst>
                  <a:ext uri="{FF2B5EF4-FFF2-40B4-BE49-F238E27FC236}">
                    <a16:creationId xmlns:a16="http://schemas.microsoft.com/office/drawing/2014/main" id="{0FF6EDA8-E036-4898-B753-F0FDDC344A40}"/>
                  </a:ext>
                </a:extLst>
              </p:cNvPr>
              <p:cNvGrpSpPr/>
              <p:nvPr/>
            </p:nvGrpSpPr>
            <p:grpSpPr>
              <a:xfrm>
                <a:off x="0" y="189230"/>
                <a:ext cx="693420" cy="693420"/>
                <a:chOff x="0" y="0"/>
                <a:chExt cx="693420" cy="693420"/>
              </a:xfrm>
            </p:grpSpPr>
            <p:sp>
              <p:nvSpPr>
                <p:cNvPr id="155" name="Corde 154">
                  <a:extLst>
                    <a:ext uri="{FF2B5EF4-FFF2-40B4-BE49-F238E27FC236}">
                      <a16:creationId xmlns:a16="http://schemas.microsoft.com/office/drawing/2014/main" id="{4E8C4AD9-34CF-4E4E-8348-99372E40EFB0}"/>
                    </a:ext>
                  </a:extLst>
                </p:cNvPr>
                <p:cNvSpPr/>
                <p:nvPr/>
              </p:nvSpPr>
              <p:spPr>
                <a:xfrm rot="17560116">
                  <a:off x="0" y="0"/>
                  <a:ext cx="693420" cy="693420"/>
                </a:xfrm>
                <a:prstGeom prst="chord">
                  <a:avLst>
                    <a:gd name="adj1" fmla="val 4447445"/>
                    <a:gd name="adj2" fmla="val 14321630"/>
                  </a:avLst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156" name="Grouper 1119">
                  <a:extLst>
                    <a:ext uri="{FF2B5EF4-FFF2-40B4-BE49-F238E27FC236}">
                      <a16:creationId xmlns:a16="http://schemas.microsoft.com/office/drawing/2014/main" id="{C678EDAE-3501-4352-A52E-A40899B4AB39}"/>
                    </a:ext>
                  </a:extLst>
                </p:cNvPr>
                <p:cNvGrpSpPr/>
                <p:nvPr/>
              </p:nvGrpSpPr>
              <p:grpSpPr>
                <a:xfrm>
                  <a:off x="150495" y="434341"/>
                  <a:ext cx="410210" cy="220343"/>
                  <a:chOff x="0" y="1"/>
                  <a:chExt cx="410210" cy="220343"/>
                </a:xfrm>
              </p:grpSpPr>
              <p:grpSp>
                <p:nvGrpSpPr>
                  <p:cNvPr id="157" name="Grouper 1121">
                    <a:extLst>
                      <a:ext uri="{FF2B5EF4-FFF2-40B4-BE49-F238E27FC236}">
                        <a16:creationId xmlns:a16="http://schemas.microsoft.com/office/drawing/2014/main" id="{69668DD6-7392-4B47-91B3-E7C58E6AEC7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274322" y="1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74" name="Ellipse 173">
                      <a:extLst>
                        <a:ext uri="{FF2B5EF4-FFF2-40B4-BE49-F238E27FC236}">
                          <a16:creationId xmlns:a16="http://schemas.microsoft.com/office/drawing/2014/main" id="{AFDB456B-5794-41B6-A475-47E855E63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5" name="Ellipse 174">
                      <a:extLst>
                        <a:ext uri="{FF2B5EF4-FFF2-40B4-BE49-F238E27FC236}">
                          <a16:creationId xmlns:a16="http://schemas.microsoft.com/office/drawing/2014/main" id="{24568039-C87E-4BE1-AA42-121D3FDE7C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6" name="Ellipse 175">
                      <a:extLst>
                        <a:ext uri="{FF2B5EF4-FFF2-40B4-BE49-F238E27FC236}">
                          <a16:creationId xmlns:a16="http://schemas.microsoft.com/office/drawing/2014/main" id="{D4655AB1-77FE-4397-8FE5-FDFF1FDBAE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7" name="Ellipse 176">
                      <a:extLst>
                        <a:ext uri="{FF2B5EF4-FFF2-40B4-BE49-F238E27FC236}">
                          <a16:creationId xmlns:a16="http://schemas.microsoft.com/office/drawing/2014/main" id="{9E4F9B0B-BAA6-44F2-B001-9B1C515EA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8" name="Ellipse 177">
                      <a:extLst>
                        <a:ext uri="{FF2B5EF4-FFF2-40B4-BE49-F238E27FC236}">
                          <a16:creationId xmlns:a16="http://schemas.microsoft.com/office/drawing/2014/main" id="{A5462FE7-DFBA-4293-8858-40A98AB7A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9" name="Ellipse 178">
                      <a:extLst>
                        <a:ext uri="{FF2B5EF4-FFF2-40B4-BE49-F238E27FC236}">
                          <a16:creationId xmlns:a16="http://schemas.microsoft.com/office/drawing/2014/main" id="{330620DA-5441-4B63-A78F-B66713CAA0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80" name="Ellipse 179">
                      <a:extLst>
                        <a:ext uri="{FF2B5EF4-FFF2-40B4-BE49-F238E27FC236}">
                          <a16:creationId xmlns:a16="http://schemas.microsoft.com/office/drawing/2014/main" id="{364197B3-4672-48C9-AE16-BA17EDBC99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58" name="Grouper 1129">
                    <a:extLst>
                      <a:ext uri="{FF2B5EF4-FFF2-40B4-BE49-F238E27FC236}">
                        <a16:creationId xmlns:a16="http://schemas.microsoft.com/office/drawing/2014/main" id="{75ABE4D0-695D-4D86-BF83-5820C74D8631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36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67" name="Ellipse 166">
                      <a:extLst>
                        <a:ext uri="{FF2B5EF4-FFF2-40B4-BE49-F238E27FC236}">
                          <a16:creationId xmlns:a16="http://schemas.microsoft.com/office/drawing/2014/main" id="{45E2C830-27A4-4B0D-B69C-2E78BDE88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8" name="Ellipse 167">
                      <a:extLst>
                        <a:ext uri="{FF2B5EF4-FFF2-40B4-BE49-F238E27FC236}">
                          <a16:creationId xmlns:a16="http://schemas.microsoft.com/office/drawing/2014/main" id="{5C6C0A60-866C-486F-AA86-E1D9902FE4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9" name="Ellipse 168">
                      <a:extLst>
                        <a:ext uri="{FF2B5EF4-FFF2-40B4-BE49-F238E27FC236}">
                          <a16:creationId xmlns:a16="http://schemas.microsoft.com/office/drawing/2014/main" id="{045905D8-DFAB-48C3-8CE1-08FBF438B6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0" name="Ellipse 169">
                      <a:extLst>
                        <a:ext uri="{FF2B5EF4-FFF2-40B4-BE49-F238E27FC236}">
                          <a16:creationId xmlns:a16="http://schemas.microsoft.com/office/drawing/2014/main" id="{34A5F336-D7F9-42EE-B9AF-4597410858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1" name="Ellipse 170">
                      <a:extLst>
                        <a:ext uri="{FF2B5EF4-FFF2-40B4-BE49-F238E27FC236}">
                          <a16:creationId xmlns:a16="http://schemas.microsoft.com/office/drawing/2014/main" id="{60832644-5D19-4D35-A349-15D1A31B77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2" name="Ellipse 171">
                      <a:extLst>
                        <a:ext uri="{FF2B5EF4-FFF2-40B4-BE49-F238E27FC236}">
                          <a16:creationId xmlns:a16="http://schemas.microsoft.com/office/drawing/2014/main" id="{16D2C75C-BB25-48F3-803A-75015EEA1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73" name="Ellipse 172">
                      <a:extLst>
                        <a:ext uri="{FF2B5EF4-FFF2-40B4-BE49-F238E27FC236}">
                          <a16:creationId xmlns:a16="http://schemas.microsoft.com/office/drawing/2014/main" id="{76F829ED-C877-41A0-966B-C09BAF0FFF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59" name="Grouper 1137">
                    <a:extLst>
                      <a:ext uri="{FF2B5EF4-FFF2-40B4-BE49-F238E27FC236}">
                        <a16:creationId xmlns:a16="http://schemas.microsoft.com/office/drawing/2014/main" id="{E11377C7-A173-4FE0-A10D-C615730FA21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139065" y="16504"/>
                    <a:ext cx="135888" cy="203840"/>
                    <a:chOff x="0" y="134620"/>
                    <a:chExt cx="291465" cy="530225"/>
                  </a:xfrm>
                </p:grpSpPr>
                <p:sp>
                  <p:nvSpPr>
                    <p:cNvPr id="160" name="Ellipse 159">
                      <a:extLst>
                        <a:ext uri="{FF2B5EF4-FFF2-40B4-BE49-F238E27FC236}">
                          <a16:creationId xmlns:a16="http://schemas.microsoft.com/office/drawing/2014/main" id="{599A6833-9B78-4502-87F4-9D5980B7FC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357505"/>
                      <a:ext cx="60325" cy="6794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1" name="Ellipse 160">
                      <a:extLst>
                        <a:ext uri="{FF2B5EF4-FFF2-40B4-BE49-F238E27FC236}">
                          <a16:creationId xmlns:a16="http://schemas.microsoft.com/office/drawing/2014/main" id="{6EAC078E-67A5-494C-A45C-732BB94F0C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885" y="400685"/>
                      <a:ext cx="75565" cy="889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2" name="Ellipse 161">
                      <a:extLst>
                        <a:ext uri="{FF2B5EF4-FFF2-40B4-BE49-F238E27FC236}">
                          <a16:creationId xmlns:a16="http://schemas.microsoft.com/office/drawing/2014/main" id="{15214B86-AFF7-4A0A-9F5E-AD129E5F97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640" y="238760"/>
                      <a:ext cx="76200" cy="9017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3" name="Ellipse 162">
                      <a:extLst>
                        <a:ext uri="{FF2B5EF4-FFF2-40B4-BE49-F238E27FC236}">
                          <a16:creationId xmlns:a16="http://schemas.microsoft.com/office/drawing/2014/main" id="{398BB574-82CA-4191-971C-44AC260B9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76530"/>
                      <a:ext cx="88265" cy="9715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4" name="Ellipse 163">
                      <a:extLst>
                        <a:ext uri="{FF2B5EF4-FFF2-40B4-BE49-F238E27FC236}">
                          <a16:creationId xmlns:a16="http://schemas.microsoft.com/office/drawing/2014/main" id="{7FC2C416-5F63-4177-9D98-A62422DD23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00" y="1346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5" name="Ellipse 164">
                      <a:extLst>
                        <a:ext uri="{FF2B5EF4-FFF2-40B4-BE49-F238E27FC236}">
                          <a16:creationId xmlns:a16="http://schemas.microsoft.com/office/drawing/2014/main" id="{47A25F6D-8510-4ABA-A040-AA45F1DE5C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140" y="43942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6" name="Ellipse 165">
                      <a:extLst>
                        <a:ext uri="{FF2B5EF4-FFF2-40B4-BE49-F238E27FC236}">
                          <a16:creationId xmlns:a16="http://schemas.microsoft.com/office/drawing/2014/main" id="{255E766F-3951-4F26-AE40-190C09E56F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15" y="596900"/>
                      <a:ext cx="60325" cy="67945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 cmpd="sng"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</p:grpSp>
          </p:grpSp>
        </p:grp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4DA39BF8-C830-4E5C-BF0F-3C07D2DC9B20}"/>
                </a:ext>
              </a:extLst>
            </p:cNvPr>
            <p:cNvSpPr/>
            <p:nvPr/>
          </p:nvSpPr>
          <p:spPr>
            <a:xfrm>
              <a:off x="338455" y="800100"/>
              <a:ext cx="146050" cy="755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186" name="Flèche : droite 185">
            <a:extLst>
              <a:ext uri="{FF2B5EF4-FFF2-40B4-BE49-F238E27FC236}">
                <a16:creationId xmlns:a16="http://schemas.microsoft.com/office/drawing/2014/main" id="{C9186ADE-1AA1-4281-9C4C-4970A69F5B0F}"/>
              </a:ext>
            </a:extLst>
          </p:cNvPr>
          <p:cNvSpPr/>
          <p:nvPr/>
        </p:nvSpPr>
        <p:spPr>
          <a:xfrm>
            <a:off x="6889664" y="4550952"/>
            <a:ext cx="2038190" cy="233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8" name="ZoneTexte 187">
            <a:extLst>
              <a:ext uri="{FF2B5EF4-FFF2-40B4-BE49-F238E27FC236}">
                <a16:creationId xmlns:a16="http://schemas.microsoft.com/office/drawing/2014/main" id="{858470FA-8C6E-418F-90EF-BB189F64267C}"/>
              </a:ext>
            </a:extLst>
          </p:cNvPr>
          <p:cNvSpPr txBox="1"/>
          <p:nvPr/>
        </p:nvSpPr>
        <p:spPr>
          <a:xfrm>
            <a:off x="6449330" y="1427192"/>
            <a:ext cx="310319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Dilution dans l’eau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Chauffage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Refroidissement</a:t>
            </a: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F6E24B4B-2A82-42C5-9BDD-6AFA89303460}"/>
              </a:ext>
            </a:extLst>
          </p:cNvPr>
          <p:cNvCxnSpPr>
            <a:cxnSpLocks/>
            <a:stCxn id="71" idx="2"/>
            <a:endCxn id="123" idx="2"/>
          </p:cNvCxnSpPr>
          <p:nvPr/>
        </p:nvCxnSpPr>
        <p:spPr>
          <a:xfrm flipH="1">
            <a:off x="2192847" y="2895828"/>
            <a:ext cx="1998226" cy="1016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021174C-240F-45E7-89B2-612F03719BE9}"/>
              </a:ext>
            </a:extLst>
          </p:cNvPr>
          <p:cNvSpPr/>
          <p:nvPr/>
        </p:nvSpPr>
        <p:spPr>
          <a:xfrm>
            <a:off x="2109383" y="3629144"/>
            <a:ext cx="160407" cy="8190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CC47C21-7A66-4EC6-BD18-FAE1D5BB8C2A}"/>
              </a:ext>
            </a:extLst>
          </p:cNvPr>
          <p:cNvGrpSpPr/>
          <p:nvPr/>
        </p:nvGrpSpPr>
        <p:grpSpPr>
          <a:xfrm>
            <a:off x="1792714" y="1648038"/>
            <a:ext cx="788809" cy="2003608"/>
            <a:chOff x="1792714" y="1633862"/>
            <a:chExt cx="788809" cy="2003608"/>
          </a:xfrm>
        </p:grpSpPr>
        <p:sp>
          <p:nvSpPr>
            <p:cNvPr id="125" name="Rectangle à coins arrondis 943">
              <a:extLst>
                <a:ext uri="{FF2B5EF4-FFF2-40B4-BE49-F238E27FC236}">
                  <a16:creationId xmlns:a16="http://schemas.microsoft.com/office/drawing/2014/main" id="{15D18B60-1F55-4C3B-AAC7-EA7B4E63431F}"/>
                </a:ext>
              </a:extLst>
            </p:cNvPr>
            <p:cNvSpPr/>
            <p:nvPr/>
          </p:nvSpPr>
          <p:spPr>
            <a:xfrm>
              <a:off x="1968641" y="1824682"/>
              <a:ext cx="434500" cy="166697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8AE122E-8DF0-4D9E-9183-FE7DBD1EC100}"/>
                </a:ext>
              </a:extLst>
            </p:cNvPr>
            <p:cNvSpPr/>
            <p:nvPr/>
          </p:nvSpPr>
          <p:spPr>
            <a:xfrm>
              <a:off x="2105292" y="1680667"/>
              <a:ext cx="167745" cy="1941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6867CD4-BF49-46B5-A6BB-91182009AE52}"/>
                </a:ext>
              </a:extLst>
            </p:cNvPr>
            <p:cNvSpPr/>
            <p:nvPr/>
          </p:nvSpPr>
          <p:spPr>
            <a:xfrm>
              <a:off x="2074198" y="1633862"/>
              <a:ext cx="218477" cy="63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45" name="Arc plein 144">
              <a:extLst>
                <a:ext uri="{FF2B5EF4-FFF2-40B4-BE49-F238E27FC236}">
                  <a16:creationId xmlns:a16="http://schemas.microsoft.com/office/drawing/2014/main" id="{F7F2A45E-BF1A-448F-943D-8286F996376E}"/>
                </a:ext>
              </a:extLst>
            </p:cNvPr>
            <p:cNvSpPr/>
            <p:nvPr/>
          </p:nvSpPr>
          <p:spPr>
            <a:xfrm rot="5400000">
              <a:off x="2193337" y="1981953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89" name="Arc plein 188">
              <a:extLst>
                <a:ext uri="{FF2B5EF4-FFF2-40B4-BE49-F238E27FC236}">
                  <a16:creationId xmlns:a16="http://schemas.microsoft.com/office/drawing/2014/main" id="{AF20004E-9A26-4AA1-B0D5-8FB6CE427232}"/>
                </a:ext>
              </a:extLst>
            </p:cNvPr>
            <p:cNvSpPr/>
            <p:nvPr/>
          </p:nvSpPr>
          <p:spPr>
            <a:xfrm rot="16200000" flipH="1">
              <a:off x="1759656" y="3249284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71" name="ZoneTexte 70">
            <a:extLst>
              <a:ext uri="{FF2B5EF4-FFF2-40B4-BE49-F238E27FC236}">
                <a16:creationId xmlns:a16="http://schemas.microsoft.com/office/drawing/2014/main" id="{6C73910F-EB4E-4BEB-A998-352A538C9B94}"/>
              </a:ext>
            </a:extLst>
          </p:cNvPr>
          <p:cNvSpPr txBox="1"/>
          <p:nvPr/>
        </p:nvSpPr>
        <p:spPr>
          <a:xfrm>
            <a:off x="2639476" y="1418500"/>
            <a:ext cx="3103194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Salicylate de méthyle : 4 </a:t>
            </a:r>
            <a:r>
              <a:rPr lang="fr-FR" dirty="0" err="1"/>
              <a:t>mL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NaOH</a:t>
            </a:r>
            <a:r>
              <a:rPr lang="fr-FR" dirty="0"/>
              <a:t> : 0,24 mol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Chauffage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Refroidissement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H</a:t>
            </a:r>
            <a:r>
              <a:rPr lang="fr-FR" baseline="-25000" dirty="0"/>
              <a:t>2</a:t>
            </a:r>
            <a:r>
              <a:rPr lang="fr-FR" dirty="0"/>
              <a:t>SO</a:t>
            </a:r>
            <a:r>
              <a:rPr lang="fr-FR" baseline="-25000" dirty="0"/>
              <a:t>4</a:t>
            </a:r>
            <a:r>
              <a:rPr lang="fr-FR" dirty="0"/>
              <a:t> : 0,4 mol</a:t>
            </a:r>
          </a:p>
        </p:txBody>
      </p:sp>
      <p:grpSp>
        <p:nvGrpSpPr>
          <p:cNvPr id="191" name="Groupe 190">
            <a:extLst>
              <a:ext uri="{FF2B5EF4-FFF2-40B4-BE49-F238E27FC236}">
                <a16:creationId xmlns:a16="http://schemas.microsoft.com/office/drawing/2014/main" id="{4F0C9B6A-9CF1-47A1-B80B-A684F302364E}"/>
              </a:ext>
            </a:extLst>
          </p:cNvPr>
          <p:cNvGrpSpPr/>
          <p:nvPr/>
        </p:nvGrpSpPr>
        <p:grpSpPr>
          <a:xfrm>
            <a:off x="9484486" y="1651972"/>
            <a:ext cx="788809" cy="2003608"/>
            <a:chOff x="1792714" y="1633862"/>
            <a:chExt cx="788809" cy="2003608"/>
          </a:xfrm>
        </p:grpSpPr>
        <p:sp>
          <p:nvSpPr>
            <p:cNvPr id="192" name="Rectangle à coins arrondis 943">
              <a:extLst>
                <a:ext uri="{FF2B5EF4-FFF2-40B4-BE49-F238E27FC236}">
                  <a16:creationId xmlns:a16="http://schemas.microsoft.com/office/drawing/2014/main" id="{0C0053A1-0256-4779-A8C1-BF7977B0F0D6}"/>
                </a:ext>
              </a:extLst>
            </p:cNvPr>
            <p:cNvSpPr/>
            <p:nvPr/>
          </p:nvSpPr>
          <p:spPr>
            <a:xfrm>
              <a:off x="1968641" y="1824682"/>
              <a:ext cx="434500" cy="166697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67BC529A-4DFE-4069-A959-D098B472FCC6}"/>
                </a:ext>
              </a:extLst>
            </p:cNvPr>
            <p:cNvSpPr/>
            <p:nvPr/>
          </p:nvSpPr>
          <p:spPr>
            <a:xfrm>
              <a:off x="2105292" y="1680667"/>
              <a:ext cx="167745" cy="1941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6C660F9-D6A2-4F93-88CB-1E92DD4AEDB3}"/>
                </a:ext>
              </a:extLst>
            </p:cNvPr>
            <p:cNvSpPr/>
            <p:nvPr/>
          </p:nvSpPr>
          <p:spPr>
            <a:xfrm>
              <a:off x="2074198" y="1633862"/>
              <a:ext cx="218477" cy="63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95" name="Arc plein 194">
              <a:extLst>
                <a:ext uri="{FF2B5EF4-FFF2-40B4-BE49-F238E27FC236}">
                  <a16:creationId xmlns:a16="http://schemas.microsoft.com/office/drawing/2014/main" id="{93A8099E-013F-472A-993D-5D0E2CC628CD}"/>
                </a:ext>
              </a:extLst>
            </p:cNvPr>
            <p:cNvSpPr/>
            <p:nvPr/>
          </p:nvSpPr>
          <p:spPr>
            <a:xfrm rot="5400000">
              <a:off x="2193337" y="1981953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96" name="Arc plein 195">
              <a:extLst>
                <a:ext uri="{FF2B5EF4-FFF2-40B4-BE49-F238E27FC236}">
                  <a16:creationId xmlns:a16="http://schemas.microsoft.com/office/drawing/2014/main" id="{D41489D5-CF3A-4CF9-B90F-281C1C6E8FC6}"/>
                </a:ext>
              </a:extLst>
            </p:cNvPr>
            <p:cNvSpPr/>
            <p:nvPr/>
          </p:nvSpPr>
          <p:spPr>
            <a:xfrm rot="16200000" flipH="1">
              <a:off x="1759656" y="3249284"/>
              <a:ext cx="421244" cy="355128"/>
            </a:xfrm>
            <a:prstGeom prst="blockArc">
              <a:avLst>
                <a:gd name="adj1" fmla="val 10800000"/>
                <a:gd name="adj2" fmla="val 16383978"/>
                <a:gd name="adj3" fmla="val 2066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FC4ACBD-E4CE-477A-BED1-4442E2232543}"/>
              </a:ext>
            </a:extLst>
          </p:cNvPr>
          <p:cNvCxnSpPr>
            <a:cxnSpLocks/>
            <a:stCxn id="188" idx="2"/>
          </p:cNvCxnSpPr>
          <p:nvPr/>
        </p:nvCxnSpPr>
        <p:spPr>
          <a:xfrm>
            <a:off x="8000927" y="2350522"/>
            <a:ext cx="1580249" cy="2076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ZoneTexte 189">
            <a:extLst>
              <a:ext uri="{FF2B5EF4-FFF2-40B4-BE49-F238E27FC236}">
                <a16:creationId xmlns:a16="http://schemas.microsoft.com/office/drawing/2014/main" id="{C645FF19-3262-406C-ADCD-C11402D66C15}"/>
              </a:ext>
            </a:extLst>
          </p:cNvPr>
          <p:cNvSpPr txBox="1"/>
          <p:nvPr/>
        </p:nvSpPr>
        <p:spPr>
          <a:xfrm>
            <a:off x="100499" y="5603804"/>
            <a:ext cx="19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Synthèse</a:t>
            </a:r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53CC7289-0BBB-488F-ADC1-9EBCD7B1DB83}"/>
              </a:ext>
            </a:extLst>
          </p:cNvPr>
          <p:cNvSpPr txBox="1"/>
          <p:nvPr/>
        </p:nvSpPr>
        <p:spPr>
          <a:xfrm>
            <a:off x="7146974" y="5443206"/>
            <a:ext cx="2127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Recristallisation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B82277A-BE68-47DD-8914-C108132AB062}"/>
              </a:ext>
            </a:extLst>
          </p:cNvPr>
          <p:cNvGrpSpPr/>
          <p:nvPr/>
        </p:nvGrpSpPr>
        <p:grpSpPr>
          <a:xfrm>
            <a:off x="9072899" y="2806771"/>
            <a:ext cx="319567" cy="1184275"/>
            <a:chOff x="7335132" y="2261014"/>
            <a:chExt cx="319567" cy="1184275"/>
          </a:xfrm>
        </p:grpSpPr>
        <p:grpSp>
          <p:nvGrpSpPr>
            <p:cNvPr id="201" name="Grouper 679">
              <a:extLst>
                <a:ext uri="{FF2B5EF4-FFF2-40B4-BE49-F238E27FC236}">
                  <a16:creationId xmlns:a16="http://schemas.microsoft.com/office/drawing/2014/main" id="{E105CBE9-BA59-44A9-B573-FCAD1E38F040}"/>
                </a:ext>
              </a:extLst>
            </p:cNvPr>
            <p:cNvGrpSpPr/>
            <p:nvPr/>
          </p:nvGrpSpPr>
          <p:grpSpPr>
            <a:xfrm rot="19789929">
              <a:off x="7345291" y="2261014"/>
              <a:ext cx="300355" cy="1184275"/>
              <a:chOff x="0" y="0"/>
              <a:chExt cx="300355" cy="1184275"/>
            </a:xfrm>
          </p:grpSpPr>
          <p:sp>
            <p:nvSpPr>
              <p:cNvPr id="233" name="Cadre 232">
                <a:extLst>
                  <a:ext uri="{FF2B5EF4-FFF2-40B4-BE49-F238E27FC236}">
                    <a16:creationId xmlns:a16="http://schemas.microsoft.com/office/drawing/2014/main" id="{D5BFC2AB-1C7C-43B3-98C1-41563D28E831}"/>
                  </a:ext>
                </a:extLst>
              </p:cNvPr>
              <p:cNvSpPr/>
              <p:nvPr/>
            </p:nvSpPr>
            <p:spPr>
              <a:xfrm>
                <a:off x="0" y="139065"/>
                <a:ext cx="210820" cy="826770"/>
              </a:xfrm>
              <a:prstGeom prst="frame">
                <a:avLst>
                  <a:gd name="adj1" fmla="val 2500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7EE95DE-0319-498F-AB56-A27F70A219E8}"/>
                  </a:ext>
                </a:extLst>
              </p:cNvPr>
              <p:cNvSpPr/>
              <p:nvPr/>
            </p:nvSpPr>
            <p:spPr>
              <a:xfrm>
                <a:off x="112395" y="13335"/>
                <a:ext cx="15240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529E10F6-B8FC-4DC3-8140-A0951A1BE8CC}"/>
                  </a:ext>
                </a:extLst>
              </p:cNvPr>
              <p:cNvSpPr/>
              <p:nvPr/>
            </p:nvSpPr>
            <p:spPr>
              <a:xfrm>
                <a:off x="154940" y="815340"/>
                <a:ext cx="6350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6" name="Rectangle à coins arrondis 643">
                <a:extLst>
                  <a:ext uri="{FF2B5EF4-FFF2-40B4-BE49-F238E27FC236}">
                    <a16:creationId xmlns:a16="http://schemas.microsoft.com/office/drawing/2014/main" id="{D5938371-1B7E-4279-B852-D6434ABF7A08}"/>
                  </a:ext>
                </a:extLst>
              </p:cNvPr>
              <p:cNvSpPr/>
              <p:nvPr/>
            </p:nvSpPr>
            <p:spPr>
              <a:xfrm>
                <a:off x="73660" y="100330"/>
                <a:ext cx="226695" cy="721360"/>
              </a:xfrm>
              <a:prstGeom prst="roundRect">
                <a:avLst>
                  <a:gd name="adj" fmla="val 4187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E50ADF72-6EAF-4917-BF14-E0BBB7ABD825}"/>
                  </a:ext>
                </a:extLst>
              </p:cNvPr>
              <p:cNvSpPr/>
              <p:nvPr/>
            </p:nvSpPr>
            <p:spPr>
              <a:xfrm>
                <a:off x="120015" y="962660"/>
                <a:ext cx="134620" cy="1498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86721329-6A22-4C8B-9800-324D2ED0FB94}"/>
                  </a:ext>
                </a:extLst>
              </p:cNvPr>
              <p:cNvSpPr/>
              <p:nvPr/>
            </p:nvSpPr>
            <p:spPr>
              <a:xfrm>
                <a:off x="120015" y="855345"/>
                <a:ext cx="144780" cy="4571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9" name="Ellipse 238">
                <a:extLst>
                  <a:ext uri="{FF2B5EF4-FFF2-40B4-BE49-F238E27FC236}">
                    <a16:creationId xmlns:a16="http://schemas.microsoft.com/office/drawing/2014/main" id="{9107C5D1-01D1-4565-BF7B-B80377E1078D}"/>
                  </a:ext>
                </a:extLst>
              </p:cNvPr>
              <p:cNvSpPr/>
              <p:nvPr/>
            </p:nvSpPr>
            <p:spPr>
              <a:xfrm>
                <a:off x="255270" y="818515"/>
                <a:ext cx="45085" cy="1123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2F922DBB-9991-422A-811D-23DF2D7EAB57}"/>
                  </a:ext>
                </a:extLst>
              </p:cNvPr>
              <p:cNvSpPr/>
              <p:nvPr/>
            </p:nvSpPr>
            <p:spPr>
              <a:xfrm>
                <a:off x="127000" y="921385"/>
                <a:ext cx="85725" cy="11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D19897A8-CA0C-4800-B475-9467C8FE3FCD}"/>
                  </a:ext>
                </a:extLst>
              </p:cNvPr>
              <p:cNvSpPr/>
              <p:nvPr/>
            </p:nvSpPr>
            <p:spPr>
              <a:xfrm>
                <a:off x="127000" y="1066800"/>
                <a:ext cx="122555" cy="117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A6903D2D-278E-4DE0-B868-BD6B176BFEE2}"/>
                  </a:ext>
                </a:extLst>
              </p:cNvPr>
              <p:cNvSpPr/>
              <p:nvPr/>
            </p:nvSpPr>
            <p:spPr>
              <a:xfrm>
                <a:off x="67945" y="918210"/>
                <a:ext cx="114935" cy="44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BFCA5525-4D98-464B-A4DE-AAE59E64F8FF}"/>
                  </a:ext>
                </a:extLst>
              </p:cNvPr>
              <p:cNvSpPr/>
              <p:nvPr/>
            </p:nvSpPr>
            <p:spPr>
              <a:xfrm>
                <a:off x="47625" y="143510"/>
                <a:ext cx="114935" cy="43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6AA28E0-079E-4E20-9030-29A7E5C99C09}"/>
                  </a:ext>
                </a:extLst>
              </p:cNvPr>
              <p:cNvSpPr/>
              <p:nvPr/>
            </p:nvSpPr>
            <p:spPr>
              <a:xfrm>
                <a:off x="121285" y="0"/>
                <a:ext cx="132715" cy="1314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9277FDE-CE54-42A2-A927-1FFF387BE59D}"/>
                  </a:ext>
                </a:extLst>
              </p:cNvPr>
              <p:cNvSpPr/>
              <p:nvPr/>
            </p:nvSpPr>
            <p:spPr>
              <a:xfrm rot="5400000">
                <a:off x="129540" y="757555"/>
                <a:ext cx="114935" cy="43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202" name="Grouper 685">
              <a:extLst>
                <a:ext uri="{FF2B5EF4-FFF2-40B4-BE49-F238E27FC236}">
                  <a16:creationId xmlns:a16="http://schemas.microsoft.com/office/drawing/2014/main" id="{606FD21E-B2FC-4B80-95F3-DF22A9962831}"/>
                </a:ext>
              </a:extLst>
            </p:cNvPr>
            <p:cNvGrpSpPr/>
            <p:nvPr/>
          </p:nvGrpSpPr>
          <p:grpSpPr>
            <a:xfrm rot="19789929">
              <a:off x="7435624" y="2638037"/>
              <a:ext cx="219075" cy="449580"/>
              <a:chOff x="0" y="2540"/>
              <a:chExt cx="226695" cy="465310"/>
            </a:xfrm>
            <a:solidFill>
              <a:srgbClr val="C6D9F1"/>
            </a:solidFill>
          </p:grpSpPr>
          <p:grpSp>
            <p:nvGrpSpPr>
              <p:cNvPr id="228" name="Grouper 681">
                <a:extLst>
                  <a:ext uri="{FF2B5EF4-FFF2-40B4-BE49-F238E27FC236}">
                    <a16:creationId xmlns:a16="http://schemas.microsoft.com/office/drawing/2014/main" id="{8A3A5C4D-2DA4-4D86-9648-3538D5812B82}"/>
                  </a:ext>
                </a:extLst>
              </p:cNvPr>
              <p:cNvGrpSpPr/>
              <p:nvPr/>
            </p:nvGrpSpPr>
            <p:grpSpPr>
              <a:xfrm>
                <a:off x="0" y="106045"/>
                <a:ext cx="226695" cy="361805"/>
                <a:chOff x="0" y="0"/>
                <a:chExt cx="226695" cy="361805"/>
              </a:xfrm>
              <a:grpFill/>
            </p:grpSpPr>
            <p:sp>
              <p:nvSpPr>
                <p:cNvPr id="231" name="Rectangle à coins arrondis 678">
                  <a:extLst>
                    <a:ext uri="{FF2B5EF4-FFF2-40B4-BE49-F238E27FC236}">
                      <a16:creationId xmlns:a16="http://schemas.microsoft.com/office/drawing/2014/main" id="{85416513-64E7-40AB-8F64-41CC407FF1A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6695" cy="322580"/>
                </a:xfrm>
                <a:prstGeom prst="roundRect">
                  <a:avLst>
                    <a:gd name="adj" fmla="val 41877"/>
                  </a:avLst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 dirty="0"/>
                </a:p>
              </p:txBody>
            </p: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F3D83718-C04D-4F31-A0A1-551569F84736}"/>
                    </a:ext>
                  </a:extLst>
                </p:cNvPr>
                <p:cNvSpPr/>
                <p:nvPr/>
              </p:nvSpPr>
              <p:spPr>
                <a:xfrm rot="5400000">
                  <a:off x="44932" y="271853"/>
                  <a:ext cx="132595" cy="47309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229" name="Triangle rectangle 228">
                <a:extLst>
                  <a:ext uri="{FF2B5EF4-FFF2-40B4-BE49-F238E27FC236}">
                    <a16:creationId xmlns:a16="http://schemas.microsoft.com/office/drawing/2014/main" id="{28036092-6C2D-4011-928A-DDDEC6E36D5A}"/>
                  </a:ext>
                </a:extLst>
              </p:cNvPr>
              <p:cNvSpPr/>
              <p:nvPr/>
            </p:nvSpPr>
            <p:spPr>
              <a:xfrm>
                <a:off x="0" y="2540"/>
                <a:ext cx="225425" cy="118110"/>
              </a:xfrm>
              <a:prstGeom prst="rtTriangl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C34DC37D-A708-48B4-A3C0-CC3700B1ADB4}"/>
                  </a:ext>
                </a:extLst>
              </p:cNvPr>
              <p:cNvSpPr/>
              <p:nvPr/>
            </p:nvSpPr>
            <p:spPr>
              <a:xfrm>
                <a:off x="0" y="118745"/>
                <a:ext cx="225905" cy="148328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207" name="Grouper 672">
              <a:extLst>
                <a:ext uri="{FF2B5EF4-FFF2-40B4-BE49-F238E27FC236}">
                  <a16:creationId xmlns:a16="http://schemas.microsoft.com/office/drawing/2014/main" id="{097F265C-2057-461D-9053-000E624A53F6}"/>
                </a:ext>
              </a:extLst>
            </p:cNvPr>
            <p:cNvGrpSpPr/>
            <p:nvPr/>
          </p:nvGrpSpPr>
          <p:grpSpPr>
            <a:xfrm rot="19789929">
              <a:off x="7545589" y="2582794"/>
              <a:ext cx="46355" cy="357783"/>
              <a:chOff x="571500" y="767444"/>
              <a:chExt cx="251460" cy="457200"/>
            </a:xfrm>
          </p:grpSpPr>
          <p:cxnSp>
            <p:nvCxnSpPr>
              <p:cNvPr id="208" name="Connecteur droit 207">
                <a:extLst>
                  <a:ext uri="{FF2B5EF4-FFF2-40B4-BE49-F238E27FC236}">
                    <a16:creationId xmlns:a16="http://schemas.microsoft.com/office/drawing/2014/main" id="{FFBED7D2-61D2-48B9-A689-E920EE1C633A}"/>
                  </a:ext>
                </a:extLst>
              </p:cNvPr>
              <p:cNvCxnSpPr/>
              <p:nvPr/>
            </p:nvCxnSpPr>
            <p:spPr>
              <a:xfrm>
                <a:off x="571500" y="767444"/>
                <a:ext cx="2514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Connecteur droit 208">
                <a:extLst>
                  <a:ext uri="{FF2B5EF4-FFF2-40B4-BE49-F238E27FC236}">
                    <a16:creationId xmlns:a16="http://schemas.microsoft.com/office/drawing/2014/main" id="{1B562ACE-60A6-4FF7-81C9-E2160873EE80}"/>
                  </a:ext>
                </a:extLst>
              </p:cNvPr>
              <p:cNvCxnSpPr/>
              <p:nvPr/>
            </p:nvCxnSpPr>
            <p:spPr>
              <a:xfrm>
                <a:off x="685800" y="12246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Connecteur droit 209">
                <a:extLst>
                  <a:ext uri="{FF2B5EF4-FFF2-40B4-BE49-F238E27FC236}">
                    <a16:creationId xmlns:a16="http://schemas.microsoft.com/office/drawing/2014/main" id="{CEBF6F8B-3140-4F82-81E8-9270E637889E}"/>
                  </a:ext>
                </a:extLst>
              </p:cNvPr>
              <p:cNvCxnSpPr/>
              <p:nvPr/>
            </p:nvCxnSpPr>
            <p:spPr>
              <a:xfrm>
                <a:off x="685800" y="11103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Connecteur droit 210">
                <a:extLst>
                  <a:ext uri="{FF2B5EF4-FFF2-40B4-BE49-F238E27FC236}">
                    <a16:creationId xmlns:a16="http://schemas.microsoft.com/office/drawing/2014/main" id="{63135465-7941-473D-B401-57503D53C73C}"/>
                  </a:ext>
                </a:extLst>
              </p:cNvPr>
              <p:cNvCxnSpPr/>
              <p:nvPr/>
            </p:nvCxnSpPr>
            <p:spPr>
              <a:xfrm>
                <a:off x="685800" y="9960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Connecteur droit 211">
                <a:extLst>
                  <a:ext uri="{FF2B5EF4-FFF2-40B4-BE49-F238E27FC236}">
                    <a16:creationId xmlns:a16="http://schemas.microsoft.com/office/drawing/2014/main" id="{0DA0831C-DC09-436F-A63D-DB0C92EFD367}"/>
                  </a:ext>
                </a:extLst>
              </p:cNvPr>
              <p:cNvCxnSpPr/>
              <p:nvPr/>
            </p:nvCxnSpPr>
            <p:spPr>
              <a:xfrm>
                <a:off x="685800" y="881744"/>
                <a:ext cx="137160" cy="0"/>
              </a:xfrm>
              <a:prstGeom prst="line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0" name="Connecteur droit 199">
              <a:extLst>
                <a:ext uri="{FF2B5EF4-FFF2-40B4-BE49-F238E27FC236}">
                  <a16:creationId xmlns:a16="http://schemas.microsoft.com/office/drawing/2014/main" id="{F09680F0-14CF-4022-AC63-1ED39704FC16}"/>
                </a:ext>
              </a:extLst>
            </p:cNvPr>
            <p:cNvCxnSpPr/>
            <p:nvPr/>
          </p:nvCxnSpPr>
          <p:spPr>
            <a:xfrm>
              <a:off x="7335132" y="2721389"/>
              <a:ext cx="251512" cy="0"/>
            </a:xfrm>
            <a:prstGeom prst="line">
              <a:avLst/>
            </a:prstGeom>
            <a:ln w="9525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D37AD1D9-839A-4A78-9934-6EE2BD43B878}"/>
              </a:ext>
            </a:extLst>
          </p:cNvPr>
          <p:cNvGrpSpPr/>
          <p:nvPr/>
        </p:nvGrpSpPr>
        <p:grpSpPr>
          <a:xfrm>
            <a:off x="8841299" y="2790815"/>
            <a:ext cx="211553" cy="199519"/>
            <a:chOff x="8086939" y="3519705"/>
            <a:chExt cx="296204" cy="195895"/>
          </a:xfrm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375BE320-393A-4675-BD98-6D1CE392F29D}"/>
                </a:ext>
              </a:extLst>
            </p:cNvPr>
            <p:cNvSpPr/>
            <p:nvPr/>
          </p:nvSpPr>
          <p:spPr>
            <a:xfrm rot="19859595">
              <a:off x="8209671" y="3550883"/>
              <a:ext cx="173472" cy="1647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8338EFA1-E192-4AC0-9982-25BDE8EF74EE}"/>
                </a:ext>
              </a:extLst>
            </p:cNvPr>
            <p:cNvSpPr/>
            <p:nvPr/>
          </p:nvSpPr>
          <p:spPr>
            <a:xfrm rot="19859595">
              <a:off x="8086939" y="3519705"/>
              <a:ext cx="283120" cy="63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06946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BB17B9-8165-4A16-A753-E2FFBFBC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Saponification du salicylate de méthyle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28ED390-109E-4590-80E9-D49B964237D5}"/>
              </a:ext>
            </a:extLst>
          </p:cNvPr>
          <p:cNvSpPr txBox="1"/>
          <p:nvPr/>
        </p:nvSpPr>
        <p:spPr>
          <a:xfrm>
            <a:off x="1710822" y="3411037"/>
            <a:ext cx="216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Salicylate de méthyle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D94F2D-3290-4175-BAF7-8C761E7DEDBD}"/>
              </a:ext>
            </a:extLst>
          </p:cNvPr>
          <p:cNvSpPr txBox="1"/>
          <p:nvPr/>
        </p:nvSpPr>
        <p:spPr>
          <a:xfrm>
            <a:off x="7662271" y="3411037"/>
            <a:ext cx="173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Acide salicylique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C486EA21-459D-4416-A095-3540B5FB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4765"/>
            <a:ext cx="10515600" cy="209219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 n(salicylate de méthyle) = 0,0309 mol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/>
              <a:t> Masse maximale d’acide salicylique : m = 4,26 g</a:t>
            </a:r>
          </a:p>
          <a:p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C0869629-ABE0-4C8A-AC25-E8E1FEAF3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2087" y="1383374"/>
            <a:ext cx="8546646" cy="20456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432CBFB-EA8F-487F-A34C-649F2D64B964}"/>
                  </a:ext>
                </a:extLst>
              </p:cNvPr>
              <p:cNvSpPr txBox="1"/>
              <p:nvPr/>
            </p:nvSpPr>
            <p:spPr>
              <a:xfrm>
                <a:off x="5486400" y="2268279"/>
                <a:ext cx="1552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NaOH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432CBFB-EA8F-487F-A34C-649F2D64B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268279"/>
                <a:ext cx="155235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6028DDA-0794-4B5A-A46A-4723802A0EEF}"/>
                  </a:ext>
                </a:extLst>
              </p:cNvPr>
              <p:cNvSpPr txBox="1"/>
              <p:nvPr/>
            </p:nvSpPr>
            <p:spPr>
              <a:xfrm>
                <a:off x="5486400" y="2780827"/>
                <a:ext cx="1552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fr-F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SO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6028DDA-0794-4B5A-A46A-4723802A0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780827"/>
                <a:ext cx="155235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54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D38B83-1237-46F2-80C9-5DB4FDEC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réactionnel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B7CB17-FB02-4EFF-A0A2-2DD2E880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7E49B6-3B18-471D-9653-31636D69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10274F-7701-4810-A10A-B6F3756F0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347"/>
          <a:stretch/>
        </p:blipFill>
        <p:spPr>
          <a:xfrm>
            <a:off x="1784955" y="2236975"/>
            <a:ext cx="9837989" cy="204573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113A028-22AB-48A4-A48D-5EAF110039BD}"/>
              </a:ext>
            </a:extLst>
          </p:cNvPr>
          <p:cNvSpPr txBox="1"/>
          <p:nvPr/>
        </p:nvSpPr>
        <p:spPr>
          <a:xfrm>
            <a:off x="1097280" y="2783815"/>
            <a:ext cx="6876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fr-FR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184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077B8-A98A-4685-95B4-F2520109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réactionnel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7A2145-1F36-4AA4-AD80-F8820E3813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640" b="47708"/>
          <a:stretch/>
        </p:blipFill>
        <p:spPr>
          <a:xfrm>
            <a:off x="2139728" y="1784185"/>
            <a:ext cx="9837989" cy="204573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17B742C-56F7-427D-8EA6-30F6B44565DA}"/>
              </a:ext>
            </a:extLst>
          </p:cNvPr>
          <p:cNvSpPr txBox="1"/>
          <p:nvPr/>
        </p:nvSpPr>
        <p:spPr>
          <a:xfrm>
            <a:off x="1319037" y="2253053"/>
            <a:ext cx="431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BEF960-D707-4EB1-8F3D-3920E9BB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646" y="4111405"/>
            <a:ext cx="9160030" cy="190240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E1EC2B4-2380-4FE5-B4C0-1391E99F5003}"/>
              </a:ext>
            </a:extLst>
          </p:cNvPr>
          <p:cNvSpPr txBox="1"/>
          <p:nvPr/>
        </p:nvSpPr>
        <p:spPr>
          <a:xfrm>
            <a:off x="1319037" y="4290666"/>
            <a:ext cx="431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DC7719-9DCE-4FFB-BF12-BBCB8DB5C5D7}"/>
              </a:ext>
            </a:extLst>
          </p:cNvPr>
          <p:cNvSpPr txBox="1"/>
          <p:nvPr/>
        </p:nvSpPr>
        <p:spPr>
          <a:xfrm>
            <a:off x="6407888" y="2012451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Addition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FCD9298-2560-41CA-9E10-198537F8ABDB}"/>
              </a:ext>
            </a:extLst>
          </p:cNvPr>
          <p:cNvSpPr txBox="1"/>
          <p:nvPr/>
        </p:nvSpPr>
        <p:spPr>
          <a:xfrm>
            <a:off x="4107711" y="4111405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Élimination</a:t>
            </a:r>
          </a:p>
        </p:txBody>
      </p:sp>
    </p:spTree>
    <p:extLst>
      <p:ext uri="{BB962C8B-B14F-4D97-AF65-F5344CB8AC3E}">
        <p14:creationId xmlns:p14="http://schemas.microsoft.com/office/powerpoint/2010/main" val="73462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2CC392CE-C656-4178-A559-7AE3D9E0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1" y="1510724"/>
            <a:ext cx="10831179" cy="416261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EB90DA1-BCC2-4CB3-B6EB-9C359FF8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réactionnel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A43D14-665D-4751-B29F-D3DA38B4D82F}"/>
              </a:ext>
            </a:extLst>
          </p:cNvPr>
          <p:cNvSpPr txBox="1"/>
          <p:nvPr/>
        </p:nvSpPr>
        <p:spPr>
          <a:xfrm>
            <a:off x="1197861" y="2146616"/>
            <a:ext cx="431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D5974D-A4D9-4BBD-9BC5-4F5B005F76C4}"/>
              </a:ext>
            </a:extLst>
          </p:cNvPr>
          <p:cNvSpPr txBox="1"/>
          <p:nvPr/>
        </p:nvSpPr>
        <p:spPr>
          <a:xfrm>
            <a:off x="1197861" y="4097332"/>
            <a:ext cx="431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7620052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360</TotalTime>
  <Words>258</Words>
  <Application>Microsoft Office PowerPoint</Application>
  <PresentationFormat>Grand écran</PresentationFormat>
  <Paragraphs>75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Rétrospective</vt:lpstr>
      <vt:lpstr>Du macroscopique au microscopique dans les synthèses organiques</vt:lpstr>
      <vt:lpstr>Réduction du benzile</vt:lpstr>
      <vt:lpstr>Chromatographie sur couche mince</vt:lpstr>
      <vt:lpstr>Spectre IR du produit</vt:lpstr>
      <vt:lpstr>Catégories de réactions</vt:lpstr>
      <vt:lpstr>Sites donneurs et accepteurs</vt:lpstr>
      <vt:lpstr>Saponification du salicylate de méthyle</vt:lpstr>
      <vt:lpstr>Saponification du salicylate de méthyle</vt:lpstr>
      <vt:lpstr>Mécanisme réactionnel</vt:lpstr>
      <vt:lpstr>Mécanisme réactionnel</vt:lpstr>
      <vt:lpstr>Mécanisme réactionnel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87</cp:revision>
  <dcterms:created xsi:type="dcterms:W3CDTF">2019-04-06T14:18:31Z</dcterms:created>
  <dcterms:modified xsi:type="dcterms:W3CDTF">2019-06-14T08:54:35Z</dcterms:modified>
</cp:coreProperties>
</file>