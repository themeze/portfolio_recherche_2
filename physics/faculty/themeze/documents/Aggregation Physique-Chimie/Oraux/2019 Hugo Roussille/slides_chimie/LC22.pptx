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5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25/06/2019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25/06/2019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25/06/2019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25/06/2019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Cinétique homogène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AEC34E-BF44-4F78-BB18-0B32ACF9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Oxydation des ions iodure par le peroxodisulfate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BE7C0F-16DC-4E7F-8000-41CCBB77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2</a:t>
            </a:fld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E596A0E1-EE7D-409C-91F8-A6E2D86C59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8408554"/>
                  </p:ext>
                </p:extLst>
              </p:nvPr>
            </p:nvGraphicFramePr>
            <p:xfrm>
              <a:off x="1109538" y="1588419"/>
              <a:ext cx="9972923" cy="18405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2435">
                      <a:extLst>
                        <a:ext uri="{9D8B030D-6E8A-4147-A177-3AD203B41FA5}">
                          <a16:colId xmlns:a16="http://schemas.microsoft.com/office/drawing/2014/main" val="1623973082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000432141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909452795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395452489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319398153"/>
                        </a:ext>
                      </a:extLst>
                    </a:gridCol>
                  </a:tblGrid>
                  <a:tr h="642137">
                    <a:tc>
                      <a:txBody>
                        <a:bodyPr/>
                        <a:lstStyle/>
                        <a:p>
                          <a:endParaRPr lang="fr-FR" sz="2400" dirty="0"/>
                        </a:p>
                      </a:txBody>
                      <a:tcPr anchor="ctr"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  <m:sSup>
                                  <m:sSup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p>
                                    <m: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aq</m:t>
                                    </m:r>
                                  </m:e>
                                </m:d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    +   </m:t>
                                </m:r>
                                <m:sSubSup>
                                  <m:sSubSup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fr-F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400" b="0" i="0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fr-FR" sz="2400" b="0" i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  <m:sup>
                                    <m: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  <m:t>2−</m:t>
                                    </m:r>
                                  </m:sup>
                                </m:sSubSup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aq</m:t>
                                    </m:r>
                                  </m:e>
                                </m:d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=      </m:t>
                                </m:r>
                                <m:sSub>
                                  <m:sSub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aq</m:t>
                                    </m:r>
                                  </m:e>
                                </m:d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    +   2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sSubSup>
                                  <m:sSubSup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aq</m:t>
                                    </m:r>
                                  </m:e>
                                </m:d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fr-FR" sz="24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9808434"/>
                      </a:ext>
                    </a:extLst>
                  </a:tr>
                  <a:tr h="5992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200" dirty="0"/>
                            <a:t>E.I.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fr-FR" sz="2200" b="0" i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e>
                                          <m:sup>
                                            <m:r>
                                              <a:rPr lang="fr-FR" sz="2200" b="0" i="0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b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fr-FR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fr-FR" sz="2200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S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fr-FR" sz="2200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4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fr-FR" sz="2200" b="0" i="0" smtClean="0">
                                                <a:latin typeface="Cambria Math" panose="02040503050406030204" pitchFamily="18" charset="0"/>
                                              </a:rPr>
                                              <m:t>O</m:t>
                                            </m:r>
                                          </m:e>
                                          <m:sub>
                                            <m: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8</m:t>
                                            </m:r>
                                          </m:sub>
                                          <m:sup>
                                            <m: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2−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b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2667681"/>
                      </a:ext>
                    </a:extLst>
                  </a:tr>
                  <a:tr h="59922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fr-FR" sz="2200" b="0" i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e>
                                          <m:sup>
                                            <m:r>
                                              <a:rPr lang="fr-FR" sz="2200" b="0" i="0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b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fr-FR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fr-FR" sz="2200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S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fr-FR" sz="2200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4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fr-FR" sz="2200" b="0" i="0" smtClean="0">
                                                <a:latin typeface="Cambria Math" panose="02040503050406030204" pitchFamily="18" charset="0"/>
                                              </a:rPr>
                                              <m:t>O</m:t>
                                            </m:r>
                                          </m:e>
                                          <m:sub>
                                            <m: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8</m:t>
                                            </m:r>
                                          </m:sub>
                                          <m:sup>
                                            <m: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2−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b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377345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au 5">
                <a:extLst>
                  <a:ext uri="{FF2B5EF4-FFF2-40B4-BE49-F238E27FC236}">
                    <a16:creationId xmlns:a16="http://schemas.microsoft.com/office/drawing/2014/main" id="{E596A0E1-EE7D-409C-91F8-A6E2D86C59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8408554"/>
                  </p:ext>
                </p:extLst>
              </p:nvPr>
            </p:nvGraphicFramePr>
            <p:xfrm>
              <a:off x="1109538" y="1588419"/>
              <a:ext cx="9972923" cy="18405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2435">
                      <a:extLst>
                        <a:ext uri="{9D8B030D-6E8A-4147-A177-3AD203B41FA5}">
                          <a16:colId xmlns:a16="http://schemas.microsoft.com/office/drawing/2014/main" val="1623973082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000432141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909452795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395452489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319398153"/>
                        </a:ext>
                      </a:extLst>
                    </a:gridCol>
                  </a:tblGrid>
                  <a:tr h="642137">
                    <a:tc>
                      <a:txBody>
                        <a:bodyPr/>
                        <a:lstStyle/>
                        <a:p>
                          <a:endParaRPr lang="fr-FR" sz="2400" dirty="0"/>
                        </a:p>
                      </a:txBody>
                      <a:tcPr anchor="ctr"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619" t="-943" r="-368" b="-18773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9808434"/>
                      </a:ext>
                    </a:extLst>
                  </a:tr>
                  <a:tr h="5992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200" dirty="0"/>
                            <a:t>E.I.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596" t="-109184" r="-302065" b="-1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2059" t="-109184" r="-201176" b="-1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82891" t="-109184" r="-101770" b="-1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1765" t="-109184" r="-1471" b="-103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67681"/>
                      </a:ext>
                    </a:extLst>
                  </a:tr>
                  <a:tr h="599222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9" t="-207071" r="-490288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2596" t="-207071" r="-302065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2059" t="-207071" r="-201176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82891" t="-207071" r="-101770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1765" t="-207071" r="-1471" b="-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77345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Espace réservé du pied de page 3">
            <a:extLst>
              <a:ext uri="{FF2B5EF4-FFF2-40B4-BE49-F238E27FC236}">
                <a16:creationId xmlns:a16="http://schemas.microsoft.com/office/drawing/2014/main" id="{5BDC2541-C7A0-42E3-9654-CD764A3C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E5FF7B1E-4D9C-4268-93E3-C5974EBDA830}"/>
                  </a:ext>
                </a:extLst>
              </p:cNvPr>
              <p:cNvSpPr txBox="1"/>
              <p:nvPr/>
            </p:nvSpPr>
            <p:spPr>
              <a:xfrm>
                <a:off x="3847568" y="4525143"/>
                <a:ext cx="4557823" cy="9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fr-F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fr-FR" sz="2400" i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p>
                                <m:r>
                                  <a:rPr lang="fr-FR" sz="24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fr-FR" sz="24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2400" i="0">
                        <a:latin typeface="Cambria Math" panose="02040503050406030204" pitchFamily="18" charset="0"/>
                      </a:rPr>
                      <m:t>=0,75 </m:t>
                    </m:r>
                    <m:r>
                      <m:rPr>
                        <m:sty m:val="p"/>
                      </m:rPr>
                      <a:rPr lang="fr-FR" sz="2400" i="0">
                        <a:latin typeface="Cambria Math" panose="02040503050406030204" pitchFamily="18" charset="0"/>
                      </a:rPr>
                      <m:t>mol</m:t>
                    </m:r>
                    <m:r>
                      <a:rPr lang="fr-FR" sz="2400" i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fr-FR" sz="2400" i="0"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endParaRPr lang="fr-FR" sz="2400" dirty="0"/>
              </a:p>
              <a:p>
                <a:pPr marL="2857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fr-FR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fr-FR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i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fr-FR" sz="2400" i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fr-FR" sz="2400" i="0">
                                    <a:latin typeface="Cambria Math" panose="02040503050406030204" pitchFamily="18" charset="0"/>
                                  </a:rPr>
                                  <m:t>O</m:t>
                                </m:r>
                              </m:e>
                              <m:sub>
                                <m:r>
                                  <a:rPr lang="fr-FR" sz="2400" i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b>
                              <m:sup>
                                <m:r>
                                  <a:rPr lang="fr-FR" sz="2400" i="0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fr-FR" sz="24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=2,5</m:t>
                    </m:r>
                    <m:r>
                      <a:rPr lang="fr-F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sup>
                    </m:sSup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mol</m:t>
                    </m:r>
                    <m:r>
                      <a:rPr lang="fr-F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</m:t>
                    </m:r>
                  </m:oMath>
                </a14:m>
                <a:endParaRPr lang="fr-FR" sz="24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E5FF7B1E-4D9C-4268-93E3-C5974EBDA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568" y="4525143"/>
                <a:ext cx="4557823" cy="992388"/>
              </a:xfrm>
              <a:prstGeom prst="rect">
                <a:avLst/>
              </a:prstGeom>
              <a:blipFill>
                <a:blip r:embed="rId3"/>
                <a:stretch>
                  <a:fillRect l="-1738" t="-3067" b="-10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835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AEC34E-BF44-4F78-BB18-0B32ACF9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Suivi spectrophotométrique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BE7C0F-16DC-4E7F-8000-41CCBB77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3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F8BC32A-9345-40CD-A4A1-C976B1F24EBF}"/>
                  </a:ext>
                </a:extLst>
              </p:cNvPr>
              <p:cNvSpPr txBox="1"/>
              <p:nvPr/>
            </p:nvSpPr>
            <p:spPr>
              <a:xfrm>
                <a:off x="1097280" y="3597965"/>
                <a:ext cx="3422540" cy="1748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b="1" dirty="0"/>
                  <a:t>Conditions initiales : </a:t>
                </a:r>
                <a:endParaRPr lang="fr-FR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200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p>
                                  <m:r>
                                    <a:rPr lang="fr-FR" sz="20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=0,75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fr-F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fr-FR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fr-FR" sz="200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fr-FR" sz="2000"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e>
                                <m:sub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  <m:sup>
                                  <m:r>
                                    <a:rPr lang="fr-FR" sz="2000" i="1">
                                      <a:latin typeface="Cambria Math" panose="02040503050406030204" pitchFamily="18" charset="0"/>
                                    </a:rPr>
                                    <m:t>2−</m:t>
                                  </m:r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fr-FR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2,5.10</m:t>
                          </m:r>
                        </m:e>
                        <m:sup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fr-FR" sz="2000" dirty="0"/>
              </a:p>
              <a:p>
                <a:endParaRPr lang="fr-FR" sz="2000" dirty="0"/>
              </a:p>
              <a:p>
                <a:r>
                  <a:rPr lang="fr-FR" sz="2000" b="1" dirty="0"/>
                  <a:t>Absorbance :</a:t>
                </a:r>
                <a:r>
                  <a:rPr lang="fr-FR" sz="2000" dirty="0"/>
                  <a:t>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fr-FR" sz="2000" i="1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sz="200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fr-FR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borderBox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F8BC32A-9345-40CD-A4A1-C976B1F24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3597965"/>
                <a:ext cx="3422540" cy="1748684"/>
              </a:xfrm>
              <a:prstGeom prst="rect">
                <a:avLst/>
              </a:prstGeom>
              <a:blipFill>
                <a:blip r:embed="rId2"/>
                <a:stretch>
                  <a:fillRect l="-1783" t="-1742" b="-17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au 6">
                <a:extLst>
                  <a:ext uri="{FF2B5EF4-FFF2-40B4-BE49-F238E27FC236}">
                    <a16:creationId xmlns:a16="http://schemas.microsoft.com/office/drawing/2014/main" id="{A9BAF128-A1C8-4697-9836-51BA97B174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4507933"/>
                  </p:ext>
                </p:extLst>
              </p:nvPr>
            </p:nvGraphicFramePr>
            <p:xfrm>
              <a:off x="1109538" y="1588419"/>
              <a:ext cx="9972923" cy="18405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2435">
                      <a:extLst>
                        <a:ext uri="{9D8B030D-6E8A-4147-A177-3AD203B41FA5}">
                          <a16:colId xmlns:a16="http://schemas.microsoft.com/office/drawing/2014/main" val="1623973082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000432141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909452795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395452489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319398153"/>
                        </a:ext>
                      </a:extLst>
                    </a:gridCol>
                  </a:tblGrid>
                  <a:tr h="642137">
                    <a:tc>
                      <a:txBody>
                        <a:bodyPr/>
                        <a:lstStyle/>
                        <a:p>
                          <a:endParaRPr lang="fr-FR" sz="2400" dirty="0"/>
                        </a:p>
                      </a:txBody>
                      <a:tcPr anchor="ctr"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  <m:sSup>
                                  <m:sSup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p>
                                    <m: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aq</m:t>
                                    </m:r>
                                  </m:e>
                                </m:d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    +   </m:t>
                                </m:r>
                                <m:sSubSup>
                                  <m:sSubSup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fr-F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400" b="0" i="0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fr-FR" sz="2400" b="0" i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  <m:sup>
                                    <m: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  <m:t>2−</m:t>
                                    </m:r>
                                  </m:sup>
                                </m:sSubSup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aq</m:t>
                                    </m:r>
                                  </m:e>
                                </m:d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=      </m:t>
                                </m:r>
                                <m:sSub>
                                  <m:sSub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aq</m:t>
                                    </m:r>
                                  </m:e>
                                </m:d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    +   2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sSubSup>
                                  <m:sSubSup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aq</m:t>
                                    </m:r>
                                  </m:e>
                                </m:d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fr-FR" sz="24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9808434"/>
                      </a:ext>
                    </a:extLst>
                  </a:tr>
                  <a:tr h="5992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200" dirty="0"/>
                            <a:t>E.I.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fr-FR" sz="2200" b="0" i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e>
                                          <m:sup>
                                            <m:r>
                                              <a:rPr lang="fr-FR" sz="2200" b="0" i="0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b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fr-FR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fr-FR" sz="2200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S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fr-FR" sz="2200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4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fr-FR" sz="2200" b="0" i="0" smtClean="0">
                                                <a:latin typeface="Cambria Math" panose="02040503050406030204" pitchFamily="18" charset="0"/>
                                              </a:rPr>
                                              <m:t>O</m:t>
                                            </m:r>
                                          </m:e>
                                          <m:sub>
                                            <m: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8</m:t>
                                            </m:r>
                                          </m:sub>
                                          <m:sup>
                                            <m: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2−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b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2667681"/>
                      </a:ext>
                    </a:extLst>
                  </a:tr>
                  <a:tr h="59922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fr-FR" sz="2200" b="0" i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e>
                                          <m:sup>
                                            <m:r>
                                              <a:rPr lang="fr-FR" sz="2200" b="0" i="0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b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fr-FR" sz="2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fr-FR" sz="2200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S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fr-FR" sz="2200" b="0" i="0" smtClean="0">
                                                    <a:latin typeface="Cambria Math" panose="02040503050406030204" pitchFamily="18" charset="0"/>
                                                  </a:rPr>
                                                  <m:t>4</m:t>
                                                </m:r>
                                              </m:sub>
                                            </m:s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fr-FR" sz="2200" b="0" i="0" smtClean="0">
                                                <a:latin typeface="Cambria Math" panose="02040503050406030204" pitchFamily="18" charset="0"/>
                                              </a:rPr>
                                              <m:t>O</m:t>
                                            </m:r>
                                          </m:e>
                                          <m:sub>
                                            <m: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8</m:t>
                                            </m:r>
                                          </m:sub>
                                          <m:sup>
                                            <m:r>
                                              <a:rPr lang="fr-FR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2−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b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377345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au 6">
                <a:extLst>
                  <a:ext uri="{FF2B5EF4-FFF2-40B4-BE49-F238E27FC236}">
                    <a16:creationId xmlns:a16="http://schemas.microsoft.com/office/drawing/2014/main" id="{A9BAF128-A1C8-4697-9836-51BA97B174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94507933"/>
                  </p:ext>
                </p:extLst>
              </p:nvPr>
            </p:nvGraphicFramePr>
            <p:xfrm>
              <a:off x="1109538" y="1588419"/>
              <a:ext cx="9972923" cy="18405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2435">
                      <a:extLst>
                        <a:ext uri="{9D8B030D-6E8A-4147-A177-3AD203B41FA5}">
                          <a16:colId xmlns:a16="http://schemas.microsoft.com/office/drawing/2014/main" val="1623973082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000432141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909452795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395452489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319398153"/>
                        </a:ext>
                      </a:extLst>
                    </a:gridCol>
                  </a:tblGrid>
                  <a:tr h="642137">
                    <a:tc>
                      <a:txBody>
                        <a:bodyPr/>
                        <a:lstStyle/>
                        <a:p>
                          <a:endParaRPr lang="fr-FR" sz="2400" dirty="0"/>
                        </a:p>
                      </a:txBody>
                      <a:tcPr anchor="ctr"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619" t="-943" r="-368" b="-18773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9808434"/>
                      </a:ext>
                    </a:extLst>
                  </a:tr>
                  <a:tr h="5992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200" dirty="0"/>
                            <a:t>E.I.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2596" t="-109184" r="-302065" b="-1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2059" t="-109184" r="-201176" b="-1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2891" t="-109184" r="-101770" b="-1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81765" t="-109184" r="-1471" b="-103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67681"/>
                      </a:ext>
                    </a:extLst>
                  </a:tr>
                  <a:tr h="599222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19" t="-207071" r="-490288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2596" t="-207071" r="-302065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2059" t="-207071" r="-201176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2891" t="-207071" r="-101770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81765" t="-207071" r="-1471" b="-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77345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0BA21446-0C6E-4D75-AA59-A4C649C28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875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AEC34E-BF44-4F78-BB18-0B32ACF9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4000" dirty="0"/>
              <a:t>Méthode des proportions stœchiométriques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7BE7C0F-16DC-4E7F-8000-41CCBB772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4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9722EE3-502C-4E64-82F4-DF5F202C6F5C}"/>
                  </a:ext>
                </a:extLst>
              </p:cNvPr>
              <p:cNvSpPr/>
              <p:nvPr/>
            </p:nvSpPr>
            <p:spPr>
              <a:xfrm>
                <a:off x="1097280" y="3703034"/>
                <a:ext cx="7118487" cy="15595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2000" b="1" dirty="0"/>
                  <a:t>Vitesse de réaction : </a:t>
                </a:r>
              </a:p>
              <a:p>
                <a:endParaRPr lang="fr-FR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fr-F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24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p>
                                  <m:r>
                                    <a:rPr lang="fr-FR" sz="2400" b="0" i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>
                                    <m:sSubPr>
                                      <m:ctrlPr>
                                        <a:rPr lang="fr-F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240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a:rPr lang="fr-FR" sz="240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fr-FR" sz="2400"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e>
                                <m:sub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  <m:sup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2−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e>
                      </m:d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fr-F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</m:oMath>
                  </m:oMathPara>
                </a14:m>
                <a:endParaRPr lang="fr-FR" sz="2400" b="0" dirty="0"/>
              </a:p>
              <a:p>
                <a:endParaRPr lang="fr-FR" sz="5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=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𝑎𝑝𝑝</m:t>
                          </m:r>
                        </m:sub>
                      </m:sSub>
                      <m:sSup>
                        <m:sSup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fr-FR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9722EE3-502C-4E64-82F4-DF5F202C6F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3703034"/>
                <a:ext cx="7118487" cy="1559529"/>
              </a:xfrm>
              <a:prstGeom prst="rect">
                <a:avLst/>
              </a:prstGeom>
              <a:blipFill>
                <a:blip r:embed="rId2"/>
                <a:stretch>
                  <a:fillRect l="-856" t="-1953" b="-117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au 7">
                <a:extLst>
                  <a:ext uri="{FF2B5EF4-FFF2-40B4-BE49-F238E27FC236}">
                    <a16:creationId xmlns:a16="http://schemas.microsoft.com/office/drawing/2014/main" id="{DDBB8CEA-93B4-4265-A401-8C6A39120D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5172423"/>
                  </p:ext>
                </p:extLst>
              </p:nvPr>
            </p:nvGraphicFramePr>
            <p:xfrm>
              <a:off x="1109538" y="1588419"/>
              <a:ext cx="9972923" cy="18405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2435">
                      <a:extLst>
                        <a:ext uri="{9D8B030D-6E8A-4147-A177-3AD203B41FA5}">
                          <a16:colId xmlns:a16="http://schemas.microsoft.com/office/drawing/2014/main" val="1623973082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000432141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909452795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395452489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319398153"/>
                        </a:ext>
                      </a:extLst>
                    </a:gridCol>
                  </a:tblGrid>
                  <a:tr h="642137">
                    <a:tc>
                      <a:txBody>
                        <a:bodyPr/>
                        <a:lstStyle/>
                        <a:p>
                          <a:endParaRPr lang="fr-FR" sz="2400" dirty="0"/>
                        </a:p>
                      </a:txBody>
                      <a:tcPr anchor="ctr"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  2</m:t>
                                </m:r>
                                <m:sSup>
                                  <m:sSup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p>
                                    <m: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  <m: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aq</m:t>
                                    </m:r>
                                  </m:e>
                                </m:d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    +   </m:t>
                                </m:r>
                                <m:sSubSup>
                                  <m:sSubSup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fr-FR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fr-FR" sz="2400" b="0" i="0" smtClean="0">
                                            <a:latin typeface="Cambria Math" panose="02040503050406030204" pitchFamily="18" charset="0"/>
                                          </a:rPr>
                                          <m:t>S</m:t>
                                        </m:r>
                                      </m:e>
                                      <m:sub>
                                        <m:r>
                                          <a:rPr lang="fr-FR" sz="2400" b="0" i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  <m:sup>
                                    <m: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  <m:t>2−</m:t>
                                    </m:r>
                                  </m:sup>
                                </m:sSubSup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aq</m:t>
                                    </m:r>
                                  </m:e>
                                </m:d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=      </m:t>
                                </m:r>
                                <m:sSub>
                                  <m:sSub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e>
                                  <m:sub>
                                    <m: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aq</m:t>
                                    </m:r>
                                  </m:e>
                                </m:d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    +   2 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24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sSubSup>
                                  <m:sSubSup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O</m:t>
                                    </m:r>
                                  </m:e>
                                  <m:sub>
                                    <m: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  <m:sup>
                                    <m: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fr-F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2400" b="0" i="0" smtClean="0">
                                        <a:latin typeface="Cambria Math" panose="02040503050406030204" pitchFamily="18" charset="0"/>
                                      </a:rPr>
                                      <m:t>aq</m:t>
                                    </m:r>
                                  </m:e>
                                </m:d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oMath>
                            </m:oMathPara>
                          </a14:m>
                          <a:endParaRPr lang="fr-FR" sz="24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9808434"/>
                      </a:ext>
                    </a:extLst>
                  </a:tr>
                  <a:tr h="5992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200" dirty="0"/>
                            <a:t>E.I.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2667681"/>
                      </a:ext>
                    </a:extLst>
                  </a:tr>
                  <a:tr h="59922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2200" b="0" i="1" smtClean="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lang="fr-FR" sz="22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fr-FR" sz="22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fr-FR" sz="2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fr-FR" sz="2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3773453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au 7">
                <a:extLst>
                  <a:ext uri="{FF2B5EF4-FFF2-40B4-BE49-F238E27FC236}">
                    <a16:creationId xmlns:a16="http://schemas.microsoft.com/office/drawing/2014/main" id="{DDBB8CEA-93B4-4265-A401-8C6A39120D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5172423"/>
                  </p:ext>
                </p:extLst>
              </p:nvPr>
            </p:nvGraphicFramePr>
            <p:xfrm>
              <a:off x="1109538" y="1588419"/>
              <a:ext cx="9972923" cy="18405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92435">
                      <a:extLst>
                        <a:ext uri="{9D8B030D-6E8A-4147-A177-3AD203B41FA5}">
                          <a16:colId xmlns:a16="http://schemas.microsoft.com/office/drawing/2014/main" val="1623973082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000432141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909452795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395452489"/>
                        </a:ext>
                      </a:extLst>
                    </a:gridCol>
                    <a:gridCol w="2070122">
                      <a:extLst>
                        <a:ext uri="{9D8B030D-6E8A-4147-A177-3AD203B41FA5}">
                          <a16:colId xmlns:a16="http://schemas.microsoft.com/office/drawing/2014/main" val="1319398153"/>
                        </a:ext>
                      </a:extLst>
                    </a:gridCol>
                  </a:tblGrid>
                  <a:tr h="642137">
                    <a:tc>
                      <a:txBody>
                        <a:bodyPr/>
                        <a:lstStyle/>
                        <a:p>
                          <a:endParaRPr lang="fr-FR" sz="2400" dirty="0"/>
                        </a:p>
                      </a:txBody>
                      <a:tcPr anchor="ctr">
                        <a:noFill/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619" t="-943" r="-368" b="-18773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fr-F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9808434"/>
                      </a:ext>
                    </a:extLst>
                  </a:tr>
                  <a:tr h="5992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200" dirty="0"/>
                            <a:t>E.I.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2596" t="-109184" r="-302065" b="-1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2059" t="-109184" r="-201176" b="-1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2891" t="-109184" r="-101770" b="-103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81765" t="-109184" r="-1471" b="-103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67681"/>
                      </a:ext>
                    </a:extLst>
                  </a:tr>
                  <a:tr h="599222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19" t="-207071" r="-490288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2596" t="-207071" r="-302065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82059" t="-207071" r="-201176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2891" t="-207071" r="-101770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81765" t="-207071" r="-1471" b="-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77345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50519594-3E76-45D9-A16E-B9C8AAFB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0824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EE2259-00B5-4C53-A95B-C2C4B3D6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intégrale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Espace réservé du contenu 7">
                <a:extLst>
                  <a:ext uri="{FF2B5EF4-FFF2-40B4-BE49-F238E27FC236}">
                    <a16:creationId xmlns:a16="http://schemas.microsoft.com/office/drawing/2014/main" id="{9A146F18-E262-4E42-83C5-AB1503123594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505902" y="2117649"/>
              <a:ext cx="11241156" cy="2316163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3747052">
                      <a:extLst>
                        <a:ext uri="{9D8B030D-6E8A-4147-A177-3AD203B41FA5}">
                          <a16:colId xmlns:a16="http://schemas.microsoft.com/office/drawing/2014/main" val="476309865"/>
                        </a:ext>
                      </a:extLst>
                    </a:gridCol>
                    <a:gridCol w="3747052">
                      <a:extLst>
                        <a:ext uri="{9D8B030D-6E8A-4147-A177-3AD203B41FA5}">
                          <a16:colId xmlns:a16="http://schemas.microsoft.com/office/drawing/2014/main" val="2518987656"/>
                        </a:ext>
                      </a:extLst>
                    </a:gridCol>
                    <a:gridCol w="3747052">
                      <a:extLst>
                        <a:ext uri="{9D8B030D-6E8A-4147-A177-3AD203B41FA5}">
                          <a16:colId xmlns:a16="http://schemas.microsoft.com/office/drawing/2014/main" val="494296842"/>
                        </a:ext>
                      </a:extLst>
                    </a:gridCol>
                  </a:tblGrid>
                  <a:tr h="5499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9741980"/>
                      </a:ext>
                    </a:extLst>
                  </a:tr>
                  <a:tr h="176622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orderBox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𝑘𝑡</m:t>
                                    </m:r>
                                  </m:e>
                                </m:borderBox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𝑘𝑡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dirty="0"/>
                        </a:p>
                        <a:p>
                          <a:pPr algn="ctr"/>
                          <a:endParaRPr lang="fr-FR" sz="110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orderBoxPr>
                                  <m:e>
                                    <m:func>
                                      <m:func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f>
                                          <m:fPr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e>
                                            </m:d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d>
                                                  <m:dPr>
                                                    <m:begChr m:val="["/>
                                                    <m:endChr m:val="]"/>
                                                    <m:ctrlPr>
                                                      <a:rPr lang="fr-FR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fr-FR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𝐴</m:t>
                                                    </m:r>
                                                  </m:e>
                                                </m:d>
                                              </m:e>
                                              <m:sub>
                                                <m: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func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=−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𝑘𝑡</m:t>
                                    </m:r>
                                  </m:e>
                                </m:borderBox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𝑑𝑡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 algn="ctr"/>
                          <a:endParaRPr lang="fr-FR" sz="110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orderBoxPr>
                                  <m:e>
                                    <m:f>
                                      <m:f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d>
                                      </m:den>
                                    </m:f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𝑘𝑡</m:t>
                                    </m:r>
                                  </m:e>
                                </m:borderBox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96126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Espace réservé du contenu 7">
                <a:extLst>
                  <a:ext uri="{FF2B5EF4-FFF2-40B4-BE49-F238E27FC236}">
                    <a16:creationId xmlns:a16="http://schemas.microsoft.com/office/drawing/2014/main" id="{9A146F18-E262-4E42-83C5-AB150312359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50371040"/>
                  </p:ext>
                </p:extLst>
              </p:nvPr>
            </p:nvGraphicFramePr>
            <p:xfrm>
              <a:off x="505902" y="2117649"/>
              <a:ext cx="11241156" cy="2316163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3747052">
                      <a:extLst>
                        <a:ext uri="{9D8B030D-6E8A-4147-A177-3AD203B41FA5}">
                          <a16:colId xmlns:a16="http://schemas.microsoft.com/office/drawing/2014/main" val="476309865"/>
                        </a:ext>
                      </a:extLst>
                    </a:gridCol>
                    <a:gridCol w="3747052">
                      <a:extLst>
                        <a:ext uri="{9D8B030D-6E8A-4147-A177-3AD203B41FA5}">
                          <a16:colId xmlns:a16="http://schemas.microsoft.com/office/drawing/2014/main" val="2518987656"/>
                        </a:ext>
                      </a:extLst>
                    </a:gridCol>
                    <a:gridCol w="3747052">
                      <a:extLst>
                        <a:ext uri="{9D8B030D-6E8A-4147-A177-3AD203B41FA5}">
                          <a16:colId xmlns:a16="http://schemas.microsoft.com/office/drawing/2014/main" val="494296842"/>
                        </a:ext>
                      </a:extLst>
                    </a:gridCol>
                  </a:tblGrid>
                  <a:tr h="5499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9741980"/>
                      </a:ext>
                    </a:extLst>
                  </a:tr>
                  <a:tr h="1766227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3" t="-31271" r="-200650" b="-6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31271" r="-100325" b="-6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25" t="-31271" r="-488" b="-6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96126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63F9973-5E9D-4CF9-805B-6D980BE6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5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0E1C2B52-D76D-4C57-8BE7-51EF78387ACA}"/>
                  </a:ext>
                </a:extLst>
              </p:cNvPr>
              <p:cNvSpPr txBox="1"/>
              <p:nvPr/>
            </p:nvSpPr>
            <p:spPr>
              <a:xfrm>
                <a:off x="1096963" y="1509620"/>
                <a:ext cx="852361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2000" b="0" dirty="0"/>
                  <a:t>Réaction :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→…</m:t>
                    </m:r>
                  </m:oMath>
                </a14:m>
                <a:r>
                  <a:rPr lang="fr-FR" sz="2000" dirty="0"/>
                  <a:t>								Loi de vitesse :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0E1C2B52-D76D-4C57-8BE7-51EF78387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63" y="1509620"/>
                <a:ext cx="8523615" cy="307777"/>
              </a:xfrm>
              <a:prstGeom prst="rect">
                <a:avLst/>
              </a:prstGeom>
              <a:blipFill>
                <a:blip r:embed="rId3"/>
                <a:stretch>
                  <a:fillRect l="-1860" t="-26000" b="-5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604131E7-8F86-4826-B8A3-2F8B27AB6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7807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EE2259-00B5-4C53-A95B-C2C4B3D6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 intégrale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Espace réservé du contenu 7">
                <a:extLst>
                  <a:ext uri="{FF2B5EF4-FFF2-40B4-BE49-F238E27FC236}">
                    <a16:creationId xmlns:a16="http://schemas.microsoft.com/office/drawing/2014/main" id="{9A146F18-E262-4E42-83C5-AB1503123594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505902" y="2117649"/>
              <a:ext cx="11241156" cy="3885077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3747052">
                      <a:extLst>
                        <a:ext uri="{9D8B030D-6E8A-4147-A177-3AD203B41FA5}">
                          <a16:colId xmlns:a16="http://schemas.microsoft.com/office/drawing/2014/main" val="476309865"/>
                        </a:ext>
                      </a:extLst>
                    </a:gridCol>
                    <a:gridCol w="3747052">
                      <a:extLst>
                        <a:ext uri="{9D8B030D-6E8A-4147-A177-3AD203B41FA5}">
                          <a16:colId xmlns:a16="http://schemas.microsoft.com/office/drawing/2014/main" val="2518987656"/>
                        </a:ext>
                      </a:extLst>
                    </a:gridCol>
                    <a:gridCol w="3747052">
                      <a:extLst>
                        <a:ext uri="{9D8B030D-6E8A-4147-A177-3AD203B41FA5}">
                          <a16:colId xmlns:a16="http://schemas.microsoft.com/office/drawing/2014/main" val="494296842"/>
                        </a:ext>
                      </a:extLst>
                    </a:gridCol>
                  </a:tblGrid>
                  <a:tr h="5499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9741980"/>
                      </a:ext>
                    </a:extLst>
                  </a:tr>
                  <a:tr h="176622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orderBox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𝑘𝑡</m:t>
                                    </m:r>
                                  </m:e>
                                </m:borderBox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𝑘𝑡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dirty="0"/>
                        </a:p>
                        <a:p>
                          <a:pPr algn="ctr"/>
                          <a:endParaRPr lang="fr-FR" sz="110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orderBoxPr>
                                  <m:e>
                                    <m:func>
                                      <m:func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fr-FR" b="0" i="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ln</m:t>
                                        </m:r>
                                      </m:fName>
                                      <m:e>
                                        <m:f>
                                          <m:fPr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e>
                                            </m:d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d>
                                                  <m:dPr>
                                                    <m:begChr m:val="["/>
                                                    <m:endChr m:val="]"/>
                                                    <m:ctrlPr>
                                                      <a:rPr lang="fr-FR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fr-FR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𝐴</m:t>
                                                    </m:r>
                                                  </m:e>
                                                </m:d>
                                              </m:e>
                                              <m:sub>
                                                <m: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func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=−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𝑘𝑡</m:t>
                                    </m:r>
                                  </m:e>
                                </m:borderBox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𝑑𝑡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  <a:p>
                          <a:pPr algn="ctr"/>
                          <a:endParaRPr lang="fr-FR" sz="110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orderBoxPr>
                                  <m:e>
                                    <m:f>
                                      <m:f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d>
                                      </m:den>
                                    </m:f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𝑘𝑡</m:t>
                                    </m:r>
                                  </m:e>
                                </m:borderBox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99612672"/>
                      </a:ext>
                    </a:extLst>
                  </a:tr>
                  <a:tr h="156891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f>
                                          <m:fPr>
                                            <m:type m:val="lin"/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b>
                                    </m:sSub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orderBox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f>
                                          <m:fPr>
                                            <m:type m:val="lin"/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b>
                                    </m:s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f>
                                      <m:f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den>
                                    </m:f>
                                  </m:e>
                                </m:borderBox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f>
                                          <m:fPr>
                                            <m:type m:val="lin"/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b>
                                    </m:sSub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orderBox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f>
                                          <m:fPr>
                                            <m:type m:val="lin"/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b>
                                    </m:s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f>
                                      <m:f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func>
                                          <m:funcPr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fr-FR" b="0" i="0" smtClean="0">
                                                <a:latin typeface="Cambria Math" panose="02040503050406030204" pitchFamily="18" charset="0"/>
                                              </a:rPr>
                                              <m:t>ln</m:t>
                                            </m:r>
                                          </m:fName>
                                          <m:e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</m:func>
                                      </m:num>
                                      <m:den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den>
                                    </m:f>
                                  </m:e>
                                </m:borderBox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d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f>
                                          <m:fPr>
                                            <m:type m:val="lin"/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b>
                                    </m:sSub>
                                  </m:sub>
                                </m:s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⟹</m:t>
                                </m:r>
                                <m:borderBox>
                                  <m:borderBox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orderBoxPr>
                                  <m:e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f>
                                          <m:fPr>
                                            <m:type m:val="lin"/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b>
                                    </m:s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f>
                                      <m:f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sSub>
                                          <m:sSubPr>
                                            <m:ctrlP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d>
                                              <m:dPr>
                                                <m:begChr m:val="["/>
                                                <m:endChr m:val="]"/>
                                                <m:ctrlP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fr-FR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e>
                                            </m:d>
                                          </m:e>
                                          <m:sub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borderBox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656730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Espace réservé du contenu 7">
                <a:extLst>
                  <a:ext uri="{FF2B5EF4-FFF2-40B4-BE49-F238E27FC236}">
                    <a16:creationId xmlns:a16="http://schemas.microsoft.com/office/drawing/2014/main" id="{9A146F18-E262-4E42-83C5-AB150312359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54219412"/>
                  </p:ext>
                </p:extLst>
              </p:nvPr>
            </p:nvGraphicFramePr>
            <p:xfrm>
              <a:off x="505902" y="2117649"/>
              <a:ext cx="11241156" cy="3885077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3747052">
                      <a:extLst>
                        <a:ext uri="{9D8B030D-6E8A-4147-A177-3AD203B41FA5}">
                          <a16:colId xmlns:a16="http://schemas.microsoft.com/office/drawing/2014/main" val="476309865"/>
                        </a:ext>
                      </a:extLst>
                    </a:gridCol>
                    <a:gridCol w="3747052">
                      <a:extLst>
                        <a:ext uri="{9D8B030D-6E8A-4147-A177-3AD203B41FA5}">
                          <a16:colId xmlns:a16="http://schemas.microsoft.com/office/drawing/2014/main" val="2518987656"/>
                        </a:ext>
                      </a:extLst>
                    </a:gridCol>
                    <a:gridCol w="3747052">
                      <a:extLst>
                        <a:ext uri="{9D8B030D-6E8A-4147-A177-3AD203B41FA5}">
                          <a16:colId xmlns:a16="http://schemas.microsoft.com/office/drawing/2014/main" val="494296842"/>
                        </a:ext>
                      </a:extLst>
                    </a:gridCol>
                  </a:tblGrid>
                  <a:tr h="5499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000" dirty="0"/>
                            <a:t>Ordre 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9741980"/>
                      </a:ext>
                    </a:extLst>
                  </a:tr>
                  <a:tr h="1766227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3" t="-31379" r="-200650" b="-89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31379" r="-100325" b="-89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25" t="-31379" r="-488" b="-89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9612672"/>
                      </a:ext>
                    </a:extLst>
                  </a:tr>
                  <a:tr h="1568914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63" t="-147674" r="-200650" b="-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147674" r="-100325" b="-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25" t="-147674" r="-488" b="-7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56730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63F9973-5E9D-4CF9-805B-6D980BE6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t>6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0E1C2B52-D76D-4C57-8BE7-51EF78387ACA}"/>
                  </a:ext>
                </a:extLst>
              </p:cNvPr>
              <p:cNvSpPr txBox="1"/>
              <p:nvPr/>
            </p:nvSpPr>
            <p:spPr>
              <a:xfrm>
                <a:off x="1096963" y="1509620"/>
                <a:ext cx="852361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2000" b="0" dirty="0"/>
                  <a:t>Réaction :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→…</m:t>
                    </m:r>
                  </m:oMath>
                </a14:m>
                <a:r>
                  <a:rPr lang="fr-FR" sz="2000" dirty="0"/>
                  <a:t>								Loi de vitesse : </a:t>
                </a: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fr-FR" sz="20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0E1C2B52-D76D-4C57-8BE7-51EF78387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63" y="1509620"/>
                <a:ext cx="8523615" cy="307777"/>
              </a:xfrm>
              <a:prstGeom prst="rect">
                <a:avLst/>
              </a:prstGeom>
              <a:blipFill>
                <a:blip r:embed="rId3"/>
                <a:stretch>
                  <a:fillRect l="-1860" t="-26000" b="-5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3">
            <a:extLst>
              <a:ext uri="{FF2B5EF4-FFF2-40B4-BE49-F238E27FC236}">
                <a16:creationId xmlns:a16="http://schemas.microsoft.com/office/drawing/2014/main" id="{C7376BF8-F83D-4D9C-93F8-06B12663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5051501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994</TotalTime>
  <Words>298</Words>
  <Application>Microsoft Office PowerPoint</Application>
  <PresentationFormat>Grand écran</PresentationFormat>
  <Paragraphs>89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Rétrospective</vt:lpstr>
      <vt:lpstr>Cinétique homogène</vt:lpstr>
      <vt:lpstr>Oxydation des ions iodure par le peroxodisulfate</vt:lpstr>
      <vt:lpstr>Suivi spectrophotométrique</vt:lpstr>
      <vt:lpstr>Méthode des proportions stœchiométriques</vt:lpstr>
      <vt:lpstr>Méthode intégrale</vt:lpstr>
      <vt:lpstr>Méthode intégrale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64</cp:revision>
  <dcterms:created xsi:type="dcterms:W3CDTF">2019-04-06T14:18:31Z</dcterms:created>
  <dcterms:modified xsi:type="dcterms:W3CDTF">2019-06-25T21:01:06Z</dcterms:modified>
</cp:coreProperties>
</file>