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70" r:id="rId4"/>
    <p:sldId id="269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>
        <p:scale>
          <a:sx n="116" d="100"/>
          <a:sy n="116" d="100"/>
        </p:scale>
        <p:origin x="-1124" y="-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65877"/>
            <a:ext cx="10058400" cy="44032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830345-3359-45F6-9740-A8750A9F8A1D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245523" y="1369250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Corps pur et mélanges binaires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CD7D2-FFBE-46B6-97C2-41B8FBD0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p-T de l’eau</a:t>
            </a:r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7C350105-6897-4497-AB5F-73B69D974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889" y="1933115"/>
            <a:ext cx="6026549" cy="4170756"/>
          </a:xfrm>
        </p:spPr>
      </p:pic>
    </p:spTree>
    <p:extLst>
      <p:ext uri="{BB962C8B-B14F-4D97-AF65-F5344CB8AC3E}">
        <p14:creationId xmlns:p14="http://schemas.microsoft.com/office/powerpoint/2010/main" val="427337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8E6D8E3D-1577-465D-9EF4-034B10F7BC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" t="6351" r="42299" b="6463"/>
          <a:stretch/>
        </p:blipFill>
        <p:spPr bwMode="auto">
          <a:xfrm>
            <a:off x="2901692" y="1378945"/>
            <a:ext cx="5976937" cy="4908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A429D99-7592-4541-9B33-E1188299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Courbe d’analyse thermique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575207-63A3-495E-B2EB-446F1996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AE0A2A-764E-4515-9975-C463625F3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279" y="1790107"/>
            <a:ext cx="877163" cy="3693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ln w="0"/>
                <a:solidFill>
                  <a:schemeClr val="accent1"/>
                </a:solidFill>
              </a:rPr>
              <a:t>Cu pur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4F91598-7518-4FBB-AA1B-0C7A0FE05302}"/>
              </a:ext>
            </a:extLst>
          </p:cNvPr>
          <p:cNvCxnSpPr/>
          <p:nvPr/>
        </p:nvCxnSpPr>
        <p:spPr>
          <a:xfrm rot="5400000">
            <a:off x="3661310" y="2519564"/>
            <a:ext cx="65722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346D28CF-20C3-4F5E-8FB0-06299059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9579" y="1644057"/>
            <a:ext cx="800219" cy="369332"/>
          </a:xfrm>
          <a:prstGeom prst="rect">
            <a:avLst/>
          </a:prstGeom>
          <a:ln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dirty="0">
                <a:solidFill>
                  <a:schemeClr val="accent5"/>
                </a:solidFill>
              </a:rPr>
              <a:t>Ni pur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1B8C179-D134-4CAB-B106-AB5DE53DAF6B}"/>
              </a:ext>
            </a:extLst>
          </p:cNvPr>
          <p:cNvCxnSpPr/>
          <p:nvPr/>
        </p:nvCxnSpPr>
        <p:spPr>
          <a:xfrm rot="10800000">
            <a:off x="6948229" y="1863132"/>
            <a:ext cx="658813" cy="1588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2913D2F8-37E2-4120-B07E-4DCEDA9EC817}"/>
              </a:ext>
            </a:extLst>
          </p:cNvPr>
          <p:cNvSpPr txBox="1">
            <a:spLocks noChangeArrowheads="1"/>
          </p:cNvSpPr>
          <p:nvPr/>
        </p:nvSpPr>
        <p:spPr bwMode="auto">
          <a:xfrm rot="4620000">
            <a:off x="3591460" y="3799089"/>
            <a:ext cx="928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 dirty="0">
                <a:solidFill>
                  <a:srgbClr val="C00000"/>
                </a:solidFill>
              </a:rPr>
              <a:t>liquide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A311E9-E337-4DFC-9082-914E6A3622C6}"/>
              </a:ext>
            </a:extLst>
          </p:cNvPr>
          <p:cNvSpPr txBox="1">
            <a:spLocks noChangeArrowheads="1"/>
          </p:cNvSpPr>
          <p:nvPr/>
        </p:nvSpPr>
        <p:spPr bwMode="auto">
          <a:xfrm rot="4440000">
            <a:off x="4548723" y="5059563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>
                <a:solidFill>
                  <a:srgbClr val="C00000"/>
                </a:solidFill>
              </a:rPr>
              <a:t>solide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59390B-0560-42AC-AE23-B46366E1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329" y="4523782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>
                <a:solidFill>
                  <a:srgbClr val="C00000"/>
                </a:solidFill>
              </a:rPr>
              <a:t>liq/sol</a:t>
            </a:r>
          </a:p>
        </p:txBody>
      </p:sp>
    </p:spTree>
    <p:extLst>
      <p:ext uri="{BB962C8B-B14F-4D97-AF65-F5344CB8AC3E}">
        <p14:creationId xmlns:p14="http://schemas.microsoft.com/office/powerpoint/2010/main" val="283437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C1E7D0-C495-4F32-BAD7-D23C81A4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Construction du diagramme binaire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79CF4-336C-4F66-850A-F89638E3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09C8727-A57B-4B5C-97A2-F6640C396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6" t="3810" r="5856"/>
          <a:stretch>
            <a:fillRect/>
          </a:stretch>
        </p:blipFill>
        <p:spPr bwMode="auto">
          <a:xfrm>
            <a:off x="1883569" y="1539723"/>
            <a:ext cx="8424862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4">
            <a:extLst>
              <a:ext uri="{FF2B5EF4-FFF2-40B4-BE49-F238E27FC236}">
                <a16:creationId xmlns:a16="http://schemas.microsoft.com/office/drawing/2014/main" id="{8239F863-1528-417A-83AD-0D6FAE782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6381" y="2971648"/>
            <a:ext cx="4305300" cy="0"/>
          </a:xfrm>
          <a:prstGeom prst="line">
            <a:avLst/>
          </a:prstGeom>
          <a:noFill/>
          <a:ln w="44450">
            <a:solidFill>
              <a:schemeClr val="accent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892D8C12-334F-421F-93E8-4D1DC20B1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54" y="1900086"/>
            <a:ext cx="274711" cy="268930"/>
          </a:xfrm>
          <a:prstGeom prst="ellipse">
            <a:avLst/>
          </a:prstGeom>
          <a:noFill/>
          <a:ln w="28575">
            <a:solidFill>
              <a:schemeClr val="accent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chemeClr val="accent5"/>
              </a:solidFill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3303B562-9C03-450F-8E44-22797C2AB3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4656" y="4651124"/>
            <a:ext cx="4305300" cy="0"/>
          </a:xfrm>
          <a:prstGeom prst="line">
            <a:avLst/>
          </a:prstGeom>
          <a:ln w="28575">
            <a:prstDash val="solid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2FAB1D1C-2AD0-4856-9E2F-23246409AC69}"/>
              </a:ext>
            </a:extLst>
          </p:cNvPr>
          <p:cNvSpPr>
            <a:spLocks/>
          </p:cNvSpPr>
          <p:nvPr/>
        </p:nvSpPr>
        <p:spPr bwMode="auto">
          <a:xfrm>
            <a:off x="7247731" y="2979586"/>
            <a:ext cx="2393950" cy="1763712"/>
          </a:xfrm>
          <a:custGeom>
            <a:avLst/>
            <a:gdLst>
              <a:gd name="T0" fmla="*/ 564964136 w 10070"/>
              <a:gd name="T1" fmla="*/ 0 h 10205"/>
              <a:gd name="T2" fmla="*/ 556376824 w 10070"/>
              <a:gd name="T3" fmla="*/ 24948446 h 10205"/>
              <a:gd name="T4" fmla="*/ 487168755 w 10070"/>
              <a:gd name="T5" fmla="*/ 70243951 h 10205"/>
              <a:gd name="T6" fmla="*/ 453666068 w 10070"/>
              <a:gd name="T7" fmla="*/ 93399662 h 10205"/>
              <a:gd name="T8" fmla="*/ 392141576 w 10070"/>
              <a:gd name="T9" fmla="*/ 134990239 h 10205"/>
              <a:gd name="T10" fmla="*/ 310673849 w 10070"/>
              <a:gd name="T11" fmla="*/ 179210051 h 10205"/>
              <a:gd name="T12" fmla="*/ 272030234 w 10070"/>
              <a:gd name="T13" fmla="*/ 197376234 h 10205"/>
              <a:gd name="T14" fmla="*/ 261295975 w 10070"/>
              <a:gd name="T15" fmla="*/ 202515280 h 10205"/>
              <a:gd name="T16" fmla="*/ 239657897 w 10070"/>
              <a:gd name="T17" fmla="*/ 211628163 h 10205"/>
              <a:gd name="T18" fmla="*/ 188302578 w 10070"/>
              <a:gd name="T19" fmla="*/ 236516627 h 10205"/>
              <a:gd name="T20" fmla="*/ 166268975 w 10070"/>
              <a:gd name="T21" fmla="*/ 244314979 h 10205"/>
              <a:gd name="T22" fmla="*/ 136947259 w 10070"/>
              <a:gd name="T23" fmla="*/ 255190709 h 10205"/>
              <a:gd name="T24" fmla="*/ 68473630 w 10070"/>
              <a:gd name="T25" fmla="*/ 280079346 h 10205"/>
              <a:gd name="T26" fmla="*/ 25705838 w 10070"/>
              <a:gd name="T27" fmla="*/ 298723356 h 10205"/>
              <a:gd name="T28" fmla="*/ 0 w 10070"/>
              <a:gd name="T29" fmla="*/ 298783155 h 1020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0070"/>
              <a:gd name="T46" fmla="*/ 0 h 10205"/>
              <a:gd name="T47" fmla="*/ 10070 w 10070"/>
              <a:gd name="T48" fmla="*/ 10205 h 1020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0070" h="10205">
                <a:moveTo>
                  <a:pt x="10000" y="0"/>
                </a:moveTo>
                <a:cubicBezTo>
                  <a:pt x="9711" y="619"/>
                  <a:pt x="10070" y="411"/>
                  <a:pt x="9848" y="835"/>
                </a:cubicBezTo>
                <a:cubicBezTo>
                  <a:pt x="9286" y="1712"/>
                  <a:pt x="9027" y="1686"/>
                  <a:pt x="8623" y="2351"/>
                </a:cubicBezTo>
                <a:cubicBezTo>
                  <a:pt x="8384" y="2741"/>
                  <a:pt x="8384" y="2805"/>
                  <a:pt x="8030" y="3126"/>
                </a:cubicBezTo>
                <a:cubicBezTo>
                  <a:pt x="7792" y="3605"/>
                  <a:pt x="7296" y="4128"/>
                  <a:pt x="6941" y="4518"/>
                </a:cubicBezTo>
                <a:cubicBezTo>
                  <a:pt x="6480" y="5023"/>
                  <a:pt x="6076" y="5722"/>
                  <a:pt x="5499" y="5998"/>
                </a:cubicBezTo>
                <a:cubicBezTo>
                  <a:pt x="5334" y="6239"/>
                  <a:pt x="5045" y="6514"/>
                  <a:pt x="4815" y="6606"/>
                </a:cubicBezTo>
                <a:cubicBezTo>
                  <a:pt x="4749" y="6663"/>
                  <a:pt x="4674" y="6709"/>
                  <a:pt x="4625" y="6778"/>
                </a:cubicBezTo>
                <a:cubicBezTo>
                  <a:pt x="4575" y="6846"/>
                  <a:pt x="4300" y="7014"/>
                  <a:pt x="4242" y="7083"/>
                </a:cubicBezTo>
                <a:cubicBezTo>
                  <a:pt x="3995" y="7370"/>
                  <a:pt x="3605" y="7664"/>
                  <a:pt x="3333" y="7916"/>
                </a:cubicBezTo>
                <a:cubicBezTo>
                  <a:pt x="3160" y="8077"/>
                  <a:pt x="2943" y="8177"/>
                  <a:pt x="2943" y="8177"/>
                </a:cubicBezTo>
                <a:cubicBezTo>
                  <a:pt x="2762" y="8417"/>
                  <a:pt x="2663" y="8449"/>
                  <a:pt x="2424" y="8541"/>
                </a:cubicBezTo>
                <a:cubicBezTo>
                  <a:pt x="2044" y="8885"/>
                  <a:pt x="1641" y="9190"/>
                  <a:pt x="1212" y="9374"/>
                </a:cubicBezTo>
                <a:cubicBezTo>
                  <a:pt x="981" y="9603"/>
                  <a:pt x="727" y="9884"/>
                  <a:pt x="455" y="9998"/>
                </a:cubicBezTo>
                <a:cubicBezTo>
                  <a:pt x="315" y="10205"/>
                  <a:pt x="173" y="9874"/>
                  <a:pt x="0" y="10000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rgbClr val="C00000"/>
              </a:solidFill>
            </a:endParaRPr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9FE8CCBE-61BA-47ED-AA9F-0700D89A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806" y="4589311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6A5A1634-01A0-4372-9CC0-3086C28070FE}"/>
              </a:ext>
            </a:extLst>
          </p:cNvPr>
          <p:cNvSpPr>
            <a:spLocks/>
          </p:cNvSpPr>
          <p:nvPr/>
        </p:nvSpPr>
        <p:spPr bwMode="auto">
          <a:xfrm>
            <a:off x="7355681" y="2979586"/>
            <a:ext cx="2305050" cy="1655762"/>
          </a:xfrm>
          <a:custGeom>
            <a:avLst/>
            <a:gdLst>
              <a:gd name="T0" fmla="*/ 531325573 w 10000"/>
              <a:gd name="T1" fmla="*/ 0 h 10000"/>
              <a:gd name="T2" fmla="*/ 501730587 w 10000"/>
              <a:gd name="T3" fmla="*/ 2275513 h 10000"/>
              <a:gd name="T4" fmla="*/ 481699595 w 10000"/>
              <a:gd name="T5" fmla="*/ 7484375 h 10000"/>
              <a:gd name="T6" fmla="*/ 472082700 w 10000"/>
              <a:gd name="T7" fmla="*/ 9787374 h 10000"/>
              <a:gd name="T8" fmla="*/ 445516548 w 10000"/>
              <a:gd name="T9" fmla="*/ 19547261 h 10000"/>
              <a:gd name="T10" fmla="*/ 418950165 w 10000"/>
              <a:gd name="T11" fmla="*/ 29663472 h 10000"/>
              <a:gd name="T12" fmla="*/ 349718477 w 10000"/>
              <a:gd name="T13" fmla="*/ 51842737 h 10000"/>
              <a:gd name="T14" fmla="*/ 330112420 w 10000"/>
              <a:gd name="T15" fmla="*/ 61602622 h 10000"/>
              <a:gd name="T16" fmla="*/ 303546269 w 10000"/>
              <a:gd name="T17" fmla="*/ 73994340 h 10000"/>
              <a:gd name="T18" fmla="*/ 267416237 w 10000"/>
              <a:gd name="T19" fmla="*/ 88990591 h 10000"/>
              <a:gd name="T20" fmla="*/ 247385130 w 10000"/>
              <a:gd name="T21" fmla="*/ 98777962 h 10000"/>
              <a:gd name="T22" fmla="*/ 230807851 w 10000"/>
              <a:gd name="T23" fmla="*/ 111169680 h 10000"/>
              <a:gd name="T24" fmla="*/ 207641877 w 10000"/>
              <a:gd name="T25" fmla="*/ 125233882 h 10000"/>
              <a:gd name="T26" fmla="*/ 182775929 w 10000"/>
              <a:gd name="T27" fmla="*/ 137159669 h 10000"/>
              <a:gd name="T28" fmla="*/ 174434187 w 10000"/>
              <a:gd name="T29" fmla="*/ 143136140 h 10000"/>
              <a:gd name="T30" fmla="*/ 141970106 w 10000"/>
              <a:gd name="T31" fmla="*/ 167892421 h 10000"/>
              <a:gd name="T32" fmla="*/ 111950270 w 10000"/>
              <a:gd name="T33" fmla="*/ 187768553 h 10000"/>
              <a:gd name="T34" fmla="*/ 72313338 w 10000"/>
              <a:gd name="T35" fmla="*/ 212552155 h 10000"/>
              <a:gd name="T36" fmla="*/ 33367214 w 10000"/>
              <a:gd name="T37" fmla="*/ 244463809 h 10000"/>
              <a:gd name="T38" fmla="*/ 0 w 10000"/>
              <a:gd name="T39" fmla="*/ 274154756 h 1000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0000"/>
              <a:gd name="T61" fmla="*/ 0 h 10000"/>
              <a:gd name="T62" fmla="*/ 10000 w 10000"/>
              <a:gd name="T63" fmla="*/ 10000 h 1000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0000" h="10000">
                <a:moveTo>
                  <a:pt x="10000" y="0"/>
                </a:moveTo>
                <a:cubicBezTo>
                  <a:pt x="9811" y="24"/>
                  <a:pt x="9623" y="24"/>
                  <a:pt x="9443" y="83"/>
                </a:cubicBezTo>
                <a:cubicBezTo>
                  <a:pt x="9311" y="119"/>
                  <a:pt x="9189" y="214"/>
                  <a:pt x="9066" y="273"/>
                </a:cubicBezTo>
                <a:cubicBezTo>
                  <a:pt x="9008" y="297"/>
                  <a:pt x="8885" y="357"/>
                  <a:pt x="8885" y="357"/>
                </a:cubicBezTo>
                <a:cubicBezTo>
                  <a:pt x="8730" y="571"/>
                  <a:pt x="8590" y="618"/>
                  <a:pt x="8385" y="713"/>
                </a:cubicBezTo>
                <a:cubicBezTo>
                  <a:pt x="8221" y="963"/>
                  <a:pt x="8090" y="927"/>
                  <a:pt x="7885" y="1082"/>
                </a:cubicBezTo>
                <a:cubicBezTo>
                  <a:pt x="7467" y="1391"/>
                  <a:pt x="7025" y="1665"/>
                  <a:pt x="6582" y="1891"/>
                </a:cubicBezTo>
                <a:cubicBezTo>
                  <a:pt x="6115" y="2568"/>
                  <a:pt x="6639" y="1891"/>
                  <a:pt x="6213" y="2247"/>
                </a:cubicBezTo>
                <a:cubicBezTo>
                  <a:pt x="6025" y="2402"/>
                  <a:pt x="5934" y="2604"/>
                  <a:pt x="5713" y="2699"/>
                </a:cubicBezTo>
                <a:cubicBezTo>
                  <a:pt x="5492" y="2913"/>
                  <a:pt x="5262" y="3056"/>
                  <a:pt x="5033" y="3246"/>
                </a:cubicBezTo>
                <a:cubicBezTo>
                  <a:pt x="4902" y="3353"/>
                  <a:pt x="4656" y="3603"/>
                  <a:pt x="4656" y="3603"/>
                </a:cubicBezTo>
                <a:cubicBezTo>
                  <a:pt x="4328" y="4328"/>
                  <a:pt x="4762" y="3448"/>
                  <a:pt x="4344" y="4055"/>
                </a:cubicBezTo>
                <a:cubicBezTo>
                  <a:pt x="4189" y="4281"/>
                  <a:pt x="4088" y="4366"/>
                  <a:pt x="3908" y="4568"/>
                </a:cubicBezTo>
                <a:cubicBezTo>
                  <a:pt x="3793" y="4699"/>
                  <a:pt x="3563" y="4884"/>
                  <a:pt x="3440" y="5003"/>
                </a:cubicBezTo>
                <a:cubicBezTo>
                  <a:pt x="3374" y="5062"/>
                  <a:pt x="3283" y="5221"/>
                  <a:pt x="3283" y="5221"/>
                </a:cubicBezTo>
                <a:cubicBezTo>
                  <a:pt x="3128" y="5566"/>
                  <a:pt x="2947" y="5646"/>
                  <a:pt x="2672" y="6124"/>
                </a:cubicBezTo>
                <a:cubicBezTo>
                  <a:pt x="2484" y="6373"/>
                  <a:pt x="2311" y="6635"/>
                  <a:pt x="2107" y="6849"/>
                </a:cubicBezTo>
                <a:cubicBezTo>
                  <a:pt x="1795" y="7182"/>
                  <a:pt x="1598" y="7253"/>
                  <a:pt x="1361" y="7753"/>
                </a:cubicBezTo>
                <a:cubicBezTo>
                  <a:pt x="1098" y="8312"/>
                  <a:pt x="854" y="8494"/>
                  <a:pt x="628" y="8917"/>
                </a:cubicBezTo>
                <a:cubicBezTo>
                  <a:pt x="489" y="9226"/>
                  <a:pt x="107" y="9845"/>
                  <a:pt x="0" y="10000"/>
                </a:cubicBezTo>
              </a:path>
            </a:pathLst>
          </a:custGeom>
          <a:noFill/>
          <a:ln w="38100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rgbClr val="C00000"/>
              </a:solidFill>
            </a:endParaRPr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EBEEAE32-2B91-4BA2-BDC3-B5F1D129C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9294" y="2908148"/>
            <a:ext cx="152400" cy="1524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4" name="Oval 5">
            <a:extLst>
              <a:ext uri="{FF2B5EF4-FFF2-40B4-BE49-F238E27FC236}">
                <a16:creationId xmlns:a16="http://schemas.microsoft.com/office/drawing/2014/main" id="{0A63BB53-20A8-4691-B157-9E83E4A7B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229" y="2975173"/>
            <a:ext cx="274711" cy="268930"/>
          </a:xfrm>
          <a:prstGeom prst="ellipse">
            <a:avLst/>
          </a:prstGeom>
          <a:noFill/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C83FF7-D3B7-4FE9-A096-70A700DFCD31}"/>
                  </a:ext>
                </a:extLst>
              </p:cNvPr>
              <p:cNvSpPr/>
              <p:nvPr/>
            </p:nvSpPr>
            <p:spPr>
              <a:xfrm>
                <a:off x="8239918" y="5706951"/>
                <a:ext cx="533401" cy="3243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C83FF7-D3B7-4FE9-A096-70A700DFC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918" y="5706951"/>
                <a:ext cx="533401" cy="324353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466C3E3-F3B2-4E87-9379-90E28B8BD7CB}"/>
                  </a:ext>
                </a:extLst>
              </p:cNvPr>
              <p:cNvSpPr/>
              <p:nvPr/>
            </p:nvSpPr>
            <p:spPr>
              <a:xfrm>
                <a:off x="8781256" y="5709450"/>
                <a:ext cx="533401" cy="3243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466C3E3-F3B2-4E87-9379-90E28B8BD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56" y="5709450"/>
                <a:ext cx="533401" cy="324353"/>
              </a:xfrm>
              <a:prstGeom prst="rect">
                <a:avLst/>
              </a:prstGeom>
              <a:blipFill>
                <a:blip r:embed="rId4"/>
                <a:stretch>
                  <a:fillRect b="-226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B2141F7-1983-4BFF-8903-6DA771FD72D0}"/>
                  </a:ext>
                </a:extLst>
              </p:cNvPr>
              <p:cNvSpPr/>
              <p:nvPr/>
            </p:nvSpPr>
            <p:spPr>
              <a:xfrm>
                <a:off x="7088980" y="5598082"/>
                <a:ext cx="533401" cy="5998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Cu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B2141F7-1983-4BFF-8903-6DA771FD72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980" y="5598082"/>
                <a:ext cx="533401" cy="5998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4031BBA-3186-4186-B3BC-CC90EE367C24}"/>
                  </a:ext>
                </a:extLst>
              </p:cNvPr>
              <p:cNvSpPr/>
              <p:nvPr/>
            </p:nvSpPr>
            <p:spPr>
              <a:xfrm>
                <a:off x="9398793" y="5574520"/>
                <a:ext cx="533401" cy="5998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Ni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4031BBA-3186-4186-B3BC-CC90EE367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793" y="5574520"/>
                <a:ext cx="533401" cy="599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81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0" grpId="0" animBg="1"/>
      <p:bldP spid="23" grpId="0" animBg="1"/>
      <p:bldP spid="24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8B37F-2686-4BE0-B65F-89148C9C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Miscibilité nulle à l’état solide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B5A6B4-B60E-41BF-A7DD-1361BE34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D33A9E8-3BAC-47A1-A669-70E8D876D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6"/>
          <a:stretch>
            <a:fillRect/>
          </a:stretch>
        </p:blipFill>
        <p:spPr bwMode="auto">
          <a:xfrm>
            <a:off x="1625969" y="1635767"/>
            <a:ext cx="864235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29">
            <a:extLst>
              <a:ext uri="{FF2B5EF4-FFF2-40B4-BE49-F238E27FC236}">
                <a16:creationId xmlns:a16="http://schemas.microsoft.com/office/drawing/2014/main" id="{1A7981EB-4F49-4E85-B380-6721082B54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7732" y="3399480"/>
            <a:ext cx="1116012" cy="1079500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30">
            <a:extLst>
              <a:ext uri="{FF2B5EF4-FFF2-40B4-BE49-F238E27FC236}">
                <a16:creationId xmlns:a16="http://schemas.microsoft.com/office/drawing/2014/main" id="{4838EF72-6B91-4675-BD3F-75E1D6BFEC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67907" y="2931166"/>
            <a:ext cx="1096962" cy="1527175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4EF9EBD2-390A-4333-A36C-785D19F46D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7694" y="2931167"/>
            <a:ext cx="4240213" cy="55563"/>
          </a:xfrm>
          <a:prstGeom prst="line">
            <a:avLst/>
          </a:prstGeom>
          <a:noFill/>
          <a:ln w="444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B1FCBA3C-33BC-4EE0-9413-7424864C3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644" y="2851792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B45C036E-D1AC-43A2-A616-AA63593434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2794" y="4458341"/>
            <a:ext cx="5086350" cy="61914"/>
          </a:xfrm>
          <a:prstGeom prst="line">
            <a:avLst/>
          </a:prstGeom>
          <a:noFill/>
          <a:ln w="444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E9357FAD-A515-4B3D-9144-9D3C8BD99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294" y="3296292"/>
            <a:ext cx="152400" cy="1524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82DD5344-565C-49D2-9C03-12936014C9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2044" y="3372492"/>
            <a:ext cx="3467100" cy="50800"/>
          </a:xfrm>
          <a:prstGeom prst="line">
            <a:avLst/>
          </a:prstGeom>
          <a:noFill/>
          <a:ln w="44450">
            <a:solidFill>
              <a:schemeClr val="accent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AE471B84-00B8-4236-9D8F-19240D20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5185" y="1964856"/>
            <a:ext cx="274711" cy="268930"/>
          </a:xfrm>
          <a:prstGeom prst="ellipse">
            <a:avLst/>
          </a:prstGeom>
          <a:noFill/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9754AEC-A56B-4083-971E-75B1B4811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9247" y="1909487"/>
            <a:ext cx="274711" cy="268930"/>
          </a:xfrm>
          <a:prstGeom prst="ellipse">
            <a:avLst/>
          </a:prstGeom>
          <a:noFill/>
          <a:ln w="28575">
            <a:solidFill>
              <a:schemeClr val="accent5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3038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35" grpId="0" animBg="1"/>
      <p:bldP spid="36" grpId="0" animBg="1"/>
    </p:bld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403</TotalTime>
  <Words>39</Words>
  <Application>Microsoft Office PowerPoint</Application>
  <PresentationFormat>Grand écran</PresentationFormat>
  <Paragraphs>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Rétrospective</vt:lpstr>
      <vt:lpstr>Corps pur et mélanges binaires</vt:lpstr>
      <vt:lpstr>Diagramme p-T de l’eau</vt:lpstr>
      <vt:lpstr>Courbe d’analyse thermique</vt:lpstr>
      <vt:lpstr>Construction du diagramme binaire</vt:lpstr>
      <vt:lpstr>Miscibilité nulle à l’état solide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29</cp:revision>
  <dcterms:created xsi:type="dcterms:W3CDTF">2019-04-06T14:18:31Z</dcterms:created>
  <dcterms:modified xsi:type="dcterms:W3CDTF">2019-06-14T16:31:19Z</dcterms:modified>
</cp:coreProperties>
</file>