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2"/>
  </p:notesMasterIdLst>
  <p:sldIdLst>
    <p:sldId id="256" r:id="rId2"/>
    <p:sldId id="276" r:id="rId3"/>
    <p:sldId id="275" r:id="rId4"/>
    <p:sldId id="282" r:id="rId5"/>
    <p:sldId id="278" r:id="rId6"/>
    <p:sldId id="277" r:id="rId7"/>
    <p:sldId id="279" r:id="rId8"/>
    <p:sldId id="281" r:id="rId9"/>
    <p:sldId id="266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2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38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2F01C-BC14-4F81-87AE-D5D26E359E8E}" type="datetimeFigureOut">
              <a:rPr lang="fr-FR" smtClean="0"/>
              <a:t>25/06/2019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9472F-C389-4AF2-BA24-C1FF8F94A66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3886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7B33F-87D8-4BFE-BCBF-731AD622E09E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75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FEB24-1155-4371-B688-DDAD01CF823D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683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C147B3-5A91-453A-92FD-677E850FA3A5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02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96843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460206"/>
            <a:ext cx="4937760" cy="44088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460205"/>
            <a:ext cx="4937760" cy="44088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0384B-D365-439B-B9FB-A10B3FA0B79A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780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77B8B-BEB2-49C1-8BB4-8D396D554AA6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132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253237-6937-4077-8416-FFF866A41361}" type="datetime1">
              <a:rPr lang="fr-FR" smtClean="0"/>
              <a:t>25/06/2019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49822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CE37A-26D6-4DCD-AF35-3F127425D5BF}" type="datetime1">
              <a:rPr lang="fr-FR" smtClean="0"/>
              <a:t>25/06/2019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556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F45A67E-4DF6-4C8F-B8DA-2D1171F57B74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0199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4F725-0123-4CE3-85B9-619490EE40F6}" type="datetime1">
              <a:rPr lang="fr-FR" smtClean="0"/>
              <a:t>25/06/2019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025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CC754-28B9-41E4-AE10-BE433397311B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9337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A81CE-1004-4FD8-A91E-F417EDBE9258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712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1729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428237"/>
            <a:ext cx="10058400" cy="4440857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3DEDF1-3E42-46F1-803C-3F81A5B34212}" type="datetime1">
              <a:rPr lang="fr-FR" smtClean="0"/>
              <a:t>25/06/2019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fr-FR" dirty="0"/>
              <a:t>HUGO ROUSSILLE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BA00AD0-89FA-4358-AFE4-0A4CF2693EF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0" name="Straight Connector 9"/>
          <p:cNvCxnSpPr/>
          <p:nvPr/>
        </p:nvCxnSpPr>
        <p:spPr>
          <a:xfrm>
            <a:off x="1188720" y="1369251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446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9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microsoft.com/office/2007/relationships/hdphoto" Target="../media/hdphoto3.wdp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20284-6E28-4815-81F6-68D3A0402E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Chimie durable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FCEC554-AF82-49BC-9FF3-978A8522E9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AGREGATION 2019</a:t>
            </a:r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61437BC0-A1E8-4D84-AFC7-4F650B5D1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  <a:endParaRPr lang="fr-FR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A108AC17-FBA1-49AF-9262-771D85784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6376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380E08-2344-45FD-9C6E-8B36E400D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Chimie et développement durable</a:t>
            </a:r>
          </a:p>
        </p:txBody>
      </p:sp>
      <p:pic>
        <p:nvPicPr>
          <p:cNvPr id="2052" name="Picture 4" descr="Image associÃ©e">
            <a:extLst>
              <a:ext uri="{FF2B5EF4-FFF2-40B4-BE49-F238E27FC236}">
                <a16:creationId xmlns:a16="http://schemas.microsoft.com/office/drawing/2014/main" id="{CEC8E392-CE26-4BC2-B420-9D4763AA6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356" y="1499411"/>
            <a:ext cx="4967287" cy="4695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A595F7D-80E6-43C3-A944-D267F6DC9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D20232CB-8F03-4A39-A4DF-A68D3EFDD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8442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1DBE09-387A-494D-AF91-BB2A4909A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Les 12 principes de la chimie verte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FF29EFD9-DFD2-4646-B506-38B3285DF5B3}"/>
              </a:ext>
            </a:extLst>
          </p:cNvPr>
          <p:cNvSpPr txBox="1"/>
          <p:nvPr/>
        </p:nvSpPr>
        <p:spPr>
          <a:xfrm>
            <a:off x="54775" y="3369021"/>
            <a:ext cx="17668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Concevoir des </a:t>
            </a:r>
          </a:p>
          <a:p>
            <a:pPr algn="ctr"/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produits </a:t>
            </a:r>
          </a:p>
          <a:p>
            <a:pPr algn="ctr"/>
            <a:r>
              <a:rPr lang="fr-FR" dirty="0">
                <a:solidFill>
                  <a:schemeClr val="accent4">
                    <a:lumMod val="50000"/>
                  </a:schemeClr>
                </a:solidFill>
              </a:rPr>
              <a:t>(bio)dégradables</a:t>
            </a:r>
          </a:p>
        </p:txBody>
      </p:sp>
      <p:grpSp>
        <p:nvGrpSpPr>
          <p:cNvPr id="142" name="Groupe 141">
            <a:extLst>
              <a:ext uri="{FF2B5EF4-FFF2-40B4-BE49-F238E27FC236}">
                <a16:creationId xmlns:a16="http://schemas.microsoft.com/office/drawing/2014/main" id="{834E6FB0-0E13-4941-8B42-DEB14033274B}"/>
              </a:ext>
            </a:extLst>
          </p:cNvPr>
          <p:cNvGrpSpPr/>
          <p:nvPr/>
        </p:nvGrpSpPr>
        <p:grpSpPr>
          <a:xfrm>
            <a:off x="473330" y="1569163"/>
            <a:ext cx="11600841" cy="4775828"/>
            <a:chOff x="473330" y="1569163"/>
            <a:chExt cx="11600841" cy="4775828"/>
          </a:xfrm>
        </p:grpSpPr>
        <p:grpSp>
          <p:nvGrpSpPr>
            <p:cNvPr id="69" name="Groupe 68">
              <a:extLst>
                <a:ext uri="{FF2B5EF4-FFF2-40B4-BE49-F238E27FC236}">
                  <a16:creationId xmlns:a16="http://schemas.microsoft.com/office/drawing/2014/main" id="{21E6751D-48E1-4DC0-98C8-8EA335D6C891}"/>
                </a:ext>
              </a:extLst>
            </p:cNvPr>
            <p:cNvGrpSpPr/>
            <p:nvPr/>
          </p:nvGrpSpPr>
          <p:grpSpPr>
            <a:xfrm>
              <a:off x="1650750" y="1925336"/>
              <a:ext cx="8576175" cy="3786483"/>
              <a:chOff x="1650750" y="1925336"/>
              <a:chExt cx="8576175" cy="3786483"/>
            </a:xfrm>
          </p:grpSpPr>
          <p:sp>
            <p:nvSpPr>
              <p:cNvPr id="3" name="Rectangle : coins arrondis 2">
                <a:extLst>
                  <a:ext uri="{FF2B5EF4-FFF2-40B4-BE49-F238E27FC236}">
                    <a16:creationId xmlns:a16="http://schemas.microsoft.com/office/drawing/2014/main" id="{3D8AFFFD-F265-4F19-9CAA-F39F53C36F7F}"/>
                  </a:ext>
                </a:extLst>
              </p:cNvPr>
              <p:cNvSpPr/>
              <p:nvPr/>
            </p:nvSpPr>
            <p:spPr>
              <a:xfrm>
                <a:off x="4171950" y="3289940"/>
                <a:ext cx="3533775" cy="1057275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 dirty="0"/>
                  <a:t>CHIMIE VERTE</a:t>
                </a:r>
              </a:p>
            </p:txBody>
          </p:sp>
          <p:sp>
            <p:nvSpPr>
              <p:cNvPr id="6" name="Ellipse 5">
                <a:extLst>
                  <a:ext uri="{FF2B5EF4-FFF2-40B4-BE49-F238E27FC236}">
                    <a16:creationId xmlns:a16="http://schemas.microsoft.com/office/drawing/2014/main" id="{D965C31B-294B-43D9-8999-CA101AC2021D}"/>
                  </a:ext>
                </a:extLst>
              </p:cNvPr>
              <p:cNvSpPr/>
              <p:nvPr/>
            </p:nvSpPr>
            <p:spPr>
              <a:xfrm>
                <a:off x="5668837" y="192533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b="1" dirty="0"/>
                  <a:t>1</a:t>
                </a:r>
              </a:p>
            </p:txBody>
          </p:sp>
          <p:sp>
            <p:nvSpPr>
              <p:cNvPr id="81" name="Ellipse 80">
                <a:extLst>
                  <a:ext uri="{FF2B5EF4-FFF2-40B4-BE49-F238E27FC236}">
                    <a16:creationId xmlns:a16="http://schemas.microsoft.com/office/drawing/2014/main" id="{E1E80122-2936-430D-B020-862B9EE25283}"/>
                  </a:ext>
                </a:extLst>
              </p:cNvPr>
              <p:cNvSpPr/>
              <p:nvPr/>
            </p:nvSpPr>
            <p:spPr>
              <a:xfrm>
                <a:off x="1650750" y="3539052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fr-FR" sz="2000" b="1" dirty="0"/>
                  <a:t>10</a:t>
                </a:r>
              </a:p>
            </p:txBody>
          </p:sp>
          <p:sp>
            <p:nvSpPr>
              <p:cNvPr id="82" name="Ellipse 81">
                <a:extLst>
                  <a:ext uri="{FF2B5EF4-FFF2-40B4-BE49-F238E27FC236}">
                    <a16:creationId xmlns:a16="http://schemas.microsoft.com/office/drawing/2014/main" id="{7A73715D-E75C-4DBC-81DF-58FC5D86D815}"/>
                  </a:ext>
                </a:extLst>
              </p:cNvPr>
              <p:cNvSpPr/>
              <p:nvPr/>
            </p:nvSpPr>
            <p:spPr>
              <a:xfrm>
                <a:off x="2463675" y="4347215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b="1" dirty="0"/>
                  <a:t>9</a:t>
                </a:r>
              </a:p>
            </p:txBody>
          </p:sp>
          <p:sp>
            <p:nvSpPr>
              <p:cNvPr id="83" name="Ellipse 82">
                <a:extLst>
                  <a:ext uri="{FF2B5EF4-FFF2-40B4-BE49-F238E27FC236}">
                    <a16:creationId xmlns:a16="http://schemas.microsoft.com/office/drawing/2014/main" id="{1B97F790-E42C-4EA5-AE82-7D4A3ABD582C}"/>
                  </a:ext>
                </a:extLst>
              </p:cNvPr>
              <p:cNvSpPr/>
              <p:nvPr/>
            </p:nvSpPr>
            <p:spPr>
              <a:xfrm>
                <a:off x="7435725" y="2105743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b="1" dirty="0"/>
                  <a:t>2</a:t>
                </a:r>
              </a:p>
            </p:txBody>
          </p:sp>
          <p:sp>
            <p:nvSpPr>
              <p:cNvPr id="84" name="Ellipse 83">
                <a:extLst>
                  <a:ext uri="{FF2B5EF4-FFF2-40B4-BE49-F238E27FC236}">
                    <a16:creationId xmlns:a16="http://schemas.microsoft.com/office/drawing/2014/main" id="{9527AE45-581A-426A-B4B5-CD432B729F97}"/>
                  </a:ext>
                </a:extLst>
              </p:cNvPr>
              <p:cNvSpPr/>
              <p:nvPr/>
            </p:nvSpPr>
            <p:spPr>
              <a:xfrm>
                <a:off x="8874000" y="2749940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b="1" dirty="0"/>
                  <a:t>3</a:t>
                </a:r>
              </a:p>
            </p:txBody>
          </p:sp>
          <p:sp>
            <p:nvSpPr>
              <p:cNvPr id="85" name="Ellipse 84">
                <a:extLst>
                  <a:ext uri="{FF2B5EF4-FFF2-40B4-BE49-F238E27FC236}">
                    <a16:creationId xmlns:a16="http://schemas.microsoft.com/office/drawing/2014/main" id="{23E3EFCF-23BB-4931-96B6-C464EBDC731A}"/>
                  </a:ext>
                </a:extLst>
              </p:cNvPr>
              <p:cNvSpPr/>
              <p:nvPr/>
            </p:nvSpPr>
            <p:spPr>
              <a:xfrm>
                <a:off x="9686925" y="3548577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b="1" dirty="0"/>
                  <a:t>4</a:t>
                </a:r>
              </a:p>
            </p:txBody>
          </p:sp>
          <p:sp>
            <p:nvSpPr>
              <p:cNvPr id="86" name="Ellipse 85">
                <a:extLst>
                  <a:ext uri="{FF2B5EF4-FFF2-40B4-BE49-F238E27FC236}">
                    <a16:creationId xmlns:a16="http://schemas.microsoft.com/office/drawing/2014/main" id="{11157D72-A968-4153-A735-8E2F8F447F72}"/>
                  </a:ext>
                </a:extLst>
              </p:cNvPr>
              <p:cNvSpPr/>
              <p:nvPr/>
            </p:nvSpPr>
            <p:spPr>
              <a:xfrm>
                <a:off x="8874000" y="4347215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b="1" dirty="0"/>
                  <a:t>5</a:t>
                </a:r>
              </a:p>
            </p:txBody>
          </p:sp>
          <p:sp>
            <p:nvSpPr>
              <p:cNvPr id="87" name="Ellipse 86">
                <a:extLst>
                  <a:ext uri="{FF2B5EF4-FFF2-40B4-BE49-F238E27FC236}">
                    <a16:creationId xmlns:a16="http://schemas.microsoft.com/office/drawing/2014/main" id="{6319D5E1-4DB0-49E3-8BC8-5F485C1755FD}"/>
                  </a:ext>
                </a:extLst>
              </p:cNvPr>
              <p:cNvSpPr/>
              <p:nvPr/>
            </p:nvSpPr>
            <p:spPr>
              <a:xfrm>
                <a:off x="7435725" y="4997069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b="1" dirty="0"/>
                  <a:t>6</a:t>
                </a:r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A9819B87-7E52-47D2-B6EB-4AA3B26B88F3}"/>
                  </a:ext>
                </a:extLst>
              </p:cNvPr>
              <p:cNvSpPr/>
              <p:nvPr/>
            </p:nvSpPr>
            <p:spPr>
              <a:xfrm>
                <a:off x="5668837" y="5171819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b="1" dirty="0"/>
                  <a:t>7</a:t>
                </a:r>
              </a:p>
            </p:txBody>
          </p:sp>
          <p:sp>
            <p:nvSpPr>
              <p:cNvPr id="89" name="Ellipse 88">
                <a:extLst>
                  <a:ext uri="{FF2B5EF4-FFF2-40B4-BE49-F238E27FC236}">
                    <a16:creationId xmlns:a16="http://schemas.microsoft.com/office/drawing/2014/main" id="{D54B2AC2-1A87-422E-94CE-A23CE82CCD91}"/>
                  </a:ext>
                </a:extLst>
              </p:cNvPr>
              <p:cNvSpPr/>
              <p:nvPr/>
            </p:nvSpPr>
            <p:spPr>
              <a:xfrm>
                <a:off x="3901949" y="4991412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fr-FR" sz="2000" b="1" dirty="0"/>
                  <a:t>8</a:t>
                </a:r>
              </a:p>
            </p:txBody>
          </p:sp>
          <p:sp>
            <p:nvSpPr>
              <p:cNvPr id="90" name="Ellipse 89">
                <a:extLst>
                  <a:ext uri="{FF2B5EF4-FFF2-40B4-BE49-F238E27FC236}">
                    <a16:creationId xmlns:a16="http://schemas.microsoft.com/office/drawing/2014/main" id="{95EA96B4-3BAB-4A73-940C-515645BBE4F3}"/>
                  </a:ext>
                </a:extLst>
              </p:cNvPr>
              <p:cNvSpPr/>
              <p:nvPr/>
            </p:nvSpPr>
            <p:spPr>
              <a:xfrm>
                <a:off x="2463675" y="2749940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fr-FR" sz="2000" b="1" dirty="0"/>
                  <a:t>11</a:t>
                </a:r>
              </a:p>
            </p:txBody>
          </p:sp>
          <p:sp>
            <p:nvSpPr>
              <p:cNvPr id="91" name="Ellipse 90">
                <a:extLst>
                  <a:ext uri="{FF2B5EF4-FFF2-40B4-BE49-F238E27FC236}">
                    <a16:creationId xmlns:a16="http://schemas.microsoft.com/office/drawing/2014/main" id="{80FE16CE-9709-4C0B-8CB8-C13F595E2451}"/>
                  </a:ext>
                </a:extLst>
              </p:cNvPr>
              <p:cNvSpPr/>
              <p:nvPr/>
            </p:nvSpPr>
            <p:spPr>
              <a:xfrm>
                <a:off x="3901950" y="2100086"/>
                <a:ext cx="540000" cy="540000"/>
              </a:xfrm>
              <a:prstGeom prst="ellipse">
                <a:avLst/>
              </a:prstGeom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lIns="36000" rIns="36000" rtlCol="0" anchor="ctr"/>
              <a:lstStyle/>
              <a:p>
                <a:pPr algn="ctr"/>
                <a:r>
                  <a:rPr lang="fr-FR" sz="2000" b="1" dirty="0"/>
                  <a:t>12</a:t>
                </a:r>
              </a:p>
            </p:txBody>
          </p:sp>
        </p:grpSp>
        <p:sp>
          <p:nvSpPr>
            <p:cNvPr id="92" name="ZoneTexte 91">
              <a:extLst>
                <a:ext uri="{FF2B5EF4-FFF2-40B4-BE49-F238E27FC236}">
                  <a16:creationId xmlns:a16="http://schemas.microsoft.com/office/drawing/2014/main" id="{717F3000-1FD4-4001-A143-DAE37C04E8FF}"/>
                </a:ext>
              </a:extLst>
            </p:cNvPr>
            <p:cNvSpPr txBox="1"/>
            <p:nvPr/>
          </p:nvSpPr>
          <p:spPr>
            <a:xfrm>
              <a:off x="5336204" y="1569163"/>
              <a:ext cx="12052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Prévention</a:t>
              </a:r>
            </a:p>
          </p:txBody>
        </p:sp>
        <p:sp>
          <p:nvSpPr>
            <p:cNvPr id="93" name="ZoneTexte 92">
              <a:extLst>
                <a:ext uri="{FF2B5EF4-FFF2-40B4-BE49-F238E27FC236}">
                  <a16:creationId xmlns:a16="http://schemas.microsoft.com/office/drawing/2014/main" id="{653B489E-68E0-48EE-866F-6C6A45993FD7}"/>
                </a:ext>
              </a:extLst>
            </p:cNvPr>
            <p:cNvSpPr txBox="1"/>
            <p:nvPr/>
          </p:nvSpPr>
          <p:spPr>
            <a:xfrm>
              <a:off x="6966762" y="1747436"/>
              <a:ext cx="201792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Économie d’atomes</a:t>
              </a:r>
            </a:p>
          </p:txBody>
        </p:sp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EBD451B8-7373-46CE-855D-938BD9EF8692}"/>
                </a:ext>
              </a:extLst>
            </p:cNvPr>
            <p:cNvSpPr txBox="1"/>
            <p:nvPr/>
          </p:nvSpPr>
          <p:spPr>
            <a:xfrm>
              <a:off x="8984687" y="2380608"/>
              <a:ext cx="2106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Synthèses plus sûres</a:t>
              </a:r>
            </a:p>
          </p:txBody>
        </p:sp>
        <p:sp>
          <p:nvSpPr>
            <p:cNvPr id="95" name="ZoneTexte 94">
              <a:extLst>
                <a:ext uri="{FF2B5EF4-FFF2-40B4-BE49-F238E27FC236}">
                  <a16:creationId xmlns:a16="http://schemas.microsoft.com/office/drawing/2014/main" id="{68CFB159-5276-4045-B5CA-B85958087CED}"/>
                </a:ext>
              </a:extLst>
            </p:cNvPr>
            <p:cNvSpPr txBox="1"/>
            <p:nvPr/>
          </p:nvSpPr>
          <p:spPr>
            <a:xfrm>
              <a:off x="10189843" y="3356912"/>
              <a:ext cx="180315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Concevoir des produits moins toxiques</a:t>
              </a:r>
            </a:p>
          </p:txBody>
        </p:sp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B243E223-1944-4973-AC48-C3EBC2D6F0B8}"/>
                </a:ext>
              </a:extLst>
            </p:cNvPr>
            <p:cNvSpPr txBox="1"/>
            <p:nvPr/>
          </p:nvSpPr>
          <p:spPr>
            <a:xfrm>
              <a:off x="8874000" y="4887214"/>
              <a:ext cx="32001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Solvants et auxiliaires alternatifs</a:t>
              </a:r>
            </a:p>
          </p:txBody>
        </p:sp>
        <p:sp>
          <p:nvSpPr>
            <p:cNvPr id="97" name="ZoneTexte 96">
              <a:extLst>
                <a:ext uri="{FF2B5EF4-FFF2-40B4-BE49-F238E27FC236}">
                  <a16:creationId xmlns:a16="http://schemas.microsoft.com/office/drawing/2014/main" id="{F4F41840-40DD-44C0-A59F-1CB367907051}"/>
                </a:ext>
              </a:extLst>
            </p:cNvPr>
            <p:cNvSpPr txBox="1"/>
            <p:nvPr/>
          </p:nvSpPr>
          <p:spPr>
            <a:xfrm>
              <a:off x="7113188" y="5520387"/>
              <a:ext cx="203081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Économie d’énergie</a:t>
              </a:r>
            </a:p>
          </p:txBody>
        </p:sp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8CABCDAE-8787-4A5B-B2B9-578AA5FA4506}"/>
                </a:ext>
              </a:extLst>
            </p:cNvPr>
            <p:cNvSpPr txBox="1"/>
            <p:nvPr/>
          </p:nvSpPr>
          <p:spPr>
            <a:xfrm>
              <a:off x="4673106" y="5698660"/>
              <a:ext cx="253146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Privilégier les ressources </a:t>
              </a:r>
            </a:p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renouvelables</a:t>
              </a:r>
            </a:p>
          </p:txBody>
        </p:sp>
        <p:sp>
          <p:nvSpPr>
            <p:cNvPr id="99" name="ZoneTexte 98">
              <a:extLst>
                <a:ext uri="{FF2B5EF4-FFF2-40B4-BE49-F238E27FC236}">
                  <a16:creationId xmlns:a16="http://schemas.microsoft.com/office/drawing/2014/main" id="{368CD4E2-2B25-4992-9521-5C68BF73DE94}"/>
                </a:ext>
              </a:extLst>
            </p:cNvPr>
            <p:cNvSpPr txBox="1"/>
            <p:nvPr/>
          </p:nvSpPr>
          <p:spPr>
            <a:xfrm>
              <a:off x="2131871" y="5454753"/>
              <a:ext cx="202606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Réduire la quantité </a:t>
              </a:r>
            </a:p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de produits dérivés</a:t>
              </a:r>
            </a:p>
          </p:txBody>
        </p:sp>
        <p:sp>
          <p:nvSpPr>
            <p:cNvPr id="100" name="ZoneTexte 99">
              <a:extLst>
                <a:ext uri="{FF2B5EF4-FFF2-40B4-BE49-F238E27FC236}">
                  <a16:creationId xmlns:a16="http://schemas.microsoft.com/office/drawing/2014/main" id="{94ABBCF5-89CB-46ED-BC09-AB413A6B4BA7}"/>
                </a:ext>
              </a:extLst>
            </p:cNvPr>
            <p:cNvSpPr txBox="1"/>
            <p:nvPr/>
          </p:nvSpPr>
          <p:spPr>
            <a:xfrm>
              <a:off x="2328618" y="1634948"/>
              <a:ext cx="199862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Réduire les risques </a:t>
              </a:r>
            </a:p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d’accidents</a:t>
              </a:r>
            </a:p>
          </p:txBody>
        </p:sp>
        <p:sp>
          <p:nvSpPr>
            <p:cNvPr id="101" name="ZoneTexte 100">
              <a:extLst>
                <a:ext uri="{FF2B5EF4-FFF2-40B4-BE49-F238E27FC236}">
                  <a16:creationId xmlns:a16="http://schemas.microsoft.com/office/drawing/2014/main" id="{0CB6B2C3-8BB4-4A89-B967-FE982F73F06D}"/>
                </a:ext>
              </a:extLst>
            </p:cNvPr>
            <p:cNvSpPr txBox="1"/>
            <p:nvPr/>
          </p:nvSpPr>
          <p:spPr>
            <a:xfrm>
              <a:off x="473330" y="2209757"/>
              <a:ext cx="2304670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Analyse en temps réel </a:t>
              </a:r>
            </a:p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pour lutter contre </a:t>
              </a:r>
            </a:p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la pollution</a:t>
              </a:r>
            </a:p>
          </p:txBody>
        </p:sp>
        <p:sp>
          <p:nvSpPr>
            <p:cNvPr id="102" name="ZoneTexte 101">
              <a:extLst>
                <a:ext uri="{FF2B5EF4-FFF2-40B4-BE49-F238E27FC236}">
                  <a16:creationId xmlns:a16="http://schemas.microsoft.com/office/drawing/2014/main" id="{9E449725-6A2B-4D2F-9B3A-7124EDE92B9F}"/>
                </a:ext>
              </a:extLst>
            </p:cNvPr>
            <p:cNvSpPr txBox="1"/>
            <p:nvPr/>
          </p:nvSpPr>
          <p:spPr>
            <a:xfrm>
              <a:off x="597563" y="4617215"/>
              <a:ext cx="205620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Préférer les </a:t>
              </a:r>
            </a:p>
            <a:p>
              <a:pPr algn="ctr"/>
              <a:r>
                <a:rPr lang="fr-FR" dirty="0">
                  <a:solidFill>
                    <a:schemeClr val="accent4">
                      <a:lumMod val="50000"/>
                    </a:schemeClr>
                  </a:solidFill>
                </a:rPr>
                <a:t>réactions catalysées</a:t>
              </a:r>
            </a:p>
          </p:txBody>
        </p:sp>
        <p:cxnSp>
          <p:nvCxnSpPr>
            <p:cNvPr id="105" name="Connecteur droit avec flèche 104">
              <a:extLst>
                <a:ext uri="{FF2B5EF4-FFF2-40B4-BE49-F238E27FC236}">
                  <a16:creationId xmlns:a16="http://schemas.microsoft.com/office/drawing/2014/main" id="{5C945B7F-1D79-4B14-A8ED-8A033EB7B116}"/>
                </a:ext>
              </a:extLst>
            </p:cNvPr>
            <p:cNvCxnSpPr>
              <a:cxnSpLocks/>
              <a:stCxn id="91" idx="5"/>
            </p:cNvCxnSpPr>
            <p:nvPr/>
          </p:nvCxnSpPr>
          <p:spPr>
            <a:xfrm>
              <a:off x="4362869" y="2561005"/>
              <a:ext cx="716223" cy="675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6" name="Connecteur droit avec flèche 105">
              <a:extLst>
                <a:ext uri="{FF2B5EF4-FFF2-40B4-BE49-F238E27FC236}">
                  <a16:creationId xmlns:a16="http://schemas.microsoft.com/office/drawing/2014/main" id="{3CD55CBA-6CA6-4FF0-B933-525736A88D39}"/>
                </a:ext>
              </a:extLst>
            </p:cNvPr>
            <p:cNvCxnSpPr>
              <a:cxnSpLocks/>
              <a:stCxn id="6" idx="4"/>
              <a:endCxn id="3" idx="0"/>
            </p:cNvCxnSpPr>
            <p:nvPr/>
          </p:nvCxnSpPr>
          <p:spPr>
            <a:xfrm>
              <a:off x="5938837" y="2465336"/>
              <a:ext cx="1" cy="8246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09" name="Connecteur droit avec flèche 108">
              <a:extLst>
                <a:ext uri="{FF2B5EF4-FFF2-40B4-BE49-F238E27FC236}">
                  <a16:creationId xmlns:a16="http://schemas.microsoft.com/office/drawing/2014/main" id="{95CCDC94-CBD9-46C9-9AD1-5C27C1072509}"/>
                </a:ext>
              </a:extLst>
            </p:cNvPr>
            <p:cNvCxnSpPr>
              <a:cxnSpLocks/>
              <a:stCxn id="83" idx="3"/>
            </p:cNvCxnSpPr>
            <p:nvPr/>
          </p:nvCxnSpPr>
          <p:spPr>
            <a:xfrm flipH="1">
              <a:off x="6798583" y="2566662"/>
              <a:ext cx="716223" cy="67011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2" name="Connecteur droit avec flèche 111">
              <a:extLst>
                <a:ext uri="{FF2B5EF4-FFF2-40B4-BE49-F238E27FC236}">
                  <a16:creationId xmlns:a16="http://schemas.microsoft.com/office/drawing/2014/main" id="{64D8087F-6B70-4FE5-A292-DAD4F5ABA3AF}"/>
                </a:ext>
              </a:extLst>
            </p:cNvPr>
            <p:cNvCxnSpPr>
              <a:cxnSpLocks/>
              <a:stCxn id="84" idx="2"/>
            </p:cNvCxnSpPr>
            <p:nvPr/>
          </p:nvCxnSpPr>
          <p:spPr>
            <a:xfrm flipH="1">
              <a:off x="7705725" y="3019940"/>
              <a:ext cx="1168275" cy="34908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5" name="Connecteur droit avec flèche 114">
              <a:extLst>
                <a:ext uri="{FF2B5EF4-FFF2-40B4-BE49-F238E27FC236}">
                  <a16:creationId xmlns:a16="http://schemas.microsoft.com/office/drawing/2014/main" id="{E62F81F0-8F7C-47DC-84FE-491F461DF4AD}"/>
                </a:ext>
              </a:extLst>
            </p:cNvPr>
            <p:cNvCxnSpPr>
              <a:cxnSpLocks/>
              <a:stCxn id="85" idx="2"/>
              <a:endCxn id="3" idx="3"/>
            </p:cNvCxnSpPr>
            <p:nvPr/>
          </p:nvCxnSpPr>
          <p:spPr>
            <a:xfrm flipH="1">
              <a:off x="7705725" y="3818577"/>
              <a:ext cx="198120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18" name="Connecteur droit avec flèche 117">
              <a:extLst>
                <a:ext uri="{FF2B5EF4-FFF2-40B4-BE49-F238E27FC236}">
                  <a16:creationId xmlns:a16="http://schemas.microsoft.com/office/drawing/2014/main" id="{6E4C8524-B760-4672-8BBB-3CDD1C4A8462}"/>
                </a:ext>
              </a:extLst>
            </p:cNvPr>
            <p:cNvCxnSpPr>
              <a:cxnSpLocks/>
              <a:stCxn id="81" idx="6"/>
              <a:endCxn id="3" idx="1"/>
            </p:cNvCxnSpPr>
            <p:nvPr/>
          </p:nvCxnSpPr>
          <p:spPr>
            <a:xfrm>
              <a:off x="2190750" y="3809052"/>
              <a:ext cx="1981200" cy="95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1" name="Connecteur droit avec flèche 120">
              <a:extLst>
                <a:ext uri="{FF2B5EF4-FFF2-40B4-BE49-F238E27FC236}">
                  <a16:creationId xmlns:a16="http://schemas.microsoft.com/office/drawing/2014/main" id="{0EDBA1D6-F239-4219-874D-30741E4D25CA}"/>
                </a:ext>
              </a:extLst>
            </p:cNvPr>
            <p:cNvCxnSpPr>
              <a:cxnSpLocks/>
              <a:stCxn id="90" idx="6"/>
            </p:cNvCxnSpPr>
            <p:nvPr/>
          </p:nvCxnSpPr>
          <p:spPr>
            <a:xfrm>
              <a:off x="3003675" y="3019940"/>
              <a:ext cx="1190250" cy="3578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4" name="Connecteur droit avec flèche 123">
              <a:extLst>
                <a:ext uri="{FF2B5EF4-FFF2-40B4-BE49-F238E27FC236}">
                  <a16:creationId xmlns:a16="http://schemas.microsoft.com/office/drawing/2014/main" id="{F36D8DE4-A604-49B2-AD89-F149D2619D42}"/>
                </a:ext>
              </a:extLst>
            </p:cNvPr>
            <p:cNvCxnSpPr>
              <a:cxnSpLocks/>
              <a:stCxn id="86" idx="2"/>
            </p:cNvCxnSpPr>
            <p:nvPr/>
          </p:nvCxnSpPr>
          <p:spPr>
            <a:xfrm flipH="1" flipV="1">
              <a:off x="7705725" y="4247510"/>
              <a:ext cx="1168275" cy="36970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27" name="Connecteur droit avec flèche 126">
              <a:extLst>
                <a:ext uri="{FF2B5EF4-FFF2-40B4-BE49-F238E27FC236}">
                  <a16:creationId xmlns:a16="http://schemas.microsoft.com/office/drawing/2014/main" id="{A05103B1-3C84-440F-8DC2-76F5BE9F10D3}"/>
                </a:ext>
              </a:extLst>
            </p:cNvPr>
            <p:cNvCxnSpPr>
              <a:cxnSpLocks/>
              <a:stCxn id="87" idx="1"/>
            </p:cNvCxnSpPr>
            <p:nvPr/>
          </p:nvCxnSpPr>
          <p:spPr>
            <a:xfrm flipH="1" flipV="1">
              <a:off x="6895725" y="4365295"/>
              <a:ext cx="619081" cy="71085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0" name="Connecteur droit avec flèche 129">
              <a:extLst>
                <a:ext uri="{FF2B5EF4-FFF2-40B4-BE49-F238E27FC236}">
                  <a16:creationId xmlns:a16="http://schemas.microsoft.com/office/drawing/2014/main" id="{E05B7A69-4E6A-4C68-892D-D885E978B0DC}"/>
                </a:ext>
              </a:extLst>
            </p:cNvPr>
            <p:cNvCxnSpPr>
              <a:cxnSpLocks/>
              <a:stCxn id="88" idx="0"/>
              <a:endCxn id="3" idx="2"/>
            </p:cNvCxnSpPr>
            <p:nvPr/>
          </p:nvCxnSpPr>
          <p:spPr>
            <a:xfrm flipV="1">
              <a:off x="5938837" y="4347215"/>
              <a:ext cx="1" cy="82460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3" name="Connecteur droit avec flèche 132">
              <a:extLst>
                <a:ext uri="{FF2B5EF4-FFF2-40B4-BE49-F238E27FC236}">
                  <a16:creationId xmlns:a16="http://schemas.microsoft.com/office/drawing/2014/main" id="{748A5237-175A-4024-B9E8-D179A6FA9A54}"/>
                </a:ext>
              </a:extLst>
            </p:cNvPr>
            <p:cNvCxnSpPr>
              <a:cxnSpLocks/>
              <a:stCxn id="89" idx="7"/>
            </p:cNvCxnSpPr>
            <p:nvPr/>
          </p:nvCxnSpPr>
          <p:spPr>
            <a:xfrm flipV="1">
              <a:off x="4362868" y="4394718"/>
              <a:ext cx="682686" cy="67577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138" name="Connecteur droit avec flèche 137">
              <a:extLst>
                <a:ext uri="{FF2B5EF4-FFF2-40B4-BE49-F238E27FC236}">
                  <a16:creationId xmlns:a16="http://schemas.microsoft.com/office/drawing/2014/main" id="{2ED18140-4855-4481-93E6-501327E2C4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2163" y="4264067"/>
              <a:ext cx="1068492" cy="35314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BFD71960-BFFD-4C56-B870-5DFDECAEF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C8EF3C-B4AE-42A5-B219-32BADB3AD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6794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D13471C-2EC3-4992-A88D-E28C86D2A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sans solvant de la </a:t>
            </a:r>
            <a:r>
              <a:rPr lang="fr-FR" dirty="0" err="1"/>
              <a:t>chalcone</a:t>
            </a:r>
            <a:endParaRPr lang="fr-FR" dirty="0"/>
          </a:p>
        </p:txBody>
      </p:sp>
      <p:pic>
        <p:nvPicPr>
          <p:cNvPr id="6" name="Espace réservé du contenu 5">
            <a:extLst>
              <a:ext uri="{FF2B5EF4-FFF2-40B4-BE49-F238E27FC236}">
                <a16:creationId xmlns:a16="http://schemas.microsoft.com/office/drawing/2014/main" id="{320ABC61-B8AF-4636-9588-2EFDE12F70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8070" y="2289678"/>
            <a:ext cx="10058400" cy="1754372"/>
          </a:xfrm>
          <a:prstGeom prst="rect">
            <a:avLst/>
          </a:prstGeom>
        </p:spPr>
      </p:pic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33E1B11-0CD9-4234-9112-F91566605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3592EBE-65F7-475E-AD00-2921D651F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4</a:t>
            </a:fld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E3B5975-0435-41DA-A4B3-BFAB2578423D}"/>
                  </a:ext>
                </a:extLst>
              </p:cNvPr>
              <p:cNvSpPr txBox="1"/>
              <p:nvPr/>
            </p:nvSpPr>
            <p:spPr>
              <a:xfrm>
                <a:off x="9835189" y="2956106"/>
                <a:ext cx="225410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b="0" i="0" kern="12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 </m:t>
                      </m:r>
                      <m:sSub>
                        <m:sSubPr>
                          <m:ctrlPr>
                            <a:rPr lang="fr-FR" sz="2800" b="0" i="1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800" b="0" i="0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H</m:t>
                          </m:r>
                        </m:e>
                        <m:sub>
                          <m:r>
                            <a:rPr lang="fr-FR" sz="2800" b="0" i="0" kern="120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fr-FR" sz="2800" b="0" i="0" kern="12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O</m:t>
                      </m:r>
                    </m:oMath>
                  </m:oMathPara>
                </a14:m>
                <a:endParaRPr lang="fr-FR" sz="2800" kern="1200" dirty="0">
                  <a:solidFill>
                    <a:schemeClr val="tx1"/>
                  </a:solidFill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7" name="ZoneTexte 6">
                <a:extLst>
                  <a:ext uri="{FF2B5EF4-FFF2-40B4-BE49-F238E27FC236}">
                    <a16:creationId xmlns:a16="http://schemas.microsoft.com/office/drawing/2014/main" id="{AE3B5975-0435-41DA-A4B3-BFAB257842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35189" y="2956106"/>
                <a:ext cx="2254102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D34070CD-3108-4B1B-B7E8-A2809BD25443}"/>
                  </a:ext>
                </a:extLst>
              </p:cNvPr>
              <p:cNvSpPr txBox="1"/>
              <p:nvPr/>
            </p:nvSpPr>
            <p:spPr>
              <a:xfrm>
                <a:off x="700405" y="4479850"/>
                <a:ext cx="1971985" cy="46166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=9,7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mmol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D34070CD-3108-4B1B-B7E8-A2809BD254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405" y="4479850"/>
                <a:ext cx="1971985" cy="461665"/>
              </a:xfrm>
              <a:prstGeom prst="rect">
                <a:avLst/>
              </a:prstGeom>
              <a:blipFill>
                <a:blip r:embed="rId4"/>
                <a:stretch>
                  <a:fillRect r="-61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207B69A7-E1F2-4FA2-8F26-1F3C340BA70C}"/>
                  </a:ext>
                </a:extLst>
              </p:cNvPr>
              <p:cNvSpPr txBox="1"/>
              <p:nvPr/>
            </p:nvSpPr>
            <p:spPr>
              <a:xfrm>
                <a:off x="3126045" y="4479850"/>
                <a:ext cx="2002464" cy="461665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fr-FR" sz="2400" b="0" i="0" smtClean="0">
                          <a:latin typeface="Cambria Math" panose="02040503050406030204" pitchFamily="18" charset="0"/>
                        </a:rPr>
                        <m:t>=9,8 </m:t>
                      </m:r>
                      <m:r>
                        <m:rPr>
                          <m:sty m:val="p"/>
                        </m:rPr>
                        <a:rPr lang="fr-FR" sz="2400" b="0" i="0" smtClean="0">
                          <a:latin typeface="Cambria Math" panose="02040503050406030204" pitchFamily="18" charset="0"/>
                        </a:rPr>
                        <m:t>mmol</m:t>
                      </m:r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207B69A7-E1F2-4FA2-8F26-1F3C340BA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6045" y="4479850"/>
                <a:ext cx="2002464" cy="4616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3450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 14">
            <a:extLst>
              <a:ext uri="{FF2B5EF4-FFF2-40B4-BE49-F238E27FC236}">
                <a16:creationId xmlns:a16="http://schemas.microsoft.com/office/drawing/2014/main" id="{4830C752-4DB9-42B7-92A3-DD4703606273}"/>
              </a:ext>
            </a:extLst>
          </p:cNvPr>
          <p:cNvGrpSpPr/>
          <p:nvPr/>
        </p:nvGrpSpPr>
        <p:grpSpPr>
          <a:xfrm>
            <a:off x="71306" y="266168"/>
            <a:ext cx="11063419" cy="5934115"/>
            <a:chOff x="71306" y="266168"/>
            <a:chExt cx="11063419" cy="5934115"/>
          </a:xfrm>
        </p:grpSpPr>
        <p:grpSp>
          <p:nvGrpSpPr>
            <p:cNvPr id="14" name="Groupe 13">
              <a:extLst>
                <a:ext uri="{FF2B5EF4-FFF2-40B4-BE49-F238E27FC236}">
                  <a16:creationId xmlns:a16="http://schemas.microsoft.com/office/drawing/2014/main" id="{BD33453D-8B4E-404C-9FF5-EFF94101D030}"/>
                </a:ext>
              </a:extLst>
            </p:cNvPr>
            <p:cNvGrpSpPr/>
            <p:nvPr/>
          </p:nvGrpSpPr>
          <p:grpSpPr>
            <a:xfrm>
              <a:off x="71306" y="266168"/>
              <a:ext cx="11063419" cy="5934115"/>
              <a:chOff x="71306" y="266168"/>
              <a:chExt cx="11063419" cy="5934115"/>
            </a:xfrm>
          </p:grpSpPr>
          <p:grpSp>
            <p:nvGrpSpPr>
              <p:cNvPr id="12" name="Groupe 11">
                <a:extLst>
                  <a:ext uri="{FF2B5EF4-FFF2-40B4-BE49-F238E27FC236}">
                    <a16:creationId xmlns:a16="http://schemas.microsoft.com/office/drawing/2014/main" id="{C0E87D18-095A-4B9C-98B0-1E81AC9134AD}"/>
                  </a:ext>
                </a:extLst>
              </p:cNvPr>
              <p:cNvGrpSpPr/>
              <p:nvPr/>
            </p:nvGrpSpPr>
            <p:grpSpPr>
              <a:xfrm>
                <a:off x="142876" y="3812347"/>
                <a:ext cx="10991849" cy="2387936"/>
                <a:chOff x="142876" y="3812347"/>
                <a:chExt cx="10991849" cy="2387936"/>
              </a:xfrm>
            </p:grpSpPr>
            <p:pic>
              <p:nvPicPr>
                <p:cNvPr id="8" name="Image 7">
                  <a:extLst>
                    <a:ext uri="{FF2B5EF4-FFF2-40B4-BE49-F238E27FC236}">
                      <a16:creationId xmlns:a16="http://schemas.microsoft.com/office/drawing/2014/main" id="{F80D471F-1598-49E2-97F6-137C5D1696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b="59323"/>
                <a:stretch/>
              </p:blipFill>
              <p:spPr>
                <a:xfrm>
                  <a:off x="142876" y="3812347"/>
                  <a:ext cx="5143764" cy="1402639"/>
                </a:xfrm>
                <a:prstGeom prst="rect">
                  <a:avLst/>
                </a:prstGeom>
              </p:spPr>
            </p:pic>
            <p:pic>
              <p:nvPicPr>
                <p:cNvPr id="9" name="Image 8">
                  <a:extLst>
                    <a:ext uri="{FF2B5EF4-FFF2-40B4-BE49-F238E27FC236}">
                      <a16:creationId xmlns:a16="http://schemas.microsoft.com/office/drawing/2014/main" id="{4068199A-C7C7-433B-9DB0-77240193B3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33771"/>
                <a:stretch/>
              </p:blipFill>
              <p:spPr>
                <a:xfrm>
                  <a:off x="5990961" y="3916570"/>
                  <a:ext cx="5143764" cy="2283713"/>
                </a:xfrm>
                <a:prstGeom prst="rect">
                  <a:avLst/>
                </a:prstGeom>
              </p:spPr>
            </p:pic>
          </p:grpSp>
          <p:pic>
            <p:nvPicPr>
              <p:cNvPr id="13" name="Espace réservé du contenu 5">
                <a:extLst>
                  <a:ext uri="{FF2B5EF4-FFF2-40B4-BE49-F238E27FC236}">
                    <a16:creationId xmlns:a16="http://schemas.microsoft.com/office/drawing/2014/main" id="{B39B9560-BF91-4F50-9CDD-C37833DBD8F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harpenSoften amount="5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1306" y="266168"/>
                <a:ext cx="8204200" cy="3676650"/>
              </a:xfrm>
              <a:prstGeom prst="rect">
                <a:avLst/>
              </a:prstGeom>
            </p:spPr>
          </p:pic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9A123EB-A26D-41E5-9F73-FD14C77D9EDF}"/>
                </a:ext>
              </a:extLst>
            </p:cNvPr>
            <p:cNvSpPr/>
            <p:nvPr/>
          </p:nvSpPr>
          <p:spPr>
            <a:xfrm>
              <a:off x="142875" y="4895850"/>
              <a:ext cx="2562225" cy="571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2FCB94E-C473-47C7-9948-E5683FB573A7}"/>
                </a:ext>
              </a:extLst>
            </p:cNvPr>
            <p:cNvSpPr/>
            <p:nvPr/>
          </p:nvSpPr>
          <p:spPr>
            <a:xfrm>
              <a:off x="10053203" y="3657068"/>
              <a:ext cx="503267" cy="571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sp>
        <p:nvSpPr>
          <p:cNvPr id="16" name="Titre 1">
            <a:extLst>
              <a:ext uri="{FF2B5EF4-FFF2-40B4-BE49-F238E27FC236}">
                <a16:creationId xmlns:a16="http://schemas.microsoft.com/office/drawing/2014/main" id="{15BB33B9-F6BE-4251-894A-C689A12A8044}"/>
              </a:ext>
            </a:extLst>
          </p:cNvPr>
          <p:cNvSpPr txBox="1">
            <a:spLocks/>
          </p:cNvSpPr>
          <p:nvPr/>
        </p:nvSpPr>
        <p:spPr>
          <a:xfrm>
            <a:off x="8275506" y="438150"/>
            <a:ext cx="3712845" cy="76241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Procédé Boots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39F764D6-0C51-4E7F-8D76-BEDF40DC25C7}"/>
              </a:ext>
            </a:extLst>
          </p:cNvPr>
          <p:cNvSpPr/>
          <p:nvPr/>
        </p:nvSpPr>
        <p:spPr>
          <a:xfrm>
            <a:off x="6497810" y="438150"/>
            <a:ext cx="1646066" cy="1304925"/>
          </a:xfrm>
          <a:prstGeom prst="ellipse">
            <a:avLst/>
          </a:prstGeom>
          <a:solidFill>
            <a:srgbClr val="3E8853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615B724-B51A-4FC5-9540-CEEAEFAE775D}"/>
              </a:ext>
            </a:extLst>
          </p:cNvPr>
          <p:cNvSpPr/>
          <p:nvPr/>
        </p:nvSpPr>
        <p:spPr>
          <a:xfrm>
            <a:off x="4555870" y="3092104"/>
            <a:ext cx="1461539" cy="897165"/>
          </a:xfrm>
          <a:prstGeom prst="ellipse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D36F3F63-2396-4FC0-8CEF-66B76FC12990}"/>
              </a:ext>
            </a:extLst>
          </p:cNvPr>
          <p:cNvSpPr/>
          <p:nvPr/>
        </p:nvSpPr>
        <p:spPr>
          <a:xfrm>
            <a:off x="6263970" y="3409418"/>
            <a:ext cx="314886" cy="302453"/>
          </a:xfrm>
          <a:prstGeom prst="ellipse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510380DC-1C64-4CF1-A365-DC7BB9009495}"/>
              </a:ext>
            </a:extLst>
          </p:cNvPr>
          <p:cNvSpPr/>
          <p:nvPr/>
        </p:nvSpPr>
        <p:spPr>
          <a:xfrm>
            <a:off x="4863795" y="4399073"/>
            <a:ext cx="432370" cy="363400"/>
          </a:xfrm>
          <a:prstGeom prst="ellipse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9667409E-05E6-49D3-92C6-79BA03AA82D8}"/>
              </a:ext>
            </a:extLst>
          </p:cNvPr>
          <p:cNvSpPr/>
          <p:nvPr/>
        </p:nvSpPr>
        <p:spPr>
          <a:xfrm>
            <a:off x="9655698" y="4389548"/>
            <a:ext cx="432370" cy="363400"/>
          </a:xfrm>
          <a:prstGeom prst="ellipse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2EF70E5F-67A2-48CF-9821-506F1E01A2C1}"/>
              </a:ext>
            </a:extLst>
          </p:cNvPr>
          <p:cNvSpPr/>
          <p:nvPr/>
        </p:nvSpPr>
        <p:spPr>
          <a:xfrm>
            <a:off x="10198623" y="5380148"/>
            <a:ext cx="432370" cy="363400"/>
          </a:xfrm>
          <a:prstGeom prst="ellipse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52EADA55-1595-438C-AF08-B2B85050920F}"/>
              </a:ext>
            </a:extLst>
          </p:cNvPr>
          <p:cNvSpPr/>
          <p:nvPr/>
        </p:nvSpPr>
        <p:spPr>
          <a:xfrm>
            <a:off x="6673544" y="1818743"/>
            <a:ext cx="889305" cy="571499"/>
          </a:xfrm>
          <a:prstGeom prst="ellipse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4F4DBF0F-8AAB-4FE7-8D66-BF7C2FE2CD6D}"/>
              </a:ext>
            </a:extLst>
          </p:cNvPr>
          <p:cNvSpPr/>
          <p:nvPr/>
        </p:nvSpPr>
        <p:spPr>
          <a:xfrm>
            <a:off x="7812262" y="1951818"/>
            <a:ext cx="444194" cy="339488"/>
          </a:xfrm>
          <a:prstGeom prst="ellipse">
            <a:avLst/>
          </a:prstGeom>
          <a:solidFill>
            <a:srgbClr val="C00000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C3CE4BA-EF08-40B5-AB73-D7441F128506}"/>
              </a:ext>
            </a:extLst>
          </p:cNvPr>
          <p:cNvSpPr/>
          <p:nvPr/>
        </p:nvSpPr>
        <p:spPr>
          <a:xfrm>
            <a:off x="9900458" y="1671037"/>
            <a:ext cx="1622020" cy="762413"/>
          </a:xfrm>
          <a:prstGeom prst="ellipse">
            <a:avLst/>
          </a:prstGeom>
          <a:solidFill>
            <a:srgbClr val="3E8853">
              <a:alpha val="20000"/>
            </a:srgb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Produits valorisables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62DA9F72-2A50-4E52-9767-E4A2E3A19348}"/>
              </a:ext>
            </a:extLst>
          </p:cNvPr>
          <p:cNvSpPr/>
          <p:nvPr/>
        </p:nvSpPr>
        <p:spPr>
          <a:xfrm>
            <a:off x="9900458" y="2635153"/>
            <a:ext cx="1622020" cy="762413"/>
          </a:xfrm>
          <a:prstGeom prst="ellipse">
            <a:avLst/>
          </a:prstGeom>
          <a:solidFill>
            <a:srgbClr val="C00000">
              <a:alpha val="2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fr-FR" sz="1600" dirty="0">
                <a:solidFill>
                  <a:schemeClr val="tx1"/>
                </a:solidFill>
              </a:rPr>
              <a:t>Produits non valorisables</a:t>
            </a:r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0F8566B9-4CDE-4A57-BF2C-1747B4260A0B}"/>
              </a:ext>
            </a:extLst>
          </p:cNvPr>
          <p:cNvSpPr/>
          <p:nvPr/>
        </p:nvSpPr>
        <p:spPr>
          <a:xfrm>
            <a:off x="7724775" y="4923895"/>
            <a:ext cx="2328427" cy="1362605"/>
          </a:xfrm>
          <a:prstGeom prst="ellipse">
            <a:avLst/>
          </a:prstGeom>
          <a:solidFill>
            <a:srgbClr val="3E8853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4027BAFA-46C9-49F1-A3D8-81BFF29A9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B7B0330-4464-4E6A-9C95-1B0D4299A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45166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A00B69-075C-48B1-BB86-C860D9AAB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Procédé BHC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DBA26964-6A84-4A72-BC14-C422B819DF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0226" y="1523893"/>
            <a:ext cx="9671547" cy="4172164"/>
          </a:xfrm>
          <a:prstGeom prst="rect">
            <a:avLst/>
          </a:prstGeom>
        </p:spPr>
      </p:pic>
      <p:sp>
        <p:nvSpPr>
          <p:cNvPr id="14" name="Ellipse 13">
            <a:extLst>
              <a:ext uri="{FF2B5EF4-FFF2-40B4-BE49-F238E27FC236}">
                <a16:creationId xmlns:a16="http://schemas.microsoft.com/office/drawing/2014/main" id="{8D4296AD-D91F-44D0-9E8A-602B21316CB6}"/>
              </a:ext>
            </a:extLst>
          </p:cNvPr>
          <p:cNvSpPr/>
          <p:nvPr/>
        </p:nvSpPr>
        <p:spPr>
          <a:xfrm>
            <a:off x="9106000" y="2036348"/>
            <a:ext cx="1923950" cy="1177392"/>
          </a:xfrm>
          <a:prstGeom prst="ellipse">
            <a:avLst/>
          </a:prstGeom>
          <a:solidFill>
            <a:srgbClr val="3E8853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FB7603EA-B14C-4394-B5E8-B5DB33AC4813}"/>
              </a:ext>
            </a:extLst>
          </p:cNvPr>
          <p:cNvSpPr/>
          <p:nvPr/>
        </p:nvSpPr>
        <p:spPr>
          <a:xfrm>
            <a:off x="3390900" y="4162424"/>
            <a:ext cx="2847975" cy="1543157"/>
          </a:xfrm>
          <a:prstGeom prst="ellipse">
            <a:avLst/>
          </a:prstGeom>
          <a:solidFill>
            <a:srgbClr val="3E8853">
              <a:alpha val="20000"/>
            </a:srgb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94C5991-5227-45E7-81D0-038768D61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6A99BF-B199-4772-9373-C4FA4C51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A00AD0-89FA-4358-AFE4-0A4CF2693EF1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95103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81BE01-A433-4653-B063-A152DCE83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Synthèse micro-ondes / classique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5A89DDF-0EDD-4438-AEBD-326F68B84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pPr/>
              <a:t>7</a:t>
            </a:fld>
            <a:endParaRPr lang="fr-FR" dirty="0"/>
          </a:p>
        </p:txBody>
      </p:sp>
      <p:grpSp>
        <p:nvGrpSpPr>
          <p:cNvPr id="99" name="Groupe 98">
            <a:extLst>
              <a:ext uri="{FF2B5EF4-FFF2-40B4-BE49-F238E27FC236}">
                <a16:creationId xmlns:a16="http://schemas.microsoft.com/office/drawing/2014/main" id="{A9294C5A-C9FA-4B0D-894D-41FE84C27815}"/>
              </a:ext>
            </a:extLst>
          </p:cNvPr>
          <p:cNvGrpSpPr/>
          <p:nvPr/>
        </p:nvGrpSpPr>
        <p:grpSpPr>
          <a:xfrm>
            <a:off x="6245350" y="1492979"/>
            <a:ext cx="4970614" cy="4703898"/>
            <a:chOff x="3538375" y="1517745"/>
            <a:chExt cx="4970614" cy="4703898"/>
          </a:xfrm>
        </p:grpSpPr>
        <p:grpSp>
          <p:nvGrpSpPr>
            <p:cNvPr id="5" name="Grouper 951">
              <a:extLst>
                <a:ext uri="{FF2B5EF4-FFF2-40B4-BE49-F238E27FC236}">
                  <a16:creationId xmlns:a16="http://schemas.microsoft.com/office/drawing/2014/main" id="{759F15FC-02B0-41A4-80B3-82C68D0342F7}"/>
                </a:ext>
              </a:extLst>
            </p:cNvPr>
            <p:cNvGrpSpPr/>
            <p:nvPr/>
          </p:nvGrpSpPr>
          <p:grpSpPr>
            <a:xfrm>
              <a:off x="3831346" y="3702282"/>
              <a:ext cx="1472880" cy="1378043"/>
              <a:chOff x="0" y="0"/>
              <a:chExt cx="1143000" cy="972185"/>
            </a:xfrm>
          </p:grpSpPr>
          <p:grpSp>
            <p:nvGrpSpPr>
              <p:cNvPr id="6" name="Grouper 952">
                <a:extLst>
                  <a:ext uri="{FF2B5EF4-FFF2-40B4-BE49-F238E27FC236}">
                    <a16:creationId xmlns:a16="http://schemas.microsoft.com/office/drawing/2014/main" id="{A4AE52CC-B0AE-42FE-9D19-C45480D77A23}"/>
                  </a:ext>
                </a:extLst>
              </p:cNvPr>
              <p:cNvGrpSpPr/>
              <p:nvPr/>
            </p:nvGrpSpPr>
            <p:grpSpPr>
              <a:xfrm>
                <a:off x="0" y="226695"/>
                <a:ext cx="1143000" cy="745490"/>
                <a:chOff x="0" y="0"/>
                <a:chExt cx="1143000" cy="745490"/>
              </a:xfrm>
            </p:grpSpPr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4DC4BAB-88E4-41F1-9D6E-619040E057F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143000" cy="745490"/>
                </a:xfrm>
                <a:prstGeom prst="rect">
                  <a:avLst/>
                </a:prstGeom>
                <a:solidFill>
                  <a:srgbClr val="BFBFBF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9" name="Ellipse 8">
                  <a:extLst>
                    <a:ext uri="{FF2B5EF4-FFF2-40B4-BE49-F238E27FC236}">
                      <a16:creationId xmlns:a16="http://schemas.microsoft.com/office/drawing/2014/main" id="{2B043717-689A-4583-92C7-86AF085E13A1}"/>
                    </a:ext>
                  </a:extLst>
                </p:cNvPr>
                <p:cNvSpPr/>
                <p:nvPr/>
              </p:nvSpPr>
              <p:spPr>
                <a:xfrm>
                  <a:off x="114300" y="496570"/>
                  <a:ext cx="114300" cy="135255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sp>
            <p:nvSpPr>
              <p:cNvPr id="7" name="Corde 6">
                <a:extLst>
                  <a:ext uri="{FF2B5EF4-FFF2-40B4-BE49-F238E27FC236}">
                    <a16:creationId xmlns:a16="http://schemas.microsoft.com/office/drawing/2014/main" id="{3BBD688F-C80A-4CBF-8D70-F92242D47E42}"/>
                  </a:ext>
                </a:extLst>
              </p:cNvPr>
              <p:cNvSpPr/>
              <p:nvPr/>
            </p:nvSpPr>
            <p:spPr>
              <a:xfrm rot="17567007">
                <a:off x="227330" y="4445"/>
                <a:ext cx="706120" cy="697230"/>
              </a:xfrm>
              <a:prstGeom prst="chord">
                <a:avLst>
                  <a:gd name="adj1" fmla="val 2700000"/>
                  <a:gd name="adj2" fmla="val 16236166"/>
                </a:avLst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bg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10" name="Grouper 1156">
              <a:extLst>
                <a:ext uri="{FF2B5EF4-FFF2-40B4-BE49-F238E27FC236}">
                  <a16:creationId xmlns:a16="http://schemas.microsoft.com/office/drawing/2014/main" id="{69760215-6AAD-46DC-B41B-5E5EFC9F8E46}"/>
                </a:ext>
              </a:extLst>
            </p:cNvPr>
            <p:cNvGrpSpPr/>
            <p:nvPr/>
          </p:nvGrpSpPr>
          <p:grpSpPr>
            <a:xfrm>
              <a:off x="3834619" y="5065923"/>
              <a:ext cx="1490882" cy="1155720"/>
              <a:chOff x="0" y="0"/>
              <a:chExt cx="1156970" cy="81534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5D66375-794D-478A-A8DA-ABDC8B08D776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10033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0FAC19D-9F65-48C5-9E29-434BBE9198C7}"/>
                  </a:ext>
                </a:extLst>
              </p:cNvPr>
              <p:cNvSpPr/>
              <p:nvPr/>
            </p:nvSpPr>
            <p:spPr>
              <a:xfrm>
                <a:off x="13970" y="715010"/>
                <a:ext cx="1143000" cy="100330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cxnSp>
            <p:nvCxnSpPr>
              <p:cNvPr id="13" name="Connecteur droit 12">
                <a:extLst>
                  <a:ext uri="{FF2B5EF4-FFF2-40B4-BE49-F238E27FC236}">
                    <a16:creationId xmlns:a16="http://schemas.microsoft.com/office/drawing/2014/main" id="{A0417C15-1C7C-4D2E-B032-4DBE5BAB8733}"/>
                  </a:ext>
                </a:extLst>
              </p:cNvPr>
              <p:cNvCxnSpPr/>
              <p:nvPr/>
            </p:nvCxnSpPr>
            <p:spPr>
              <a:xfrm>
                <a:off x="113665" y="100330"/>
                <a:ext cx="924227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Connecteur droit 13">
                <a:extLst>
                  <a:ext uri="{FF2B5EF4-FFF2-40B4-BE49-F238E27FC236}">
                    <a16:creationId xmlns:a16="http://schemas.microsoft.com/office/drawing/2014/main" id="{E8CF57A4-A02B-4A91-8E79-2A990911B368}"/>
                  </a:ext>
                </a:extLst>
              </p:cNvPr>
              <p:cNvCxnSpPr/>
              <p:nvPr/>
            </p:nvCxnSpPr>
            <p:spPr>
              <a:xfrm flipH="1">
                <a:off x="113665" y="100330"/>
                <a:ext cx="924862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necteur droit 14">
                <a:extLst>
                  <a:ext uri="{FF2B5EF4-FFF2-40B4-BE49-F238E27FC236}">
                    <a16:creationId xmlns:a16="http://schemas.microsoft.com/office/drawing/2014/main" id="{F13F7508-9A01-4531-8CF4-F3BA69B4E22A}"/>
                  </a:ext>
                </a:extLst>
              </p:cNvPr>
              <p:cNvCxnSpPr/>
              <p:nvPr/>
            </p:nvCxnSpPr>
            <p:spPr>
              <a:xfrm>
                <a:off x="113665" y="405130"/>
                <a:ext cx="924227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Connecteur droit 15">
                <a:extLst>
                  <a:ext uri="{FF2B5EF4-FFF2-40B4-BE49-F238E27FC236}">
                    <a16:creationId xmlns:a16="http://schemas.microsoft.com/office/drawing/2014/main" id="{E5939818-BF4F-4E0E-B2A6-17B77B28E4F9}"/>
                  </a:ext>
                </a:extLst>
              </p:cNvPr>
              <p:cNvCxnSpPr/>
              <p:nvPr/>
            </p:nvCxnSpPr>
            <p:spPr>
              <a:xfrm flipH="1">
                <a:off x="113665" y="405130"/>
                <a:ext cx="924560" cy="304800"/>
              </a:xfrm>
              <a:prstGeom prst="line">
                <a:avLst/>
              </a:prstGeom>
              <a:ln w="12700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7" name="Grouper 1287">
              <a:extLst>
                <a:ext uri="{FF2B5EF4-FFF2-40B4-BE49-F238E27FC236}">
                  <a16:creationId xmlns:a16="http://schemas.microsoft.com/office/drawing/2014/main" id="{F7B8ADA0-ABAF-43B9-83B0-09592B902738}"/>
                </a:ext>
              </a:extLst>
            </p:cNvPr>
            <p:cNvGrpSpPr/>
            <p:nvPr/>
          </p:nvGrpSpPr>
          <p:grpSpPr>
            <a:xfrm>
              <a:off x="4129194" y="3443955"/>
              <a:ext cx="893548" cy="1252030"/>
              <a:chOff x="71120" y="0"/>
              <a:chExt cx="693420" cy="883285"/>
            </a:xfrm>
          </p:grpSpPr>
          <p:grpSp>
            <p:nvGrpSpPr>
              <p:cNvPr id="18" name="Grouper 1286">
                <a:extLst>
                  <a:ext uri="{FF2B5EF4-FFF2-40B4-BE49-F238E27FC236}">
                    <a16:creationId xmlns:a16="http://schemas.microsoft.com/office/drawing/2014/main" id="{6D3D38D9-2D03-4667-8F1A-33ADA5882BBF}"/>
                  </a:ext>
                </a:extLst>
              </p:cNvPr>
              <p:cNvGrpSpPr/>
              <p:nvPr/>
            </p:nvGrpSpPr>
            <p:grpSpPr>
              <a:xfrm>
                <a:off x="71120" y="0"/>
                <a:ext cx="693420" cy="883285"/>
                <a:chOff x="0" y="0"/>
                <a:chExt cx="693420" cy="883285"/>
              </a:xfrm>
            </p:grpSpPr>
            <p:grpSp>
              <p:nvGrpSpPr>
                <p:cNvPr id="20" name="Grouper 1231">
                  <a:extLst>
                    <a:ext uri="{FF2B5EF4-FFF2-40B4-BE49-F238E27FC236}">
                      <a16:creationId xmlns:a16="http://schemas.microsoft.com/office/drawing/2014/main" id="{9B9B39BC-0BC8-4D01-8F7C-A4E8F07FCC8A}"/>
                    </a:ext>
                  </a:extLst>
                </p:cNvPr>
                <p:cNvGrpSpPr/>
                <p:nvPr/>
              </p:nvGrpSpPr>
              <p:grpSpPr>
                <a:xfrm>
                  <a:off x="0" y="0"/>
                  <a:ext cx="693420" cy="883285"/>
                  <a:chOff x="0" y="0"/>
                  <a:chExt cx="693420" cy="883285"/>
                </a:xfrm>
              </p:grpSpPr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513BD24A-2EE7-4B05-8496-AB57FB7015C1}"/>
                      </a:ext>
                    </a:extLst>
                  </p:cNvPr>
                  <p:cNvSpPr/>
                  <p:nvPr/>
                </p:nvSpPr>
                <p:spPr>
                  <a:xfrm rot="19775393">
                    <a:off x="28575" y="148590"/>
                    <a:ext cx="152400" cy="254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276FD473-2CE2-4902-B7BA-BC878C28D7DD}"/>
                      </a:ext>
                    </a:extLst>
                  </p:cNvPr>
                  <p:cNvSpPr/>
                  <p:nvPr/>
                </p:nvSpPr>
                <p:spPr>
                  <a:xfrm>
                    <a:off x="272415" y="12700"/>
                    <a:ext cx="152400" cy="254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0" name="Ellipse 49">
                    <a:extLst>
                      <a:ext uri="{FF2B5EF4-FFF2-40B4-BE49-F238E27FC236}">
                        <a16:creationId xmlns:a16="http://schemas.microsoft.com/office/drawing/2014/main" id="{D33D1356-1453-40F9-8475-CE011C023FA0}"/>
                      </a:ext>
                    </a:extLst>
                  </p:cNvPr>
                  <p:cNvSpPr/>
                  <p:nvPr/>
                </p:nvSpPr>
                <p:spPr>
                  <a:xfrm>
                    <a:off x="0" y="189865"/>
                    <a:ext cx="693420" cy="693420"/>
                  </a:xfrm>
                  <a:prstGeom prst="ellips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9397783D-10E1-4857-BE03-360EAAC8588D}"/>
                      </a:ext>
                    </a:extLst>
                  </p:cNvPr>
                  <p:cNvSpPr/>
                  <p:nvPr/>
                </p:nvSpPr>
                <p:spPr>
                  <a:xfrm rot="19775393">
                    <a:off x="38735" y="136525"/>
                    <a:ext cx="134620" cy="2870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6C1398F1-FFC6-48A3-8589-04C4ECA8182C}"/>
                      </a:ext>
                    </a:extLst>
                  </p:cNvPr>
                  <p:cNvSpPr/>
                  <p:nvPr/>
                </p:nvSpPr>
                <p:spPr>
                  <a:xfrm>
                    <a:off x="280035" y="0"/>
                    <a:ext cx="134620" cy="28702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grpSp>
              <p:nvGrpSpPr>
                <p:cNvPr id="21" name="Grouper 1285">
                  <a:extLst>
                    <a:ext uri="{FF2B5EF4-FFF2-40B4-BE49-F238E27FC236}">
                      <a16:creationId xmlns:a16="http://schemas.microsoft.com/office/drawing/2014/main" id="{24546241-17A9-4DF6-9D45-A7F29FF5ACF4}"/>
                    </a:ext>
                  </a:extLst>
                </p:cNvPr>
                <p:cNvGrpSpPr/>
                <p:nvPr/>
              </p:nvGrpSpPr>
              <p:grpSpPr>
                <a:xfrm>
                  <a:off x="0" y="189230"/>
                  <a:ext cx="693420" cy="693420"/>
                  <a:chOff x="0" y="0"/>
                  <a:chExt cx="693420" cy="693420"/>
                </a:xfrm>
              </p:grpSpPr>
              <p:sp>
                <p:nvSpPr>
                  <p:cNvPr id="22" name="Corde 21">
                    <a:extLst>
                      <a:ext uri="{FF2B5EF4-FFF2-40B4-BE49-F238E27FC236}">
                        <a16:creationId xmlns:a16="http://schemas.microsoft.com/office/drawing/2014/main" id="{708BE254-2656-4E33-89E0-119512740182}"/>
                      </a:ext>
                    </a:extLst>
                  </p:cNvPr>
                  <p:cNvSpPr/>
                  <p:nvPr/>
                </p:nvSpPr>
                <p:spPr>
                  <a:xfrm rot="17560116">
                    <a:off x="0" y="0"/>
                    <a:ext cx="693420" cy="693420"/>
                  </a:xfrm>
                  <a:prstGeom prst="chord">
                    <a:avLst>
                      <a:gd name="adj1" fmla="val 4447445"/>
                      <a:gd name="adj2" fmla="val 14321630"/>
                    </a:avLst>
                  </a:prstGeom>
                  <a:solidFill>
                    <a:schemeClr val="tx2">
                      <a:lumMod val="40000"/>
                      <a:lumOff val="60000"/>
                    </a:schemeClr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grpSp>
                <p:nvGrpSpPr>
                  <p:cNvPr id="23" name="Grouper 1119">
                    <a:extLst>
                      <a:ext uri="{FF2B5EF4-FFF2-40B4-BE49-F238E27FC236}">
                        <a16:creationId xmlns:a16="http://schemas.microsoft.com/office/drawing/2014/main" id="{80151D2E-703E-4D88-A799-5C7B0879349A}"/>
                      </a:ext>
                    </a:extLst>
                  </p:cNvPr>
                  <p:cNvGrpSpPr/>
                  <p:nvPr/>
                </p:nvGrpSpPr>
                <p:grpSpPr>
                  <a:xfrm>
                    <a:off x="150495" y="434341"/>
                    <a:ext cx="410210" cy="220343"/>
                    <a:chOff x="0" y="1"/>
                    <a:chExt cx="410210" cy="220343"/>
                  </a:xfrm>
                </p:grpSpPr>
                <p:grpSp>
                  <p:nvGrpSpPr>
                    <p:cNvPr id="24" name="Grouper 1121">
                      <a:extLst>
                        <a:ext uri="{FF2B5EF4-FFF2-40B4-BE49-F238E27FC236}">
                          <a16:creationId xmlns:a16="http://schemas.microsoft.com/office/drawing/2014/main" id="{404A53E8-C109-4C42-A9C7-8349F1DD3838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74322" y="1"/>
                      <a:ext cx="135888" cy="203840"/>
                      <a:chOff x="0" y="134620"/>
                      <a:chExt cx="291465" cy="530225"/>
                    </a:xfrm>
                  </p:grpSpPr>
                  <p:sp>
                    <p:nvSpPr>
                      <p:cNvPr id="41" name="Ellipse 40">
                        <a:extLst>
                          <a:ext uri="{FF2B5EF4-FFF2-40B4-BE49-F238E27FC236}">
                            <a16:creationId xmlns:a16="http://schemas.microsoft.com/office/drawing/2014/main" id="{ADF18413-04F0-40C8-9907-0B28460B4C3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357505"/>
                        <a:ext cx="60325" cy="67946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2" name="Ellipse 41">
                        <a:extLst>
                          <a:ext uri="{FF2B5EF4-FFF2-40B4-BE49-F238E27FC236}">
                            <a16:creationId xmlns:a16="http://schemas.microsoft.com/office/drawing/2014/main" id="{729D88C0-92D2-4E4F-80C2-A22246961B3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885" y="400685"/>
                        <a:ext cx="75565" cy="889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3" name="Ellipse 42">
                        <a:extLst>
                          <a:ext uri="{FF2B5EF4-FFF2-40B4-BE49-F238E27FC236}">
                            <a16:creationId xmlns:a16="http://schemas.microsoft.com/office/drawing/2014/main" id="{E7184F8D-88AB-4208-B8F0-08C264679C1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7640" y="238760"/>
                        <a:ext cx="76200" cy="9017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4" name="Ellipse 43">
                        <a:extLst>
                          <a:ext uri="{FF2B5EF4-FFF2-40B4-BE49-F238E27FC236}">
                            <a16:creationId xmlns:a16="http://schemas.microsoft.com/office/drawing/2014/main" id="{E84981A6-0793-42EA-8BA2-C5EB68FF899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76530"/>
                        <a:ext cx="88265" cy="9715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5" name="Ellipse 44">
                        <a:extLst>
                          <a:ext uri="{FF2B5EF4-FFF2-40B4-BE49-F238E27FC236}">
                            <a16:creationId xmlns:a16="http://schemas.microsoft.com/office/drawing/2014/main" id="{EDCC2DB3-0164-4F28-8771-67805FE9EC4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2400" y="1346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6" name="Ellipse 45">
                        <a:extLst>
                          <a:ext uri="{FF2B5EF4-FFF2-40B4-BE49-F238E27FC236}">
                            <a16:creationId xmlns:a16="http://schemas.microsoft.com/office/drawing/2014/main" id="{8EC06BED-13CA-48E8-9441-85CDA57B898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140" y="4394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7" name="Ellipse 46">
                        <a:extLst>
                          <a:ext uri="{FF2B5EF4-FFF2-40B4-BE49-F238E27FC236}">
                            <a16:creationId xmlns:a16="http://schemas.microsoft.com/office/drawing/2014/main" id="{2A0C15E9-40D7-4140-B7AD-B29CEBCDD5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15" y="59690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grpSp>
                  <p:nvGrpSpPr>
                    <p:cNvPr id="25" name="Grouper 1129">
                      <a:extLst>
                        <a:ext uri="{FF2B5EF4-FFF2-40B4-BE49-F238E27FC236}">
                          <a16:creationId xmlns:a16="http://schemas.microsoft.com/office/drawing/2014/main" id="{35EC3A0D-3D02-4636-9A0F-07EB66B759F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0" y="636"/>
                      <a:ext cx="135888" cy="203840"/>
                      <a:chOff x="0" y="134620"/>
                      <a:chExt cx="291465" cy="530225"/>
                    </a:xfrm>
                  </p:grpSpPr>
                  <p:sp>
                    <p:nvSpPr>
                      <p:cNvPr id="34" name="Ellipse 33">
                        <a:extLst>
                          <a:ext uri="{FF2B5EF4-FFF2-40B4-BE49-F238E27FC236}">
                            <a16:creationId xmlns:a16="http://schemas.microsoft.com/office/drawing/2014/main" id="{718919DE-B57F-4744-916C-A54B9E8FB90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357505"/>
                        <a:ext cx="60325" cy="67946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5" name="Ellipse 34">
                        <a:extLst>
                          <a:ext uri="{FF2B5EF4-FFF2-40B4-BE49-F238E27FC236}">
                            <a16:creationId xmlns:a16="http://schemas.microsoft.com/office/drawing/2014/main" id="{B7D3A186-BEC8-4084-9565-3FC92DA2E2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885" y="400685"/>
                        <a:ext cx="75565" cy="889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6" name="Ellipse 35">
                        <a:extLst>
                          <a:ext uri="{FF2B5EF4-FFF2-40B4-BE49-F238E27FC236}">
                            <a16:creationId xmlns:a16="http://schemas.microsoft.com/office/drawing/2014/main" id="{392CE31A-2C27-449D-9839-FDF1E2D71F5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7640" y="238760"/>
                        <a:ext cx="76200" cy="9017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7" name="Ellipse 36">
                        <a:extLst>
                          <a:ext uri="{FF2B5EF4-FFF2-40B4-BE49-F238E27FC236}">
                            <a16:creationId xmlns:a16="http://schemas.microsoft.com/office/drawing/2014/main" id="{CB1027DA-AAE5-47CE-99D2-48D35519BE9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76530"/>
                        <a:ext cx="88265" cy="9715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8" name="Ellipse 37">
                        <a:extLst>
                          <a:ext uri="{FF2B5EF4-FFF2-40B4-BE49-F238E27FC236}">
                            <a16:creationId xmlns:a16="http://schemas.microsoft.com/office/drawing/2014/main" id="{422BC2D2-D4A6-4B32-9CAC-EC43FB3CA72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2400" y="1346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9" name="Ellipse 38">
                        <a:extLst>
                          <a:ext uri="{FF2B5EF4-FFF2-40B4-BE49-F238E27FC236}">
                            <a16:creationId xmlns:a16="http://schemas.microsoft.com/office/drawing/2014/main" id="{4EBCCDCA-1CBF-4275-B7DA-0C515DCD35D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140" y="4394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40" name="Ellipse 39">
                        <a:extLst>
                          <a:ext uri="{FF2B5EF4-FFF2-40B4-BE49-F238E27FC236}">
                            <a16:creationId xmlns:a16="http://schemas.microsoft.com/office/drawing/2014/main" id="{5F0A2162-5FD1-47E5-BC00-0F88D1F91A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15" y="59690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  <p:grpSp>
                  <p:nvGrpSpPr>
                    <p:cNvPr id="26" name="Grouper 1137">
                      <a:extLst>
                        <a:ext uri="{FF2B5EF4-FFF2-40B4-BE49-F238E27FC236}">
                          <a16:creationId xmlns:a16="http://schemas.microsoft.com/office/drawing/2014/main" id="{4BBAD15B-C47C-45A6-BE49-1FAF662F9A04}"/>
                        </a:ext>
                      </a:extLst>
                    </p:cNvPr>
                    <p:cNvGrpSpPr/>
                    <p:nvPr/>
                  </p:nvGrpSpPr>
                  <p:grpSpPr>
                    <a:xfrm flipV="1">
                      <a:off x="139065" y="16504"/>
                      <a:ext cx="135888" cy="203840"/>
                      <a:chOff x="0" y="134620"/>
                      <a:chExt cx="291465" cy="530225"/>
                    </a:xfrm>
                  </p:grpSpPr>
                  <p:sp>
                    <p:nvSpPr>
                      <p:cNvPr id="27" name="Ellipse 26">
                        <a:extLst>
                          <a:ext uri="{FF2B5EF4-FFF2-40B4-BE49-F238E27FC236}">
                            <a16:creationId xmlns:a16="http://schemas.microsoft.com/office/drawing/2014/main" id="{8144D919-36D1-4EDF-9353-3C0B4DA2E2E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357505"/>
                        <a:ext cx="60325" cy="67946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8" name="Ellipse 27">
                        <a:extLst>
                          <a:ext uri="{FF2B5EF4-FFF2-40B4-BE49-F238E27FC236}">
                            <a16:creationId xmlns:a16="http://schemas.microsoft.com/office/drawing/2014/main" id="{37A18B40-C184-4E63-AC16-EE4F392DB18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95885" y="400685"/>
                        <a:ext cx="75565" cy="8890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29" name="Ellipse 28">
                        <a:extLst>
                          <a:ext uri="{FF2B5EF4-FFF2-40B4-BE49-F238E27FC236}">
                            <a16:creationId xmlns:a16="http://schemas.microsoft.com/office/drawing/2014/main" id="{E9C0DDEB-C409-4E2D-B219-6C64ADFB2B2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67640" y="238760"/>
                        <a:ext cx="76200" cy="90170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0" name="Ellipse 29">
                        <a:extLst>
                          <a:ext uri="{FF2B5EF4-FFF2-40B4-BE49-F238E27FC236}">
                            <a16:creationId xmlns:a16="http://schemas.microsoft.com/office/drawing/2014/main" id="{7E7A24F5-389C-45C0-94B5-C1F4D096861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0" y="176530"/>
                        <a:ext cx="88265" cy="9715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1" name="Ellipse 30">
                        <a:extLst>
                          <a:ext uri="{FF2B5EF4-FFF2-40B4-BE49-F238E27FC236}">
                            <a16:creationId xmlns:a16="http://schemas.microsoft.com/office/drawing/2014/main" id="{379A2635-B01A-4033-BB53-5B8EDBBA48C3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52400" y="1346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2" name="Ellipse 31">
                        <a:extLst>
                          <a:ext uri="{FF2B5EF4-FFF2-40B4-BE49-F238E27FC236}">
                            <a16:creationId xmlns:a16="http://schemas.microsoft.com/office/drawing/2014/main" id="{BE5C14BC-C0F8-430D-B276-8EA07D41895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31140" y="43942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  <p:sp>
                    <p:nvSpPr>
                      <p:cNvPr id="33" name="Ellipse 32">
                        <a:extLst>
                          <a:ext uri="{FF2B5EF4-FFF2-40B4-BE49-F238E27FC236}">
                            <a16:creationId xmlns:a16="http://schemas.microsoft.com/office/drawing/2014/main" id="{0C5524D8-71A0-41BC-AC47-52F9E5060902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107315" y="596900"/>
                        <a:ext cx="60325" cy="67945"/>
                      </a:xfrm>
                      <a:prstGeom prst="ellipse">
                        <a:avLst/>
                      </a:prstGeom>
                      <a:solidFill>
                        <a:srgbClr val="FFFFFF"/>
                      </a:solidFill>
                      <a:ln w="6350" cmpd="sng">
                        <a:solidFill>
                          <a:schemeClr val="tx1"/>
                        </a:solidFill>
                      </a:ln>
                      <a:effectLst/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ot="0" spcFirstLastPara="0" vert="horz" wrap="square" lIns="91440" tIns="45720" rIns="91440" bIns="45720" numCol="1" spcCol="0" rtlCol="0" fromWordArt="0" anchor="ctr" anchorCtr="0" forceAA="0" compatLnSpc="1">
                        <a:prstTxWarp prst="textNoShape">
                          <a:avLst/>
                        </a:prstTxWarp>
                        <a:noAutofit/>
                      </a:bodyPr>
                      <a:lstStyle/>
                      <a:p>
                        <a:endParaRPr lang="fr-FR"/>
                      </a:p>
                    </p:txBody>
                  </p:sp>
                </p:grpSp>
              </p:grpSp>
            </p:grpSp>
          </p:grp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309BEA9E-BC51-474D-874B-EA35A6F1FF72}"/>
                  </a:ext>
                </a:extLst>
              </p:cNvPr>
              <p:cNvSpPr/>
              <p:nvPr/>
            </p:nvSpPr>
            <p:spPr>
              <a:xfrm>
                <a:off x="338455" y="800100"/>
                <a:ext cx="146050" cy="7556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F2E01ECA-BBFF-4349-A173-60C775B9EF4E}"/>
                </a:ext>
              </a:extLst>
            </p:cNvPr>
            <p:cNvGrpSpPr/>
            <p:nvPr/>
          </p:nvGrpSpPr>
          <p:grpSpPr>
            <a:xfrm>
              <a:off x="4181562" y="1590144"/>
              <a:ext cx="788809" cy="2003608"/>
              <a:chOff x="1792714" y="1633862"/>
              <a:chExt cx="788809" cy="2003608"/>
            </a:xfrm>
          </p:grpSpPr>
          <p:sp>
            <p:nvSpPr>
              <p:cNvPr id="54" name="Rectangle à coins arrondis 943">
                <a:extLst>
                  <a:ext uri="{FF2B5EF4-FFF2-40B4-BE49-F238E27FC236}">
                    <a16:creationId xmlns:a16="http://schemas.microsoft.com/office/drawing/2014/main" id="{2FC9FD2F-4905-4939-8B82-61CAF81BCD5F}"/>
                  </a:ext>
                </a:extLst>
              </p:cNvPr>
              <p:cNvSpPr/>
              <p:nvPr/>
            </p:nvSpPr>
            <p:spPr>
              <a:xfrm>
                <a:off x="1968641" y="1824682"/>
                <a:ext cx="434500" cy="1666973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7206A759-305D-4A46-9C1F-376268AFC7AF}"/>
                  </a:ext>
                </a:extLst>
              </p:cNvPr>
              <p:cNvSpPr/>
              <p:nvPr/>
            </p:nvSpPr>
            <p:spPr>
              <a:xfrm>
                <a:off x="2105292" y="1680667"/>
                <a:ext cx="167745" cy="194150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5B226F08-8DDD-449A-BEE8-781D022D7B2A}"/>
                  </a:ext>
                </a:extLst>
              </p:cNvPr>
              <p:cNvSpPr/>
              <p:nvPr/>
            </p:nvSpPr>
            <p:spPr>
              <a:xfrm>
                <a:off x="2074198" y="1633862"/>
                <a:ext cx="218477" cy="6390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57" name="Arc plein 56">
                <a:extLst>
                  <a:ext uri="{FF2B5EF4-FFF2-40B4-BE49-F238E27FC236}">
                    <a16:creationId xmlns:a16="http://schemas.microsoft.com/office/drawing/2014/main" id="{4566F74D-89C5-46AD-A76C-06446A124749}"/>
                  </a:ext>
                </a:extLst>
              </p:cNvPr>
              <p:cNvSpPr/>
              <p:nvPr/>
            </p:nvSpPr>
            <p:spPr>
              <a:xfrm rot="5400000">
                <a:off x="2193337" y="1981953"/>
                <a:ext cx="421244" cy="355128"/>
              </a:xfrm>
              <a:prstGeom prst="blockArc">
                <a:avLst>
                  <a:gd name="adj1" fmla="val 10800000"/>
                  <a:gd name="adj2" fmla="val 16383978"/>
                  <a:gd name="adj3" fmla="val 2066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58" name="Arc plein 57">
                <a:extLst>
                  <a:ext uri="{FF2B5EF4-FFF2-40B4-BE49-F238E27FC236}">
                    <a16:creationId xmlns:a16="http://schemas.microsoft.com/office/drawing/2014/main" id="{B797886E-8AE5-4D52-98A6-9759EA4F2212}"/>
                  </a:ext>
                </a:extLst>
              </p:cNvPr>
              <p:cNvSpPr/>
              <p:nvPr/>
            </p:nvSpPr>
            <p:spPr>
              <a:xfrm rot="16200000" flipH="1">
                <a:off x="1759656" y="3249284"/>
                <a:ext cx="421244" cy="355128"/>
              </a:xfrm>
              <a:prstGeom prst="blockArc">
                <a:avLst>
                  <a:gd name="adj1" fmla="val 10800000"/>
                  <a:gd name="adj2" fmla="val 16383978"/>
                  <a:gd name="adj3" fmla="val 20665"/>
                </a:avLst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456F25E1-36A2-4792-A9B2-B2FD56B9532F}"/>
                </a:ext>
              </a:extLst>
            </p:cNvPr>
            <p:cNvGrpSpPr/>
            <p:nvPr/>
          </p:nvGrpSpPr>
          <p:grpSpPr>
            <a:xfrm>
              <a:off x="3769975" y="2744943"/>
              <a:ext cx="319567" cy="1184275"/>
              <a:chOff x="7335132" y="2261014"/>
              <a:chExt cx="319567" cy="1184275"/>
            </a:xfrm>
          </p:grpSpPr>
          <p:grpSp>
            <p:nvGrpSpPr>
              <p:cNvPr id="60" name="Grouper 679">
                <a:extLst>
                  <a:ext uri="{FF2B5EF4-FFF2-40B4-BE49-F238E27FC236}">
                    <a16:creationId xmlns:a16="http://schemas.microsoft.com/office/drawing/2014/main" id="{54E6991A-3828-4AA5-AED6-B26BB68D339F}"/>
                  </a:ext>
                </a:extLst>
              </p:cNvPr>
              <p:cNvGrpSpPr/>
              <p:nvPr/>
            </p:nvGrpSpPr>
            <p:grpSpPr>
              <a:xfrm rot="19789929">
                <a:off x="7345291" y="2261014"/>
                <a:ext cx="300355" cy="1184275"/>
                <a:chOff x="0" y="0"/>
                <a:chExt cx="300355" cy="1184275"/>
              </a:xfrm>
            </p:grpSpPr>
            <p:sp>
              <p:nvSpPr>
                <p:cNvPr id="74" name="Cadre 73">
                  <a:extLst>
                    <a:ext uri="{FF2B5EF4-FFF2-40B4-BE49-F238E27FC236}">
                      <a16:creationId xmlns:a16="http://schemas.microsoft.com/office/drawing/2014/main" id="{A2590E95-CD6B-4BAA-A4E8-74A5AFB68E5B}"/>
                    </a:ext>
                  </a:extLst>
                </p:cNvPr>
                <p:cNvSpPr/>
                <p:nvPr/>
              </p:nvSpPr>
              <p:spPr>
                <a:xfrm>
                  <a:off x="0" y="139065"/>
                  <a:ext cx="210820" cy="826770"/>
                </a:xfrm>
                <a:prstGeom prst="frame">
                  <a:avLst>
                    <a:gd name="adj1" fmla="val 25000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5" name="Rectangle 74">
                  <a:extLst>
                    <a:ext uri="{FF2B5EF4-FFF2-40B4-BE49-F238E27FC236}">
                      <a16:creationId xmlns:a16="http://schemas.microsoft.com/office/drawing/2014/main" id="{2EA98036-9ACE-4079-B541-990D7A23A577}"/>
                    </a:ext>
                  </a:extLst>
                </p:cNvPr>
                <p:cNvSpPr/>
                <p:nvPr/>
              </p:nvSpPr>
              <p:spPr>
                <a:xfrm>
                  <a:off x="112395" y="13335"/>
                  <a:ext cx="152400" cy="1498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6" name="Rectangle 75">
                  <a:extLst>
                    <a:ext uri="{FF2B5EF4-FFF2-40B4-BE49-F238E27FC236}">
                      <a16:creationId xmlns:a16="http://schemas.microsoft.com/office/drawing/2014/main" id="{DB6E76A2-30F2-46DC-B800-EF13F3BC55F4}"/>
                    </a:ext>
                  </a:extLst>
                </p:cNvPr>
                <p:cNvSpPr/>
                <p:nvPr/>
              </p:nvSpPr>
              <p:spPr>
                <a:xfrm>
                  <a:off x="154940" y="815340"/>
                  <a:ext cx="63500" cy="1498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7" name="Rectangle à coins arrondis 643">
                  <a:extLst>
                    <a:ext uri="{FF2B5EF4-FFF2-40B4-BE49-F238E27FC236}">
                      <a16:creationId xmlns:a16="http://schemas.microsoft.com/office/drawing/2014/main" id="{F24A9D5C-E2B3-4083-93E5-938180755810}"/>
                    </a:ext>
                  </a:extLst>
                </p:cNvPr>
                <p:cNvSpPr/>
                <p:nvPr/>
              </p:nvSpPr>
              <p:spPr>
                <a:xfrm>
                  <a:off x="73660" y="100330"/>
                  <a:ext cx="226695" cy="721360"/>
                </a:xfrm>
                <a:prstGeom prst="roundRect">
                  <a:avLst>
                    <a:gd name="adj" fmla="val 41877"/>
                  </a:avLst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8" name="Rectangle 77">
                  <a:extLst>
                    <a:ext uri="{FF2B5EF4-FFF2-40B4-BE49-F238E27FC236}">
                      <a16:creationId xmlns:a16="http://schemas.microsoft.com/office/drawing/2014/main" id="{EA5EE888-72E0-4268-A8FA-60CD33633C5B}"/>
                    </a:ext>
                  </a:extLst>
                </p:cNvPr>
                <p:cNvSpPr/>
                <p:nvPr/>
              </p:nvSpPr>
              <p:spPr>
                <a:xfrm>
                  <a:off x="120015" y="962660"/>
                  <a:ext cx="134620" cy="1498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25853AC4-9539-486D-9B6D-5207747D06D1}"/>
                    </a:ext>
                  </a:extLst>
                </p:cNvPr>
                <p:cNvSpPr/>
                <p:nvPr/>
              </p:nvSpPr>
              <p:spPr>
                <a:xfrm>
                  <a:off x="120015" y="855345"/>
                  <a:ext cx="144780" cy="45719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0" name="Ellipse 79">
                  <a:extLst>
                    <a:ext uri="{FF2B5EF4-FFF2-40B4-BE49-F238E27FC236}">
                      <a16:creationId xmlns:a16="http://schemas.microsoft.com/office/drawing/2014/main" id="{348322AC-9AD8-4072-8BA0-5BFC58B1FDAD}"/>
                    </a:ext>
                  </a:extLst>
                </p:cNvPr>
                <p:cNvSpPr/>
                <p:nvPr/>
              </p:nvSpPr>
              <p:spPr>
                <a:xfrm>
                  <a:off x="255270" y="818515"/>
                  <a:ext cx="45085" cy="112395"/>
                </a:xfrm>
                <a:prstGeom prst="ellipse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59911131-4009-43AC-9FA0-55CE982241F0}"/>
                    </a:ext>
                  </a:extLst>
                </p:cNvPr>
                <p:cNvSpPr/>
                <p:nvPr/>
              </p:nvSpPr>
              <p:spPr>
                <a:xfrm>
                  <a:off x="127000" y="921385"/>
                  <a:ext cx="85725" cy="1174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809CC82B-4782-4CEE-9279-9BE951A21BC1}"/>
                    </a:ext>
                  </a:extLst>
                </p:cNvPr>
                <p:cNvSpPr/>
                <p:nvPr/>
              </p:nvSpPr>
              <p:spPr>
                <a:xfrm>
                  <a:off x="127000" y="1066800"/>
                  <a:ext cx="122555" cy="1174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8B75F987-8600-4A59-B4C2-C0E6E392CF81}"/>
                    </a:ext>
                  </a:extLst>
                </p:cNvPr>
                <p:cNvSpPr/>
                <p:nvPr/>
              </p:nvSpPr>
              <p:spPr>
                <a:xfrm>
                  <a:off x="67945" y="918210"/>
                  <a:ext cx="114935" cy="444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C71C447B-9010-4281-ADEA-7A016967915E}"/>
                    </a:ext>
                  </a:extLst>
                </p:cNvPr>
                <p:cNvSpPr/>
                <p:nvPr/>
              </p:nvSpPr>
              <p:spPr>
                <a:xfrm>
                  <a:off x="47625" y="143510"/>
                  <a:ext cx="114935" cy="438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AFD22C89-C3AF-4CE7-A5D7-5F22AF90B47C}"/>
                    </a:ext>
                  </a:extLst>
                </p:cNvPr>
                <p:cNvSpPr/>
                <p:nvPr/>
              </p:nvSpPr>
              <p:spPr>
                <a:xfrm>
                  <a:off x="121285" y="0"/>
                  <a:ext cx="132715" cy="1314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9366F92E-5641-4CB3-8017-A698CE4D2CCA}"/>
                    </a:ext>
                  </a:extLst>
                </p:cNvPr>
                <p:cNvSpPr/>
                <p:nvPr/>
              </p:nvSpPr>
              <p:spPr>
                <a:xfrm rot="5400000">
                  <a:off x="129540" y="757555"/>
                  <a:ext cx="114935" cy="4381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61" name="Grouper 685">
                <a:extLst>
                  <a:ext uri="{FF2B5EF4-FFF2-40B4-BE49-F238E27FC236}">
                    <a16:creationId xmlns:a16="http://schemas.microsoft.com/office/drawing/2014/main" id="{F0FD68A5-1901-4FCF-B267-1ACA917CA70D}"/>
                  </a:ext>
                </a:extLst>
              </p:cNvPr>
              <p:cNvGrpSpPr/>
              <p:nvPr/>
            </p:nvGrpSpPr>
            <p:grpSpPr>
              <a:xfrm rot="19789929">
                <a:off x="7435624" y="2638037"/>
                <a:ext cx="219075" cy="449580"/>
                <a:chOff x="0" y="2540"/>
                <a:chExt cx="226695" cy="465310"/>
              </a:xfrm>
              <a:solidFill>
                <a:srgbClr val="C6D9F1"/>
              </a:solidFill>
            </p:grpSpPr>
            <p:grpSp>
              <p:nvGrpSpPr>
                <p:cNvPr id="69" name="Grouper 681">
                  <a:extLst>
                    <a:ext uri="{FF2B5EF4-FFF2-40B4-BE49-F238E27FC236}">
                      <a16:creationId xmlns:a16="http://schemas.microsoft.com/office/drawing/2014/main" id="{F60FAF7D-2D5B-4F85-8273-CADF063DC7B9}"/>
                    </a:ext>
                  </a:extLst>
                </p:cNvPr>
                <p:cNvGrpSpPr/>
                <p:nvPr/>
              </p:nvGrpSpPr>
              <p:grpSpPr>
                <a:xfrm>
                  <a:off x="0" y="106045"/>
                  <a:ext cx="226695" cy="361805"/>
                  <a:chOff x="0" y="0"/>
                  <a:chExt cx="226695" cy="361805"/>
                </a:xfrm>
                <a:grpFill/>
              </p:grpSpPr>
              <p:sp>
                <p:nvSpPr>
                  <p:cNvPr id="72" name="Rectangle à coins arrondis 678">
                    <a:extLst>
                      <a:ext uri="{FF2B5EF4-FFF2-40B4-BE49-F238E27FC236}">
                        <a16:creationId xmlns:a16="http://schemas.microsoft.com/office/drawing/2014/main" id="{063BB221-A530-45ED-91C6-DFDA8279F1B5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226695" cy="322580"/>
                  </a:xfrm>
                  <a:prstGeom prst="roundRect">
                    <a:avLst>
                      <a:gd name="adj" fmla="val 41877"/>
                    </a:avLst>
                  </a:prstGeom>
                  <a:grp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 dirty="0"/>
                  </a:p>
                </p:txBody>
              </p:sp>
              <p:sp>
                <p:nvSpPr>
                  <p:cNvPr id="73" name="Rectangle 72">
                    <a:extLst>
                      <a:ext uri="{FF2B5EF4-FFF2-40B4-BE49-F238E27FC236}">
                        <a16:creationId xmlns:a16="http://schemas.microsoft.com/office/drawing/2014/main" id="{BDE94F69-036D-4E7D-A6D2-8EFC758A1AC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4932" y="271853"/>
                    <a:ext cx="132595" cy="47309"/>
                  </a:xfrm>
                  <a:prstGeom prst="rect">
                    <a:avLst/>
                  </a:prstGeom>
                  <a:grpFill/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70" name="Triangle rectangle 69">
                  <a:extLst>
                    <a:ext uri="{FF2B5EF4-FFF2-40B4-BE49-F238E27FC236}">
                      <a16:creationId xmlns:a16="http://schemas.microsoft.com/office/drawing/2014/main" id="{0829A0CC-36BF-4891-A0C7-FDE7546C9518}"/>
                    </a:ext>
                  </a:extLst>
                </p:cNvPr>
                <p:cNvSpPr/>
                <p:nvPr/>
              </p:nvSpPr>
              <p:spPr>
                <a:xfrm>
                  <a:off x="0" y="2540"/>
                  <a:ext cx="225425" cy="118110"/>
                </a:xfrm>
                <a:prstGeom prst="rtTriangle">
                  <a:avLst/>
                </a:prstGeom>
                <a:grp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71" name="Rectangle 70">
                  <a:extLst>
                    <a:ext uri="{FF2B5EF4-FFF2-40B4-BE49-F238E27FC236}">
                      <a16:creationId xmlns:a16="http://schemas.microsoft.com/office/drawing/2014/main" id="{77743A9F-A739-4A33-AE9C-23E418E0BECD}"/>
                    </a:ext>
                  </a:extLst>
                </p:cNvPr>
                <p:cNvSpPr/>
                <p:nvPr/>
              </p:nvSpPr>
              <p:spPr>
                <a:xfrm>
                  <a:off x="0" y="118745"/>
                  <a:ext cx="225905" cy="148328"/>
                </a:xfrm>
                <a:prstGeom prst="rect">
                  <a:avLst/>
                </a:prstGeom>
                <a:grpFill/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</p:grpSp>
          <p:grpSp>
            <p:nvGrpSpPr>
              <p:cNvPr id="62" name="Grouper 672">
                <a:extLst>
                  <a:ext uri="{FF2B5EF4-FFF2-40B4-BE49-F238E27FC236}">
                    <a16:creationId xmlns:a16="http://schemas.microsoft.com/office/drawing/2014/main" id="{933BD670-6143-4016-A863-3C848C2D415C}"/>
                  </a:ext>
                </a:extLst>
              </p:cNvPr>
              <p:cNvGrpSpPr/>
              <p:nvPr/>
            </p:nvGrpSpPr>
            <p:grpSpPr>
              <a:xfrm rot="19789929">
                <a:off x="7545589" y="2582794"/>
                <a:ext cx="46355" cy="357783"/>
                <a:chOff x="571500" y="767444"/>
                <a:chExt cx="251460" cy="457200"/>
              </a:xfrm>
            </p:grpSpPr>
            <p:cxnSp>
              <p:nvCxnSpPr>
                <p:cNvPr id="64" name="Connecteur droit 63">
                  <a:extLst>
                    <a:ext uri="{FF2B5EF4-FFF2-40B4-BE49-F238E27FC236}">
                      <a16:creationId xmlns:a16="http://schemas.microsoft.com/office/drawing/2014/main" id="{94A4CD29-917E-4A48-8BBB-3A4913964218}"/>
                    </a:ext>
                  </a:extLst>
                </p:cNvPr>
                <p:cNvCxnSpPr/>
                <p:nvPr/>
              </p:nvCxnSpPr>
              <p:spPr>
                <a:xfrm>
                  <a:off x="571500" y="767444"/>
                  <a:ext cx="2514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" name="Connecteur droit 64">
                  <a:extLst>
                    <a:ext uri="{FF2B5EF4-FFF2-40B4-BE49-F238E27FC236}">
                      <a16:creationId xmlns:a16="http://schemas.microsoft.com/office/drawing/2014/main" id="{085689B5-454C-4CD5-BD32-D03931452284}"/>
                    </a:ext>
                  </a:extLst>
                </p:cNvPr>
                <p:cNvCxnSpPr/>
                <p:nvPr/>
              </p:nvCxnSpPr>
              <p:spPr>
                <a:xfrm>
                  <a:off x="685800" y="12246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" name="Connecteur droit 65">
                  <a:extLst>
                    <a:ext uri="{FF2B5EF4-FFF2-40B4-BE49-F238E27FC236}">
                      <a16:creationId xmlns:a16="http://schemas.microsoft.com/office/drawing/2014/main" id="{5B385E39-916E-4365-A2C2-47D2EC657D2A}"/>
                    </a:ext>
                  </a:extLst>
                </p:cNvPr>
                <p:cNvCxnSpPr/>
                <p:nvPr/>
              </p:nvCxnSpPr>
              <p:spPr>
                <a:xfrm>
                  <a:off x="685800" y="11103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Connecteur droit 66">
                  <a:extLst>
                    <a:ext uri="{FF2B5EF4-FFF2-40B4-BE49-F238E27FC236}">
                      <a16:creationId xmlns:a16="http://schemas.microsoft.com/office/drawing/2014/main" id="{6E93161E-C0B8-4BC4-AB36-86D067F24CBA}"/>
                    </a:ext>
                  </a:extLst>
                </p:cNvPr>
                <p:cNvCxnSpPr/>
                <p:nvPr/>
              </p:nvCxnSpPr>
              <p:spPr>
                <a:xfrm>
                  <a:off x="685800" y="9960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Connecteur droit 67">
                  <a:extLst>
                    <a:ext uri="{FF2B5EF4-FFF2-40B4-BE49-F238E27FC236}">
                      <a16:creationId xmlns:a16="http://schemas.microsoft.com/office/drawing/2014/main" id="{5F47BC5E-A37D-4C7D-9390-53E32B632582}"/>
                    </a:ext>
                  </a:extLst>
                </p:cNvPr>
                <p:cNvCxnSpPr/>
                <p:nvPr/>
              </p:nvCxnSpPr>
              <p:spPr>
                <a:xfrm>
                  <a:off x="685800" y="881744"/>
                  <a:ext cx="137160" cy="0"/>
                </a:xfrm>
                <a:prstGeom prst="line">
                  <a:avLst/>
                </a:prstGeom>
                <a:ln w="9525" cmpd="sng">
                  <a:solidFill>
                    <a:schemeClr val="tx1">
                      <a:lumMod val="50000"/>
                      <a:lumOff val="50000"/>
                    </a:schemeClr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63" name="Connecteur droit 62">
                <a:extLst>
                  <a:ext uri="{FF2B5EF4-FFF2-40B4-BE49-F238E27FC236}">
                    <a16:creationId xmlns:a16="http://schemas.microsoft.com/office/drawing/2014/main" id="{E37EC1A7-67BD-4061-A436-6897B7149360}"/>
                  </a:ext>
                </a:extLst>
              </p:cNvPr>
              <p:cNvCxnSpPr/>
              <p:nvPr/>
            </p:nvCxnSpPr>
            <p:spPr>
              <a:xfrm>
                <a:off x="7335132" y="2721389"/>
                <a:ext cx="251512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Groupe 86">
              <a:extLst>
                <a:ext uri="{FF2B5EF4-FFF2-40B4-BE49-F238E27FC236}">
                  <a16:creationId xmlns:a16="http://schemas.microsoft.com/office/drawing/2014/main" id="{6F3E9FCC-4E08-4B2C-B9CE-0BE7CA446CEF}"/>
                </a:ext>
              </a:extLst>
            </p:cNvPr>
            <p:cNvGrpSpPr/>
            <p:nvPr/>
          </p:nvGrpSpPr>
          <p:grpSpPr>
            <a:xfrm>
              <a:off x="3538375" y="2728987"/>
              <a:ext cx="211553" cy="199519"/>
              <a:chOff x="8086939" y="3519705"/>
              <a:chExt cx="296204" cy="195895"/>
            </a:xfrm>
          </p:grpSpPr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947E0E0D-EF00-4DF7-847F-7E2DD7549055}"/>
                  </a:ext>
                </a:extLst>
              </p:cNvPr>
              <p:cNvSpPr/>
              <p:nvPr/>
            </p:nvSpPr>
            <p:spPr>
              <a:xfrm rot="19859595">
                <a:off x="8209671" y="3550883"/>
                <a:ext cx="173472" cy="16471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96A0CF6-BC51-4E93-91C6-16AB51AFE7C7}"/>
                  </a:ext>
                </a:extLst>
              </p:cNvPr>
              <p:cNvSpPr/>
              <p:nvPr/>
            </p:nvSpPr>
            <p:spPr>
              <a:xfrm rot="19859595">
                <a:off x="8086939" y="3519705"/>
                <a:ext cx="283120" cy="639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 dirty="0"/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0" name="ZoneTexte 89">
                  <a:extLst>
                    <a:ext uri="{FF2B5EF4-FFF2-40B4-BE49-F238E27FC236}">
                      <a16:creationId xmlns:a16="http://schemas.microsoft.com/office/drawing/2014/main" id="{EAA06B6B-74F1-403F-B0AD-DBFCD010E162}"/>
                    </a:ext>
                  </a:extLst>
                </p:cNvPr>
                <p:cNvSpPr txBox="1"/>
                <p:nvPr/>
              </p:nvSpPr>
              <p:spPr>
                <a:xfrm>
                  <a:off x="5405795" y="1517745"/>
                  <a:ext cx="3103194" cy="1200329"/>
                </a:xfrm>
                <a:prstGeom prst="rect">
                  <a:avLst/>
                </a:prstGeom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dirty="0"/>
                    <a:t>Benzile : 9,5 </a:t>
                  </a:r>
                  <a:r>
                    <a:rPr lang="fr-FR" dirty="0" err="1"/>
                    <a:t>mmol</a:t>
                  </a:r>
                  <a:endParaRPr lang="fr-FR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dirty="0"/>
                    <a:t>Éthanol (20 </a:t>
                  </a:r>
                  <a:r>
                    <a:rPr lang="fr-FR" dirty="0" err="1"/>
                    <a:t>mL</a:t>
                  </a:r>
                  <a:r>
                    <a:rPr lang="fr-FR" dirty="0"/>
                    <a:t>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dirty="0"/>
                    <a:t>10,6 </a:t>
                  </a:r>
                  <a:r>
                    <a:rPr lang="fr-FR" dirty="0" err="1"/>
                    <a:t>mmol</a:t>
                  </a:r>
                  <a:r>
                    <a:rPr lang="fr-FR" dirty="0"/>
                    <a:t> de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NaB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r>
                    <a:rPr lang="fr-FR" dirty="0"/>
                    <a:t> une fois le </a:t>
                  </a:r>
                  <a:r>
                    <a:rPr lang="fr-FR" dirty="0" err="1"/>
                    <a:t>benzile</a:t>
                  </a:r>
                  <a:r>
                    <a:rPr lang="fr-FR" dirty="0"/>
                    <a:t> dissous</a:t>
                  </a:r>
                </a:p>
              </p:txBody>
            </p:sp>
          </mc:Choice>
          <mc:Fallback xmlns="">
            <p:sp>
              <p:nvSpPr>
                <p:cNvPr id="90" name="ZoneTexte 89">
                  <a:extLst>
                    <a:ext uri="{FF2B5EF4-FFF2-40B4-BE49-F238E27FC236}">
                      <a16:creationId xmlns:a16="http://schemas.microsoft.com/office/drawing/2014/main" id="{EAA06B6B-74F1-403F-B0AD-DBFCD010E1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795" y="1517745"/>
                  <a:ext cx="3103194" cy="1200329"/>
                </a:xfrm>
                <a:prstGeom prst="rect">
                  <a:avLst/>
                </a:prstGeom>
                <a:blipFill>
                  <a:blip r:embed="rId2"/>
                  <a:stretch>
                    <a:fillRect l="-1172" t="-2500" b="-6000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1" name="Connecteur droit avec flèche 90">
              <a:extLst>
                <a:ext uri="{FF2B5EF4-FFF2-40B4-BE49-F238E27FC236}">
                  <a16:creationId xmlns:a16="http://schemas.microsoft.com/office/drawing/2014/main" id="{BF25F7ED-4A3A-4FA4-9A4B-8B41670A4248}"/>
                </a:ext>
              </a:extLst>
            </p:cNvPr>
            <p:cNvCxnSpPr>
              <a:cxnSpLocks/>
              <a:stCxn id="90" idx="2"/>
              <a:endCxn id="22" idx="2"/>
            </p:cNvCxnSpPr>
            <p:nvPr/>
          </p:nvCxnSpPr>
          <p:spPr>
            <a:xfrm flipH="1">
              <a:off x="4573024" y="2718074"/>
              <a:ext cx="2384368" cy="154651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0" name="ZoneTexte 99">
                <a:extLst>
                  <a:ext uri="{FF2B5EF4-FFF2-40B4-BE49-F238E27FC236}">
                    <a16:creationId xmlns:a16="http://schemas.microsoft.com/office/drawing/2014/main" id="{8FF12551-273D-4D1F-B943-9E39537D2C92}"/>
                  </a:ext>
                </a:extLst>
              </p:cNvPr>
              <p:cNvSpPr txBox="1"/>
              <p:nvPr/>
            </p:nvSpPr>
            <p:spPr>
              <a:xfrm>
                <a:off x="8612068" y="3624318"/>
                <a:ext cx="2995820" cy="2033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sz="2000" b="1" u="sng" dirty="0">
                    <a:solidFill>
                      <a:schemeClr val="accent1">
                        <a:lumMod val="50000"/>
                      </a:schemeClr>
                    </a:solidFill>
                  </a:rPr>
                  <a:t>Chauffage total :</a:t>
                </a:r>
              </a:p>
              <a:p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≃15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min</m:t>
                    </m:r>
                  </m:oMath>
                </a14:m>
                <a:r>
                  <a:rPr lang="fr-FR" sz="2000" dirty="0">
                    <a:solidFill>
                      <a:schemeClr val="accent1">
                        <a:lumMod val="50000"/>
                      </a:schemeClr>
                    </a:solidFill>
                  </a:rPr>
                  <a:t> à 150 W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i="1" smtClean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borderBox>
                        <m:borderBoxPr>
                          <m:ctrlPr>
                            <a:rPr lang="fr-FR" sz="2000" i="1" smtClean="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fr-FR" sz="2000" i="1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135 </m:t>
                          </m:r>
                          <m:r>
                            <m:rPr>
                              <m:sty m:val="p"/>
                            </m:rPr>
                            <a:rPr lang="fr-FR" sz="2000">
                              <a:solidFill>
                                <a:schemeClr val="accent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e>
                      </m:borderBox>
                    </m:oMath>
                  </m:oMathPara>
                </a14:m>
                <a:endParaRPr lang="fr-FR" sz="20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endParaRPr lang="fr-FR" sz="20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r>
                  <a:rPr lang="fr-FR" sz="2000" b="1" u="sng" dirty="0">
                    <a:solidFill>
                      <a:schemeClr val="accent1">
                        <a:lumMod val="50000"/>
                      </a:schemeClr>
                    </a:solidFill>
                  </a:rPr>
                  <a:t>Consommation d’eau :</a:t>
                </a:r>
              </a:p>
              <a:p>
                <a:r>
                  <a:rPr lang="fr-FR" sz="2000" dirty="0">
                    <a:solidFill>
                      <a:schemeClr val="accent1">
                        <a:lumMod val="50000"/>
                      </a:schemeClr>
                    </a:solidFill>
                  </a:rPr>
                  <a:t>60 </a:t>
                </a:r>
                <a:r>
                  <a:rPr lang="fr-FR" sz="2000" dirty="0" err="1">
                    <a:solidFill>
                      <a:schemeClr val="accent1">
                        <a:lumMod val="50000"/>
                      </a:schemeClr>
                    </a:solidFill>
                  </a:rPr>
                  <a:t>mL</a:t>
                </a:r>
                <a:r>
                  <a:rPr lang="fr-FR" sz="2000" dirty="0">
                    <a:solidFill>
                      <a:schemeClr val="accent1">
                        <a:lumMod val="50000"/>
                      </a:schemeClr>
                    </a:solidFill>
                  </a:rPr>
                  <a:t> ajoutés + réfrigérant</a:t>
                </a:r>
              </a:p>
            </p:txBody>
          </p:sp>
        </mc:Choice>
        <mc:Fallback xmlns="">
          <p:sp>
            <p:nvSpPr>
              <p:cNvPr id="100" name="ZoneTexte 99">
                <a:extLst>
                  <a:ext uri="{FF2B5EF4-FFF2-40B4-BE49-F238E27FC236}">
                    <a16:creationId xmlns:a16="http://schemas.microsoft.com/office/drawing/2014/main" id="{8FF12551-273D-4D1F-B943-9E39537D2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2068" y="3624318"/>
                <a:ext cx="2995820" cy="2033570"/>
              </a:xfrm>
              <a:prstGeom prst="rect">
                <a:avLst/>
              </a:prstGeom>
              <a:blipFill>
                <a:blip r:embed="rId3"/>
                <a:stretch>
                  <a:fillRect l="-2240" t="-1802" r="-1833" b="-450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70905C8B-6AD9-4A17-A505-33221D985ACB}"/>
              </a:ext>
            </a:extLst>
          </p:cNvPr>
          <p:cNvGrpSpPr/>
          <p:nvPr/>
        </p:nvGrpSpPr>
        <p:grpSpPr>
          <a:xfrm>
            <a:off x="642610" y="1406243"/>
            <a:ext cx="4033266" cy="1666973"/>
            <a:chOff x="115083" y="1346895"/>
            <a:chExt cx="4033266" cy="166697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ZoneTexte 100">
                  <a:extLst>
                    <a:ext uri="{FF2B5EF4-FFF2-40B4-BE49-F238E27FC236}">
                      <a16:creationId xmlns:a16="http://schemas.microsoft.com/office/drawing/2014/main" id="{15C7B238-E9C7-4563-8EB3-ACA98C141D4B}"/>
                    </a:ext>
                  </a:extLst>
                </p:cNvPr>
                <p:cNvSpPr txBox="1"/>
                <p:nvPr/>
              </p:nvSpPr>
              <p:spPr>
                <a:xfrm>
                  <a:off x="115083" y="1486063"/>
                  <a:ext cx="2459152" cy="923330"/>
                </a:xfrm>
                <a:prstGeom prst="rect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/>
                </a:lnRef>
                <a:fillRef idx="1">
                  <a:schemeClr val="lt1"/>
                </a:fillRef>
                <a:effectRef idx="0">
                  <a:schemeClr val="accent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dirty="0"/>
                    <a:t>Benzile : 2,4 </a:t>
                  </a:r>
                  <a:r>
                    <a:rPr lang="fr-FR" dirty="0" err="1"/>
                    <a:t>mmol</a:t>
                  </a:r>
                  <a:endParaRPr lang="fr-FR" dirty="0"/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dirty="0"/>
                    <a:t>Éthanol (8 </a:t>
                  </a:r>
                  <a:r>
                    <a:rPr lang="fr-FR" dirty="0" err="1"/>
                    <a:t>mL</a:t>
                  </a:r>
                  <a:r>
                    <a:rPr lang="fr-FR" dirty="0"/>
                    <a:t>)</a:t>
                  </a: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fr-FR" dirty="0"/>
                    <a:t>5,3 </a:t>
                  </a:r>
                  <a:r>
                    <a:rPr lang="fr-FR" dirty="0" err="1"/>
                    <a:t>mmol</a:t>
                  </a:r>
                  <a:r>
                    <a:rPr lang="fr-FR" dirty="0"/>
                    <a:t> de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fr-FR" b="0" i="0" smtClean="0">
                          <a:latin typeface="Cambria Math" panose="02040503050406030204" pitchFamily="18" charset="0"/>
                        </a:rPr>
                        <m:t>NaB</m:t>
                      </m:r>
                      <m:sSub>
                        <m:sSubPr>
                          <m:ctrlPr>
                            <a:rPr lang="fr-F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b="0" i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a14:m>
                  <a:endParaRPr lang="fr-FR" dirty="0"/>
                </a:p>
              </p:txBody>
            </p:sp>
          </mc:Choice>
          <mc:Fallback xmlns="">
            <p:sp>
              <p:nvSpPr>
                <p:cNvPr id="101" name="ZoneTexte 100">
                  <a:extLst>
                    <a:ext uri="{FF2B5EF4-FFF2-40B4-BE49-F238E27FC236}">
                      <a16:creationId xmlns:a16="http://schemas.microsoft.com/office/drawing/2014/main" id="{15C7B238-E9C7-4563-8EB3-ACA98C141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5083" y="1486063"/>
                  <a:ext cx="2459152" cy="923330"/>
                </a:xfrm>
                <a:prstGeom prst="rect">
                  <a:avLst/>
                </a:prstGeom>
                <a:blipFill>
                  <a:blip r:embed="rId4"/>
                  <a:stretch>
                    <a:fillRect l="-1229" t="-3247" b="-8442"/>
                  </a:stretch>
                </a:blipFill>
                <a:ln>
                  <a:solidFill>
                    <a:schemeClr val="accent5"/>
                  </a:solidFill>
                </a:ln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2" name="Grouper 1208">
              <a:extLst>
                <a:ext uri="{FF2B5EF4-FFF2-40B4-BE49-F238E27FC236}">
                  <a16:creationId xmlns:a16="http://schemas.microsoft.com/office/drawing/2014/main" id="{6749ED25-EE27-4D48-981E-08865A798C23}"/>
                </a:ext>
              </a:extLst>
            </p:cNvPr>
            <p:cNvGrpSpPr/>
            <p:nvPr/>
          </p:nvGrpSpPr>
          <p:grpSpPr>
            <a:xfrm>
              <a:off x="3227824" y="1346895"/>
              <a:ext cx="920525" cy="1666973"/>
              <a:chOff x="0" y="0"/>
              <a:chExt cx="632461" cy="1042035"/>
            </a:xfrm>
          </p:grpSpPr>
          <p:grpSp>
            <p:nvGrpSpPr>
              <p:cNvPr id="103" name="Grouper 1197">
                <a:extLst>
                  <a:ext uri="{FF2B5EF4-FFF2-40B4-BE49-F238E27FC236}">
                    <a16:creationId xmlns:a16="http://schemas.microsoft.com/office/drawing/2014/main" id="{8D67F8A0-3A86-4233-8FB0-BBB6AE14D0A5}"/>
                  </a:ext>
                </a:extLst>
              </p:cNvPr>
              <p:cNvGrpSpPr/>
              <p:nvPr/>
            </p:nvGrpSpPr>
            <p:grpSpPr>
              <a:xfrm>
                <a:off x="0" y="0"/>
                <a:ext cx="632461" cy="1042035"/>
                <a:chOff x="0" y="0"/>
                <a:chExt cx="501650" cy="826770"/>
              </a:xfrm>
            </p:grpSpPr>
            <p:sp>
              <p:nvSpPr>
                <p:cNvPr id="105" name="Rectangle 104">
                  <a:extLst>
                    <a:ext uri="{FF2B5EF4-FFF2-40B4-BE49-F238E27FC236}">
                      <a16:creationId xmlns:a16="http://schemas.microsoft.com/office/drawing/2014/main" id="{42B4D37D-456C-4567-9367-F161470901F5}"/>
                    </a:ext>
                  </a:extLst>
                </p:cNvPr>
                <p:cNvSpPr/>
                <p:nvPr/>
              </p:nvSpPr>
              <p:spPr>
                <a:xfrm>
                  <a:off x="175260" y="99695"/>
                  <a:ext cx="152400" cy="16858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grpSp>
              <p:nvGrpSpPr>
                <p:cNvPr id="106" name="Grouper 1199">
                  <a:extLst>
                    <a:ext uri="{FF2B5EF4-FFF2-40B4-BE49-F238E27FC236}">
                      <a16:creationId xmlns:a16="http://schemas.microsoft.com/office/drawing/2014/main" id="{890F1D76-8AA9-4F4D-AA16-5F800097EE82}"/>
                    </a:ext>
                  </a:extLst>
                </p:cNvPr>
                <p:cNvGrpSpPr/>
                <p:nvPr/>
              </p:nvGrpSpPr>
              <p:grpSpPr>
                <a:xfrm>
                  <a:off x="0" y="629285"/>
                  <a:ext cx="501650" cy="197485"/>
                  <a:chOff x="0" y="0"/>
                  <a:chExt cx="641350" cy="222885"/>
                </a:xfrm>
              </p:grpSpPr>
              <p:sp>
                <p:nvSpPr>
                  <p:cNvPr id="113" name="Arrondir un rectangle avec un coin du même côté 1200">
                    <a:extLst>
                      <a:ext uri="{FF2B5EF4-FFF2-40B4-BE49-F238E27FC236}">
                        <a16:creationId xmlns:a16="http://schemas.microsoft.com/office/drawing/2014/main" id="{7DC1CEFD-70AD-46E8-8257-47D042E52F5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0" y="6985"/>
                    <a:ext cx="641350" cy="215900"/>
                  </a:xfrm>
                  <a:prstGeom prst="round2SameRect">
                    <a:avLst>
                      <a:gd name="adj1" fmla="val 46667"/>
                      <a:gd name="adj2" fmla="val 50000"/>
                    </a:avLst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4" name="Rectangle 113">
                    <a:extLst>
                      <a:ext uri="{FF2B5EF4-FFF2-40B4-BE49-F238E27FC236}">
                        <a16:creationId xmlns:a16="http://schemas.microsoft.com/office/drawing/2014/main" id="{7BBA9FA4-AACB-473C-A30D-2249A024C28E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641350" cy="8255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rgbClr val="FFFFF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  <p:sp>
              <p:nvSpPr>
                <p:cNvPr id="107" name="Rectangle 106">
                  <a:extLst>
                    <a:ext uri="{FF2B5EF4-FFF2-40B4-BE49-F238E27FC236}">
                      <a16:creationId xmlns:a16="http://schemas.microsoft.com/office/drawing/2014/main" id="{7D227423-E92C-4F73-B1CA-3F8AEFB1E24C}"/>
                    </a:ext>
                  </a:extLst>
                </p:cNvPr>
                <p:cNvSpPr/>
                <p:nvPr/>
              </p:nvSpPr>
              <p:spPr>
                <a:xfrm>
                  <a:off x="3810" y="626745"/>
                  <a:ext cx="494665" cy="7493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FFFF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8" name="Triangle isocèle 107">
                  <a:extLst>
                    <a:ext uri="{FF2B5EF4-FFF2-40B4-BE49-F238E27FC236}">
                      <a16:creationId xmlns:a16="http://schemas.microsoft.com/office/drawing/2014/main" id="{2C2AB7FF-1268-40E1-8739-ABB29DA70BD3}"/>
                    </a:ext>
                  </a:extLst>
                </p:cNvPr>
                <p:cNvSpPr/>
                <p:nvPr/>
              </p:nvSpPr>
              <p:spPr>
                <a:xfrm>
                  <a:off x="3810" y="82550"/>
                  <a:ext cx="494665" cy="619760"/>
                </a:xfrm>
                <a:prstGeom prst="triangle">
                  <a:avLst/>
                </a:prstGeom>
                <a:noFill/>
                <a:ln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2A00DFE4-8442-48F6-9313-30A03BC50BD8}"/>
                    </a:ext>
                  </a:extLst>
                </p:cNvPr>
                <p:cNvSpPr/>
                <p:nvPr/>
              </p:nvSpPr>
              <p:spPr>
                <a:xfrm>
                  <a:off x="180340" y="0"/>
                  <a:ext cx="140335" cy="3397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endParaRPr lang="fr-FR"/>
                </a:p>
              </p:txBody>
            </p:sp>
            <p:grpSp>
              <p:nvGrpSpPr>
                <p:cNvPr id="110" name="Grouper 1205">
                  <a:extLst>
                    <a:ext uri="{FF2B5EF4-FFF2-40B4-BE49-F238E27FC236}">
                      <a16:creationId xmlns:a16="http://schemas.microsoft.com/office/drawing/2014/main" id="{FFE5BBF9-3418-4262-9F51-95880B0F33F3}"/>
                    </a:ext>
                  </a:extLst>
                </p:cNvPr>
                <p:cNvGrpSpPr/>
                <p:nvPr/>
              </p:nvGrpSpPr>
              <p:grpSpPr>
                <a:xfrm>
                  <a:off x="3810" y="530225"/>
                  <a:ext cx="494665" cy="294005"/>
                  <a:chOff x="0" y="0"/>
                  <a:chExt cx="633095" cy="331451"/>
                </a:xfrm>
              </p:grpSpPr>
              <p:sp>
                <p:nvSpPr>
                  <p:cNvPr id="111" name="Arrondir un rectangle avec un coin du même côté 1206">
                    <a:extLst>
                      <a:ext uri="{FF2B5EF4-FFF2-40B4-BE49-F238E27FC236}">
                        <a16:creationId xmlns:a16="http://schemas.microsoft.com/office/drawing/2014/main" id="{2F1BEE77-6469-4DDC-BD3F-ABAFAEBB155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0" y="109220"/>
                    <a:ext cx="633095" cy="222231"/>
                  </a:xfrm>
                  <a:prstGeom prst="round2SameRect">
                    <a:avLst>
                      <a:gd name="adj1" fmla="val 46667"/>
                      <a:gd name="adj2" fmla="val 50000"/>
                    </a:avLst>
                  </a:prstGeom>
                  <a:solidFill>
                    <a:srgbClr val="FFFFFF"/>
                  </a:solidFill>
                  <a:ln>
                    <a:noFill/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  <p:sp>
                <p:nvSpPr>
                  <p:cNvPr id="112" name="Trapèze 111">
                    <a:extLst>
                      <a:ext uri="{FF2B5EF4-FFF2-40B4-BE49-F238E27FC236}">
                        <a16:creationId xmlns:a16="http://schemas.microsoft.com/office/drawing/2014/main" id="{65D0BFEC-67A0-4C5E-B20E-1CFDA2623602}"/>
                      </a:ext>
                    </a:extLst>
                  </p:cNvPr>
                  <p:cNvSpPr/>
                  <p:nvPr/>
                </p:nvSpPr>
                <p:spPr>
                  <a:xfrm>
                    <a:off x="5080" y="0"/>
                    <a:ext cx="622300" cy="198120"/>
                  </a:xfrm>
                  <a:prstGeom prst="trapezoid">
                    <a:avLst>
                      <a:gd name="adj" fmla="val 45513"/>
                    </a:avLst>
                  </a:prstGeom>
                  <a:solidFill>
                    <a:srgbClr val="FFFFFF"/>
                  </a:solidFill>
                  <a:ln>
                    <a:solidFill>
                      <a:srgbClr val="FFFFFF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endParaRPr lang="fr-FR"/>
                  </a:p>
                </p:txBody>
              </p:sp>
            </p:grpSp>
          </p:grpSp>
          <p:cxnSp>
            <p:nvCxnSpPr>
              <p:cNvPr id="104" name="Connecteur droit 103">
                <a:extLst>
                  <a:ext uri="{FF2B5EF4-FFF2-40B4-BE49-F238E27FC236}">
                    <a16:creationId xmlns:a16="http://schemas.microsoft.com/office/drawing/2014/main" id="{09A04414-903B-4EB4-B6C2-857C351E305D}"/>
                  </a:ext>
                </a:extLst>
              </p:cNvPr>
              <p:cNvCxnSpPr/>
              <p:nvPr/>
            </p:nvCxnSpPr>
            <p:spPr>
              <a:xfrm>
                <a:off x="70485" y="737870"/>
                <a:ext cx="501650" cy="0"/>
              </a:xfrm>
              <a:prstGeom prst="line">
                <a:avLst/>
              </a:prstGeom>
              <a:ln w="9525" cmpd="sng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5" name="Connecteur droit avec flèche 114">
              <a:extLst>
                <a:ext uri="{FF2B5EF4-FFF2-40B4-BE49-F238E27FC236}">
                  <a16:creationId xmlns:a16="http://schemas.microsoft.com/office/drawing/2014/main" id="{6CF99EE7-69EB-4146-86D8-C02C58805013}"/>
                </a:ext>
              </a:extLst>
            </p:cNvPr>
            <p:cNvCxnSpPr>
              <a:cxnSpLocks/>
              <a:endCxn id="112" idx="2"/>
            </p:cNvCxnSpPr>
            <p:nvPr/>
          </p:nvCxnSpPr>
          <p:spPr>
            <a:xfrm>
              <a:off x="2574235" y="1911323"/>
              <a:ext cx="1113980" cy="858967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26" name="Picture 2" descr="RÃ©sultat de recherche d'images pour &quot;schÃ©ma micro ondes&quot;">
            <a:extLst>
              <a:ext uri="{FF2B5EF4-FFF2-40B4-BE49-F238E27FC236}">
                <a16:creationId xmlns:a16="http://schemas.microsoft.com/office/drawing/2014/main" id="{835DA3E0-63F0-4DE8-AC1C-E3135AB436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22236" r="10403" b="19375"/>
          <a:stretch/>
        </p:blipFill>
        <p:spPr bwMode="auto">
          <a:xfrm>
            <a:off x="2444066" y="3617209"/>
            <a:ext cx="3132956" cy="1606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8" name="Flèche : bas 117">
            <a:extLst>
              <a:ext uri="{FF2B5EF4-FFF2-40B4-BE49-F238E27FC236}">
                <a16:creationId xmlns:a16="http://schemas.microsoft.com/office/drawing/2014/main" id="{3BBFCE80-1AE2-4AB6-946A-01E58A8ED34E}"/>
              </a:ext>
            </a:extLst>
          </p:cNvPr>
          <p:cNvSpPr/>
          <p:nvPr/>
        </p:nvSpPr>
        <p:spPr>
          <a:xfrm>
            <a:off x="2911354" y="2767644"/>
            <a:ext cx="361638" cy="681913"/>
          </a:xfrm>
          <a:prstGeom prst="downArrow">
            <a:avLst/>
          </a:prstGeom>
          <a:solidFill>
            <a:schemeClr val="accent5"/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0" name="ZoneTexte 119">
                <a:extLst>
                  <a:ext uri="{FF2B5EF4-FFF2-40B4-BE49-F238E27FC236}">
                    <a16:creationId xmlns:a16="http://schemas.microsoft.com/office/drawing/2014/main" id="{93B330F2-BBF0-4A27-B138-D58F4BEF0400}"/>
                  </a:ext>
                </a:extLst>
              </p:cNvPr>
              <p:cNvSpPr txBox="1"/>
              <p:nvPr/>
            </p:nvSpPr>
            <p:spPr>
              <a:xfrm>
                <a:off x="354951" y="4095479"/>
                <a:ext cx="3430383" cy="203357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fr-FR" sz="2000" b="1" u="sng" dirty="0">
                    <a:solidFill>
                      <a:schemeClr val="accent5">
                        <a:lumMod val="75000"/>
                      </a:schemeClr>
                    </a:solidFill>
                  </a:rPr>
                  <a:t>Chauffage total :</a:t>
                </a:r>
                <a:endParaRPr lang="fr-FR" sz="2000" b="0" i="1" dirty="0">
                  <a:solidFill>
                    <a:schemeClr val="accent5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fr-FR" sz="2000" b="0" i="1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3×10 </m:t>
                    </m:r>
                    <m:r>
                      <m:rPr>
                        <m:sty m:val="p"/>
                      </m:rPr>
                      <a:rPr lang="fr-FR" sz="2000" b="0" i="0" smtClean="0">
                        <a:solidFill>
                          <a:schemeClr val="accent5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s</m:t>
                    </m:r>
                  </m:oMath>
                </a14:m>
                <a:r>
                  <a:rPr lang="fr-FR" sz="2000" dirty="0">
                    <a:solidFill>
                      <a:schemeClr val="accent5">
                        <a:lumMod val="75000"/>
                      </a:schemeClr>
                    </a:solidFill>
                  </a:rPr>
                  <a:t> à 800 W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2000" i="1">
                          <a:solidFill>
                            <a:schemeClr val="accent5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  <m:borderBox>
                        <m:borderBoxPr>
                          <m:ctrlPr>
                            <a:rPr lang="fr-FR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fr-FR" sz="2000" b="0" i="1" smtClean="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24</m:t>
                          </m:r>
                          <m:r>
                            <a:rPr lang="fr-FR" sz="2000" i="1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fr-FR" sz="2000">
                              <a:solidFill>
                                <a:schemeClr val="accent5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kJ</m:t>
                          </m:r>
                        </m:e>
                      </m:borderBox>
                    </m:oMath>
                  </m:oMathPara>
                </a14:m>
                <a:endParaRPr lang="fr-FR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endParaRPr lang="fr-FR" sz="2000" dirty="0">
                  <a:solidFill>
                    <a:schemeClr val="accent5">
                      <a:lumMod val="75000"/>
                    </a:schemeClr>
                  </a:solidFill>
                </a:endParaRPr>
              </a:p>
              <a:p>
                <a:r>
                  <a:rPr lang="fr-FR" sz="2000" b="1" u="sng" dirty="0">
                    <a:solidFill>
                      <a:schemeClr val="accent5">
                        <a:lumMod val="75000"/>
                      </a:schemeClr>
                    </a:solidFill>
                  </a:rPr>
                  <a:t>Consommation d’eau :</a:t>
                </a:r>
              </a:p>
              <a:p>
                <a:r>
                  <a:rPr lang="fr-FR" sz="2000" dirty="0">
                    <a:solidFill>
                      <a:schemeClr val="accent5">
                        <a:lumMod val="75000"/>
                      </a:schemeClr>
                    </a:solidFill>
                  </a:rPr>
                  <a:t>10 </a:t>
                </a:r>
                <a:r>
                  <a:rPr lang="fr-FR" sz="2000" dirty="0" err="1">
                    <a:solidFill>
                      <a:schemeClr val="accent5">
                        <a:lumMod val="75000"/>
                      </a:schemeClr>
                    </a:solidFill>
                  </a:rPr>
                  <a:t>mL</a:t>
                </a:r>
                <a:r>
                  <a:rPr lang="fr-FR" sz="2000" dirty="0">
                    <a:solidFill>
                      <a:schemeClr val="accent5">
                        <a:lumMod val="75000"/>
                      </a:schemeClr>
                    </a:solidFill>
                  </a:rPr>
                  <a:t> ajoutés</a:t>
                </a:r>
              </a:p>
            </p:txBody>
          </p:sp>
        </mc:Choice>
        <mc:Fallback xmlns="">
          <p:sp>
            <p:nvSpPr>
              <p:cNvPr id="120" name="ZoneTexte 119">
                <a:extLst>
                  <a:ext uri="{FF2B5EF4-FFF2-40B4-BE49-F238E27FC236}">
                    <a16:creationId xmlns:a16="http://schemas.microsoft.com/office/drawing/2014/main" id="{93B330F2-BBF0-4A27-B138-D58F4BEF04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951" y="4095479"/>
                <a:ext cx="3430383" cy="2033570"/>
              </a:xfrm>
              <a:prstGeom prst="rect">
                <a:avLst/>
              </a:prstGeom>
              <a:blipFill>
                <a:blip r:embed="rId7"/>
                <a:stretch>
                  <a:fillRect l="-1776" t="-1802" b="-45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Connecteur droit 120">
            <a:extLst>
              <a:ext uri="{FF2B5EF4-FFF2-40B4-BE49-F238E27FC236}">
                <a16:creationId xmlns:a16="http://schemas.microsoft.com/office/drawing/2014/main" id="{8EEDB482-EAC0-4CBC-81D4-DE31D46A9C19}"/>
              </a:ext>
            </a:extLst>
          </p:cNvPr>
          <p:cNvCxnSpPr/>
          <p:nvPr/>
        </p:nvCxnSpPr>
        <p:spPr>
          <a:xfrm>
            <a:off x="5874026" y="1486063"/>
            <a:ext cx="0" cy="463970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Espace réservé du pied de page 2">
            <a:extLst>
              <a:ext uri="{FF2B5EF4-FFF2-40B4-BE49-F238E27FC236}">
                <a16:creationId xmlns:a16="http://schemas.microsoft.com/office/drawing/2014/main" id="{C791CC7C-3AE9-41DF-8C1A-ABAE5D679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1005437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1CCA93-764F-460D-B96A-A98026298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86016"/>
          </a:xfrm>
        </p:spPr>
        <p:txBody>
          <a:bodyPr/>
          <a:lstStyle/>
          <a:p>
            <a:r>
              <a:rPr lang="fr-FR" dirty="0"/>
              <a:t>Spectre IR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547E74-52CD-423F-9482-7388AA886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mtClean="0"/>
              <a:pPr/>
              <a:t>8</a:t>
            </a:fld>
            <a:endParaRPr lang="fr-FR" dirty="0"/>
          </a:p>
        </p:txBody>
      </p:sp>
      <p:pic>
        <p:nvPicPr>
          <p:cNvPr id="5" name="Espace réservé du contenu 6">
            <a:extLst>
              <a:ext uri="{FF2B5EF4-FFF2-40B4-BE49-F238E27FC236}">
                <a16:creationId xmlns:a16="http://schemas.microsoft.com/office/drawing/2014/main" id="{2EA55B89-C9BB-4080-B17A-BE41CF8691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832" b="17556"/>
          <a:stretch/>
        </p:blipFill>
        <p:spPr>
          <a:xfrm>
            <a:off x="2467294" y="1478207"/>
            <a:ext cx="9245927" cy="469193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B430BA2-D613-415F-A700-8029749687DB}"/>
              </a:ext>
            </a:extLst>
          </p:cNvPr>
          <p:cNvSpPr/>
          <p:nvPr/>
        </p:nvSpPr>
        <p:spPr>
          <a:xfrm>
            <a:off x="8279293" y="1531088"/>
            <a:ext cx="3433927" cy="4132521"/>
          </a:xfrm>
          <a:prstGeom prst="rect">
            <a:avLst/>
          </a:prstGeom>
          <a:solidFill>
            <a:schemeClr val="tx1">
              <a:alpha val="40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71CC33F-DB81-4F63-97B5-CA66DEA18BEA}"/>
              </a:ext>
            </a:extLst>
          </p:cNvPr>
          <p:cNvSpPr/>
          <p:nvPr/>
        </p:nvSpPr>
        <p:spPr>
          <a:xfrm>
            <a:off x="3761563" y="1793289"/>
            <a:ext cx="416247" cy="3471169"/>
          </a:xfrm>
          <a:prstGeom prst="ellipse">
            <a:avLst/>
          </a:prstGeom>
          <a:solidFill>
            <a:srgbClr val="1CADE4">
              <a:alpha val="30196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48CEABE2-3AA3-48FE-B0E2-454BF99D2485}"/>
              </a:ext>
            </a:extLst>
          </p:cNvPr>
          <p:cNvSpPr/>
          <p:nvPr/>
        </p:nvSpPr>
        <p:spPr>
          <a:xfrm>
            <a:off x="4319853" y="1793289"/>
            <a:ext cx="630315" cy="2343705"/>
          </a:xfrm>
          <a:prstGeom prst="ellipse">
            <a:avLst/>
          </a:prstGeom>
          <a:solidFill>
            <a:srgbClr val="42BA97">
              <a:alpha val="30196"/>
            </a:srgb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50B49078-3340-4BC4-9AA1-07BA9A36BA70}"/>
              </a:ext>
            </a:extLst>
          </p:cNvPr>
          <p:cNvSpPr/>
          <p:nvPr/>
        </p:nvSpPr>
        <p:spPr>
          <a:xfrm>
            <a:off x="7791022" y="1686757"/>
            <a:ext cx="488270" cy="3204839"/>
          </a:xfrm>
          <a:prstGeom prst="ellipse">
            <a:avLst/>
          </a:prstGeom>
          <a:solidFill>
            <a:srgbClr val="C00000">
              <a:alpha val="30196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5FED75D-68C6-41F0-AF5E-165E1655B80F}"/>
              </a:ext>
            </a:extLst>
          </p:cNvPr>
          <p:cNvSpPr txBox="1"/>
          <p:nvPr/>
        </p:nvSpPr>
        <p:spPr>
          <a:xfrm>
            <a:off x="6926279" y="5010461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Liaisons C=C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3C5FAA3-0848-4BBD-A48A-05CF47EC7FD9}"/>
              </a:ext>
            </a:extLst>
          </p:cNvPr>
          <p:cNvSpPr txBox="1"/>
          <p:nvPr/>
        </p:nvSpPr>
        <p:spPr>
          <a:xfrm>
            <a:off x="4223715" y="4136994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5"/>
                </a:solidFill>
              </a:rPr>
              <a:t>Liaisons C-H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2BD8C1B-45C1-4D12-BFEF-8CA255549F0F}"/>
              </a:ext>
            </a:extLst>
          </p:cNvPr>
          <p:cNvSpPr txBox="1"/>
          <p:nvPr/>
        </p:nvSpPr>
        <p:spPr>
          <a:xfrm>
            <a:off x="3358972" y="5254103"/>
            <a:ext cx="1516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Liaisons O-H</a:t>
            </a:r>
          </a:p>
        </p:txBody>
      </p:sp>
      <p:pic>
        <p:nvPicPr>
          <p:cNvPr id="2052" name="Picture 4" descr="https://www.sigmaaldrich.com/content/dam/sigma-aldrich/structure8/133/mfcd00004499.eps/_jcr_content/renditions/mfcd00004499-large.png">
            <a:extLst>
              <a:ext uri="{FF2B5EF4-FFF2-40B4-BE49-F238E27FC236}">
                <a16:creationId xmlns:a16="http://schemas.microsoft.com/office/drawing/2014/main" id="{9C3990F6-2EC4-45FF-ACDB-B6DD389E1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81" y="1861763"/>
            <a:ext cx="2277955" cy="347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Espace réservé du pied de page 2">
            <a:extLst>
              <a:ext uri="{FF2B5EF4-FFF2-40B4-BE49-F238E27FC236}">
                <a16:creationId xmlns:a16="http://schemas.microsoft.com/office/drawing/2014/main" id="{04282EB0-789A-44CB-B68C-A0B3B1CB5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</p:spPr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7810603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1DBE09-387A-494D-AF91-BB2A4909A6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Caséine</a:t>
            </a:r>
          </a:p>
        </p:txBody>
      </p:sp>
      <p:pic>
        <p:nvPicPr>
          <p:cNvPr id="1028" name="Picture 4" descr="L-Serin - L-Serine.svg">
            <a:extLst>
              <a:ext uri="{FF2B5EF4-FFF2-40B4-BE49-F238E27FC236}">
                <a16:creationId xmlns:a16="http://schemas.microsoft.com/office/drawing/2014/main" id="{4E709727-699E-478F-BB2E-90DDE0753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3504" y="3991314"/>
            <a:ext cx="2762251" cy="178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-Prolin - L-Proline.svg">
            <a:extLst>
              <a:ext uri="{FF2B5EF4-FFF2-40B4-BE49-F238E27FC236}">
                <a16:creationId xmlns:a16="http://schemas.microsoft.com/office/drawing/2014/main" id="{8DB823F2-5DF5-4727-861B-FAF51376D5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952069"/>
            <a:ext cx="2229836" cy="17158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4527E1AA-8A80-4CAE-AA00-EE8526FFF7DC}"/>
              </a:ext>
            </a:extLst>
          </p:cNvPr>
          <p:cNvSpPr txBox="1"/>
          <p:nvPr/>
        </p:nvSpPr>
        <p:spPr>
          <a:xfrm>
            <a:off x="3047571" y="2226500"/>
            <a:ext cx="9195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Proline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D8C18C5-2D30-4F45-ABA4-DE08D5335624}"/>
              </a:ext>
            </a:extLst>
          </p:cNvPr>
          <p:cNvSpPr txBox="1"/>
          <p:nvPr/>
        </p:nvSpPr>
        <p:spPr>
          <a:xfrm>
            <a:off x="3369934" y="5378105"/>
            <a:ext cx="8435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Sérine</a:t>
            </a:r>
          </a:p>
        </p:txBody>
      </p:sp>
      <p:pic>
        <p:nvPicPr>
          <p:cNvPr id="1032" name="Picture 8" descr="L-Leucine">
            <a:extLst>
              <a:ext uri="{FF2B5EF4-FFF2-40B4-BE49-F238E27FC236}">
                <a16:creationId xmlns:a16="http://schemas.microsoft.com/office/drawing/2014/main" id="{A0FA236B-7AFB-454A-9DA1-CD6F0FD18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1239" y="2125608"/>
            <a:ext cx="3427421" cy="178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E68A0FC-CA94-4058-A6F4-F7BC20038ACE}"/>
              </a:ext>
            </a:extLst>
          </p:cNvPr>
          <p:cNvSpPr txBox="1"/>
          <p:nvPr/>
        </p:nvSpPr>
        <p:spPr>
          <a:xfrm>
            <a:off x="8381259" y="2125608"/>
            <a:ext cx="986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Leucine</a:t>
            </a:r>
          </a:p>
        </p:txBody>
      </p:sp>
      <p:pic>
        <p:nvPicPr>
          <p:cNvPr id="1034" name="Picture 10" descr="L-Lysin - L-Lysine.svg">
            <a:extLst>
              <a:ext uri="{FF2B5EF4-FFF2-40B4-BE49-F238E27FC236}">
                <a16:creationId xmlns:a16="http://schemas.microsoft.com/office/drawing/2014/main" id="{54E28A76-4FA9-4C3E-8F7E-4CE7E4C34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7056" y="4157078"/>
            <a:ext cx="4205388" cy="16952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F0D4668-4361-4C86-9B44-0B2BE61A7FD3}"/>
              </a:ext>
            </a:extLst>
          </p:cNvPr>
          <p:cNvSpPr txBox="1"/>
          <p:nvPr/>
        </p:nvSpPr>
        <p:spPr>
          <a:xfrm>
            <a:off x="6855066" y="5343814"/>
            <a:ext cx="818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Lysine</a:t>
            </a:r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0205863-0511-4930-AE4B-BB903A4A8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z="1800" smtClean="0"/>
              <a:t>9</a:t>
            </a:fld>
            <a:endParaRPr lang="fr-FR" sz="180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AD5CD41-B364-43FD-941C-F295F14B4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1908157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4CAA0A7-738B-409F-83D3-AF93C035F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Extraction de la caséine du lait</a:t>
            </a:r>
          </a:p>
        </p:txBody>
      </p:sp>
      <p:grpSp>
        <p:nvGrpSpPr>
          <p:cNvPr id="4" name="Grouper 449">
            <a:extLst>
              <a:ext uri="{FF2B5EF4-FFF2-40B4-BE49-F238E27FC236}">
                <a16:creationId xmlns:a16="http://schemas.microsoft.com/office/drawing/2014/main" id="{E8912D75-DDF2-414E-930B-55415AD3CEF5}"/>
              </a:ext>
            </a:extLst>
          </p:cNvPr>
          <p:cNvGrpSpPr/>
          <p:nvPr/>
        </p:nvGrpSpPr>
        <p:grpSpPr>
          <a:xfrm>
            <a:off x="2357436" y="4840447"/>
            <a:ext cx="1647825" cy="560388"/>
            <a:chOff x="0" y="0"/>
            <a:chExt cx="1143000" cy="434975"/>
          </a:xfrm>
        </p:grpSpPr>
        <p:grpSp>
          <p:nvGrpSpPr>
            <p:cNvPr id="5" name="Grouper 445">
              <a:extLst>
                <a:ext uri="{FF2B5EF4-FFF2-40B4-BE49-F238E27FC236}">
                  <a16:creationId xmlns:a16="http://schemas.microsoft.com/office/drawing/2014/main" id="{99F827D6-1BD6-4FB8-99E8-00F1C73A46F1}"/>
                </a:ext>
              </a:extLst>
            </p:cNvPr>
            <p:cNvGrpSpPr/>
            <p:nvPr/>
          </p:nvGrpSpPr>
          <p:grpSpPr>
            <a:xfrm>
              <a:off x="0" y="71120"/>
              <a:ext cx="1143000" cy="363855"/>
              <a:chOff x="0" y="0"/>
              <a:chExt cx="1143000" cy="363855"/>
            </a:xfrm>
          </p:grpSpPr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C931B4B4-0EB4-4E61-AC27-856FCDB34759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363855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EC06CAFE-BB99-40AD-B4AF-8CC8E8A99D07}"/>
                  </a:ext>
                </a:extLst>
              </p:cNvPr>
              <p:cNvSpPr/>
              <p:nvPr/>
            </p:nvSpPr>
            <p:spPr>
              <a:xfrm>
                <a:off x="114300" y="11430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59AD51-B5EB-479A-9C7E-B91E12FC3231}"/>
                </a:ext>
              </a:extLst>
            </p:cNvPr>
            <p:cNvSpPr/>
            <p:nvPr/>
          </p:nvSpPr>
          <p:spPr>
            <a:xfrm>
              <a:off x="0" y="0"/>
              <a:ext cx="1143000" cy="69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9" name="Grouper 48">
            <a:extLst>
              <a:ext uri="{FF2B5EF4-FFF2-40B4-BE49-F238E27FC236}">
                <a16:creationId xmlns:a16="http://schemas.microsoft.com/office/drawing/2014/main" id="{13061EC5-5972-4AD1-BD49-80939C619690}"/>
              </a:ext>
            </a:extLst>
          </p:cNvPr>
          <p:cNvGrpSpPr/>
          <p:nvPr/>
        </p:nvGrpSpPr>
        <p:grpSpPr>
          <a:xfrm>
            <a:off x="2647948" y="3235253"/>
            <a:ext cx="1066800" cy="1602740"/>
            <a:chOff x="0" y="0"/>
            <a:chExt cx="571500" cy="824230"/>
          </a:xfrm>
        </p:grpSpPr>
        <p:grpSp>
          <p:nvGrpSpPr>
            <p:cNvPr id="10" name="Grouper 31">
              <a:extLst>
                <a:ext uri="{FF2B5EF4-FFF2-40B4-BE49-F238E27FC236}">
                  <a16:creationId xmlns:a16="http://schemas.microsoft.com/office/drawing/2014/main" id="{FD161C85-A60A-41AC-8C9C-B5E488E59236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12" name="Arrondir un rectangle avec un coin du même côté 29">
                <a:extLst>
                  <a:ext uri="{FF2B5EF4-FFF2-40B4-BE49-F238E27FC236}">
                    <a16:creationId xmlns:a16="http://schemas.microsoft.com/office/drawing/2014/main" id="{07B3564A-1C11-4AE4-ACC3-B5F30BB4A4F0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3" name="Arrondir un rectangle avec un coin du même côté 30">
                <a:extLst>
                  <a:ext uri="{FF2B5EF4-FFF2-40B4-BE49-F238E27FC236}">
                    <a16:creationId xmlns:a16="http://schemas.microsoft.com/office/drawing/2014/main" id="{8C99F1C4-A88C-48CC-9795-B730F5F06001}"/>
                  </a:ext>
                </a:extLst>
              </p:cNvPr>
              <p:cNvSpPr/>
              <p:nvPr/>
            </p:nvSpPr>
            <p:spPr>
              <a:xfrm rot="10800000">
                <a:off x="0" y="457200"/>
                <a:ext cx="571500" cy="3429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D0218CE-9403-4F83-A4D3-45F0665F144C}"/>
                </a:ext>
              </a:extLst>
            </p:cNvPr>
            <p:cNvSpPr/>
            <p:nvPr/>
          </p:nvSpPr>
          <p:spPr>
            <a:xfrm flipV="1">
              <a:off x="0" y="0"/>
              <a:ext cx="571500" cy="4508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15" name="Grouper 449">
            <a:extLst>
              <a:ext uri="{FF2B5EF4-FFF2-40B4-BE49-F238E27FC236}">
                <a16:creationId xmlns:a16="http://schemas.microsoft.com/office/drawing/2014/main" id="{9EBBDE3D-1888-4049-93ED-2AF32FADFB8A}"/>
              </a:ext>
            </a:extLst>
          </p:cNvPr>
          <p:cNvGrpSpPr/>
          <p:nvPr/>
        </p:nvGrpSpPr>
        <p:grpSpPr>
          <a:xfrm>
            <a:off x="5272087" y="4837993"/>
            <a:ext cx="1647825" cy="560388"/>
            <a:chOff x="0" y="0"/>
            <a:chExt cx="1143000" cy="434975"/>
          </a:xfrm>
        </p:grpSpPr>
        <p:grpSp>
          <p:nvGrpSpPr>
            <p:cNvPr id="16" name="Grouper 445">
              <a:extLst>
                <a:ext uri="{FF2B5EF4-FFF2-40B4-BE49-F238E27FC236}">
                  <a16:creationId xmlns:a16="http://schemas.microsoft.com/office/drawing/2014/main" id="{5779DCF5-06F6-4021-B266-C3DE260188AA}"/>
                </a:ext>
              </a:extLst>
            </p:cNvPr>
            <p:cNvGrpSpPr/>
            <p:nvPr/>
          </p:nvGrpSpPr>
          <p:grpSpPr>
            <a:xfrm>
              <a:off x="0" y="71120"/>
              <a:ext cx="1143000" cy="363855"/>
              <a:chOff x="0" y="0"/>
              <a:chExt cx="1143000" cy="363855"/>
            </a:xfrm>
          </p:grpSpPr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BD280B7-4E5A-4639-86D1-87D278E81559}"/>
                  </a:ext>
                </a:extLst>
              </p:cNvPr>
              <p:cNvSpPr/>
              <p:nvPr/>
            </p:nvSpPr>
            <p:spPr>
              <a:xfrm>
                <a:off x="0" y="0"/>
                <a:ext cx="1143000" cy="363855"/>
              </a:xfrm>
              <a:prstGeom prst="rect">
                <a:avLst/>
              </a:prstGeom>
              <a:solidFill>
                <a:srgbClr val="BFBFBF"/>
              </a:solidFill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9" name="Ellipse 18">
                <a:extLst>
                  <a:ext uri="{FF2B5EF4-FFF2-40B4-BE49-F238E27FC236}">
                    <a16:creationId xmlns:a16="http://schemas.microsoft.com/office/drawing/2014/main" id="{D93A44A3-85C6-4BFB-A38F-A713F5729517}"/>
                  </a:ext>
                </a:extLst>
              </p:cNvPr>
              <p:cNvSpPr/>
              <p:nvPr/>
            </p:nvSpPr>
            <p:spPr>
              <a:xfrm>
                <a:off x="114300" y="114300"/>
                <a:ext cx="114300" cy="135255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6476F6-475E-43E5-858C-2649BAF76FD6}"/>
                </a:ext>
              </a:extLst>
            </p:cNvPr>
            <p:cNvSpPr/>
            <p:nvPr/>
          </p:nvSpPr>
          <p:spPr>
            <a:xfrm>
              <a:off x="0" y="0"/>
              <a:ext cx="1143000" cy="6921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grpSp>
        <p:nvGrpSpPr>
          <p:cNvPr id="20" name="Grouper 48">
            <a:extLst>
              <a:ext uri="{FF2B5EF4-FFF2-40B4-BE49-F238E27FC236}">
                <a16:creationId xmlns:a16="http://schemas.microsoft.com/office/drawing/2014/main" id="{B7FC9822-8D99-4D1B-BA7C-8F2D48CD4CFA}"/>
              </a:ext>
            </a:extLst>
          </p:cNvPr>
          <p:cNvGrpSpPr/>
          <p:nvPr/>
        </p:nvGrpSpPr>
        <p:grpSpPr>
          <a:xfrm>
            <a:off x="5562599" y="3232799"/>
            <a:ext cx="1066800" cy="1602740"/>
            <a:chOff x="0" y="0"/>
            <a:chExt cx="571500" cy="824230"/>
          </a:xfrm>
        </p:grpSpPr>
        <p:grpSp>
          <p:nvGrpSpPr>
            <p:cNvPr id="21" name="Grouper 31">
              <a:extLst>
                <a:ext uri="{FF2B5EF4-FFF2-40B4-BE49-F238E27FC236}">
                  <a16:creationId xmlns:a16="http://schemas.microsoft.com/office/drawing/2014/main" id="{4895C5CE-5471-4533-B397-09180B4E3597}"/>
                </a:ext>
              </a:extLst>
            </p:cNvPr>
            <p:cNvGrpSpPr/>
            <p:nvPr/>
          </p:nvGrpSpPr>
          <p:grpSpPr>
            <a:xfrm>
              <a:off x="0" y="24130"/>
              <a:ext cx="571500" cy="800100"/>
              <a:chOff x="0" y="0"/>
              <a:chExt cx="571500" cy="800100"/>
            </a:xfrm>
          </p:grpSpPr>
          <p:sp>
            <p:nvSpPr>
              <p:cNvPr id="23" name="Arrondir un rectangle avec un coin du même côté 29">
                <a:extLst>
                  <a:ext uri="{FF2B5EF4-FFF2-40B4-BE49-F238E27FC236}">
                    <a16:creationId xmlns:a16="http://schemas.microsoft.com/office/drawing/2014/main" id="{AFAF521E-BB12-4A82-A311-293DA8FAA16F}"/>
                  </a:ext>
                </a:extLst>
              </p:cNvPr>
              <p:cNvSpPr/>
              <p:nvPr/>
            </p:nvSpPr>
            <p:spPr>
              <a:xfrm rot="10800000">
                <a:off x="0" y="0"/>
                <a:ext cx="571500" cy="8001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4" name="Arrondir un rectangle avec un coin du même côté 30">
                <a:extLst>
                  <a:ext uri="{FF2B5EF4-FFF2-40B4-BE49-F238E27FC236}">
                    <a16:creationId xmlns:a16="http://schemas.microsoft.com/office/drawing/2014/main" id="{74B637BA-7B1E-4A48-AED5-6586FABF7FEC}"/>
                  </a:ext>
                </a:extLst>
              </p:cNvPr>
              <p:cNvSpPr/>
              <p:nvPr/>
            </p:nvSpPr>
            <p:spPr>
              <a:xfrm rot="10800000">
                <a:off x="0" y="457200"/>
                <a:ext cx="571500" cy="342900"/>
              </a:xfrm>
              <a:prstGeom prst="round2SameRect">
                <a:avLst/>
              </a:prstGeom>
              <a:noFill/>
              <a:ln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fr-FR"/>
              </a:p>
            </p:txBody>
          </p:sp>
        </p:grp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C5AFEE78-87FB-47DE-A9DF-7E7BE9E83484}"/>
                </a:ext>
              </a:extLst>
            </p:cNvPr>
            <p:cNvSpPr/>
            <p:nvPr/>
          </p:nvSpPr>
          <p:spPr>
            <a:xfrm flipV="1">
              <a:off x="0" y="0"/>
              <a:ext cx="571500" cy="45085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/>
            </a:p>
          </p:txBody>
        </p:sp>
      </p:grpSp>
      <p:sp>
        <p:nvSpPr>
          <p:cNvPr id="25" name="Forme libre 5">
            <a:extLst>
              <a:ext uri="{FF2B5EF4-FFF2-40B4-BE49-F238E27FC236}">
                <a16:creationId xmlns:a16="http://schemas.microsoft.com/office/drawing/2014/main" id="{8D527D34-2787-4352-9344-B35BBE776921}"/>
              </a:ext>
            </a:extLst>
          </p:cNvPr>
          <p:cNvSpPr/>
          <p:nvPr/>
        </p:nvSpPr>
        <p:spPr>
          <a:xfrm>
            <a:off x="5638796" y="4209507"/>
            <a:ext cx="914404" cy="572855"/>
          </a:xfrm>
          <a:custGeom>
            <a:avLst/>
            <a:gdLst>
              <a:gd name="connsiteX0" fmla="*/ 136135 w 694935"/>
              <a:gd name="connsiteY0" fmla="*/ 171450 h 381009"/>
              <a:gd name="connsiteX1" fmla="*/ 523485 w 694935"/>
              <a:gd name="connsiteY1" fmla="*/ 177800 h 381009"/>
              <a:gd name="connsiteX2" fmla="*/ 529835 w 694935"/>
              <a:gd name="connsiteY2" fmla="*/ 196850 h 381009"/>
              <a:gd name="connsiteX3" fmla="*/ 510785 w 694935"/>
              <a:gd name="connsiteY3" fmla="*/ 209550 h 381009"/>
              <a:gd name="connsiteX4" fmla="*/ 256785 w 694935"/>
              <a:gd name="connsiteY4" fmla="*/ 196850 h 381009"/>
              <a:gd name="connsiteX5" fmla="*/ 237735 w 694935"/>
              <a:gd name="connsiteY5" fmla="*/ 190500 h 381009"/>
              <a:gd name="connsiteX6" fmla="*/ 205985 w 694935"/>
              <a:gd name="connsiteY6" fmla="*/ 196850 h 381009"/>
              <a:gd name="connsiteX7" fmla="*/ 250435 w 694935"/>
              <a:gd name="connsiteY7" fmla="*/ 247650 h 381009"/>
              <a:gd name="connsiteX8" fmla="*/ 459985 w 694935"/>
              <a:gd name="connsiteY8" fmla="*/ 241300 h 381009"/>
              <a:gd name="connsiteX9" fmla="*/ 479035 w 694935"/>
              <a:gd name="connsiteY9" fmla="*/ 228600 h 381009"/>
              <a:gd name="connsiteX10" fmla="*/ 485385 w 694935"/>
              <a:gd name="connsiteY10" fmla="*/ 203200 h 381009"/>
              <a:gd name="connsiteX11" fmla="*/ 479035 w 694935"/>
              <a:gd name="connsiteY11" fmla="*/ 139700 h 381009"/>
              <a:gd name="connsiteX12" fmla="*/ 447285 w 694935"/>
              <a:gd name="connsiteY12" fmla="*/ 114300 h 381009"/>
              <a:gd name="connsiteX13" fmla="*/ 421885 w 694935"/>
              <a:gd name="connsiteY13" fmla="*/ 101600 h 381009"/>
              <a:gd name="connsiteX14" fmla="*/ 352035 w 694935"/>
              <a:gd name="connsiteY14" fmla="*/ 107950 h 381009"/>
              <a:gd name="connsiteX15" fmla="*/ 332985 w 694935"/>
              <a:gd name="connsiteY15" fmla="*/ 114300 h 381009"/>
              <a:gd name="connsiteX16" fmla="*/ 320285 w 694935"/>
              <a:gd name="connsiteY16" fmla="*/ 133350 h 381009"/>
              <a:gd name="connsiteX17" fmla="*/ 282185 w 694935"/>
              <a:gd name="connsiteY17" fmla="*/ 158750 h 381009"/>
              <a:gd name="connsiteX18" fmla="*/ 263135 w 694935"/>
              <a:gd name="connsiteY18" fmla="*/ 171450 h 381009"/>
              <a:gd name="connsiteX19" fmla="*/ 218685 w 694935"/>
              <a:gd name="connsiteY19" fmla="*/ 184150 h 381009"/>
              <a:gd name="connsiteX20" fmla="*/ 199635 w 694935"/>
              <a:gd name="connsiteY20" fmla="*/ 190500 h 381009"/>
              <a:gd name="connsiteX21" fmla="*/ 174235 w 694935"/>
              <a:gd name="connsiteY21" fmla="*/ 196850 h 381009"/>
              <a:gd name="connsiteX22" fmla="*/ 155185 w 694935"/>
              <a:gd name="connsiteY22" fmla="*/ 203200 h 381009"/>
              <a:gd name="connsiteX23" fmla="*/ 123435 w 694935"/>
              <a:gd name="connsiteY23" fmla="*/ 209550 h 381009"/>
              <a:gd name="connsiteX24" fmla="*/ 72635 w 694935"/>
              <a:gd name="connsiteY24" fmla="*/ 222250 h 381009"/>
              <a:gd name="connsiteX25" fmla="*/ 2785 w 694935"/>
              <a:gd name="connsiteY25" fmla="*/ 215900 h 381009"/>
              <a:gd name="connsiteX26" fmla="*/ 9135 w 694935"/>
              <a:gd name="connsiteY26" fmla="*/ 190500 h 381009"/>
              <a:gd name="connsiteX27" fmla="*/ 21835 w 694935"/>
              <a:gd name="connsiteY27" fmla="*/ 171450 h 381009"/>
              <a:gd name="connsiteX28" fmla="*/ 66285 w 694935"/>
              <a:gd name="connsiteY28" fmla="*/ 158750 h 381009"/>
              <a:gd name="connsiteX29" fmla="*/ 161535 w 694935"/>
              <a:gd name="connsiteY29" fmla="*/ 171450 h 381009"/>
              <a:gd name="connsiteX30" fmla="*/ 225035 w 694935"/>
              <a:gd name="connsiteY30" fmla="*/ 203200 h 381009"/>
              <a:gd name="connsiteX31" fmla="*/ 301235 w 694935"/>
              <a:gd name="connsiteY31" fmla="*/ 234950 h 381009"/>
              <a:gd name="connsiteX32" fmla="*/ 320285 w 694935"/>
              <a:gd name="connsiteY32" fmla="*/ 241300 h 381009"/>
              <a:gd name="connsiteX33" fmla="*/ 371085 w 694935"/>
              <a:gd name="connsiteY33" fmla="*/ 266700 h 381009"/>
              <a:gd name="connsiteX34" fmla="*/ 390135 w 694935"/>
              <a:gd name="connsiteY34" fmla="*/ 279400 h 381009"/>
              <a:gd name="connsiteX35" fmla="*/ 409185 w 694935"/>
              <a:gd name="connsiteY35" fmla="*/ 285750 h 381009"/>
              <a:gd name="connsiteX36" fmla="*/ 434585 w 694935"/>
              <a:gd name="connsiteY36" fmla="*/ 298450 h 381009"/>
              <a:gd name="connsiteX37" fmla="*/ 625085 w 694935"/>
              <a:gd name="connsiteY37" fmla="*/ 247650 h 381009"/>
              <a:gd name="connsiteX38" fmla="*/ 586985 w 694935"/>
              <a:gd name="connsiteY38" fmla="*/ 209550 h 381009"/>
              <a:gd name="connsiteX39" fmla="*/ 561585 w 694935"/>
              <a:gd name="connsiteY39" fmla="*/ 196850 h 381009"/>
              <a:gd name="connsiteX40" fmla="*/ 517135 w 694935"/>
              <a:gd name="connsiteY40" fmla="*/ 184150 h 381009"/>
              <a:gd name="connsiteX41" fmla="*/ 479035 w 694935"/>
              <a:gd name="connsiteY41" fmla="*/ 177800 h 381009"/>
              <a:gd name="connsiteX42" fmla="*/ 440935 w 694935"/>
              <a:gd name="connsiteY42" fmla="*/ 165100 h 381009"/>
              <a:gd name="connsiteX43" fmla="*/ 421885 w 694935"/>
              <a:gd name="connsiteY43" fmla="*/ 158750 h 381009"/>
              <a:gd name="connsiteX44" fmla="*/ 396485 w 694935"/>
              <a:gd name="connsiteY44" fmla="*/ 146050 h 381009"/>
              <a:gd name="connsiteX45" fmla="*/ 358385 w 694935"/>
              <a:gd name="connsiteY45" fmla="*/ 120650 h 381009"/>
              <a:gd name="connsiteX46" fmla="*/ 320285 w 694935"/>
              <a:gd name="connsiteY46" fmla="*/ 107950 h 381009"/>
              <a:gd name="connsiteX47" fmla="*/ 231385 w 694935"/>
              <a:gd name="connsiteY47" fmla="*/ 114300 h 381009"/>
              <a:gd name="connsiteX48" fmla="*/ 212335 w 694935"/>
              <a:gd name="connsiteY48" fmla="*/ 120650 h 381009"/>
              <a:gd name="connsiteX49" fmla="*/ 186935 w 694935"/>
              <a:gd name="connsiteY49" fmla="*/ 158750 h 381009"/>
              <a:gd name="connsiteX50" fmla="*/ 174235 w 694935"/>
              <a:gd name="connsiteY50" fmla="*/ 177800 h 381009"/>
              <a:gd name="connsiteX51" fmla="*/ 167885 w 694935"/>
              <a:gd name="connsiteY51" fmla="*/ 196850 h 381009"/>
              <a:gd name="connsiteX52" fmla="*/ 136135 w 694935"/>
              <a:gd name="connsiteY52" fmla="*/ 254000 h 381009"/>
              <a:gd name="connsiteX53" fmla="*/ 142485 w 694935"/>
              <a:gd name="connsiteY53" fmla="*/ 279400 h 381009"/>
              <a:gd name="connsiteX54" fmla="*/ 167885 w 694935"/>
              <a:gd name="connsiteY54" fmla="*/ 292100 h 381009"/>
              <a:gd name="connsiteX55" fmla="*/ 218685 w 694935"/>
              <a:gd name="connsiteY55" fmla="*/ 304800 h 381009"/>
              <a:gd name="connsiteX56" fmla="*/ 237735 w 694935"/>
              <a:gd name="connsiteY56" fmla="*/ 311150 h 381009"/>
              <a:gd name="connsiteX57" fmla="*/ 453635 w 694935"/>
              <a:gd name="connsiteY57" fmla="*/ 304800 h 381009"/>
              <a:gd name="connsiteX58" fmla="*/ 479035 w 694935"/>
              <a:gd name="connsiteY58" fmla="*/ 298450 h 381009"/>
              <a:gd name="connsiteX59" fmla="*/ 561585 w 694935"/>
              <a:gd name="connsiteY59" fmla="*/ 304800 h 381009"/>
              <a:gd name="connsiteX60" fmla="*/ 599685 w 694935"/>
              <a:gd name="connsiteY60" fmla="*/ 336550 h 381009"/>
              <a:gd name="connsiteX61" fmla="*/ 593335 w 694935"/>
              <a:gd name="connsiteY61" fmla="*/ 361950 h 381009"/>
              <a:gd name="connsiteX62" fmla="*/ 472685 w 694935"/>
              <a:gd name="connsiteY62" fmla="*/ 355600 h 381009"/>
              <a:gd name="connsiteX63" fmla="*/ 447285 w 694935"/>
              <a:gd name="connsiteY63" fmla="*/ 342900 h 381009"/>
              <a:gd name="connsiteX64" fmla="*/ 409185 w 694935"/>
              <a:gd name="connsiteY64" fmla="*/ 336550 h 381009"/>
              <a:gd name="connsiteX65" fmla="*/ 301235 w 694935"/>
              <a:gd name="connsiteY65" fmla="*/ 323850 h 381009"/>
              <a:gd name="connsiteX66" fmla="*/ 256785 w 694935"/>
              <a:gd name="connsiteY66" fmla="*/ 317500 h 381009"/>
              <a:gd name="connsiteX67" fmla="*/ 193285 w 694935"/>
              <a:gd name="connsiteY67" fmla="*/ 298450 h 381009"/>
              <a:gd name="connsiteX68" fmla="*/ 174235 w 694935"/>
              <a:gd name="connsiteY68" fmla="*/ 292100 h 381009"/>
              <a:gd name="connsiteX69" fmla="*/ 155185 w 694935"/>
              <a:gd name="connsiteY69" fmla="*/ 285750 h 381009"/>
              <a:gd name="connsiteX70" fmla="*/ 85335 w 694935"/>
              <a:gd name="connsiteY70" fmla="*/ 311150 h 381009"/>
              <a:gd name="connsiteX71" fmla="*/ 91685 w 694935"/>
              <a:gd name="connsiteY71" fmla="*/ 368300 h 381009"/>
              <a:gd name="connsiteX72" fmla="*/ 142485 w 694935"/>
              <a:gd name="connsiteY72" fmla="*/ 381000 h 381009"/>
              <a:gd name="connsiteX73" fmla="*/ 358385 w 694935"/>
              <a:gd name="connsiteY73" fmla="*/ 374650 h 381009"/>
              <a:gd name="connsiteX74" fmla="*/ 377435 w 694935"/>
              <a:gd name="connsiteY74" fmla="*/ 368300 h 381009"/>
              <a:gd name="connsiteX75" fmla="*/ 409185 w 694935"/>
              <a:gd name="connsiteY75" fmla="*/ 349250 h 381009"/>
              <a:gd name="connsiteX76" fmla="*/ 428235 w 694935"/>
              <a:gd name="connsiteY76" fmla="*/ 336550 h 381009"/>
              <a:gd name="connsiteX77" fmla="*/ 472685 w 694935"/>
              <a:gd name="connsiteY77" fmla="*/ 323850 h 381009"/>
              <a:gd name="connsiteX78" fmla="*/ 491735 w 694935"/>
              <a:gd name="connsiteY78" fmla="*/ 311150 h 381009"/>
              <a:gd name="connsiteX79" fmla="*/ 542535 w 694935"/>
              <a:gd name="connsiteY79" fmla="*/ 298450 h 381009"/>
              <a:gd name="connsiteX80" fmla="*/ 561585 w 694935"/>
              <a:gd name="connsiteY80" fmla="*/ 234950 h 381009"/>
              <a:gd name="connsiteX81" fmla="*/ 567935 w 694935"/>
              <a:gd name="connsiteY81" fmla="*/ 215900 h 381009"/>
              <a:gd name="connsiteX82" fmla="*/ 231385 w 694935"/>
              <a:gd name="connsiteY82" fmla="*/ 196850 h 381009"/>
              <a:gd name="connsiteX83" fmla="*/ 212335 w 694935"/>
              <a:gd name="connsiteY83" fmla="*/ 190500 h 381009"/>
              <a:gd name="connsiteX84" fmla="*/ 161535 w 694935"/>
              <a:gd name="connsiteY84" fmla="*/ 177800 h 381009"/>
              <a:gd name="connsiteX85" fmla="*/ 142485 w 694935"/>
              <a:gd name="connsiteY85" fmla="*/ 165100 h 381009"/>
              <a:gd name="connsiteX86" fmla="*/ 98035 w 694935"/>
              <a:gd name="connsiteY86" fmla="*/ 152400 h 381009"/>
              <a:gd name="connsiteX87" fmla="*/ 78985 w 694935"/>
              <a:gd name="connsiteY87" fmla="*/ 146050 h 381009"/>
              <a:gd name="connsiteX88" fmla="*/ 59935 w 694935"/>
              <a:gd name="connsiteY88" fmla="*/ 133350 h 381009"/>
              <a:gd name="connsiteX89" fmla="*/ 66285 w 694935"/>
              <a:gd name="connsiteY89" fmla="*/ 82550 h 381009"/>
              <a:gd name="connsiteX90" fmla="*/ 91685 w 694935"/>
              <a:gd name="connsiteY90" fmla="*/ 44450 h 381009"/>
              <a:gd name="connsiteX91" fmla="*/ 123435 w 694935"/>
              <a:gd name="connsiteY91" fmla="*/ 0 h 381009"/>
              <a:gd name="connsiteX92" fmla="*/ 186935 w 694935"/>
              <a:gd name="connsiteY92" fmla="*/ 6350 h 381009"/>
              <a:gd name="connsiteX93" fmla="*/ 256785 w 694935"/>
              <a:gd name="connsiteY93" fmla="*/ 38100 h 381009"/>
              <a:gd name="connsiteX94" fmla="*/ 282185 w 694935"/>
              <a:gd name="connsiteY94" fmla="*/ 44450 h 381009"/>
              <a:gd name="connsiteX95" fmla="*/ 313935 w 694935"/>
              <a:gd name="connsiteY95" fmla="*/ 57150 h 381009"/>
              <a:gd name="connsiteX96" fmla="*/ 339335 w 694935"/>
              <a:gd name="connsiteY96" fmla="*/ 63500 h 381009"/>
              <a:gd name="connsiteX97" fmla="*/ 364735 w 694935"/>
              <a:gd name="connsiteY97" fmla="*/ 76200 h 381009"/>
              <a:gd name="connsiteX98" fmla="*/ 409185 w 694935"/>
              <a:gd name="connsiteY98" fmla="*/ 88900 h 381009"/>
              <a:gd name="connsiteX99" fmla="*/ 447285 w 694935"/>
              <a:gd name="connsiteY99" fmla="*/ 101600 h 381009"/>
              <a:gd name="connsiteX100" fmla="*/ 466335 w 694935"/>
              <a:gd name="connsiteY100" fmla="*/ 107950 h 381009"/>
              <a:gd name="connsiteX101" fmla="*/ 498085 w 694935"/>
              <a:gd name="connsiteY101" fmla="*/ 114300 h 381009"/>
              <a:gd name="connsiteX102" fmla="*/ 599685 w 694935"/>
              <a:gd name="connsiteY102" fmla="*/ 107950 h 381009"/>
              <a:gd name="connsiteX103" fmla="*/ 618735 w 694935"/>
              <a:gd name="connsiteY103" fmla="*/ 88900 h 381009"/>
              <a:gd name="connsiteX104" fmla="*/ 580635 w 694935"/>
              <a:gd name="connsiteY104" fmla="*/ 76200 h 381009"/>
              <a:gd name="connsiteX105" fmla="*/ 504435 w 694935"/>
              <a:gd name="connsiteY105" fmla="*/ 82550 h 381009"/>
              <a:gd name="connsiteX106" fmla="*/ 485385 w 694935"/>
              <a:gd name="connsiteY106" fmla="*/ 88900 h 381009"/>
              <a:gd name="connsiteX107" fmla="*/ 479035 w 694935"/>
              <a:gd name="connsiteY107" fmla="*/ 107950 h 381009"/>
              <a:gd name="connsiteX108" fmla="*/ 466335 w 694935"/>
              <a:gd name="connsiteY108" fmla="*/ 127000 h 381009"/>
              <a:gd name="connsiteX109" fmla="*/ 421885 w 694935"/>
              <a:gd name="connsiteY109" fmla="*/ 165100 h 381009"/>
              <a:gd name="connsiteX110" fmla="*/ 402835 w 694935"/>
              <a:gd name="connsiteY110" fmla="*/ 177800 h 381009"/>
              <a:gd name="connsiteX111" fmla="*/ 377435 w 694935"/>
              <a:gd name="connsiteY111" fmla="*/ 184150 h 381009"/>
              <a:gd name="connsiteX112" fmla="*/ 358385 w 694935"/>
              <a:gd name="connsiteY112" fmla="*/ 190500 h 381009"/>
              <a:gd name="connsiteX113" fmla="*/ 142485 w 694935"/>
              <a:gd name="connsiteY113" fmla="*/ 209550 h 381009"/>
              <a:gd name="connsiteX114" fmla="*/ 104385 w 694935"/>
              <a:gd name="connsiteY114" fmla="*/ 222250 h 381009"/>
              <a:gd name="connsiteX115" fmla="*/ 85335 w 694935"/>
              <a:gd name="connsiteY115" fmla="*/ 228600 h 381009"/>
              <a:gd name="connsiteX116" fmla="*/ 47235 w 694935"/>
              <a:gd name="connsiteY116" fmla="*/ 266700 h 381009"/>
              <a:gd name="connsiteX117" fmla="*/ 9135 w 694935"/>
              <a:gd name="connsiteY117" fmla="*/ 292100 h 381009"/>
              <a:gd name="connsiteX118" fmla="*/ 72635 w 694935"/>
              <a:gd name="connsiteY118" fmla="*/ 311150 h 381009"/>
              <a:gd name="connsiteX119" fmla="*/ 434585 w 694935"/>
              <a:gd name="connsiteY119" fmla="*/ 304800 h 381009"/>
              <a:gd name="connsiteX120" fmla="*/ 485385 w 694935"/>
              <a:gd name="connsiteY120" fmla="*/ 298450 h 381009"/>
              <a:gd name="connsiteX121" fmla="*/ 504435 w 694935"/>
              <a:gd name="connsiteY121" fmla="*/ 292100 h 381009"/>
              <a:gd name="connsiteX122" fmla="*/ 580635 w 694935"/>
              <a:gd name="connsiteY122" fmla="*/ 273050 h 381009"/>
              <a:gd name="connsiteX123" fmla="*/ 599685 w 694935"/>
              <a:gd name="connsiteY123" fmla="*/ 260350 h 381009"/>
              <a:gd name="connsiteX124" fmla="*/ 656835 w 694935"/>
              <a:gd name="connsiteY124" fmla="*/ 241300 h 381009"/>
              <a:gd name="connsiteX125" fmla="*/ 675885 w 694935"/>
              <a:gd name="connsiteY125" fmla="*/ 234950 h 381009"/>
              <a:gd name="connsiteX126" fmla="*/ 694935 w 694935"/>
              <a:gd name="connsiteY126" fmla="*/ 228600 h 381009"/>
              <a:gd name="connsiteX127" fmla="*/ 688585 w 694935"/>
              <a:gd name="connsiteY127" fmla="*/ 190500 h 381009"/>
              <a:gd name="connsiteX128" fmla="*/ 669535 w 694935"/>
              <a:gd name="connsiteY128" fmla="*/ 171450 h 381009"/>
              <a:gd name="connsiteX129" fmla="*/ 618735 w 694935"/>
              <a:gd name="connsiteY129" fmla="*/ 152400 h 381009"/>
              <a:gd name="connsiteX130" fmla="*/ 561585 w 694935"/>
              <a:gd name="connsiteY130" fmla="*/ 158750 h 381009"/>
              <a:gd name="connsiteX131" fmla="*/ 529835 w 694935"/>
              <a:gd name="connsiteY131" fmla="*/ 190500 h 381009"/>
              <a:gd name="connsiteX132" fmla="*/ 529835 w 694935"/>
              <a:gd name="connsiteY132" fmla="*/ 196850 h 38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</a:cxnLst>
            <a:rect l="l" t="t" r="r" b="b"/>
            <a:pathLst>
              <a:path w="694935" h="381009">
                <a:moveTo>
                  <a:pt x="136135" y="171450"/>
                </a:moveTo>
                <a:lnTo>
                  <a:pt x="523485" y="177800"/>
                </a:lnTo>
                <a:cubicBezTo>
                  <a:pt x="530165" y="178231"/>
                  <a:pt x="532321" y="190635"/>
                  <a:pt x="529835" y="196850"/>
                </a:cubicBezTo>
                <a:cubicBezTo>
                  <a:pt x="527001" y="203936"/>
                  <a:pt x="517135" y="205317"/>
                  <a:pt x="510785" y="209550"/>
                </a:cubicBezTo>
                <a:cubicBezTo>
                  <a:pt x="393620" y="206295"/>
                  <a:pt x="342382" y="221306"/>
                  <a:pt x="256785" y="196850"/>
                </a:cubicBezTo>
                <a:cubicBezTo>
                  <a:pt x="250349" y="195011"/>
                  <a:pt x="244085" y="192617"/>
                  <a:pt x="237735" y="190500"/>
                </a:cubicBezTo>
                <a:cubicBezTo>
                  <a:pt x="227152" y="192617"/>
                  <a:pt x="209775" y="186744"/>
                  <a:pt x="205985" y="196850"/>
                </a:cubicBezTo>
                <a:cubicBezTo>
                  <a:pt x="187952" y="244938"/>
                  <a:pt x="227177" y="242998"/>
                  <a:pt x="250435" y="247650"/>
                </a:cubicBezTo>
                <a:cubicBezTo>
                  <a:pt x="320285" y="245533"/>
                  <a:pt x="390344" y="247103"/>
                  <a:pt x="459985" y="241300"/>
                </a:cubicBezTo>
                <a:cubicBezTo>
                  <a:pt x="467590" y="240666"/>
                  <a:pt x="474802" y="234950"/>
                  <a:pt x="479035" y="228600"/>
                </a:cubicBezTo>
                <a:cubicBezTo>
                  <a:pt x="483876" y="221338"/>
                  <a:pt x="483268" y="211667"/>
                  <a:pt x="485385" y="203200"/>
                </a:cubicBezTo>
                <a:cubicBezTo>
                  <a:pt x="483268" y="182033"/>
                  <a:pt x="483818" y="160427"/>
                  <a:pt x="479035" y="139700"/>
                </a:cubicBezTo>
                <a:cubicBezTo>
                  <a:pt x="473800" y="117017"/>
                  <a:pt x="463771" y="121365"/>
                  <a:pt x="447285" y="114300"/>
                </a:cubicBezTo>
                <a:cubicBezTo>
                  <a:pt x="438584" y="110571"/>
                  <a:pt x="430352" y="105833"/>
                  <a:pt x="421885" y="101600"/>
                </a:cubicBezTo>
                <a:cubicBezTo>
                  <a:pt x="398602" y="103717"/>
                  <a:pt x="375179" y="104644"/>
                  <a:pt x="352035" y="107950"/>
                </a:cubicBezTo>
                <a:cubicBezTo>
                  <a:pt x="345409" y="108897"/>
                  <a:pt x="338212" y="110119"/>
                  <a:pt x="332985" y="114300"/>
                </a:cubicBezTo>
                <a:cubicBezTo>
                  <a:pt x="327026" y="119068"/>
                  <a:pt x="326028" y="128324"/>
                  <a:pt x="320285" y="133350"/>
                </a:cubicBezTo>
                <a:cubicBezTo>
                  <a:pt x="308798" y="143401"/>
                  <a:pt x="294885" y="150283"/>
                  <a:pt x="282185" y="158750"/>
                </a:cubicBezTo>
                <a:cubicBezTo>
                  <a:pt x="275835" y="162983"/>
                  <a:pt x="270375" y="169037"/>
                  <a:pt x="263135" y="171450"/>
                </a:cubicBezTo>
                <a:cubicBezTo>
                  <a:pt x="217460" y="186675"/>
                  <a:pt x="274499" y="168203"/>
                  <a:pt x="218685" y="184150"/>
                </a:cubicBezTo>
                <a:cubicBezTo>
                  <a:pt x="212249" y="185989"/>
                  <a:pt x="206071" y="188661"/>
                  <a:pt x="199635" y="190500"/>
                </a:cubicBezTo>
                <a:cubicBezTo>
                  <a:pt x="191244" y="192898"/>
                  <a:pt x="182626" y="194452"/>
                  <a:pt x="174235" y="196850"/>
                </a:cubicBezTo>
                <a:cubicBezTo>
                  <a:pt x="167799" y="198689"/>
                  <a:pt x="161679" y="201577"/>
                  <a:pt x="155185" y="203200"/>
                </a:cubicBezTo>
                <a:cubicBezTo>
                  <a:pt x="144714" y="205818"/>
                  <a:pt x="133952" y="207123"/>
                  <a:pt x="123435" y="209550"/>
                </a:cubicBezTo>
                <a:cubicBezTo>
                  <a:pt x="106428" y="213475"/>
                  <a:pt x="72635" y="222250"/>
                  <a:pt x="72635" y="222250"/>
                </a:cubicBezTo>
                <a:lnTo>
                  <a:pt x="2785" y="215900"/>
                </a:lnTo>
                <a:cubicBezTo>
                  <a:pt x="-5021" y="211997"/>
                  <a:pt x="5697" y="198522"/>
                  <a:pt x="9135" y="190500"/>
                </a:cubicBezTo>
                <a:cubicBezTo>
                  <a:pt x="12141" y="183485"/>
                  <a:pt x="15876" y="176218"/>
                  <a:pt x="21835" y="171450"/>
                </a:cubicBezTo>
                <a:cubicBezTo>
                  <a:pt x="25976" y="168137"/>
                  <a:pt x="64626" y="159165"/>
                  <a:pt x="66285" y="158750"/>
                </a:cubicBezTo>
                <a:cubicBezTo>
                  <a:pt x="98035" y="162983"/>
                  <a:pt x="129940" y="166184"/>
                  <a:pt x="161535" y="171450"/>
                </a:cubicBezTo>
                <a:cubicBezTo>
                  <a:pt x="183921" y="175181"/>
                  <a:pt x="207544" y="194915"/>
                  <a:pt x="225035" y="203200"/>
                </a:cubicBezTo>
                <a:cubicBezTo>
                  <a:pt x="249903" y="214980"/>
                  <a:pt x="275130" y="226248"/>
                  <a:pt x="301235" y="234950"/>
                </a:cubicBezTo>
                <a:cubicBezTo>
                  <a:pt x="307585" y="237067"/>
                  <a:pt x="314191" y="238530"/>
                  <a:pt x="320285" y="241300"/>
                </a:cubicBezTo>
                <a:cubicBezTo>
                  <a:pt x="337520" y="249134"/>
                  <a:pt x="355333" y="256198"/>
                  <a:pt x="371085" y="266700"/>
                </a:cubicBezTo>
                <a:cubicBezTo>
                  <a:pt x="377435" y="270933"/>
                  <a:pt x="383309" y="275987"/>
                  <a:pt x="390135" y="279400"/>
                </a:cubicBezTo>
                <a:cubicBezTo>
                  <a:pt x="396122" y="282393"/>
                  <a:pt x="403033" y="283113"/>
                  <a:pt x="409185" y="285750"/>
                </a:cubicBezTo>
                <a:cubicBezTo>
                  <a:pt x="417886" y="289479"/>
                  <a:pt x="426118" y="294217"/>
                  <a:pt x="434585" y="298450"/>
                </a:cubicBezTo>
                <a:cubicBezTo>
                  <a:pt x="541639" y="294997"/>
                  <a:pt x="664602" y="356321"/>
                  <a:pt x="625085" y="247650"/>
                </a:cubicBezTo>
                <a:cubicBezTo>
                  <a:pt x="618510" y="229569"/>
                  <a:pt x="602543" y="218440"/>
                  <a:pt x="586985" y="209550"/>
                </a:cubicBezTo>
                <a:cubicBezTo>
                  <a:pt x="578766" y="204854"/>
                  <a:pt x="570286" y="200579"/>
                  <a:pt x="561585" y="196850"/>
                </a:cubicBezTo>
                <a:cubicBezTo>
                  <a:pt x="550994" y="192311"/>
                  <a:pt x="527205" y="186164"/>
                  <a:pt x="517135" y="184150"/>
                </a:cubicBezTo>
                <a:cubicBezTo>
                  <a:pt x="504510" y="181625"/>
                  <a:pt x="491526" y="180923"/>
                  <a:pt x="479035" y="177800"/>
                </a:cubicBezTo>
                <a:cubicBezTo>
                  <a:pt x="466048" y="174553"/>
                  <a:pt x="453635" y="169333"/>
                  <a:pt x="440935" y="165100"/>
                </a:cubicBezTo>
                <a:cubicBezTo>
                  <a:pt x="434585" y="162983"/>
                  <a:pt x="427872" y="161743"/>
                  <a:pt x="421885" y="158750"/>
                </a:cubicBezTo>
                <a:cubicBezTo>
                  <a:pt x="413418" y="154517"/>
                  <a:pt x="404602" y="150920"/>
                  <a:pt x="396485" y="146050"/>
                </a:cubicBezTo>
                <a:cubicBezTo>
                  <a:pt x="383397" y="138197"/>
                  <a:pt x="372865" y="125477"/>
                  <a:pt x="358385" y="120650"/>
                </a:cubicBezTo>
                <a:lnTo>
                  <a:pt x="320285" y="107950"/>
                </a:lnTo>
                <a:cubicBezTo>
                  <a:pt x="290652" y="110067"/>
                  <a:pt x="260890" y="110829"/>
                  <a:pt x="231385" y="114300"/>
                </a:cubicBezTo>
                <a:cubicBezTo>
                  <a:pt x="224737" y="115082"/>
                  <a:pt x="217068" y="115917"/>
                  <a:pt x="212335" y="120650"/>
                </a:cubicBezTo>
                <a:cubicBezTo>
                  <a:pt x="201542" y="131443"/>
                  <a:pt x="195402" y="146050"/>
                  <a:pt x="186935" y="158750"/>
                </a:cubicBezTo>
                <a:cubicBezTo>
                  <a:pt x="182702" y="165100"/>
                  <a:pt x="176648" y="170560"/>
                  <a:pt x="174235" y="177800"/>
                </a:cubicBezTo>
                <a:cubicBezTo>
                  <a:pt x="172118" y="184150"/>
                  <a:pt x="171136" y="190999"/>
                  <a:pt x="167885" y="196850"/>
                </a:cubicBezTo>
                <a:cubicBezTo>
                  <a:pt x="131494" y="262354"/>
                  <a:pt x="150503" y="210895"/>
                  <a:pt x="136135" y="254000"/>
                </a:cubicBezTo>
                <a:cubicBezTo>
                  <a:pt x="138252" y="262467"/>
                  <a:pt x="136898" y="272696"/>
                  <a:pt x="142485" y="279400"/>
                </a:cubicBezTo>
                <a:cubicBezTo>
                  <a:pt x="148545" y="286672"/>
                  <a:pt x="158905" y="289107"/>
                  <a:pt x="167885" y="292100"/>
                </a:cubicBezTo>
                <a:cubicBezTo>
                  <a:pt x="184444" y="297620"/>
                  <a:pt x="201846" y="300207"/>
                  <a:pt x="218685" y="304800"/>
                </a:cubicBezTo>
                <a:cubicBezTo>
                  <a:pt x="225143" y="306561"/>
                  <a:pt x="231385" y="309033"/>
                  <a:pt x="237735" y="311150"/>
                </a:cubicBezTo>
                <a:cubicBezTo>
                  <a:pt x="309702" y="309033"/>
                  <a:pt x="381737" y="308584"/>
                  <a:pt x="453635" y="304800"/>
                </a:cubicBezTo>
                <a:cubicBezTo>
                  <a:pt x="462350" y="304341"/>
                  <a:pt x="470308" y="298450"/>
                  <a:pt x="479035" y="298450"/>
                </a:cubicBezTo>
                <a:cubicBezTo>
                  <a:pt x="506633" y="298450"/>
                  <a:pt x="534068" y="302683"/>
                  <a:pt x="561585" y="304800"/>
                </a:cubicBezTo>
                <a:cubicBezTo>
                  <a:pt x="569776" y="310260"/>
                  <a:pt x="596809" y="326484"/>
                  <a:pt x="599685" y="336550"/>
                </a:cubicBezTo>
                <a:cubicBezTo>
                  <a:pt x="602083" y="344941"/>
                  <a:pt x="595452" y="353483"/>
                  <a:pt x="593335" y="361950"/>
                </a:cubicBezTo>
                <a:cubicBezTo>
                  <a:pt x="553118" y="359833"/>
                  <a:pt x="512619" y="360809"/>
                  <a:pt x="472685" y="355600"/>
                </a:cubicBezTo>
                <a:cubicBezTo>
                  <a:pt x="463298" y="354376"/>
                  <a:pt x="456352" y="345620"/>
                  <a:pt x="447285" y="342900"/>
                </a:cubicBezTo>
                <a:cubicBezTo>
                  <a:pt x="434953" y="339200"/>
                  <a:pt x="421931" y="338371"/>
                  <a:pt x="409185" y="336550"/>
                </a:cubicBezTo>
                <a:cubicBezTo>
                  <a:pt x="357865" y="329219"/>
                  <a:pt x="354568" y="330517"/>
                  <a:pt x="301235" y="323850"/>
                </a:cubicBezTo>
                <a:cubicBezTo>
                  <a:pt x="286383" y="321994"/>
                  <a:pt x="271511" y="320177"/>
                  <a:pt x="256785" y="317500"/>
                </a:cubicBezTo>
                <a:cubicBezTo>
                  <a:pt x="235672" y="313661"/>
                  <a:pt x="213167" y="305077"/>
                  <a:pt x="193285" y="298450"/>
                </a:cubicBezTo>
                <a:lnTo>
                  <a:pt x="174235" y="292100"/>
                </a:lnTo>
                <a:lnTo>
                  <a:pt x="155185" y="285750"/>
                </a:lnTo>
                <a:cubicBezTo>
                  <a:pt x="126584" y="288610"/>
                  <a:pt x="85335" y="273227"/>
                  <a:pt x="85335" y="311150"/>
                </a:cubicBezTo>
                <a:cubicBezTo>
                  <a:pt x="85335" y="330317"/>
                  <a:pt x="79548" y="353465"/>
                  <a:pt x="91685" y="368300"/>
                </a:cubicBezTo>
                <a:cubicBezTo>
                  <a:pt x="102738" y="381809"/>
                  <a:pt x="142485" y="381000"/>
                  <a:pt x="142485" y="381000"/>
                </a:cubicBezTo>
                <a:cubicBezTo>
                  <a:pt x="214452" y="378883"/>
                  <a:pt x="286492" y="378536"/>
                  <a:pt x="358385" y="374650"/>
                </a:cubicBezTo>
                <a:cubicBezTo>
                  <a:pt x="365069" y="374289"/>
                  <a:pt x="371448" y="371293"/>
                  <a:pt x="377435" y="368300"/>
                </a:cubicBezTo>
                <a:cubicBezTo>
                  <a:pt x="388474" y="362780"/>
                  <a:pt x="398719" y="355791"/>
                  <a:pt x="409185" y="349250"/>
                </a:cubicBezTo>
                <a:cubicBezTo>
                  <a:pt x="415657" y="345205"/>
                  <a:pt x="421220" y="339556"/>
                  <a:pt x="428235" y="336550"/>
                </a:cubicBezTo>
                <a:cubicBezTo>
                  <a:pt x="456719" y="324343"/>
                  <a:pt x="447971" y="336207"/>
                  <a:pt x="472685" y="323850"/>
                </a:cubicBezTo>
                <a:cubicBezTo>
                  <a:pt x="479511" y="320437"/>
                  <a:pt x="484909" y="314563"/>
                  <a:pt x="491735" y="311150"/>
                </a:cubicBezTo>
                <a:cubicBezTo>
                  <a:pt x="504752" y="304641"/>
                  <a:pt x="530459" y="300865"/>
                  <a:pt x="542535" y="298450"/>
                </a:cubicBezTo>
                <a:cubicBezTo>
                  <a:pt x="552132" y="260063"/>
                  <a:pt x="546125" y="281329"/>
                  <a:pt x="561585" y="234950"/>
                </a:cubicBezTo>
                <a:lnTo>
                  <a:pt x="567935" y="215900"/>
                </a:lnTo>
                <a:cubicBezTo>
                  <a:pt x="460148" y="144042"/>
                  <a:pt x="565684" y="209465"/>
                  <a:pt x="231385" y="196850"/>
                </a:cubicBezTo>
                <a:cubicBezTo>
                  <a:pt x="224696" y="196598"/>
                  <a:pt x="218793" y="192261"/>
                  <a:pt x="212335" y="190500"/>
                </a:cubicBezTo>
                <a:cubicBezTo>
                  <a:pt x="195496" y="185907"/>
                  <a:pt x="161535" y="177800"/>
                  <a:pt x="161535" y="177800"/>
                </a:cubicBezTo>
                <a:cubicBezTo>
                  <a:pt x="155185" y="173567"/>
                  <a:pt x="149311" y="168513"/>
                  <a:pt x="142485" y="165100"/>
                </a:cubicBezTo>
                <a:cubicBezTo>
                  <a:pt x="132335" y="160025"/>
                  <a:pt x="107530" y="155113"/>
                  <a:pt x="98035" y="152400"/>
                </a:cubicBezTo>
                <a:cubicBezTo>
                  <a:pt x="91599" y="150561"/>
                  <a:pt x="84972" y="149043"/>
                  <a:pt x="78985" y="146050"/>
                </a:cubicBezTo>
                <a:cubicBezTo>
                  <a:pt x="72159" y="142637"/>
                  <a:pt x="66285" y="137583"/>
                  <a:pt x="59935" y="133350"/>
                </a:cubicBezTo>
                <a:cubicBezTo>
                  <a:pt x="62052" y="116417"/>
                  <a:pt x="60545" y="98621"/>
                  <a:pt x="66285" y="82550"/>
                </a:cubicBezTo>
                <a:cubicBezTo>
                  <a:pt x="71419" y="68176"/>
                  <a:pt x="83218" y="57150"/>
                  <a:pt x="91685" y="44450"/>
                </a:cubicBezTo>
                <a:cubicBezTo>
                  <a:pt x="110256" y="16594"/>
                  <a:pt x="99806" y="31505"/>
                  <a:pt x="123435" y="0"/>
                </a:cubicBezTo>
                <a:cubicBezTo>
                  <a:pt x="144602" y="2117"/>
                  <a:pt x="166228" y="1478"/>
                  <a:pt x="186935" y="6350"/>
                </a:cubicBezTo>
                <a:cubicBezTo>
                  <a:pt x="227224" y="15830"/>
                  <a:pt x="224519" y="26000"/>
                  <a:pt x="256785" y="38100"/>
                </a:cubicBezTo>
                <a:cubicBezTo>
                  <a:pt x="264957" y="41164"/>
                  <a:pt x="273906" y="41690"/>
                  <a:pt x="282185" y="44450"/>
                </a:cubicBezTo>
                <a:cubicBezTo>
                  <a:pt x="292999" y="48055"/>
                  <a:pt x="303121" y="53545"/>
                  <a:pt x="313935" y="57150"/>
                </a:cubicBezTo>
                <a:cubicBezTo>
                  <a:pt x="322214" y="59910"/>
                  <a:pt x="331163" y="60436"/>
                  <a:pt x="339335" y="63500"/>
                </a:cubicBezTo>
                <a:cubicBezTo>
                  <a:pt x="348198" y="66824"/>
                  <a:pt x="356034" y="72471"/>
                  <a:pt x="364735" y="76200"/>
                </a:cubicBezTo>
                <a:cubicBezTo>
                  <a:pt x="381333" y="83313"/>
                  <a:pt x="391283" y="83529"/>
                  <a:pt x="409185" y="88900"/>
                </a:cubicBezTo>
                <a:cubicBezTo>
                  <a:pt x="422007" y="92747"/>
                  <a:pt x="434585" y="97367"/>
                  <a:pt x="447285" y="101600"/>
                </a:cubicBezTo>
                <a:cubicBezTo>
                  <a:pt x="453635" y="103717"/>
                  <a:pt x="459771" y="106637"/>
                  <a:pt x="466335" y="107950"/>
                </a:cubicBezTo>
                <a:lnTo>
                  <a:pt x="498085" y="114300"/>
                </a:lnTo>
                <a:cubicBezTo>
                  <a:pt x="531952" y="112183"/>
                  <a:pt x="566480" y="114941"/>
                  <a:pt x="599685" y="107950"/>
                </a:cubicBezTo>
                <a:cubicBezTo>
                  <a:pt x="608473" y="106100"/>
                  <a:pt x="623355" y="96601"/>
                  <a:pt x="618735" y="88900"/>
                </a:cubicBezTo>
                <a:cubicBezTo>
                  <a:pt x="611847" y="77421"/>
                  <a:pt x="593335" y="80433"/>
                  <a:pt x="580635" y="76200"/>
                </a:cubicBezTo>
                <a:cubicBezTo>
                  <a:pt x="555235" y="78317"/>
                  <a:pt x="529699" y="79181"/>
                  <a:pt x="504435" y="82550"/>
                </a:cubicBezTo>
                <a:cubicBezTo>
                  <a:pt x="497800" y="83435"/>
                  <a:pt x="490118" y="84167"/>
                  <a:pt x="485385" y="88900"/>
                </a:cubicBezTo>
                <a:cubicBezTo>
                  <a:pt x="480652" y="93633"/>
                  <a:pt x="482028" y="101963"/>
                  <a:pt x="479035" y="107950"/>
                </a:cubicBezTo>
                <a:cubicBezTo>
                  <a:pt x="475622" y="114776"/>
                  <a:pt x="471221" y="121137"/>
                  <a:pt x="466335" y="127000"/>
                </a:cubicBezTo>
                <a:cubicBezTo>
                  <a:pt x="452760" y="143290"/>
                  <a:pt x="439197" y="152734"/>
                  <a:pt x="421885" y="165100"/>
                </a:cubicBezTo>
                <a:cubicBezTo>
                  <a:pt x="415675" y="169536"/>
                  <a:pt x="409850" y="174794"/>
                  <a:pt x="402835" y="177800"/>
                </a:cubicBezTo>
                <a:cubicBezTo>
                  <a:pt x="394813" y="181238"/>
                  <a:pt x="385826" y="181752"/>
                  <a:pt x="377435" y="184150"/>
                </a:cubicBezTo>
                <a:cubicBezTo>
                  <a:pt x="370999" y="185989"/>
                  <a:pt x="364907" y="188995"/>
                  <a:pt x="358385" y="190500"/>
                </a:cubicBezTo>
                <a:cubicBezTo>
                  <a:pt x="263473" y="212403"/>
                  <a:pt x="273007" y="204112"/>
                  <a:pt x="142485" y="209550"/>
                </a:cubicBezTo>
                <a:lnTo>
                  <a:pt x="104385" y="222250"/>
                </a:lnTo>
                <a:lnTo>
                  <a:pt x="85335" y="228600"/>
                </a:lnTo>
                <a:cubicBezTo>
                  <a:pt x="72635" y="241300"/>
                  <a:pt x="62179" y="256737"/>
                  <a:pt x="47235" y="266700"/>
                </a:cubicBezTo>
                <a:lnTo>
                  <a:pt x="9135" y="292100"/>
                </a:lnTo>
                <a:cubicBezTo>
                  <a:pt x="55514" y="307560"/>
                  <a:pt x="34248" y="301553"/>
                  <a:pt x="72635" y="311150"/>
                </a:cubicBezTo>
                <a:lnTo>
                  <a:pt x="434585" y="304800"/>
                </a:lnTo>
                <a:cubicBezTo>
                  <a:pt x="451642" y="304275"/>
                  <a:pt x="468595" y="301503"/>
                  <a:pt x="485385" y="298450"/>
                </a:cubicBezTo>
                <a:cubicBezTo>
                  <a:pt x="491971" y="297253"/>
                  <a:pt x="497941" y="293723"/>
                  <a:pt x="504435" y="292100"/>
                </a:cubicBezTo>
                <a:cubicBezTo>
                  <a:pt x="616900" y="263984"/>
                  <a:pt x="432141" y="315477"/>
                  <a:pt x="580635" y="273050"/>
                </a:cubicBezTo>
                <a:cubicBezTo>
                  <a:pt x="586985" y="268817"/>
                  <a:pt x="592711" y="263450"/>
                  <a:pt x="599685" y="260350"/>
                </a:cubicBezTo>
                <a:lnTo>
                  <a:pt x="656835" y="241300"/>
                </a:lnTo>
                <a:lnTo>
                  <a:pt x="675885" y="234950"/>
                </a:lnTo>
                <a:lnTo>
                  <a:pt x="694935" y="228600"/>
                </a:lnTo>
                <a:cubicBezTo>
                  <a:pt x="692818" y="215900"/>
                  <a:pt x="693814" y="202265"/>
                  <a:pt x="688585" y="190500"/>
                </a:cubicBezTo>
                <a:cubicBezTo>
                  <a:pt x="684938" y="182294"/>
                  <a:pt x="676434" y="177199"/>
                  <a:pt x="669535" y="171450"/>
                </a:cubicBezTo>
                <a:cubicBezTo>
                  <a:pt x="648881" y="154238"/>
                  <a:pt x="647537" y="158160"/>
                  <a:pt x="618735" y="152400"/>
                </a:cubicBezTo>
                <a:cubicBezTo>
                  <a:pt x="599685" y="154517"/>
                  <a:pt x="580180" y="154101"/>
                  <a:pt x="561585" y="158750"/>
                </a:cubicBezTo>
                <a:cubicBezTo>
                  <a:pt x="547071" y="162379"/>
                  <a:pt x="535883" y="178405"/>
                  <a:pt x="529835" y="190500"/>
                </a:cubicBezTo>
                <a:cubicBezTo>
                  <a:pt x="528888" y="192393"/>
                  <a:pt x="529835" y="194733"/>
                  <a:pt x="529835" y="196850"/>
                </a:cubicBezTo>
              </a:path>
            </a:pathLst>
          </a:custGeom>
          <a:ln w="3175" cmpd="sng">
            <a:solidFill>
              <a:schemeClr val="tx1"/>
            </a:solidFill>
            <a:prstDash val="dot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1C152C9D-6A03-4FC3-89B8-9EC2EAE0A133}"/>
              </a:ext>
            </a:extLst>
          </p:cNvPr>
          <p:cNvCxnSpPr/>
          <p:nvPr/>
        </p:nvCxnSpPr>
        <p:spPr>
          <a:xfrm>
            <a:off x="1977739" y="4474000"/>
            <a:ext cx="102195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5D30B141-685E-4199-8422-425F98007087}"/>
                  </a:ext>
                </a:extLst>
              </p:cNvPr>
              <p:cNvSpPr txBox="1"/>
              <p:nvPr/>
            </p:nvSpPr>
            <p:spPr>
              <a:xfrm>
                <a:off x="993540" y="4136031"/>
                <a:ext cx="1077539" cy="646331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fr-FR" dirty="0"/>
                  <a:t>Lait </a:t>
                </a:r>
              </a:p>
              <a:p>
                <a:pPr algn="ctr"/>
                <a:r>
                  <a:rPr lang="fr-FR" dirty="0"/>
                  <a:t>(</a:t>
                </a:r>
                <a14:m>
                  <m:oMath xmlns:m="http://schemas.openxmlformats.org/officeDocument/2006/math">
                    <m:r>
                      <a:rPr lang="fr-FR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50 </m:t>
                    </m:r>
                    <m:r>
                      <m:rPr>
                        <m:sty m:val="p"/>
                      </m:rPr>
                      <a:rPr lang="fr-FR" b="0" i="0" smtClean="0">
                        <a:latin typeface="Cambria Math" panose="02040503050406030204" pitchFamily="18" charset="0"/>
                      </a:rPr>
                      <m:t>mL</m:t>
                    </m:r>
                  </m:oMath>
                </a14:m>
                <a:r>
                  <a:rPr lang="fr-FR" dirty="0"/>
                  <a:t>)</a:t>
                </a:r>
              </a:p>
            </p:txBody>
          </p:sp>
        </mc:Choice>
        <mc:Fallback xmlns="">
          <p:sp>
            <p:nvSpPr>
              <p:cNvPr id="27" name="ZoneTexte 26">
                <a:extLst>
                  <a:ext uri="{FF2B5EF4-FFF2-40B4-BE49-F238E27FC236}">
                    <a16:creationId xmlns:a16="http://schemas.microsoft.com/office/drawing/2014/main" id="{5D30B141-685E-4199-8422-425F980070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3540" y="4136031"/>
                <a:ext cx="1077539" cy="646331"/>
              </a:xfrm>
              <a:prstGeom prst="rect">
                <a:avLst/>
              </a:prstGeom>
              <a:blipFill>
                <a:blip r:embed="rId2"/>
                <a:stretch>
                  <a:fillRect l="-3911" t="-3670" r="-3911" b="-11927"/>
                </a:stretch>
              </a:blipFill>
              <a:ln>
                <a:solidFill>
                  <a:schemeClr val="accent2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Flèche : courbe vers le bas 27">
            <a:extLst>
              <a:ext uri="{FF2B5EF4-FFF2-40B4-BE49-F238E27FC236}">
                <a16:creationId xmlns:a16="http://schemas.microsoft.com/office/drawing/2014/main" id="{24543874-E075-4AB5-A25C-6766F63F0C0C}"/>
              </a:ext>
            </a:extLst>
          </p:cNvPr>
          <p:cNvSpPr/>
          <p:nvPr/>
        </p:nvSpPr>
        <p:spPr>
          <a:xfrm>
            <a:off x="3326604" y="2774455"/>
            <a:ext cx="2769395" cy="549694"/>
          </a:xfrm>
          <a:prstGeom prst="curvedDownArrow">
            <a:avLst>
              <a:gd name="adj1" fmla="val 25000"/>
              <a:gd name="adj2" fmla="val 49986"/>
              <a:gd name="adj3" fmla="val 23823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8A4A0AE1-B473-4C10-A19D-1822C7E54297}"/>
              </a:ext>
            </a:extLst>
          </p:cNvPr>
          <p:cNvSpPr txBox="1"/>
          <p:nvPr/>
        </p:nvSpPr>
        <p:spPr>
          <a:xfrm>
            <a:off x="3590020" y="2032904"/>
            <a:ext cx="2123658" cy="646331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Acide acétique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/>
              <a:t>Chauffage à 40 °C</a:t>
            </a:r>
          </a:p>
        </p:txBody>
      </p:sp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655D1F6D-7054-4588-A361-F1C9B31698E9}"/>
              </a:ext>
            </a:extLst>
          </p:cNvPr>
          <p:cNvSpPr/>
          <p:nvPr/>
        </p:nvSpPr>
        <p:spPr>
          <a:xfrm>
            <a:off x="7153275" y="3719419"/>
            <a:ext cx="1247775" cy="496342"/>
          </a:xfrm>
          <a:prstGeom prst="rightArrow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01BBEDB-E08A-4251-B2A3-C41E4C59A0F2}"/>
              </a:ext>
            </a:extLst>
          </p:cNvPr>
          <p:cNvSpPr txBox="1"/>
          <p:nvPr/>
        </p:nvSpPr>
        <p:spPr>
          <a:xfrm>
            <a:off x="8629649" y="3644424"/>
            <a:ext cx="2526031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/>
              <a:t>Essorage pour récupérer la caséine précipitée</a:t>
            </a:r>
          </a:p>
        </p:txBody>
      </p:sp>
      <p:sp>
        <p:nvSpPr>
          <p:cNvPr id="14" name="Espace réservé du numéro de diapositive 13">
            <a:extLst>
              <a:ext uri="{FF2B5EF4-FFF2-40B4-BE49-F238E27FC236}">
                <a16:creationId xmlns:a16="http://schemas.microsoft.com/office/drawing/2014/main" id="{F700377A-BF6D-453C-B82B-006972E7D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0BF15-B7D3-4BB6-885E-A86938A92F98}" type="slidenum">
              <a:rPr lang="fr-FR" sz="1800" smtClean="0"/>
              <a:t>10</a:t>
            </a:fld>
            <a:endParaRPr lang="fr-FR" sz="1800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42F4DD1-70EC-4787-B717-0F3487C7F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HUGO ROUSSILLE</a:t>
            </a:r>
          </a:p>
        </p:txBody>
      </p:sp>
    </p:spTree>
    <p:extLst>
      <p:ext uri="{BB962C8B-B14F-4D97-AF65-F5344CB8AC3E}">
        <p14:creationId xmlns:p14="http://schemas.microsoft.com/office/powerpoint/2010/main" val="1515449115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Rétrospective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182</TotalTime>
  <Words>247</Words>
  <Application>Microsoft Office PowerPoint</Application>
  <PresentationFormat>Grand écran</PresentationFormat>
  <Paragraphs>99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Rétrospective</vt:lpstr>
      <vt:lpstr>Chimie durable</vt:lpstr>
      <vt:lpstr>Chimie et développement durable</vt:lpstr>
      <vt:lpstr>Les 12 principes de la chimie verte</vt:lpstr>
      <vt:lpstr>Synthèse sans solvant de la chalcone</vt:lpstr>
      <vt:lpstr>Présentation PowerPoint</vt:lpstr>
      <vt:lpstr>Procédé BHC</vt:lpstr>
      <vt:lpstr>Synthèse micro-ondes / classique</vt:lpstr>
      <vt:lpstr>Spectre IR</vt:lpstr>
      <vt:lpstr>Caséine</vt:lpstr>
      <vt:lpstr>Extraction de la caséine du lait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Chimie durable</dc:title>
  <dc:creator>Hugo Roussille</dc:creator>
  <cp:lastModifiedBy>Hugo Roussille</cp:lastModifiedBy>
  <cp:revision>17</cp:revision>
  <dcterms:created xsi:type="dcterms:W3CDTF">2019-04-06T14:18:31Z</dcterms:created>
  <dcterms:modified xsi:type="dcterms:W3CDTF">2019-06-25T20:40:10Z</dcterms:modified>
</cp:coreProperties>
</file>