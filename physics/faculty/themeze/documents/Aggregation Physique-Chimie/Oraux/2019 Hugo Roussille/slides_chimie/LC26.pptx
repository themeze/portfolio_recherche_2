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0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2" autoAdjust="0"/>
    <p:restoredTop sz="94660"/>
  </p:normalViewPr>
  <p:slideViewPr>
    <p:cSldViewPr snapToGrid="0">
      <p:cViewPr varScale="1">
        <p:scale>
          <a:sx n="90" d="100"/>
          <a:sy n="90" d="100"/>
        </p:scale>
        <p:origin x="84" y="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F2F01C-BC14-4F81-87AE-D5D26E359E8E}" type="datetimeFigureOut">
              <a:rPr lang="fr-FR" smtClean="0"/>
              <a:t>16/06/2019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89472F-C389-4AF2-BA24-C1FF8F94A6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3886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B33F-87D8-4BFE-BCBF-731AD622E09E}" type="datetime1">
              <a:rPr lang="fr-FR" smtClean="0"/>
              <a:t>16/06/2019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2752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FEB24-1155-4371-B688-DDAD01CF823D}" type="datetime1">
              <a:rPr lang="fr-FR" smtClean="0"/>
              <a:t>16/06/2019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6835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147B3-5A91-453A-92FD-677E850FA3A5}" type="datetime1">
              <a:rPr lang="fr-FR" smtClean="0"/>
              <a:t>16/06/2019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9028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6843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460206"/>
            <a:ext cx="4937760" cy="44088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460205"/>
            <a:ext cx="4937760" cy="44088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0384B-D365-439B-B9FB-A10B3FA0B79A}" type="datetime1">
              <a:rPr lang="fr-FR" smtClean="0"/>
              <a:t>16/06/2019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7803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77B8B-BEB2-49C1-8BB4-8D396D554AA6}" type="datetime1">
              <a:rPr lang="fr-FR" smtClean="0"/>
              <a:t>16/06/2019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1322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53237-6937-4077-8416-FFF866A41361}" type="datetime1">
              <a:rPr lang="fr-FR" smtClean="0"/>
              <a:t>16/06/2019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9822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CE37A-26D6-4DCD-AF35-3F127425D5BF}" type="datetime1">
              <a:rPr lang="fr-FR" smtClean="0"/>
              <a:t>16/06/2019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fr-FR"/>
              <a:t>HUGO ROUSSILLE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055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F45A67E-4DF6-4C8F-B8DA-2D1171F57B74}" type="datetime1">
              <a:rPr lang="fr-FR" smtClean="0"/>
              <a:t>16/06/2019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0199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4F725-0123-4CE3-85B9-619490EE40F6}" type="datetime1">
              <a:rPr lang="fr-FR" smtClean="0"/>
              <a:t>16/06/2019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025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CC754-28B9-41E4-AE10-BE433397311B}" type="datetime1">
              <a:rPr lang="fr-FR" smtClean="0"/>
              <a:t>16/06/2019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9337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A81CE-1004-4FD8-A91E-F417EDBE9258}" type="datetime1">
              <a:rPr lang="fr-FR" smtClean="0"/>
              <a:t>16/06/2019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9712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172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28237"/>
            <a:ext cx="10058400" cy="444085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63DEDF1-3E42-46F1-803C-3F81A5B34212}" type="datetime1">
              <a:rPr lang="fr-FR" smtClean="0"/>
              <a:t>16/06/2019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88720" y="1369251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468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f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A20284-6E28-4815-81F6-68D3A0402E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Corrosion humide </a:t>
            </a:r>
            <a:r>
              <a:rPr lang="fr-FR"/>
              <a:t>des métaux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CEC554-AF82-49BC-9FF3-978A8522E9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AGREGATION 2019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1437BC0-A1E8-4D84-AFC7-4F650B5D1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108AC17-FBA1-49AF-9262-771D85784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3765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Différents domaines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39D1F-8E82-455D-8DC3-AF5B6BFD92DD}" type="slidenum">
              <a:rPr lang="fr-FR" smtClean="0"/>
              <a:pPr/>
              <a:t>2</a:t>
            </a:fld>
            <a:endParaRPr lang="fr-FR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6204" y="1481419"/>
            <a:ext cx="6960553" cy="4744198"/>
          </a:xfrm>
          <a:prstGeom prst="rect">
            <a:avLst/>
          </a:prstGeom>
        </p:spPr>
      </p:pic>
      <p:sp>
        <p:nvSpPr>
          <p:cNvPr id="6" name="Espace réservé du pied de page 3">
            <a:extLst>
              <a:ext uri="{FF2B5EF4-FFF2-40B4-BE49-F238E27FC236}">
                <a16:creationId xmlns:a16="http://schemas.microsoft.com/office/drawing/2014/main" id="{3BB65E33-2EEB-4FFF-AA06-578EEAB5B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93516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7EC6CE-9CBA-42E9-BE00-13C950640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Corrosion différentielle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0BDF0419-74B9-4689-94E0-7F6FA9D7A9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6963" y="1574749"/>
            <a:ext cx="10058400" cy="4148239"/>
          </a:xfrm>
          <a:prstGeom prst="rect">
            <a:avLst/>
          </a:prstGeo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055AA25-018F-48CB-9ED7-E5689B7A1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49089E9-4799-4578-A4DE-07DBDC4F6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3044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43DD1C-875D-4B16-837C-783A47B9D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Corrosion par aération différentielle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FD7C80F-C650-41E0-AE8C-CC743D989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FC3EF51-489C-4534-ACBC-A1D5C9D95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4</a:t>
            </a:fld>
            <a:endParaRPr lang="fr-FR"/>
          </a:p>
        </p:txBody>
      </p:sp>
      <p:pic>
        <p:nvPicPr>
          <p:cNvPr id="9" name="Espace réservé du contenu 8">
            <a:extLst>
              <a:ext uri="{FF2B5EF4-FFF2-40B4-BE49-F238E27FC236}">
                <a16:creationId xmlns:a16="http://schemas.microsoft.com/office/drawing/2014/main" id="{AEF51A8A-E272-4AC6-87EF-2A6D73759B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99918" y="1428750"/>
            <a:ext cx="2452489" cy="44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147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C218AC-E20D-48F5-B775-CDED300B9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Électrolyse du sulfate de zinc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B776F35-ADCB-48CB-B767-58B1C70AA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17A9DD4-B66C-44B8-8AF2-3F10A4AEC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5</a:t>
            </a:fld>
            <a:endParaRPr lang="fr-FR"/>
          </a:p>
        </p:txBody>
      </p:sp>
      <p:grpSp>
        <p:nvGrpSpPr>
          <p:cNvPr id="84" name="Groupe 83">
            <a:extLst>
              <a:ext uri="{FF2B5EF4-FFF2-40B4-BE49-F238E27FC236}">
                <a16:creationId xmlns:a16="http://schemas.microsoft.com/office/drawing/2014/main" id="{1EA06D62-C781-4D9A-B8C6-D07C7B989609}"/>
              </a:ext>
            </a:extLst>
          </p:cNvPr>
          <p:cNvGrpSpPr/>
          <p:nvPr/>
        </p:nvGrpSpPr>
        <p:grpSpPr>
          <a:xfrm>
            <a:off x="588340" y="1971277"/>
            <a:ext cx="11303193" cy="3443973"/>
            <a:chOff x="888807" y="1737360"/>
            <a:chExt cx="11303193" cy="3443973"/>
          </a:xfrm>
        </p:grpSpPr>
        <p:grpSp>
          <p:nvGrpSpPr>
            <p:cNvPr id="83" name="Groupe 82">
              <a:extLst>
                <a:ext uri="{FF2B5EF4-FFF2-40B4-BE49-F238E27FC236}">
                  <a16:creationId xmlns:a16="http://schemas.microsoft.com/office/drawing/2014/main" id="{AA871753-661F-43D5-A94A-0CDB884CF66E}"/>
                </a:ext>
              </a:extLst>
            </p:cNvPr>
            <p:cNvGrpSpPr/>
            <p:nvPr/>
          </p:nvGrpSpPr>
          <p:grpSpPr>
            <a:xfrm>
              <a:off x="2205747" y="1737360"/>
              <a:ext cx="7242301" cy="3443973"/>
              <a:chOff x="2205747" y="1737360"/>
              <a:chExt cx="7242301" cy="3443973"/>
            </a:xfrm>
          </p:grpSpPr>
          <p:grpSp>
            <p:nvGrpSpPr>
              <p:cNvPr id="26" name="Grouper 72">
                <a:extLst>
                  <a:ext uri="{FF2B5EF4-FFF2-40B4-BE49-F238E27FC236}">
                    <a16:creationId xmlns:a16="http://schemas.microsoft.com/office/drawing/2014/main" id="{4D4984B5-FF09-4622-8968-D9942120B022}"/>
                  </a:ext>
                </a:extLst>
              </p:cNvPr>
              <p:cNvGrpSpPr/>
              <p:nvPr/>
            </p:nvGrpSpPr>
            <p:grpSpPr>
              <a:xfrm>
                <a:off x="5505443" y="3375649"/>
                <a:ext cx="1054884" cy="1805684"/>
                <a:chOff x="-115156" y="-5080"/>
                <a:chExt cx="2760759" cy="1157605"/>
              </a:xfrm>
            </p:grpSpPr>
            <p:sp>
              <p:nvSpPr>
                <p:cNvPr id="70" name="Arrondir un rectangle avec un coin du même côté 116">
                  <a:extLst>
                    <a:ext uri="{FF2B5EF4-FFF2-40B4-BE49-F238E27FC236}">
                      <a16:creationId xmlns:a16="http://schemas.microsoft.com/office/drawing/2014/main" id="{A95F1509-035A-4BB8-B0AA-1832A3EC5F73}"/>
                    </a:ext>
                  </a:extLst>
                </p:cNvPr>
                <p:cNvSpPr/>
                <p:nvPr/>
              </p:nvSpPr>
              <p:spPr>
                <a:xfrm rot="10800000" flipH="1">
                  <a:off x="0" y="352425"/>
                  <a:ext cx="2573020" cy="800100"/>
                </a:xfrm>
                <a:prstGeom prst="round2SameRect">
                  <a:avLst/>
                </a:prstGeom>
                <a:noFill/>
                <a:ln w="12700" cmpd="sng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71" name="Arrondir un rectangle avec un coin du même côté 117">
                  <a:extLst>
                    <a:ext uri="{FF2B5EF4-FFF2-40B4-BE49-F238E27FC236}">
                      <a16:creationId xmlns:a16="http://schemas.microsoft.com/office/drawing/2014/main" id="{81794458-2DBB-449E-A2BF-E68415D9815C}"/>
                    </a:ext>
                  </a:extLst>
                </p:cNvPr>
                <p:cNvSpPr/>
                <p:nvPr/>
              </p:nvSpPr>
              <p:spPr>
                <a:xfrm rot="10800000" flipH="1">
                  <a:off x="0" y="544195"/>
                  <a:ext cx="2573020" cy="607695"/>
                </a:xfrm>
                <a:prstGeom prst="round2SameRect">
                  <a:avLst/>
                </a:prstGeom>
                <a:no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43466F99-040E-44F7-89D4-DF242C33C02D}"/>
                    </a:ext>
                  </a:extLst>
                </p:cNvPr>
                <p:cNvSpPr/>
                <p:nvPr/>
              </p:nvSpPr>
              <p:spPr>
                <a:xfrm flipH="1" flipV="1">
                  <a:off x="0" y="328295"/>
                  <a:ext cx="2573020" cy="4508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bg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73" name="Parallélogramme 72">
                  <a:extLst>
                    <a:ext uri="{FF2B5EF4-FFF2-40B4-BE49-F238E27FC236}">
                      <a16:creationId xmlns:a16="http://schemas.microsoft.com/office/drawing/2014/main" id="{2560E3E2-5BCE-4052-BC5B-1479A77378C8}"/>
                    </a:ext>
                  </a:extLst>
                </p:cNvPr>
                <p:cNvSpPr/>
                <p:nvPr/>
              </p:nvSpPr>
              <p:spPr>
                <a:xfrm flipH="1">
                  <a:off x="-115156" y="-5080"/>
                  <a:ext cx="733430" cy="1142365"/>
                </a:xfrm>
                <a:prstGeom prst="parallelogram">
                  <a:avLst>
                    <a:gd name="adj" fmla="val 77936"/>
                  </a:avLst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74" name="Parallélogramme 73">
                  <a:extLst>
                    <a:ext uri="{FF2B5EF4-FFF2-40B4-BE49-F238E27FC236}">
                      <a16:creationId xmlns:a16="http://schemas.microsoft.com/office/drawing/2014/main" id="{A65F8169-BBE0-46A2-AC6C-D3CD647C9726}"/>
                    </a:ext>
                  </a:extLst>
                </p:cNvPr>
                <p:cNvSpPr/>
                <p:nvPr/>
              </p:nvSpPr>
              <p:spPr>
                <a:xfrm>
                  <a:off x="2007908" y="-5080"/>
                  <a:ext cx="637695" cy="1142365"/>
                </a:xfrm>
                <a:prstGeom prst="parallelogram">
                  <a:avLst>
                    <a:gd name="adj" fmla="val 72609"/>
                  </a:avLst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cxnSp>
              <p:nvCxnSpPr>
                <p:cNvPr id="75" name="Connecteur droit 74">
                  <a:extLst>
                    <a:ext uri="{FF2B5EF4-FFF2-40B4-BE49-F238E27FC236}">
                      <a16:creationId xmlns:a16="http://schemas.microsoft.com/office/drawing/2014/main" id="{AEE25C15-82D3-4D0E-8FF8-763A63D90BD7}"/>
                    </a:ext>
                  </a:extLst>
                </p:cNvPr>
                <p:cNvCxnSpPr/>
                <p:nvPr/>
              </p:nvCxnSpPr>
              <p:spPr>
                <a:xfrm>
                  <a:off x="2196465" y="543560"/>
                  <a:ext cx="376555" cy="1270"/>
                </a:xfrm>
                <a:prstGeom prst="line">
                  <a:avLst/>
                </a:prstGeom>
                <a:ln w="9525" cmpd="sng"/>
                <a:effectLst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Connecteur droit 75">
                  <a:extLst>
                    <a:ext uri="{FF2B5EF4-FFF2-40B4-BE49-F238E27FC236}">
                      <a16:creationId xmlns:a16="http://schemas.microsoft.com/office/drawing/2014/main" id="{CE1EFFCA-4E16-419A-A65F-A99B0660C9E5}"/>
                    </a:ext>
                  </a:extLst>
                </p:cNvPr>
                <p:cNvCxnSpPr/>
                <p:nvPr/>
              </p:nvCxnSpPr>
              <p:spPr>
                <a:xfrm>
                  <a:off x="0" y="544830"/>
                  <a:ext cx="376555" cy="1270"/>
                </a:xfrm>
                <a:prstGeom prst="line">
                  <a:avLst/>
                </a:prstGeom>
                <a:ln w="9525" cmpd="sng"/>
                <a:effectLst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" name="Grouper 74">
                <a:extLst>
                  <a:ext uri="{FF2B5EF4-FFF2-40B4-BE49-F238E27FC236}">
                    <a16:creationId xmlns:a16="http://schemas.microsoft.com/office/drawing/2014/main" id="{8C31349A-0401-4D19-8883-9B2D05D4CD92}"/>
                  </a:ext>
                </a:extLst>
              </p:cNvPr>
              <p:cNvGrpSpPr/>
              <p:nvPr/>
            </p:nvGrpSpPr>
            <p:grpSpPr>
              <a:xfrm>
                <a:off x="4993354" y="1737360"/>
                <a:ext cx="2093920" cy="1638289"/>
                <a:chOff x="0" y="0"/>
                <a:chExt cx="1342390" cy="1050290"/>
              </a:xfrm>
            </p:grpSpPr>
            <p:grpSp>
              <p:nvGrpSpPr>
                <p:cNvPr id="55" name="Grouper 101">
                  <a:extLst>
                    <a:ext uri="{FF2B5EF4-FFF2-40B4-BE49-F238E27FC236}">
                      <a16:creationId xmlns:a16="http://schemas.microsoft.com/office/drawing/2014/main" id="{F2D3469D-DBB4-447E-A2FA-1E1247963E70}"/>
                    </a:ext>
                  </a:extLst>
                </p:cNvPr>
                <p:cNvGrpSpPr/>
                <p:nvPr/>
              </p:nvGrpSpPr>
              <p:grpSpPr>
                <a:xfrm>
                  <a:off x="81915" y="0"/>
                  <a:ext cx="1230630" cy="741680"/>
                  <a:chOff x="0" y="0"/>
                  <a:chExt cx="1230630" cy="741680"/>
                </a:xfrm>
              </p:grpSpPr>
              <p:sp>
                <p:nvSpPr>
                  <p:cNvPr id="64" name="Ellipse 63">
                    <a:extLst>
                      <a:ext uri="{FF2B5EF4-FFF2-40B4-BE49-F238E27FC236}">
                        <a16:creationId xmlns:a16="http://schemas.microsoft.com/office/drawing/2014/main" id="{0FDC3B6B-7EE1-49C7-A805-22FBBF6F380B}"/>
                      </a:ext>
                    </a:extLst>
                  </p:cNvPr>
                  <p:cNvSpPr/>
                  <p:nvPr/>
                </p:nvSpPr>
                <p:spPr>
                  <a:xfrm>
                    <a:off x="254000" y="121920"/>
                    <a:ext cx="680720" cy="619760"/>
                  </a:xfrm>
                  <a:prstGeom prst="ellipse">
                    <a:avLst/>
                  </a:prstGeom>
                  <a:noFill/>
                  <a:ln w="19050" cmpd="sng">
                    <a:solidFill>
                      <a:srgbClr val="000000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65" name="Zone de texte 941">
                    <a:extLst>
                      <a:ext uri="{FF2B5EF4-FFF2-40B4-BE49-F238E27FC236}">
                        <a16:creationId xmlns:a16="http://schemas.microsoft.com/office/drawing/2014/main" id="{2F973E01-6031-49D2-9089-C78870110B35}"/>
                      </a:ext>
                    </a:extLst>
                  </p:cNvPr>
                  <p:cNvSpPr txBox="1"/>
                  <p:nvPr/>
                </p:nvSpPr>
                <p:spPr>
                  <a:xfrm>
                    <a:off x="934720" y="12700"/>
                    <a:ext cx="295910" cy="38544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style>
                  <a:lnRef idx="0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>
                      <a:spcAft>
                        <a:spcPts val="0"/>
                      </a:spcAft>
                    </a:pPr>
                    <a:r>
                      <a:rPr lang="fr-FR" sz="2400" dirty="0">
                        <a:solidFill>
                          <a:srgbClr val="C00000"/>
                        </a:solidFill>
                        <a:effectLst/>
                        <a:ea typeface="ＭＳ 明朝"/>
                        <a:cs typeface="Times New Roman"/>
                      </a:rPr>
                      <a:t>+</a:t>
                    </a:r>
                    <a:r>
                      <a:rPr lang="fr-FR" sz="2400" dirty="0">
                        <a:effectLst/>
                        <a:ea typeface="ＭＳ 明朝"/>
                        <a:cs typeface="Times New Roman"/>
                      </a:rPr>
                      <a:t>   </a:t>
                    </a:r>
                    <a:endParaRPr lang="fr-FR" dirty="0">
                      <a:effectLst/>
                      <a:ea typeface="ＭＳ 明朝"/>
                      <a:cs typeface="Times New Roman"/>
                    </a:endParaRPr>
                  </a:p>
                </p:txBody>
              </p:sp>
              <p:sp>
                <p:nvSpPr>
                  <p:cNvPr id="66" name="Zone de texte 942">
                    <a:extLst>
                      <a:ext uri="{FF2B5EF4-FFF2-40B4-BE49-F238E27FC236}">
                        <a16:creationId xmlns:a16="http://schemas.microsoft.com/office/drawing/2014/main" id="{48579156-978A-4EA5-A5DE-1CE69BB0BAC7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0"/>
                    <a:ext cx="306070" cy="37655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style>
                  <a:lnRef idx="0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>
                      <a:spcAft>
                        <a:spcPts val="0"/>
                      </a:spcAft>
                    </a:pPr>
                    <a:r>
                      <a:rPr lang="fr-FR" sz="2400" dirty="0">
                        <a:solidFill>
                          <a:schemeClr val="accent1"/>
                        </a:solidFill>
                        <a:effectLst/>
                        <a:ea typeface="ＭＳ 明朝"/>
                        <a:cs typeface="Times New Roman"/>
                      </a:rPr>
                      <a:t>-</a:t>
                    </a:r>
                    <a:r>
                      <a:rPr lang="fr-FR" sz="1800" dirty="0">
                        <a:effectLst/>
                        <a:ea typeface="ＭＳ 明朝"/>
                        <a:cs typeface="Times New Roman"/>
                      </a:rPr>
                      <a:t>   </a:t>
                    </a:r>
                    <a:endParaRPr lang="fr-FR" sz="1200" dirty="0">
                      <a:effectLst/>
                      <a:ea typeface="ＭＳ 明朝"/>
                      <a:cs typeface="Times New Roman"/>
                    </a:endParaRPr>
                  </a:p>
                </p:txBody>
              </p:sp>
              <p:sp>
                <p:nvSpPr>
                  <p:cNvPr id="67" name="Zone de texte 900">
                    <a:extLst>
                      <a:ext uri="{FF2B5EF4-FFF2-40B4-BE49-F238E27FC236}">
                        <a16:creationId xmlns:a16="http://schemas.microsoft.com/office/drawing/2014/main" id="{83982280-A2EC-48D5-B520-5710CA417800}"/>
                      </a:ext>
                    </a:extLst>
                  </p:cNvPr>
                  <p:cNvSpPr txBox="1"/>
                  <p:nvPr/>
                </p:nvSpPr>
                <p:spPr>
                  <a:xfrm>
                    <a:off x="415290" y="207010"/>
                    <a:ext cx="371475" cy="41084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style>
                  <a:lnRef idx="0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spcAft>
                        <a:spcPts val="0"/>
                      </a:spcAft>
                    </a:pPr>
                    <a:r>
                      <a:rPr lang="fr-FR" sz="3200" dirty="0">
                        <a:effectLst/>
                        <a:ea typeface="ＭＳ 明朝"/>
                        <a:cs typeface="Times New Roman"/>
                      </a:rPr>
                      <a:t>G</a:t>
                    </a:r>
                    <a:endParaRPr lang="fr-FR" dirty="0">
                      <a:effectLst/>
                      <a:ea typeface="ＭＳ 明朝"/>
                      <a:cs typeface="Times New Roman"/>
                    </a:endParaRPr>
                  </a:p>
                </p:txBody>
              </p:sp>
            </p:grpSp>
            <p:grpSp>
              <p:nvGrpSpPr>
                <p:cNvPr id="56" name="Grouper 102">
                  <a:extLst>
                    <a:ext uri="{FF2B5EF4-FFF2-40B4-BE49-F238E27FC236}">
                      <a16:creationId xmlns:a16="http://schemas.microsoft.com/office/drawing/2014/main" id="{D37F8ECB-B96C-4C68-ABC8-32EC4D0A6462}"/>
                    </a:ext>
                  </a:extLst>
                </p:cNvPr>
                <p:cNvGrpSpPr/>
                <p:nvPr/>
              </p:nvGrpSpPr>
              <p:grpSpPr>
                <a:xfrm>
                  <a:off x="0" y="467995"/>
                  <a:ext cx="337820" cy="582295"/>
                  <a:chOff x="0" y="0"/>
                  <a:chExt cx="337820" cy="582295"/>
                </a:xfrm>
              </p:grpSpPr>
              <p:cxnSp>
                <p:nvCxnSpPr>
                  <p:cNvPr id="61" name="Connecteur droit 60">
                    <a:extLst>
                      <a:ext uri="{FF2B5EF4-FFF2-40B4-BE49-F238E27FC236}">
                        <a16:creationId xmlns:a16="http://schemas.microsoft.com/office/drawing/2014/main" id="{424B82CE-78D3-4EBA-A3E9-CC7BE859AAC2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0" y="582295"/>
                    <a:ext cx="328295" cy="0"/>
                  </a:xfrm>
                  <a:prstGeom prst="line">
                    <a:avLst/>
                  </a:prstGeom>
                  <a:ln w="12700" cmpd="sng">
                    <a:solidFill>
                      <a:schemeClr val="tx1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Connecteur droit 61">
                    <a:extLst>
                      <a:ext uri="{FF2B5EF4-FFF2-40B4-BE49-F238E27FC236}">
                        <a16:creationId xmlns:a16="http://schemas.microsoft.com/office/drawing/2014/main" id="{E468816D-AFD7-4E48-9A47-C37A339FAA51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0" y="0"/>
                    <a:ext cx="0" cy="582295"/>
                  </a:xfrm>
                  <a:prstGeom prst="line">
                    <a:avLst/>
                  </a:prstGeom>
                  <a:ln w="12700" cmpd="sng">
                    <a:solidFill>
                      <a:schemeClr val="tx1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" name="Connecteur droit 62">
                    <a:extLst>
                      <a:ext uri="{FF2B5EF4-FFF2-40B4-BE49-F238E27FC236}">
                        <a16:creationId xmlns:a16="http://schemas.microsoft.com/office/drawing/2014/main" id="{8ABDE2CD-AFBC-48B4-AD5E-2B6524BB0DDB}"/>
                      </a:ext>
                    </a:extLst>
                  </p:cNvPr>
                  <p:cNvCxnSpPr/>
                  <p:nvPr/>
                </p:nvCxnSpPr>
                <p:spPr>
                  <a:xfrm>
                    <a:off x="0" y="0"/>
                    <a:ext cx="337820" cy="0"/>
                  </a:xfrm>
                  <a:prstGeom prst="line">
                    <a:avLst/>
                  </a:prstGeom>
                  <a:ln w="12700" cmpd="sng">
                    <a:solidFill>
                      <a:schemeClr val="tx1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7" name="Grouper 103">
                  <a:extLst>
                    <a:ext uri="{FF2B5EF4-FFF2-40B4-BE49-F238E27FC236}">
                      <a16:creationId xmlns:a16="http://schemas.microsoft.com/office/drawing/2014/main" id="{AFD9EA94-D5E1-45F2-8D11-1E1811F4DEC7}"/>
                    </a:ext>
                  </a:extLst>
                </p:cNvPr>
                <p:cNvGrpSpPr/>
                <p:nvPr/>
              </p:nvGrpSpPr>
              <p:grpSpPr>
                <a:xfrm flipH="1">
                  <a:off x="1004570" y="467995"/>
                  <a:ext cx="337820" cy="582295"/>
                  <a:chOff x="0" y="0"/>
                  <a:chExt cx="337820" cy="582295"/>
                </a:xfrm>
              </p:grpSpPr>
              <p:cxnSp>
                <p:nvCxnSpPr>
                  <p:cNvPr id="58" name="Connecteur droit 57">
                    <a:extLst>
                      <a:ext uri="{FF2B5EF4-FFF2-40B4-BE49-F238E27FC236}">
                        <a16:creationId xmlns:a16="http://schemas.microsoft.com/office/drawing/2014/main" id="{4D510055-6175-4C4D-9CFF-16A1B10F868E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0" y="582295"/>
                    <a:ext cx="328295" cy="0"/>
                  </a:xfrm>
                  <a:prstGeom prst="line">
                    <a:avLst/>
                  </a:prstGeom>
                  <a:ln w="12700" cmpd="sng">
                    <a:solidFill>
                      <a:schemeClr val="tx1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Connecteur droit 58">
                    <a:extLst>
                      <a:ext uri="{FF2B5EF4-FFF2-40B4-BE49-F238E27FC236}">
                        <a16:creationId xmlns:a16="http://schemas.microsoft.com/office/drawing/2014/main" id="{634BE4DE-0676-4151-8C39-C3F5B61AF46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0" y="0"/>
                    <a:ext cx="0" cy="582295"/>
                  </a:xfrm>
                  <a:prstGeom prst="line">
                    <a:avLst/>
                  </a:prstGeom>
                  <a:ln w="12700" cmpd="sng">
                    <a:solidFill>
                      <a:schemeClr val="tx1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Connecteur droit 59">
                    <a:extLst>
                      <a:ext uri="{FF2B5EF4-FFF2-40B4-BE49-F238E27FC236}">
                        <a16:creationId xmlns:a16="http://schemas.microsoft.com/office/drawing/2014/main" id="{895F5DDA-0A55-4C18-9C76-6D0F099E40D6}"/>
                      </a:ext>
                    </a:extLst>
                  </p:cNvPr>
                  <p:cNvCxnSpPr/>
                  <p:nvPr/>
                </p:nvCxnSpPr>
                <p:spPr>
                  <a:xfrm>
                    <a:off x="0" y="0"/>
                    <a:ext cx="337820" cy="0"/>
                  </a:xfrm>
                  <a:prstGeom prst="line">
                    <a:avLst/>
                  </a:prstGeom>
                  <a:ln w="12700" cmpd="sng">
                    <a:solidFill>
                      <a:schemeClr val="tx1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ZoneTexte 12">
                    <a:extLst>
                      <a:ext uri="{FF2B5EF4-FFF2-40B4-BE49-F238E27FC236}">
                        <a16:creationId xmlns:a16="http://schemas.microsoft.com/office/drawing/2014/main" id="{18AB405C-BA14-42F2-9B22-ABEEA30C3281}"/>
                      </a:ext>
                    </a:extLst>
                  </p:cNvPr>
                  <p:cNvSpPr txBox="1"/>
                  <p:nvPr/>
                </p:nvSpPr>
                <p:spPr>
                  <a:xfrm>
                    <a:off x="2205747" y="3819714"/>
                    <a:ext cx="2284576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285750" indent="-285750">
                      <a:buFont typeface="Arial" panose="020B0604020202020204" pitchFamily="34" charset="0"/>
                      <a:buChar char="•"/>
                    </a:pPr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fr-FR" i="0" smtClean="0">
                            <a:latin typeface="Cambria Math" panose="02040503050406030204" pitchFamily="18" charset="0"/>
                          </a:rPr>
                          <m:t>ZnS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i="0">
                                <a:latin typeface="Cambria Math" panose="02040503050406030204" pitchFamily="18" charset="0"/>
                              </a:rPr>
                              <m:t>O</m:t>
                            </m:r>
                          </m:e>
                          <m:sub>
                            <m:r>
                              <a:rPr lang="fr-FR" i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a14:m>
                    <a:r>
                      <a:rPr lang="fr-FR" dirty="0"/>
                      <a:t>: 0,12 mol</a:t>
                    </a:r>
                    <a:endParaRPr lang="fr-FR" i="1" dirty="0"/>
                  </a:p>
                  <a:p>
                    <a:pPr marL="285750" indent="-285750">
                      <a:buFont typeface="Arial" panose="020B0604020202020204" pitchFamily="34" charset="0"/>
                      <a:buChar char="•"/>
                    </a:pP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b="0" i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fr-FR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</a:rPr>
                          <m:t>S</m:t>
                        </m:r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b="0" i="0" smtClean="0">
                                <a:latin typeface="Cambria Math" panose="02040503050406030204" pitchFamily="18" charset="0"/>
                              </a:rPr>
                              <m:t>O</m:t>
                            </m:r>
                          </m:e>
                          <m:sub>
                            <m:r>
                              <a:rPr lang="fr-FR" b="0" i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a14:m>
                    <a:r>
                      <a:rPr lang="fr-FR" dirty="0"/>
                      <a:t>: 2 mol/L</a:t>
                    </a:r>
                  </a:p>
                </p:txBody>
              </p:sp>
            </mc:Choice>
            <mc:Fallback xmlns="">
              <p:sp>
                <p:nvSpPr>
                  <p:cNvPr id="13" name="ZoneTexte 12">
                    <a:extLst>
                      <a:ext uri="{FF2B5EF4-FFF2-40B4-BE49-F238E27FC236}">
                        <a16:creationId xmlns:a16="http://schemas.microsoft.com/office/drawing/2014/main" id="{18AB405C-BA14-42F2-9B22-ABEEA30C328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05747" y="3819714"/>
                    <a:ext cx="2284576" cy="646331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1872" t="-5660" b="-14151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" name="Flèche vers la droite 129">
                <a:extLst>
                  <a:ext uri="{FF2B5EF4-FFF2-40B4-BE49-F238E27FC236}">
                    <a16:creationId xmlns:a16="http://schemas.microsoft.com/office/drawing/2014/main" id="{92A0B351-7BCA-4A90-80D1-45800E99C536}"/>
                  </a:ext>
                </a:extLst>
              </p:cNvPr>
              <p:cNvSpPr/>
              <p:nvPr/>
            </p:nvSpPr>
            <p:spPr>
              <a:xfrm rot="489713">
                <a:off x="4241569" y="4111665"/>
                <a:ext cx="1270926" cy="104915"/>
              </a:xfrm>
              <a:prstGeom prst="rightArrow">
                <a:avLst>
                  <a:gd name="adj1" fmla="val 16667"/>
                  <a:gd name="adj2" fmla="val 58333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17" name="Flèche vers la droite 132">
                <a:extLst>
                  <a:ext uri="{FF2B5EF4-FFF2-40B4-BE49-F238E27FC236}">
                    <a16:creationId xmlns:a16="http://schemas.microsoft.com/office/drawing/2014/main" id="{4113EEE2-F515-410F-8957-052B62C966A5}"/>
                  </a:ext>
                </a:extLst>
              </p:cNvPr>
              <p:cNvSpPr/>
              <p:nvPr/>
            </p:nvSpPr>
            <p:spPr>
              <a:xfrm rot="10103157">
                <a:off x="6555706" y="3432282"/>
                <a:ext cx="1820167" cy="131797"/>
              </a:xfrm>
              <a:prstGeom prst="rightArrow">
                <a:avLst>
                  <a:gd name="adj1" fmla="val 16667"/>
                  <a:gd name="adj2" fmla="val 58333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6CB5571B-A1CA-4CCF-9234-716F1E279635}"/>
                  </a:ext>
                </a:extLst>
              </p:cNvPr>
              <p:cNvSpPr txBox="1"/>
              <p:nvPr/>
            </p:nvSpPr>
            <p:spPr>
              <a:xfrm>
                <a:off x="8370509" y="3062112"/>
                <a:ext cx="107753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>
                    <a:solidFill>
                      <a:srgbClr val="C00000"/>
                    </a:solidFill>
                  </a:rPr>
                  <a:t>Anode</a:t>
                </a:r>
                <a:r>
                  <a:rPr lang="fr-FR" dirty="0"/>
                  <a:t> </a:t>
                </a:r>
              </a:p>
              <a:p>
                <a:r>
                  <a:rPr lang="fr-FR" dirty="0"/>
                  <a:t>en plomb</a:t>
                </a:r>
              </a:p>
            </p:txBody>
          </p:sp>
          <p:sp>
            <p:nvSpPr>
              <p:cNvPr id="19" name="Flèche vers la droite 134">
                <a:extLst>
                  <a:ext uri="{FF2B5EF4-FFF2-40B4-BE49-F238E27FC236}">
                    <a16:creationId xmlns:a16="http://schemas.microsoft.com/office/drawing/2014/main" id="{DA25F2FD-B927-450F-BAD2-CBF93EFC0249}"/>
                  </a:ext>
                </a:extLst>
              </p:cNvPr>
              <p:cNvSpPr/>
              <p:nvPr/>
            </p:nvSpPr>
            <p:spPr>
              <a:xfrm rot="579948">
                <a:off x="3687131" y="3429045"/>
                <a:ext cx="1820167" cy="131797"/>
              </a:xfrm>
              <a:prstGeom prst="rightArrow">
                <a:avLst>
                  <a:gd name="adj1" fmla="val 16667"/>
                  <a:gd name="adj2" fmla="val 58333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3778D6EC-724E-4A53-90B0-EBD67FC72373}"/>
                  </a:ext>
                </a:extLst>
              </p:cNvPr>
              <p:cNvSpPr txBox="1"/>
              <p:nvPr/>
            </p:nvSpPr>
            <p:spPr>
              <a:xfrm>
                <a:off x="2241049" y="2881253"/>
                <a:ext cx="147829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>
                    <a:solidFill>
                      <a:schemeClr val="accent1"/>
                    </a:solidFill>
                  </a:rPr>
                  <a:t>Cathode</a:t>
                </a:r>
              </a:p>
              <a:p>
                <a:r>
                  <a:rPr lang="fr-FR" dirty="0"/>
                  <a:t>en aluminium</a:t>
                </a:r>
              </a:p>
            </p:txBody>
          </p:sp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CCF9111C-B88C-4EA4-BDD3-1A398C42A4B2}"/>
                  </a:ext>
                </a:extLst>
              </p:cNvPr>
              <p:cNvSpPr txBox="1"/>
              <p:nvPr/>
            </p:nvSpPr>
            <p:spPr>
              <a:xfrm>
                <a:off x="7107374" y="2524933"/>
                <a:ext cx="3701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/>
                  <a:t>e-</a:t>
                </a:r>
              </a:p>
            </p:txBody>
          </p:sp>
          <p:sp>
            <p:nvSpPr>
              <p:cNvPr id="22" name="Flèche vers la droite 137">
                <a:extLst>
                  <a:ext uri="{FF2B5EF4-FFF2-40B4-BE49-F238E27FC236}">
                    <a16:creationId xmlns:a16="http://schemas.microsoft.com/office/drawing/2014/main" id="{BEDE3CE9-643F-46A7-8DC0-5249EA96AAC3}"/>
                  </a:ext>
                </a:extLst>
              </p:cNvPr>
              <p:cNvSpPr/>
              <p:nvPr/>
            </p:nvSpPr>
            <p:spPr>
              <a:xfrm rot="16200000">
                <a:off x="6978391" y="2609149"/>
                <a:ext cx="217767" cy="183934"/>
              </a:xfrm>
              <a:prstGeom prst="rightArrow">
                <a:avLst>
                  <a:gd name="adj1" fmla="val 16667"/>
                  <a:gd name="adj2" fmla="val 58333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ZoneTexte 7">
                  <a:extLst>
                    <a:ext uri="{FF2B5EF4-FFF2-40B4-BE49-F238E27FC236}">
                      <a16:creationId xmlns:a16="http://schemas.microsoft.com/office/drawing/2014/main" id="{8CA62FB6-75F1-4EC6-A9E4-0EE723C4B9DA}"/>
                    </a:ext>
                  </a:extLst>
                </p:cNvPr>
                <p:cNvSpPr txBox="1"/>
                <p:nvPr/>
              </p:nvSpPr>
              <p:spPr>
                <a:xfrm>
                  <a:off x="7411861" y="2063268"/>
                  <a:ext cx="4780139" cy="461665"/>
                </a:xfrm>
                <a:prstGeom prst="rect">
                  <a:avLst/>
                </a:prstGeom>
                <a:ln w="28575">
                  <a:solidFill>
                    <a:srgbClr val="C00000"/>
                  </a:solidFill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24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  <m:sSub>
                          <m:sSubPr>
                            <m:ctrlPr>
                              <a:rPr lang="fr-FR" sz="24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z="2400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H</m:t>
                            </m:r>
                          </m:e>
                          <m:sub>
                            <m:r>
                              <a:rPr lang="fr-FR" sz="2400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fr-FR" sz="24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O</m:t>
                        </m:r>
                        <m:d>
                          <m:dPr>
                            <m:ctrlPr>
                              <a:rPr lang="fr-FR" sz="24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fr-FR" sz="2400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l</m:t>
                            </m:r>
                          </m:e>
                        </m:d>
                        <m:r>
                          <a:rPr lang="fr-FR" sz="24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</m:t>
                        </m:r>
                        <m:sSub>
                          <m:sSubPr>
                            <m:ctrlPr>
                              <a:rPr lang="fr-FR" sz="24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z="2400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O</m:t>
                            </m:r>
                          </m:e>
                          <m:sub>
                            <m:r>
                              <a:rPr lang="fr-FR" sz="2400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fr-FR" sz="24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fr-FR" sz="2400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g</m:t>
                            </m:r>
                          </m:e>
                        </m:d>
                        <m:r>
                          <a:rPr lang="fr-FR" sz="24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+4</m:t>
                        </m:r>
                        <m:sSup>
                          <m:sSupPr>
                            <m:ctrlPr>
                              <a:rPr lang="fr-FR" sz="24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fr-FR" sz="2400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H</m:t>
                            </m:r>
                          </m:e>
                          <m:sup>
                            <m:r>
                              <a:rPr lang="fr-FR" sz="2400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+</m:t>
                            </m:r>
                          </m:sup>
                        </m:sSup>
                        <m:d>
                          <m:dPr>
                            <m:ctrlPr>
                              <a:rPr lang="fr-FR" sz="24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fr-FR" sz="2400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aq</m:t>
                            </m:r>
                          </m:e>
                        </m:d>
                        <m:r>
                          <a:rPr lang="fr-FR" sz="24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+4</m:t>
                        </m:r>
                        <m:sSup>
                          <m:sSupPr>
                            <m:ctrlPr>
                              <a:rPr lang="fr-FR" sz="24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fr-FR" sz="2400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e</m:t>
                            </m:r>
                          </m:e>
                          <m:sup>
                            <m:r>
                              <a:rPr lang="fr-FR" sz="2400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−</m:t>
                            </m:r>
                          </m:sup>
                        </m:sSup>
                      </m:oMath>
                    </m:oMathPara>
                  </a14:m>
                  <a:endParaRPr lang="fr-FR" sz="2400" dirty="0"/>
                </a:p>
              </p:txBody>
            </p:sp>
          </mc:Choice>
          <mc:Fallback xmlns="">
            <p:sp>
              <p:nvSpPr>
                <p:cNvPr id="8" name="ZoneTexte 7">
                  <a:extLst>
                    <a:ext uri="{FF2B5EF4-FFF2-40B4-BE49-F238E27FC236}">
                      <a16:creationId xmlns:a16="http://schemas.microsoft.com/office/drawing/2014/main" id="{8CA62FB6-75F1-4EC6-A9E4-0EE723C4B9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1861" y="2063268"/>
                  <a:ext cx="4780139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4938"/>
                  </a:stretch>
                </a:blipFill>
                <a:ln w="28575"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ZoneTexte 8">
                  <a:extLst>
                    <a:ext uri="{FF2B5EF4-FFF2-40B4-BE49-F238E27FC236}">
                      <a16:creationId xmlns:a16="http://schemas.microsoft.com/office/drawing/2014/main" id="{F2A47839-AF8A-43B5-9BDB-1E49A819A08C}"/>
                    </a:ext>
                  </a:extLst>
                </p:cNvPr>
                <p:cNvSpPr txBox="1"/>
                <p:nvPr/>
              </p:nvSpPr>
              <p:spPr>
                <a:xfrm>
                  <a:off x="888807" y="2029958"/>
                  <a:ext cx="3580572" cy="461665"/>
                </a:xfrm>
                <a:prstGeom prst="rect">
                  <a:avLst/>
                </a:prstGeom>
                <a:ln w="28575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fr-FR" sz="24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Z</m:t>
                        </m:r>
                        <m:sSup>
                          <m:sSupPr>
                            <m:ctrlPr>
                              <a:rPr lang="fr-FR" sz="24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fr-FR" sz="2400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n</m:t>
                            </m:r>
                          </m:e>
                          <m:sup>
                            <m:r>
                              <a:rPr lang="fr-FR" sz="2400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2+</m:t>
                            </m:r>
                          </m:sup>
                        </m:sSup>
                        <m:d>
                          <m:dPr>
                            <m:ctrlPr>
                              <a:rPr lang="fr-FR" sz="24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fr-FR" sz="2400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aq</m:t>
                            </m:r>
                          </m:e>
                        </m:d>
                        <m:r>
                          <a:rPr lang="fr-FR" sz="24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+2</m:t>
                        </m:r>
                        <m:sSup>
                          <m:sSupPr>
                            <m:ctrlPr>
                              <a:rPr lang="fr-FR" sz="24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fr-FR" sz="2400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e</m:t>
                            </m:r>
                          </m:e>
                          <m:sup>
                            <m:r>
                              <a:rPr lang="fr-FR" sz="2400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−</m:t>
                            </m:r>
                          </m:sup>
                        </m:sSup>
                        <m:r>
                          <a:rPr lang="fr-FR" sz="24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fr-FR" sz="24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Zn</m:t>
                        </m:r>
                        <m:r>
                          <a:rPr lang="fr-FR" sz="24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fr-FR" sz="24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s</m:t>
                        </m:r>
                        <m:r>
                          <a:rPr lang="fr-FR" sz="24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)</m:t>
                        </m:r>
                      </m:oMath>
                    </m:oMathPara>
                  </a14:m>
                  <a:endParaRPr lang="fr-FR" sz="2800" dirty="0"/>
                </a:p>
              </p:txBody>
            </p:sp>
          </mc:Choice>
          <mc:Fallback xmlns="">
            <p:sp>
              <p:nvSpPr>
                <p:cNvPr id="9" name="ZoneTexte 8">
                  <a:extLst>
                    <a:ext uri="{FF2B5EF4-FFF2-40B4-BE49-F238E27FC236}">
                      <a16:creationId xmlns:a16="http://schemas.microsoft.com/office/drawing/2014/main" id="{F2A47839-AF8A-43B5-9BDB-1E49A819A0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8807" y="2029958"/>
                  <a:ext cx="3580572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12346"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82808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F7C39A-B833-4AC4-ADBB-A6814A4A0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Électrolyse du sulfate de zinc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B4CB7656-B377-475F-9DA8-826D9CF131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1530" y="1428750"/>
            <a:ext cx="9449266" cy="4440238"/>
          </a:xfrm>
          <a:prstGeom prst="rect">
            <a:avLst/>
          </a:prstGeo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5C7596C-7318-4CF8-965E-ECB7E83EB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3738313-5E31-4F4D-B1D4-8385E94AA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4110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30DBFC-D1D4-46F0-BC00-2357F3EBB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Calcul du rendement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9F1F5A76-246B-43AB-BD19-BCCA3AF445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fr-FR" sz="2800" dirty="0"/>
                  <a:t>Quantité maximale 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2800" b="0" i="0" smtClean="0">
                        <a:latin typeface="Cambria Math" panose="02040503050406030204" pitchFamily="18" charset="0"/>
                      </a:rPr>
                      <m:t>Zn</m:t>
                    </m:r>
                  </m:oMath>
                </a14:m>
                <a:r>
                  <a:rPr lang="fr-FR" sz="2800" dirty="0"/>
                  <a:t> produite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fr-FR" sz="2800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fr-FR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800" i="1">
                            <a:latin typeface="Cambria Math" panose="02040503050406030204" pitchFamily="18" charset="0"/>
                          </a:rPr>
                          <m:t>2 </m:t>
                        </m:r>
                        <m:r>
                          <a:rPr lang="fr-FR" sz="2800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fr-FR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fr-FR" sz="280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fr-FR" sz="2800" i="1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fr-F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ℱ</m:t>
                        </m:r>
                      </m:den>
                    </m:f>
                  </m:oMath>
                </a14:m>
                <a:endParaRPr lang="fr-FR" sz="2800" b="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fr-FR" sz="2800" dirty="0"/>
                  <a:t> Rendement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2800" b="0" i="0" smtClean="0">
                        <a:latin typeface="Cambria Math" panose="02040503050406030204" pitchFamily="18" charset="0"/>
                      </a:rPr>
                      <m:t>η</m:t>
                    </m:r>
                    <m:r>
                      <a:rPr lang="fr-FR" sz="28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z="2800" b="0" i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fr-FR" sz="2800" b="0" i="0" smtClean="0">
                                <a:latin typeface="Cambria Math" panose="02040503050406030204" pitchFamily="18" charset="0"/>
                              </a:rPr>
                              <m:t>mes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F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z="2800" b="0" i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fr-FR" sz="28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</m:den>
                    </m:f>
                  </m:oMath>
                </a14:m>
                <a:endParaRPr lang="fr-FR" sz="2800" dirty="0"/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9F1F5A76-246B-43AB-BD19-BCCA3AF445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4E1180C-FF30-481C-8F32-A13EAE6D8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E98AE7-5430-4412-B31D-E82F333EA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5226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E4CCE9-4C0A-4C10-BEC3-722675FA0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Protection par anode sacrificielle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04E7CF01-3D31-464F-85AC-1F12D7CE71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1661721"/>
            <a:ext cx="5121457" cy="4440238"/>
          </a:xfrm>
          <a:prstGeom prst="rect">
            <a:avLst/>
          </a:prstGeo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2070781-7999-48C6-B64B-B84738B45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92077C0-9D2F-436D-9F5C-422472CD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8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DD56768-963F-41F1-AE85-7F43FA598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5872" y="1843682"/>
            <a:ext cx="3194489" cy="425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555006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Rétrospectiv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1050</TotalTime>
  <Words>117</Words>
  <Application>Microsoft Office PowerPoint</Application>
  <PresentationFormat>Grand écran</PresentationFormat>
  <Paragraphs>39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Rétrospective</vt:lpstr>
      <vt:lpstr>Corrosion humide des métaux</vt:lpstr>
      <vt:lpstr>Différents domaines</vt:lpstr>
      <vt:lpstr>Corrosion différentielle</vt:lpstr>
      <vt:lpstr>Corrosion par aération différentielle</vt:lpstr>
      <vt:lpstr>Électrolyse du sulfate de zinc</vt:lpstr>
      <vt:lpstr>Électrolyse du sulfate de zinc</vt:lpstr>
      <vt:lpstr>Calcul du rendement</vt:lpstr>
      <vt:lpstr>Protection par anode sacrificielle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Chimie durable</dc:title>
  <dc:creator>Hugo Roussille</dc:creator>
  <cp:lastModifiedBy>Hugo Roussille</cp:lastModifiedBy>
  <cp:revision>77</cp:revision>
  <dcterms:created xsi:type="dcterms:W3CDTF">2019-04-06T14:18:31Z</dcterms:created>
  <dcterms:modified xsi:type="dcterms:W3CDTF">2019-06-16T16:12:58Z</dcterms:modified>
</cp:coreProperties>
</file>