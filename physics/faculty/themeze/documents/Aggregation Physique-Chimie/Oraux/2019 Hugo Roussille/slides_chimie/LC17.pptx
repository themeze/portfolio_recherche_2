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63" r:id="rId4"/>
    <p:sldId id="264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15/06/2019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15/06/2019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15/06/2019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15/06/2019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15/06/2019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jf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f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Classification périodique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E4AAE4-8618-4B2F-AE01-B828944B6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E92978A8-0EF2-49AB-B676-56052B75A9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662" y="2028564"/>
            <a:ext cx="2063020" cy="2120646"/>
          </a:xfr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F7EF4F-E0C2-4BAC-8214-335094689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144F3B4-4C46-4B60-BDFF-D8AF929E9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F06E4FC-8D65-4071-80A2-E4EE19F79DCA}"/>
              </a:ext>
            </a:extLst>
          </p:cNvPr>
          <p:cNvSpPr txBox="1"/>
          <p:nvPr/>
        </p:nvSpPr>
        <p:spPr>
          <a:xfrm>
            <a:off x="1830370" y="4387680"/>
            <a:ext cx="3545604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i="1" dirty="0"/>
              <a:t>Lavoisier 1789</a:t>
            </a:r>
          </a:p>
          <a:p>
            <a:pPr algn="ctr"/>
            <a:r>
              <a:rPr lang="fr-FR" dirty="0"/>
              <a:t>Regroupement d’éléments par type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A4E39F6D-8108-41FD-9FDC-3616704F45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789" y="1595840"/>
            <a:ext cx="3091295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372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02FA7E-339A-4465-BD69-223055A5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3DF76C-F02D-418F-89AB-49CEB82A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E1EE59-D20A-4B66-92E5-35201877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2BAB34A-BD25-4B7C-9796-0C56667CE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1682" y="2163188"/>
            <a:ext cx="1774889" cy="2028444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F21185F-328D-496E-A63E-17784A414346}"/>
              </a:ext>
            </a:extLst>
          </p:cNvPr>
          <p:cNvSpPr txBox="1"/>
          <p:nvPr/>
        </p:nvSpPr>
        <p:spPr>
          <a:xfrm>
            <a:off x="2158055" y="4529448"/>
            <a:ext cx="260214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Chancourtois</a:t>
            </a:r>
            <a:r>
              <a:rPr lang="fr-FR" i="1" dirty="0"/>
              <a:t> 1862</a:t>
            </a:r>
          </a:p>
          <a:p>
            <a:pPr algn="ctr"/>
            <a:r>
              <a:rPr lang="fr-FR" dirty="0"/>
              <a:t>Périodicité des propriétés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6FB9C86-CB93-4195-8620-24EEEC447E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65" y="1539556"/>
            <a:ext cx="4338205" cy="4684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030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02FA7E-339A-4465-BD69-223055A5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93DF76C-F02D-418F-89AB-49CEB82AD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E1EE59-D20A-4B66-92E5-35201877F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F21185F-328D-496E-A63E-17784A414346}"/>
              </a:ext>
            </a:extLst>
          </p:cNvPr>
          <p:cNvSpPr txBox="1"/>
          <p:nvPr/>
        </p:nvSpPr>
        <p:spPr>
          <a:xfrm>
            <a:off x="1787928" y="4876778"/>
            <a:ext cx="373947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Mendeleiev</a:t>
            </a:r>
            <a:r>
              <a:rPr lang="fr-FR" i="1" dirty="0"/>
              <a:t> </a:t>
            </a:r>
          </a:p>
          <a:p>
            <a:pPr algn="ctr"/>
            <a:r>
              <a:rPr lang="fr-FR" dirty="0"/>
              <a:t>Classification périodique en tableau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3D47E6D-5787-4FBE-9B01-6ACBA6C19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4602" y="1561204"/>
            <a:ext cx="3688773" cy="4641273"/>
          </a:xfrm>
          <a:prstGeom prst="rect">
            <a:avLst/>
          </a:prstGeom>
        </p:spPr>
      </p:pic>
      <p:pic>
        <p:nvPicPr>
          <p:cNvPr id="1026" name="Picture 2" descr="Résultat de recherche d'images pour &quot;mendeleiev&quot;">
            <a:extLst>
              <a:ext uri="{FF2B5EF4-FFF2-40B4-BE49-F238E27FC236}">
                <a16:creationId xmlns:a16="http://schemas.microsoft.com/office/drawing/2014/main" id="{CC50C348-99B1-4210-BD6C-C270A4815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9431" y="1639760"/>
            <a:ext cx="2376464" cy="3021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515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A17082-315F-4D5C-B193-3E7EABA6A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Famille des halogènes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273CE7-EB28-4C8A-B3BC-758ACC69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450F5CE-4A1E-431C-A71C-1DD7F09A8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  <p:pic>
        <p:nvPicPr>
          <p:cNvPr id="6" name="Picture 8" descr="RÃ©sultat de recherche d'images pour &quot;classification pÃ©riodique simplifiÃ©e&quot;">
            <a:extLst>
              <a:ext uri="{FF2B5EF4-FFF2-40B4-BE49-F238E27FC236}">
                <a16:creationId xmlns:a16="http://schemas.microsoft.com/office/drawing/2014/main" id="{DD0A7DA6-AD83-4354-8AD2-6600D4E2E6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322" y="1518483"/>
            <a:ext cx="8875681" cy="4704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093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5BCFCB-45F2-4491-A47F-A1D84E99F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Pouvoir oxydant des halogènes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7073C59-C087-45E8-AB3F-4C8D1D06A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8ADDB33-BC92-4BDD-B7A4-CE29F31BA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FF1C0B-4B53-417F-882C-A8D99A26DE67}"/>
              </a:ext>
            </a:extLst>
          </p:cNvPr>
          <p:cNvSpPr/>
          <p:nvPr/>
        </p:nvSpPr>
        <p:spPr>
          <a:xfrm>
            <a:off x="5462105" y="2805457"/>
            <a:ext cx="139148" cy="268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8E101CA7-7EE4-4BEF-A552-01118E9D0328}"/>
              </a:ext>
            </a:extLst>
          </p:cNvPr>
          <p:cNvGrpSpPr/>
          <p:nvPr/>
        </p:nvGrpSpPr>
        <p:grpSpPr>
          <a:xfrm>
            <a:off x="2132496" y="1861808"/>
            <a:ext cx="1116496" cy="3537762"/>
            <a:chOff x="1510748" y="1339143"/>
            <a:chExt cx="1116496" cy="4303075"/>
          </a:xfrm>
        </p:grpSpPr>
        <p:sp>
          <p:nvSpPr>
            <p:cNvPr id="8" name="Arrondir un rectangle avec un coin du même côté 51">
              <a:extLst>
                <a:ext uri="{FF2B5EF4-FFF2-40B4-BE49-F238E27FC236}">
                  <a16:creationId xmlns:a16="http://schemas.microsoft.com/office/drawing/2014/main" id="{FA39DA86-5A35-4633-810F-D04861D6D33A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chemeClr val="tx1">
                <a:lumMod val="50000"/>
                <a:lumOff val="50000"/>
                <a:alpha val="6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9" name="Grouper 435">
              <a:extLst>
                <a:ext uri="{FF2B5EF4-FFF2-40B4-BE49-F238E27FC236}">
                  <a16:creationId xmlns:a16="http://schemas.microsoft.com/office/drawing/2014/main" id="{DB4EA8B2-ADA4-4CBC-9624-B4394ABAAD9A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10" name="Arrondir un rectangle avec un coin du même côté 51">
                <a:extLst>
                  <a:ext uri="{FF2B5EF4-FFF2-40B4-BE49-F238E27FC236}">
                    <a16:creationId xmlns:a16="http://schemas.microsoft.com/office/drawing/2014/main" id="{F0CCAB5C-215B-40D5-B425-50365267DA98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1" name="Grouper 432">
                <a:extLst>
                  <a:ext uri="{FF2B5EF4-FFF2-40B4-BE49-F238E27FC236}">
                    <a16:creationId xmlns:a16="http://schemas.microsoft.com/office/drawing/2014/main" id="{C2FA3853-2518-415B-B572-290D13F1151A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12" name="Arrondir un rectangle avec un coin du même côté 433">
                  <a:extLst>
                    <a:ext uri="{FF2B5EF4-FFF2-40B4-BE49-F238E27FC236}">
                      <a16:creationId xmlns:a16="http://schemas.microsoft.com/office/drawing/2014/main" id="{5242887A-D561-43A0-96E1-3F94FB4E8F85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55B117DB-3D40-4581-A1E6-04BF8B1176FB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30519901-1E94-48D4-ADDB-F04FB6944EF2}"/>
              </a:ext>
            </a:extLst>
          </p:cNvPr>
          <p:cNvGrpSpPr/>
          <p:nvPr/>
        </p:nvGrpSpPr>
        <p:grpSpPr>
          <a:xfrm>
            <a:off x="7256411" y="1861804"/>
            <a:ext cx="1116496" cy="3537762"/>
            <a:chOff x="1510748" y="1339143"/>
            <a:chExt cx="1116496" cy="4303075"/>
          </a:xfrm>
        </p:grpSpPr>
        <p:sp>
          <p:nvSpPr>
            <p:cNvPr id="15" name="Arrondir un rectangle avec un coin du même côté 51">
              <a:extLst>
                <a:ext uri="{FF2B5EF4-FFF2-40B4-BE49-F238E27FC236}">
                  <a16:creationId xmlns:a16="http://schemas.microsoft.com/office/drawing/2014/main" id="{D41E3D5B-5A6C-4462-B34C-31AB4925B181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chemeClr val="tx1">
                <a:lumMod val="50000"/>
                <a:lumOff val="50000"/>
                <a:alpha val="6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grpSp>
          <p:nvGrpSpPr>
            <p:cNvPr id="16" name="Grouper 435">
              <a:extLst>
                <a:ext uri="{FF2B5EF4-FFF2-40B4-BE49-F238E27FC236}">
                  <a16:creationId xmlns:a16="http://schemas.microsoft.com/office/drawing/2014/main" id="{51DC7BAF-E6EA-4EF4-89C2-3E88CD9071B1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17" name="Arrondir un rectangle avec un coin du même côté 51">
                <a:extLst>
                  <a:ext uri="{FF2B5EF4-FFF2-40B4-BE49-F238E27FC236}">
                    <a16:creationId xmlns:a16="http://schemas.microsoft.com/office/drawing/2014/main" id="{16039938-8961-419D-888D-39602649CB99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18" name="Grouper 432">
                <a:extLst>
                  <a:ext uri="{FF2B5EF4-FFF2-40B4-BE49-F238E27FC236}">
                    <a16:creationId xmlns:a16="http://schemas.microsoft.com/office/drawing/2014/main" id="{B6F6C522-260E-4213-8DD1-68E0F99A83AE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19" name="Arrondir un rectangle avec un coin du même côté 433">
                  <a:extLst>
                    <a:ext uri="{FF2B5EF4-FFF2-40B4-BE49-F238E27FC236}">
                      <a16:creationId xmlns:a16="http://schemas.microsoft.com/office/drawing/2014/main" id="{83B2C582-0E4C-4BCA-B9CE-FA4CA00B97F6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AA1D931E-CD40-44AF-A519-5A9EE4987EA5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9974948C-5A27-4779-AECC-29C7E1F1C172}"/>
              </a:ext>
            </a:extLst>
          </p:cNvPr>
          <p:cNvGrpSpPr/>
          <p:nvPr/>
        </p:nvGrpSpPr>
        <p:grpSpPr>
          <a:xfrm>
            <a:off x="10095987" y="1861804"/>
            <a:ext cx="1116496" cy="3562617"/>
            <a:chOff x="1510748" y="1339143"/>
            <a:chExt cx="1116496" cy="4303075"/>
          </a:xfrm>
        </p:grpSpPr>
        <p:sp>
          <p:nvSpPr>
            <p:cNvPr id="22" name="Arrondir un rectangle avec un coin du même côté 51">
              <a:extLst>
                <a:ext uri="{FF2B5EF4-FFF2-40B4-BE49-F238E27FC236}">
                  <a16:creationId xmlns:a16="http://schemas.microsoft.com/office/drawing/2014/main" id="{FDCA1337-A246-456A-9FAA-6F4E11CC0124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chemeClr val="tx1">
                <a:lumMod val="50000"/>
                <a:lumOff val="50000"/>
                <a:alpha val="6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23" name="Grouper 435">
              <a:extLst>
                <a:ext uri="{FF2B5EF4-FFF2-40B4-BE49-F238E27FC236}">
                  <a16:creationId xmlns:a16="http://schemas.microsoft.com/office/drawing/2014/main" id="{38589F0A-1A98-4FF7-A2CF-ABBA4DD94D45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24" name="Arrondir un rectangle avec un coin du même côté 51">
                <a:extLst>
                  <a:ext uri="{FF2B5EF4-FFF2-40B4-BE49-F238E27FC236}">
                    <a16:creationId xmlns:a16="http://schemas.microsoft.com/office/drawing/2014/main" id="{BC6B9B4F-19E1-44DD-ABC0-3E39302E8FA5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25" name="Grouper 432">
                <a:extLst>
                  <a:ext uri="{FF2B5EF4-FFF2-40B4-BE49-F238E27FC236}">
                    <a16:creationId xmlns:a16="http://schemas.microsoft.com/office/drawing/2014/main" id="{C96A66D6-C55D-44E1-B832-0C24D8322AF3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26" name="Arrondir un rectangle avec un coin du même côté 433">
                  <a:extLst>
                    <a:ext uri="{FF2B5EF4-FFF2-40B4-BE49-F238E27FC236}">
                      <a16:creationId xmlns:a16="http://schemas.microsoft.com/office/drawing/2014/main" id="{423603F4-FDBE-43EF-B0AA-1CD66EC447CD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166C4D6B-484E-41A1-BB3E-8076988C6EAC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D264627C-F3B6-4AFF-A983-F6F5DBFA078B}"/>
              </a:ext>
            </a:extLst>
          </p:cNvPr>
          <p:cNvSpPr txBox="1"/>
          <p:nvPr/>
        </p:nvSpPr>
        <p:spPr>
          <a:xfrm>
            <a:off x="1108766" y="3073814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heptane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19D4C69C-E5F2-4437-BD2D-9CC9817139C2}"/>
              </a:ext>
            </a:extLst>
          </p:cNvPr>
          <p:cNvSpPr txBox="1"/>
          <p:nvPr/>
        </p:nvSpPr>
        <p:spPr>
          <a:xfrm>
            <a:off x="795860" y="4752730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aqueuse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9D6466A1-4B8A-4DE9-AE0D-3056EF2B95B2}"/>
                  </a:ext>
                </a:extLst>
              </p:cNvPr>
              <p:cNvSpPr txBox="1"/>
              <p:nvPr/>
            </p:nvSpPr>
            <p:spPr>
              <a:xfrm>
                <a:off x="2163147" y="5515866"/>
                <a:ext cx="11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KI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9D6466A1-4B8A-4DE9-AE0D-3056EF2B9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47" y="5515866"/>
                <a:ext cx="1185133" cy="369332"/>
              </a:xfrm>
              <a:prstGeom prst="rect">
                <a:avLst/>
              </a:prstGeom>
              <a:blipFill>
                <a:blip r:embed="rId2"/>
                <a:stretch>
                  <a:fillRect l="-6186" r="-2577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CB9D39E1-74AD-4450-A226-0093D1132AF6}"/>
                  </a:ext>
                </a:extLst>
              </p:cNvPr>
              <p:cNvSpPr txBox="1"/>
              <p:nvPr/>
            </p:nvSpPr>
            <p:spPr>
              <a:xfrm>
                <a:off x="7149107" y="5532545"/>
                <a:ext cx="13277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KCl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CB9D39E1-74AD-4450-A226-0093D1132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9107" y="5532545"/>
                <a:ext cx="1327799" cy="369332"/>
              </a:xfrm>
              <a:prstGeom prst="rect">
                <a:avLst/>
              </a:prstGeom>
              <a:blipFill>
                <a:blip r:embed="rId3"/>
                <a:stretch>
                  <a:fillRect l="-5046" r="-2752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6C865767-407B-4F16-8B29-E7194AC6A2D4}"/>
                  </a:ext>
                </a:extLst>
              </p:cNvPr>
              <p:cNvSpPr txBox="1"/>
              <p:nvPr/>
            </p:nvSpPr>
            <p:spPr>
              <a:xfrm>
                <a:off x="10024760" y="5512168"/>
                <a:ext cx="11129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KCl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6C865767-407B-4F16-8B29-E7194AC6A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4760" y="5512168"/>
                <a:ext cx="1112997" cy="369332"/>
              </a:xfrm>
              <a:prstGeom prst="rect">
                <a:avLst/>
              </a:prstGeom>
              <a:blipFill>
                <a:blip r:embed="rId4"/>
                <a:stretch>
                  <a:fillRect l="-6557" r="-2732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0FA764CB-43BB-4B2E-86DE-E3935CE07B6C}"/>
              </a:ext>
            </a:extLst>
          </p:cNvPr>
          <p:cNvSpPr/>
          <p:nvPr/>
        </p:nvSpPr>
        <p:spPr>
          <a:xfrm>
            <a:off x="5667094" y="2828072"/>
            <a:ext cx="139148" cy="268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B36BA195-9FF9-4307-83F6-992BAB1BCBDF}"/>
              </a:ext>
            </a:extLst>
          </p:cNvPr>
          <p:cNvGrpSpPr/>
          <p:nvPr/>
        </p:nvGrpSpPr>
        <p:grpSpPr>
          <a:xfrm>
            <a:off x="4758229" y="1859566"/>
            <a:ext cx="1116496" cy="3562617"/>
            <a:chOff x="1510748" y="1339143"/>
            <a:chExt cx="1116496" cy="4303075"/>
          </a:xfrm>
        </p:grpSpPr>
        <p:sp>
          <p:nvSpPr>
            <p:cNvPr id="36" name="Arrondir un rectangle avec un coin du même côté 51">
              <a:extLst>
                <a:ext uri="{FF2B5EF4-FFF2-40B4-BE49-F238E27FC236}">
                  <a16:creationId xmlns:a16="http://schemas.microsoft.com/office/drawing/2014/main" id="{22609DDB-DF5F-4999-A264-7F6AF76D8744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chemeClr val="tx1">
                <a:lumMod val="50000"/>
                <a:lumOff val="50000"/>
                <a:alpha val="60000"/>
              </a:scheme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37" name="Grouper 435">
              <a:extLst>
                <a:ext uri="{FF2B5EF4-FFF2-40B4-BE49-F238E27FC236}">
                  <a16:creationId xmlns:a16="http://schemas.microsoft.com/office/drawing/2014/main" id="{383E3173-2340-49F2-B0EB-2A04EBE58394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38" name="Arrondir un rectangle avec un coin du même côté 51">
                <a:extLst>
                  <a:ext uri="{FF2B5EF4-FFF2-40B4-BE49-F238E27FC236}">
                    <a16:creationId xmlns:a16="http://schemas.microsoft.com/office/drawing/2014/main" id="{7F6831A1-7A25-411B-96DD-A75831355519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39" name="Grouper 432">
                <a:extLst>
                  <a:ext uri="{FF2B5EF4-FFF2-40B4-BE49-F238E27FC236}">
                    <a16:creationId xmlns:a16="http://schemas.microsoft.com/office/drawing/2014/main" id="{FDF42B83-8DA2-4BE9-AD64-C2D3174D0F0C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40" name="Arrondir un rectangle avec un coin du même côté 433">
                  <a:extLst>
                    <a:ext uri="{FF2B5EF4-FFF2-40B4-BE49-F238E27FC236}">
                      <a16:creationId xmlns:a16="http://schemas.microsoft.com/office/drawing/2014/main" id="{02CF7EAE-057C-4C0B-8905-AF5D2A5033EA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7EC197F-13DD-4FF6-8F40-1439EBD95F63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A706ACB-4E55-497F-B657-517924945C2A}"/>
                  </a:ext>
                </a:extLst>
              </p:cNvPr>
              <p:cNvSpPr txBox="1"/>
              <p:nvPr/>
            </p:nvSpPr>
            <p:spPr>
              <a:xfrm>
                <a:off x="4621109" y="5534783"/>
                <a:ext cx="11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KBr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2" name="ZoneTexte 41">
                <a:extLst>
                  <a:ext uri="{FF2B5EF4-FFF2-40B4-BE49-F238E27FC236}">
                    <a16:creationId xmlns:a16="http://schemas.microsoft.com/office/drawing/2014/main" id="{9A706ACB-4E55-497F-B657-517924945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1109" y="5534783"/>
                <a:ext cx="1185133" cy="369332"/>
              </a:xfrm>
              <a:prstGeom prst="rect">
                <a:avLst/>
              </a:prstGeom>
              <a:blipFill>
                <a:blip r:embed="rId5"/>
                <a:stretch>
                  <a:fillRect l="-5670" r="-1546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8748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889C4E-F9FB-41B1-8694-09313F3A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Pouvoir oxydant des </a:t>
            </a:r>
            <a:r>
              <a:rPr lang="fr-FR" dirty="0" err="1"/>
              <a:t>dihalogènes</a:t>
            </a:r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27D3E60-3A1C-4421-8119-C4A61A506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0401F7-681C-4AD7-B514-1B30A1B6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7</a:t>
            </a:fld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7335BA-93D1-499F-B38D-32A1384889B6}"/>
              </a:ext>
            </a:extLst>
          </p:cNvPr>
          <p:cNvSpPr/>
          <p:nvPr/>
        </p:nvSpPr>
        <p:spPr>
          <a:xfrm>
            <a:off x="4949085" y="2464884"/>
            <a:ext cx="139148" cy="2683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B69B7E16-46B0-4060-BD00-259D8418476D}"/>
              </a:ext>
            </a:extLst>
          </p:cNvPr>
          <p:cNvGrpSpPr/>
          <p:nvPr/>
        </p:nvGrpSpPr>
        <p:grpSpPr>
          <a:xfrm>
            <a:off x="1619476" y="1521235"/>
            <a:ext cx="1116496" cy="3537762"/>
            <a:chOff x="1510748" y="1339143"/>
            <a:chExt cx="1116496" cy="4303075"/>
          </a:xfrm>
        </p:grpSpPr>
        <p:sp>
          <p:nvSpPr>
            <p:cNvPr id="8" name="Arrondir un rectangle avec un coin du même côté 51">
              <a:extLst>
                <a:ext uri="{FF2B5EF4-FFF2-40B4-BE49-F238E27FC236}">
                  <a16:creationId xmlns:a16="http://schemas.microsoft.com/office/drawing/2014/main" id="{B92ED08D-D07F-48A7-9046-9F7168245E8C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rgbClr val="7030A0">
                <a:alpha val="60000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9" name="Grouper 435">
              <a:extLst>
                <a:ext uri="{FF2B5EF4-FFF2-40B4-BE49-F238E27FC236}">
                  <a16:creationId xmlns:a16="http://schemas.microsoft.com/office/drawing/2014/main" id="{642406D6-5466-4F75-867A-55DD74043089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10" name="Arrondir un rectangle avec un coin du même côté 51">
                <a:extLst>
                  <a:ext uri="{FF2B5EF4-FFF2-40B4-BE49-F238E27FC236}">
                    <a16:creationId xmlns:a16="http://schemas.microsoft.com/office/drawing/2014/main" id="{33F0CFE1-6F90-467A-B936-BD058A75F002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grpSp>
            <p:nvGrpSpPr>
              <p:cNvPr id="11" name="Grouper 432">
                <a:extLst>
                  <a:ext uri="{FF2B5EF4-FFF2-40B4-BE49-F238E27FC236}">
                    <a16:creationId xmlns:a16="http://schemas.microsoft.com/office/drawing/2014/main" id="{9E7FB03B-0638-41AA-8B1D-5553677FCB7C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12" name="Arrondir un rectangle avec un coin du même côté 433">
                  <a:extLst>
                    <a:ext uri="{FF2B5EF4-FFF2-40B4-BE49-F238E27FC236}">
                      <a16:creationId xmlns:a16="http://schemas.microsoft.com/office/drawing/2014/main" id="{10D7EF8F-6D38-49FC-AB9C-2655341F8364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A8A8EDB-8CD7-450A-A04C-4C2AA159D109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DE3EFBFB-699A-4845-9A1C-6150CB650F2C}"/>
              </a:ext>
            </a:extLst>
          </p:cNvPr>
          <p:cNvGrpSpPr/>
          <p:nvPr/>
        </p:nvGrpSpPr>
        <p:grpSpPr>
          <a:xfrm>
            <a:off x="4040220" y="1496378"/>
            <a:ext cx="1116496" cy="3562617"/>
            <a:chOff x="1510748" y="1339143"/>
            <a:chExt cx="1116496" cy="4303075"/>
          </a:xfrm>
        </p:grpSpPr>
        <p:sp>
          <p:nvSpPr>
            <p:cNvPr id="15" name="Arrondir un rectangle avec un coin du même côté 51">
              <a:extLst>
                <a:ext uri="{FF2B5EF4-FFF2-40B4-BE49-F238E27FC236}">
                  <a16:creationId xmlns:a16="http://schemas.microsoft.com/office/drawing/2014/main" id="{BC059DBC-F607-47A8-9D2B-FD580380D2F2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rgbClr val="7030A0">
                <a:alpha val="60000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16" name="Grouper 435">
              <a:extLst>
                <a:ext uri="{FF2B5EF4-FFF2-40B4-BE49-F238E27FC236}">
                  <a16:creationId xmlns:a16="http://schemas.microsoft.com/office/drawing/2014/main" id="{ECD36D13-06E3-4308-B8B2-B69CA1152C96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17" name="Arrondir un rectangle avec un coin du même côté 51">
                <a:extLst>
                  <a:ext uri="{FF2B5EF4-FFF2-40B4-BE49-F238E27FC236}">
                    <a16:creationId xmlns:a16="http://schemas.microsoft.com/office/drawing/2014/main" id="{F0CF7FBB-E9C6-435B-8B05-7CD2C9E24125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18" name="Grouper 432">
                <a:extLst>
                  <a:ext uri="{FF2B5EF4-FFF2-40B4-BE49-F238E27FC236}">
                    <a16:creationId xmlns:a16="http://schemas.microsoft.com/office/drawing/2014/main" id="{F0A4D06F-998F-4C99-B731-735D641F23BE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19" name="Arrondir un rectangle avec un coin du même côté 433">
                  <a:extLst>
                    <a:ext uri="{FF2B5EF4-FFF2-40B4-BE49-F238E27FC236}">
                      <a16:creationId xmlns:a16="http://schemas.microsoft.com/office/drawing/2014/main" id="{06408BDB-3010-4276-908B-EC5F92F1A41C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5BB6D68-2B59-4DC0-BBDF-23925C8921D0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37DA347C-F8EF-4214-B1F4-A0C4F45F78FA}"/>
              </a:ext>
            </a:extLst>
          </p:cNvPr>
          <p:cNvGrpSpPr/>
          <p:nvPr/>
        </p:nvGrpSpPr>
        <p:grpSpPr>
          <a:xfrm>
            <a:off x="6743391" y="1521231"/>
            <a:ext cx="1116496" cy="3537762"/>
            <a:chOff x="1510748" y="1339143"/>
            <a:chExt cx="1116496" cy="4303075"/>
          </a:xfrm>
        </p:grpSpPr>
        <p:sp>
          <p:nvSpPr>
            <p:cNvPr id="22" name="Arrondir un rectangle avec un coin du même côté 51">
              <a:extLst>
                <a:ext uri="{FF2B5EF4-FFF2-40B4-BE49-F238E27FC236}">
                  <a16:creationId xmlns:a16="http://schemas.microsoft.com/office/drawing/2014/main" id="{4E8C6FFF-CF1E-481F-AB86-241CC7A29EF4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rgbClr val="FF9900">
                <a:alpha val="60000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23" name="Grouper 435">
              <a:extLst>
                <a:ext uri="{FF2B5EF4-FFF2-40B4-BE49-F238E27FC236}">
                  <a16:creationId xmlns:a16="http://schemas.microsoft.com/office/drawing/2014/main" id="{FCF804B2-24D9-411F-845F-407D39EB81C1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24" name="Arrondir un rectangle avec un coin du même côté 51">
                <a:extLst>
                  <a:ext uri="{FF2B5EF4-FFF2-40B4-BE49-F238E27FC236}">
                    <a16:creationId xmlns:a16="http://schemas.microsoft.com/office/drawing/2014/main" id="{27177CFD-1A37-411E-AA1F-D6897BFFAD5B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25" name="Grouper 432">
                <a:extLst>
                  <a:ext uri="{FF2B5EF4-FFF2-40B4-BE49-F238E27FC236}">
                    <a16:creationId xmlns:a16="http://schemas.microsoft.com/office/drawing/2014/main" id="{39EAC451-4D07-4936-B737-2F756EE52893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26" name="Arrondir un rectangle avec un coin du même côté 433">
                  <a:extLst>
                    <a:ext uri="{FF2B5EF4-FFF2-40B4-BE49-F238E27FC236}">
                      <a16:creationId xmlns:a16="http://schemas.microsoft.com/office/drawing/2014/main" id="{99DB8536-C2A5-4863-9BA4-E384F0219511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69ECA1E4-D6B2-4F92-B9C7-F007EBCD7F4D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FF63E16F-CCE7-47B1-8D35-7A0498AC49CA}"/>
              </a:ext>
            </a:extLst>
          </p:cNvPr>
          <p:cNvGrpSpPr/>
          <p:nvPr/>
        </p:nvGrpSpPr>
        <p:grpSpPr>
          <a:xfrm>
            <a:off x="9582967" y="1521231"/>
            <a:ext cx="1116496" cy="3562617"/>
            <a:chOff x="1510748" y="1339143"/>
            <a:chExt cx="1116496" cy="4303075"/>
          </a:xfrm>
        </p:grpSpPr>
        <p:sp>
          <p:nvSpPr>
            <p:cNvPr id="29" name="Arrondir un rectangle avec un coin du même côté 51">
              <a:extLst>
                <a:ext uri="{FF2B5EF4-FFF2-40B4-BE49-F238E27FC236}">
                  <a16:creationId xmlns:a16="http://schemas.microsoft.com/office/drawing/2014/main" id="{3385F236-34D0-4DD1-95D0-AE959791F600}"/>
                </a:ext>
              </a:extLst>
            </p:cNvPr>
            <p:cNvSpPr/>
            <p:nvPr/>
          </p:nvSpPr>
          <p:spPr>
            <a:xfrm rot="10800000">
              <a:off x="1788221" y="2132132"/>
              <a:ext cx="558248" cy="1899793"/>
            </a:xfrm>
            <a:prstGeom prst="round2SameRect">
              <a:avLst/>
            </a:prstGeom>
            <a:solidFill>
              <a:srgbClr val="7030A0">
                <a:alpha val="60000"/>
              </a:srgbClr>
            </a:solidFill>
            <a:ln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  <p:grpSp>
          <p:nvGrpSpPr>
            <p:cNvPr id="30" name="Grouper 435">
              <a:extLst>
                <a:ext uri="{FF2B5EF4-FFF2-40B4-BE49-F238E27FC236}">
                  <a16:creationId xmlns:a16="http://schemas.microsoft.com/office/drawing/2014/main" id="{65B8B8EA-0065-4068-BA0F-4C77B4A7C2DF}"/>
                </a:ext>
              </a:extLst>
            </p:cNvPr>
            <p:cNvGrpSpPr/>
            <p:nvPr/>
          </p:nvGrpSpPr>
          <p:grpSpPr>
            <a:xfrm>
              <a:off x="1510748" y="1339143"/>
              <a:ext cx="1116496" cy="4303075"/>
              <a:chOff x="333375" y="46847"/>
              <a:chExt cx="457200" cy="1553353"/>
            </a:xfrm>
          </p:grpSpPr>
          <p:sp>
            <p:nvSpPr>
              <p:cNvPr id="31" name="Arrondir un rectangle avec un coin du même côté 51">
                <a:extLst>
                  <a:ext uri="{FF2B5EF4-FFF2-40B4-BE49-F238E27FC236}">
                    <a16:creationId xmlns:a16="http://schemas.microsoft.com/office/drawing/2014/main" id="{78F5789C-8A86-4ECC-B468-98FC82157EE2}"/>
                  </a:ext>
                </a:extLst>
              </p:cNvPr>
              <p:cNvSpPr/>
              <p:nvPr/>
            </p:nvSpPr>
            <p:spPr>
              <a:xfrm rot="10800000">
                <a:off x="446999" y="965188"/>
                <a:ext cx="228600" cy="635011"/>
              </a:xfrm>
              <a:prstGeom prst="round2Same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grpSp>
            <p:nvGrpSpPr>
              <p:cNvPr id="32" name="Grouper 432">
                <a:extLst>
                  <a:ext uri="{FF2B5EF4-FFF2-40B4-BE49-F238E27FC236}">
                    <a16:creationId xmlns:a16="http://schemas.microsoft.com/office/drawing/2014/main" id="{03E6EBDD-3038-44FD-953B-462DC28A43B2}"/>
                  </a:ext>
                </a:extLst>
              </p:cNvPr>
              <p:cNvGrpSpPr/>
              <p:nvPr/>
            </p:nvGrpSpPr>
            <p:grpSpPr>
              <a:xfrm>
                <a:off x="333375" y="46847"/>
                <a:ext cx="457200" cy="1553353"/>
                <a:chOff x="-285750" y="24130"/>
                <a:chExt cx="1143000" cy="800100"/>
              </a:xfrm>
            </p:grpSpPr>
            <p:sp>
              <p:nvSpPr>
                <p:cNvPr id="33" name="Arrondir un rectangle avec un coin du même côté 433">
                  <a:extLst>
                    <a:ext uri="{FF2B5EF4-FFF2-40B4-BE49-F238E27FC236}">
                      <a16:creationId xmlns:a16="http://schemas.microsoft.com/office/drawing/2014/main" id="{2C3FCFDC-A831-4C2E-A71D-F51368B067CB}"/>
                    </a:ext>
                  </a:extLst>
                </p:cNvPr>
                <p:cNvSpPr/>
                <p:nvPr/>
              </p:nvSpPr>
              <p:spPr>
                <a:xfrm rot="10800000">
                  <a:off x="0" y="24130"/>
                  <a:ext cx="571500" cy="800100"/>
                </a:xfrm>
                <a:prstGeom prst="round2SameRect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D43214CA-DFD1-4A2B-984C-2C02A3D3D9AE}"/>
                    </a:ext>
                  </a:extLst>
                </p:cNvPr>
                <p:cNvSpPr/>
                <p:nvPr/>
              </p:nvSpPr>
              <p:spPr>
                <a:xfrm flipV="1">
                  <a:off x="-285750" y="24130"/>
                  <a:ext cx="1143000" cy="3474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bg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</p:grpSp>
      </p:grpSp>
      <p:sp>
        <p:nvSpPr>
          <p:cNvPr id="35" name="ZoneTexte 34">
            <a:extLst>
              <a:ext uri="{FF2B5EF4-FFF2-40B4-BE49-F238E27FC236}">
                <a16:creationId xmlns:a16="http://schemas.microsoft.com/office/drawing/2014/main" id="{B31E40FB-083D-44C9-ACFE-4E75ACAAF56F}"/>
              </a:ext>
            </a:extLst>
          </p:cNvPr>
          <p:cNvSpPr txBox="1"/>
          <p:nvPr/>
        </p:nvSpPr>
        <p:spPr>
          <a:xfrm>
            <a:off x="595746" y="2733241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heptane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FE8ACAA-4008-4F82-93F9-1F3A88C3CCBD}"/>
              </a:ext>
            </a:extLst>
          </p:cNvPr>
          <p:cNvSpPr txBox="1"/>
          <p:nvPr/>
        </p:nvSpPr>
        <p:spPr>
          <a:xfrm>
            <a:off x="282840" y="4412157"/>
            <a:ext cx="15905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Phase aqueuse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80FDA034-ADE9-4F17-B3D6-D2E0D916B4B9}"/>
                  </a:ext>
                </a:extLst>
              </p:cNvPr>
              <p:cNvSpPr txBox="1"/>
              <p:nvPr/>
            </p:nvSpPr>
            <p:spPr>
              <a:xfrm>
                <a:off x="1650127" y="5175293"/>
                <a:ext cx="11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KI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7" name="ZoneTexte 36">
                <a:extLst>
                  <a:ext uri="{FF2B5EF4-FFF2-40B4-BE49-F238E27FC236}">
                    <a16:creationId xmlns:a16="http://schemas.microsoft.com/office/drawing/2014/main" id="{80FDA034-ADE9-4F17-B3D6-D2E0D916B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127" y="5175293"/>
                <a:ext cx="1185133" cy="369332"/>
              </a:xfrm>
              <a:prstGeom prst="rect">
                <a:avLst/>
              </a:prstGeom>
              <a:blipFill>
                <a:blip r:embed="rId2"/>
                <a:stretch>
                  <a:fillRect l="-6186" r="-2577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38454E0-C7E3-41F9-8E08-F832A18FCBFF}"/>
                  </a:ext>
                </a:extLst>
              </p:cNvPr>
              <p:cNvSpPr txBox="1"/>
              <p:nvPr/>
            </p:nvSpPr>
            <p:spPr>
              <a:xfrm>
                <a:off x="3903100" y="5171595"/>
                <a:ext cx="118513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KBr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8" name="ZoneTexte 37">
                <a:extLst>
                  <a:ext uri="{FF2B5EF4-FFF2-40B4-BE49-F238E27FC236}">
                    <a16:creationId xmlns:a16="http://schemas.microsoft.com/office/drawing/2014/main" id="{A38454E0-C7E3-41F9-8E08-F832A18FCB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3100" y="5171595"/>
                <a:ext cx="1185133" cy="369332"/>
              </a:xfrm>
              <a:prstGeom prst="rect">
                <a:avLst/>
              </a:prstGeom>
              <a:blipFill>
                <a:blip r:embed="rId3"/>
                <a:stretch>
                  <a:fillRect l="-5641" r="-1026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AF9AC60D-7B80-4D1A-8187-107034AA7815}"/>
                  </a:ext>
                </a:extLst>
              </p:cNvPr>
              <p:cNvSpPr txBox="1"/>
              <p:nvPr/>
            </p:nvSpPr>
            <p:spPr>
              <a:xfrm>
                <a:off x="6636087" y="5191972"/>
                <a:ext cx="132779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KCl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B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39" name="ZoneTexte 38">
                <a:extLst>
                  <a:ext uri="{FF2B5EF4-FFF2-40B4-BE49-F238E27FC236}">
                    <a16:creationId xmlns:a16="http://schemas.microsoft.com/office/drawing/2014/main" id="{AF9AC60D-7B80-4D1A-8187-107034AA7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6087" y="5191972"/>
                <a:ext cx="1327799" cy="369332"/>
              </a:xfrm>
              <a:prstGeom prst="rect">
                <a:avLst/>
              </a:prstGeom>
              <a:blipFill>
                <a:blip r:embed="rId4"/>
                <a:stretch>
                  <a:fillRect l="-5069" r="-3226" b="-15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97EF9B29-85CD-42EC-8CB5-A4BDA774D64F}"/>
                  </a:ext>
                </a:extLst>
              </p:cNvPr>
              <p:cNvSpPr txBox="1"/>
              <p:nvPr/>
            </p:nvSpPr>
            <p:spPr>
              <a:xfrm>
                <a:off x="9511740" y="5171595"/>
                <a:ext cx="11129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KCl</m:t>
                      </m:r>
                      <m:r>
                        <a:rPr lang="fr-F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fr-FR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40" name="ZoneTexte 39">
                <a:extLst>
                  <a:ext uri="{FF2B5EF4-FFF2-40B4-BE49-F238E27FC236}">
                    <a16:creationId xmlns:a16="http://schemas.microsoft.com/office/drawing/2014/main" id="{97EF9B29-85CD-42EC-8CB5-A4BDA774D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740" y="5171595"/>
                <a:ext cx="1112997" cy="369332"/>
              </a:xfrm>
              <a:prstGeom prst="rect">
                <a:avLst/>
              </a:prstGeom>
              <a:blipFill>
                <a:blip r:embed="rId5"/>
                <a:stretch>
                  <a:fillRect l="-6557" r="-2732" b="-1311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AEFE3074-5A91-430C-A754-E0185F1323C8}"/>
                  </a:ext>
                </a:extLst>
              </p:cNvPr>
              <p:cNvSpPr txBox="1"/>
              <p:nvPr/>
            </p:nvSpPr>
            <p:spPr>
              <a:xfrm>
                <a:off x="1254441" y="5620972"/>
                <a:ext cx="1843262" cy="64633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/>
                  <a:t>Oxydation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lang="fr-FR" dirty="0"/>
                  <a:t> pour former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fr-FR" dirty="0"/>
              </a:p>
            </p:txBody>
          </p:sp>
        </mc:Choice>
        <mc:Fallback xmlns="">
          <p:sp>
            <p:nvSpPr>
              <p:cNvPr id="41" name="ZoneTexte 40">
                <a:extLst>
                  <a:ext uri="{FF2B5EF4-FFF2-40B4-BE49-F238E27FC236}">
                    <a16:creationId xmlns:a16="http://schemas.microsoft.com/office/drawing/2014/main" id="{AEFE3074-5A91-430C-A754-E0185F132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441" y="5620972"/>
                <a:ext cx="1843262" cy="646331"/>
              </a:xfrm>
              <a:prstGeom prst="rect">
                <a:avLst/>
              </a:prstGeom>
              <a:blipFill>
                <a:blip r:embed="rId6"/>
                <a:stretch>
                  <a:fillRect t="-3704" b="-12963"/>
                </a:stretch>
              </a:blipFill>
              <a:ln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ZoneTexte 41">
            <a:extLst>
              <a:ext uri="{FF2B5EF4-FFF2-40B4-BE49-F238E27FC236}">
                <a16:creationId xmlns:a16="http://schemas.microsoft.com/office/drawing/2014/main" id="{C5B065D7-7186-4E27-A1CD-79FBFCE9CC95}"/>
              </a:ext>
            </a:extLst>
          </p:cNvPr>
          <p:cNvSpPr txBox="1"/>
          <p:nvPr/>
        </p:nvSpPr>
        <p:spPr>
          <a:xfrm>
            <a:off x="3677397" y="5759471"/>
            <a:ext cx="163653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Pas d’oxydation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6ADBC629-9B8B-43CE-B1FA-BB8E30E8CF00}"/>
              </a:ext>
            </a:extLst>
          </p:cNvPr>
          <p:cNvSpPr txBox="1"/>
          <p:nvPr/>
        </p:nvSpPr>
        <p:spPr>
          <a:xfrm>
            <a:off x="6481717" y="5759471"/>
            <a:ext cx="163653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Pas d’oxydation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1B3697FB-7427-4D19-B9B3-9674BB2D3DAF}"/>
              </a:ext>
            </a:extLst>
          </p:cNvPr>
          <p:cNvSpPr txBox="1"/>
          <p:nvPr/>
        </p:nvSpPr>
        <p:spPr>
          <a:xfrm>
            <a:off x="9321295" y="5765142"/>
            <a:ext cx="1636538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fr-FR" dirty="0"/>
              <a:t>Pas d’oxydation</a:t>
            </a:r>
          </a:p>
        </p:txBody>
      </p:sp>
    </p:spTree>
    <p:extLst>
      <p:ext uri="{BB962C8B-B14F-4D97-AF65-F5344CB8AC3E}">
        <p14:creationId xmlns:p14="http://schemas.microsoft.com/office/powerpoint/2010/main" val="330734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DC3C2-F3AD-42C8-B5A2-8B76B6F36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Famille des halogènes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562C523-4FB2-409D-8A28-F562EF6DA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614D41E-CE87-41E9-A6A4-A0233B21D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8</a:t>
            </a:fld>
            <a:endParaRPr lang="fr-FR"/>
          </a:p>
        </p:txBody>
      </p:sp>
      <p:pic>
        <p:nvPicPr>
          <p:cNvPr id="6" name="Picture 8" descr="RÃ©sultat de recherche d'images pour &quot;classification pÃ©riodique simplifiÃ©e&quot;">
            <a:extLst>
              <a:ext uri="{FF2B5EF4-FFF2-40B4-BE49-F238E27FC236}">
                <a16:creationId xmlns:a16="http://schemas.microsoft.com/office/drawing/2014/main" id="{1ACBD7B4-6D20-4DC5-BA63-CF69C0F82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540" y="1403695"/>
            <a:ext cx="8940919" cy="47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56FAC73-A7C1-436C-825B-B28C24EA323D}"/>
              </a:ext>
            </a:extLst>
          </p:cNvPr>
          <p:cNvCxnSpPr/>
          <p:nvPr/>
        </p:nvCxnSpPr>
        <p:spPr>
          <a:xfrm flipV="1">
            <a:off x="10823713" y="2097156"/>
            <a:ext cx="0" cy="26636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EB07811A-483D-4C21-A490-9F1F90D89B07}"/>
              </a:ext>
            </a:extLst>
          </p:cNvPr>
          <p:cNvSpPr txBox="1"/>
          <p:nvPr/>
        </p:nvSpPr>
        <p:spPr>
          <a:xfrm>
            <a:off x="10823713" y="2908310"/>
            <a:ext cx="1073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</a:rPr>
              <a:t>Pouvoir oxydant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9C0AA9-E543-4871-ABC5-586A9A83013A}"/>
              </a:ext>
            </a:extLst>
          </p:cNvPr>
          <p:cNvSpPr/>
          <p:nvPr/>
        </p:nvSpPr>
        <p:spPr>
          <a:xfrm>
            <a:off x="9633527" y="2780145"/>
            <a:ext cx="471055" cy="13854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3075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C69B64-66B9-46E9-82B7-625325C92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Famille des halogènes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E9511A9-42CD-4E01-A298-225DC537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DC3890E-87A3-47B3-8F30-7B258815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9</a:t>
            </a:fld>
            <a:endParaRPr lang="fr-FR"/>
          </a:p>
        </p:txBody>
      </p:sp>
      <p:pic>
        <p:nvPicPr>
          <p:cNvPr id="6" name="Picture 8" descr="RÃ©sultat de recherche d'images pour &quot;classification pÃ©riodique simplifiÃ©e&quot;">
            <a:extLst>
              <a:ext uri="{FF2B5EF4-FFF2-40B4-BE49-F238E27FC236}">
                <a16:creationId xmlns:a16="http://schemas.microsoft.com/office/drawing/2014/main" id="{A6A36FAF-1A70-4C0A-AF8A-8DEB97D89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540" y="1403695"/>
            <a:ext cx="8940919" cy="473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B5C04A15-EE4B-449C-AC6F-955260E3EDF0}"/>
              </a:ext>
            </a:extLst>
          </p:cNvPr>
          <p:cNvCxnSpPr/>
          <p:nvPr/>
        </p:nvCxnSpPr>
        <p:spPr>
          <a:xfrm flipV="1">
            <a:off x="10823713" y="2097156"/>
            <a:ext cx="0" cy="266368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26916E4A-CA66-4132-9020-BEDF3C5221DD}"/>
              </a:ext>
            </a:extLst>
          </p:cNvPr>
          <p:cNvSpPr txBox="1"/>
          <p:nvPr/>
        </p:nvSpPr>
        <p:spPr>
          <a:xfrm>
            <a:off x="10823713" y="2908310"/>
            <a:ext cx="10734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C00000"/>
                </a:solidFill>
              </a:rPr>
              <a:t>Pouvoir oxydant</a:t>
            </a:r>
          </a:p>
        </p:txBody>
      </p:sp>
    </p:spTree>
    <p:extLst>
      <p:ext uri="{BB962C8B-B14F-4D97-AF65-F5344CB8AC3E}">
        <p14:creationId xmlns:p14="http://schemas.microsoft.com/office/powerpoint/2010/main" val="66814794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166</TotalTime>
  <Words>117</Words>
  <Application>Microsoft Office PowerPoint</Application>
  <PresentationFormat>Grand écran</PresentationFormat>
  <Paragraphs>52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Rétrospective</vt:lpstr>
      <vt:lpstr>Classification périodique</vt:lpstr>
      <vt:lpstr>Historique</vt:lpstr>
      <vt:lpstr>Historique</vt:lpstr>
      <vt:lpstr>Historique</vt:lpstr>
      <vt:lpstr>Famille des halogènes</vt:lpstr>
      <vt:lpstr>Pouvoir oxydant des halogènes</vt:lpstr>
      <vt:lpstr>Pouvoir oxydant des dihalogènes</vt:lpstr>
      <vt:lpstr>Famille des halogènes</vt:lpstr>
      <vt:lpstr>Famille des halogènes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29</cp:revision>
  <dcterms:created xsi:type="dcterms:W3CDTF">2019-04-06T14:18:31Z</dcterms:created>
  <dcterms:modified xsi:type="dcterms:W3CDTF">2019-06-15T08:28:47Z</dcterms:modified>
</cp:coreProperties>
</file>