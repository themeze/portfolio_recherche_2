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6" r:id="rId4"/>
    <p:sldId id="267" r:id="rId5"/>
    <p:sldId id="260" r:id="rId6"/>
    <p:sldId id="259" r:id="rId7"/>
    <p:sldId id="268" r:id="rId8"/>
    <p:sldId id="262" r:id="rId9"/>
    <p:sldId id="263" r:id="rId10"/>
    <p:sldId id="269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31/05/2019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55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31/05/2019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7037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31/05/2019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6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31/05/2019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4686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31/05/2019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3656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31/05/2019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2367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31/05/2019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759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3735D77-A6E5-4E36-903D-CFD5F78B9A89}" type="datetimeFigureOut">
              <a:rPr lang="fr-FR" smtClean="0"/>
              <a:t>31/05/2019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6284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31/05/2019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8317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31/05/2019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3357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31/05/2019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87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3735D77-A6E5-4E36-903D-CFD5F78B9A89}" type="datetimeFigureOut">
              <a:rPr lang="fr-FR" smtClean="0"/>
              <a:t>31/05/2019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031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08659C-7876-4E39-A5CD-B49C80E6E9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Chimie et couleur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A1BD07B-336A-49DC-9798-E1D5466AA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Agrégation 2019</a:t>
            </a:r>
          </a:p>
        </p:txBody>
      </p:sp>
    </p:spTree>
    <p:extLst>
      <p:ext uri="{BB962C8B-B14F-4D97-AF65-F5344CB8AC3E}">
        <p14:creationId xmlns:p14="http://schemas.microsoft.com/office/powerpoint/2010/main" val="3842257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011A30-D851-4542-9C7D-BDB6E3718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de l’indigo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B614B6CA-28D3-45DA-A18D-E8935662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49223"/>
          </a:xfrm>
        </p:spPr>
        <p:txBody>
          <a:bodyPr/>
          <a:lstStyle/>
          <a:p>
            <a:r>
              <a:rPr lang="fr-FR" u="sng" dirty="0"/>
              <a:t>Réaction</a:t>
            </a:r>
            <a:r>
              <a:rPr lang="fr-FR" dirty="0"/>
              <a:t> :</a:t>
            </a: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74B82B39-2A18-4A05-98B7-176AF7070114}"/>
              </a:ext>
            </a:extLst>
          </p:cNvPr>
          <p:cNvGrpSpPr/>
          <p:nvPr/>
        </p:nvGrpSpPr>
        <p:grpSpPr>
          <a:xfrm>
            <a:off x="0" y="2460371"/>
            <a:ext cx="12192000" cy="1679954"/>
            <a:chOff x="0" y="2460371"/>
            <a:chExt cx="12192000" cy="1679954"/>
          </a:xfrm>
        </p:grpSpPr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8A1E8CDD-F0CE-4A48-ABBB-A0D9468A6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460371"/>
              <a:ext cx="12192000" cy="354022"/>
            </a:xfrm>
            <a:prstGeom prst="rect">
              <a:avLst/>
            </a:prstGeom>
          </p:spPr>
        </p:pic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97CC13E0-E6FF-462E-9E7D-BFB77F3C5F46}"/>
                </a:ext>
              </a:extLst>
            </p:cNvPr>
            <p:cNvGrpSpPr/>
            <p:nvPr/>
          </p:nvGrpSpPr>
          <p:grpSpPr>
            <a:xfrm>
              <a:off x="0" y="3768725"/>
              <a:ext cx="11772900" cy="371600"/>
              <a:chOff x="0" y="3768725"/>
              <a:chExt cx="11772900" cy="371600"/>
            </a:xfrm>
          </p:grpSpPr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4322DD91-7606-4EA5-AA8D-6901E4B7BE73}"/>
                  </a:ext>
                </a:extLst>
              </p:cNvPr>
              <p:cNvSpPr txBox="1"/>
              <p:nvPr/>
            </p:nvSpPr>
            <p:spPr>
              <a:xfrm>
                <a:off x="0" y="3768725"/>
                <a:ext cx="2109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2-nitrobenzaldéhyde</a:t>
                </a:r>
              </a:p>
            </p:txBody>
          </p:sp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0BC25AC6-2105-4D1C-886A-14E5B3BA41EC}"/>
                  </a:ext>
                </a:extLst>
              </p:cNvPr>
              <p:cNvSpPr txBox="1"/>
              <p:nvPr/>
            </p:nvSpPr>
            <p:spPr>
              <a:xfrm>
                <a:off x="2356104" y="3770993"/>
                <a:ext cx="9692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acétone</a:t>
                </a:r>
              </a:p>
            </p:txBody>
          </p:sp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F8B9C1AA-7E28-481E-9C70-2F0F9BF83BCB}"/>
                  </a:ext>
                </a:extLst>
              </p:cNvPr>
              <p:cNvSpPr txBox="1"/>
              <p:nvPr/>
            </p:nvSpPr>
            <p:spPr>
              <a:xfrm>
                <a:off x="3677412" y="3770993"/>
                <a:ext cx="16215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ions hydroxyde</a:t>
                </a:r>
              </a:p>
            </p:txBody>
          </p:sp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764E8D57-ADCB-4BDC-94FE-A6B5AC9649F4}"/>
                  </a:ext>
                </a:extLst>
              </p:cNvPr>
              <p:cNvSpPr txBox="1"/>
              <p:nvPr/>
            </p:nvSpPr>
            <p:spPr>
              <a:xfrm>
                <a:off x="6905244" y="3769859"/>
                <a:ext cx="774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>
                    <a:solidFill>
                      <a:srgbClr val="002060"/>
                    </a:solidFill>
                  </a:rPr>
                  <a:t>indigo</a:t>
                </a:r>
              </a:p>
            </p:txBody>
          </p:sp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4ED75A89-FFF8-4F6D-86F6-8E1EF152DA32}"/>
                  </a:ext>
                </a:extLst>
              </p:cNvPr>
              <p:cNvSpPr txBox="1"/>
              <p:nvPr/>
            </p:nvSpPr>
            <p:spPr>
              <a:xfrm>
                <a:off x="8727186" y="3769859"/>
                <a:ext cx="16215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ions éthanoate</a:t>
                </a:r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A777092F-0E4B-442D-80ED-F56EFD2B56EF}"/>
                  </a:ext>
                </a:extLst>
              </p:cNvPr>
              <p:cNvSpPr txBox="1"/>
              <p:nvPr/>
            </p:nvSpPr>
            <p:spPr>
              <a:xfrm>
                <a:off x="11163300" y="3768725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eau</a:t>
                </a:r>
              </a:p>
            </p:txBody>
          </p:sp>
        </p:grpSp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E0B67087-53C4-4124-B259-B8259D33B435}"/>
                </a:ext>
              </a:extLst>
            </p:cNvPr>
            <p:cNvGrpSpPr/>
            <p:nvPr/>
          </p:nvGrpSpPr>
          <p:grpSpPr>
            <a:xfrm>
              <a:off x="1054608" y="2814393"/>
              <a:ext cx="10389108" cy="954332"/>
              <a:chOff x="1054608" y="2814393"/>
              <a:chExt cx="10389108" cy="954332"/>
            </a:xfrm>
          </p:grpSpPr>
          <p:cxnSp>
            <p:nvCxnSpPr>
              <p:cNvPr id="26" name="Connecteur droit avec flèche 25">
                <a:extLst>
                  <a:ext uri="{FF2B5EF4-FFF2-40B4-BE49-F238E27FC236}">
                    <a16:creationId xmlns:a16="http://schemas.microsoft.com/office/drawing/2014/main" id="{EA6A1B1A-0634-4858-899F-BE17757F6733}"/>
                  </a:ext>
                </a:extLst>
              </p:cNvPr>
              <p:cNvCxnSpPr>
                <a:endCxn id="18" idx="0"/>
              </p:cNvCxnSpPr>
              <p:nvPr/>
            </p:nvCxnSpPr>
            <p:spPr>
              <a:xfrm>
                <a:off x="1054608" y="2814393"/>
                <a:ext cx="0" cy="9543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Connecteur droit avec flèche 26">
                <a:extLst>
                  <a:ext uri="{FF2B5EF4-FFF2-40B4-BE49-F238E27FC236}">
                    <a16:creationId xmlns:a16="http://schemas.microsoft.com/office/drawing/2014/main" id="{A169800B-E0E8-4A04-9A3C-E8584B18FFCB}"/>
                  </a:ext>
                </a:extLst>
              </p:cNvPr>
              <p:cNvCxnSpPr/>
              <p:nvPr/>
            </p:nvCxnSpPr>
            <p:spPr>
              <a:xfrm>
                <a:off x="2840736" y="2814393"/>
                <a:ext cx="0" cy="9543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Connecteur droit avec flèche 27">
                <a:extLst>
                  <a:ext uri="{FF2B5EF4-FFF2-40B4-BE49-F238E27FC236}">
                    <a16:creationId xmlns:a16="http://schemas.microsoft.com/office/drawing/2014/main" id="{83F52C4E-0954-4CCD-85DE-E775E05984AA}"/>
                  </a:ext>
                </a:extLst>
              </p:cNvPr>
              <p:cNvCxnSpPr/>
              <p:nvPr/>
            </p:nvCxnSpPr>
            <p:spPr>
              <a:xfrm>
                <a:off x="4488180" y="2814393"/>
                <a:ext cx="0" cy="9543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Connecteur droit avec flèche 28">
                <a:extLst>
                  <a:ext uri="{FF2B5EF4-FFF2-40B4-BE49-F238E27FC236}">
                    <a16:creationId xmlns:a16="http://schemas.microsoft.com/office/drawing/2014/main" id="{DE32B37B-8EFD-47FC-851F-E3DB240F6B70}"/>
                  </a:ext>
                </a:extLst>
              </p:cNvPr>
              <p:cNvCxnSpPr/>
              <p:nvPr/>
            </p:nvCxnSpPr>
            <p:spPr>
              <a:xfrm>
                <a:off x="7292340" y="2814393"/>
                <a:ext cx="0" cy="9543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Connecteur droit avec flèche 29">
                <a:extLst>
                  <a:ext uri="{FF2B5EF4-FFF2-40B4-BE49-F238E27FC236}">
                    <a16:creationId xmlns:a16="http://schemas.microsoft.com/office/drawing/2014/main" id="{4C2FE79C-95D4-41BE-AC6D-1A35823234CB}"/>
                  </a:ext>
                </a:extLst>
              </p:cNvPr>
              <p:cNvCxnSpPr/>
              <p:nvPr/>
            </p:nvCxnSpPr>
            <p:spPr>
              <a:xfrm>
                <a:off x="9537954" y="2814393"/>
                <a:ext cx="0" cy="9543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Connecteur droit avec flèche 30">
                <a:extLst>
                  <a:ext uri="{FF2B5EF4-FFF2-40B4-BE49-F238E27FC236}">
                    <a16:creationId xmlns:a16="http://schemas.microsoft.com/office/drawing/2014/main" id="{47E352EC-12F4-4439-AA2D-7B0ACEB995F9}"/>
                  </a:ext>
                </a:extLst>
              </p:cNvPr>
              <p:cNvCxnSpPr/>
              <p:nvPr/>
            </p:nvCxnSpPr>
            <p:spPr>
              <a:xfrm>
                <a:off x="11443716" y="2814393"/>
                <a:ext cx="0" cy="9543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Espace réservé du contenu 2">
            <a:extLst>
              <a:ext uri="{FF2B5EF4-FFF2-40B4-BE49-F238E27FC236}">
                <a16:creationId xmlns:a16="http://schemas.microsoft.com/office/drawing/2014/main" id="{293E7953-9527-4A44-A7F5-E68BD1F8E1B4}"/>
              </a:ext>
            </a:extLst>
          </p:cNvPr>
          <p:cNvSpPr txBox="1">
            <a:spLocks/>
          </p:cNvSpPr>
          <p:nvPr/>
        </p:nvSpPr>
        <p:spPr>
          <a:xfrm>
            <a:off x="815340" y="4723057"/>
            <a:ext cx="10515600" cy="1149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u="sng" dirty="0"/>
              <a:t>Extraction</a:t>
            </a:r>
            <a:r>
              <a:rPr lang="fr-FR" dirty="0"/>
              <a:t> : essorage sur Büchner</a:t>
            </a:r>
          </a:p>
        </p:txBody>
      </p:sp>
    </p:spTree>
    <p:extLst>
      <p:ext uri="{BB962C8B-B14F-4D97-AF65-F5344CB8AC3E}">
        <p14:creationId xmlns:p14="http://schemas.microsoft.com/office/powerpoint/2010/main" val="4294749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905AF8-1756-444B-89AB-FC75AD6D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de l’indigo</a:t>
            </a:r>
          </a:p>
        </p:txBody>
      </p:sp>
      <p:grpSp>
        <p:nvGrpSpPr>
          <p:cNvPr id="131" name="Groupe 130">
            <a:extLst>
              <a:ext uri="{FF2B5EF4-FFF2-40B4-BE49-F238E27FC236}">
                <a16:creationId xmlns:a16="http://schemas.microsoft.com/office/drawing/2014/main" id="{BACF85BB-A9F6-4BB6-AEAD-EBE4624BC9C6}"/>
              </a:ext>
            </a:extLst>
          </p:cNvPr>
          <p:cNvGrpSpPr/>
          <p:nvPr/>
        </p:nvGrpSpPr>
        <p:grpSpPr>
          <a:xfrm>
            <a:off x="4861428" y="2230977"/>
            <a:ext cx="1814327" cy="3953924"/>
            <a:chOff x="4861428" y="2230977"/>
            <a:chExt cx="1814327" cy="3953924"/>
          </a:xfrm>
        </p:grpSpPr>
        <p:grpSp>
          <p:nvGrpSpPr>
            <p:cNvPr id="6" name="Grouper 951">
              <a:extLst>
                <a:ext uri="{FF2B5EF4-FFF2-40B4-BE49-F238E27FC236}">
                  <a16:creationId xmlns:a16="http://schemas.microsoft.com/office/drawing/2014/main" id="{C7F22D51-8DD9-4371-A683-E3A6E1F55BF6}"/>
                </a:ext>
              </a:extLst>
            </p:cNvPr>
            <p:cNvGrpSpPr/>
            <p:nvPr/>
          </p:nvGrpSpPr>
          <p:grpSpPr>
            <a:xfrm>
              <a:off x="5124893" y="3807649"/>
              <a:ext cx="1528780" cy="1300312"/>
              <a:chOff x="0" y="0"/>
              <a:chExt cx="1143000" cy="972185"/>
            </a:xfrm>
          </p:grpSpPr>
          <p:grpSp>
            <p:nvGrpSpPr>
              <p:cNvPr id="53" name="Grouper 952">
                <a:extLst>
                  <a:ext uri="{FF2B5EF4-FFF2-40B4-BE49-F238E27FC236}">
                    <a16:creationId xmlns:a16="http://schemas.microsoft.com/office/drawing/2014/main" id="{CE87B4C3-66C4-45F7-BEB3-C23639A9C011}"/>
                  </a:ext>
                </a:extLst>
              </p:cNvPr>
              <p:cNvGrpSpPr/>
              <p:nvPr/>
            </p:nvGrpSpPr>
            <p:grpSpPr>
              <a:xfrm>
                <a:off x="0" y="226695"/>
                <a:ext cx="1143000" cy="745490"/>
                <a:chOff x="0" y="0"/>
                <a:chExt cx="1143000" cy="745490"/>
              </a:xfrm>
            </p:grpSpPr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4FE9A23-5FA5-43C9-A6BD-868F57261C3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0" cy="745490"/>
                </a:xfrm>
                <a:prstGeom prst="rect">
                  <a:avLst/>
                </a:prstGeom>
                <a:solidFill>
                  <a:srgbClr val="BFBFBF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28844DC4-EE61-4204-835A-145A63B7CBED}"/>
                    </a:ext>
                  </a:extLst>
                </p:cNvPr>
                <p:cNvSpPr/>
                <p:nvPr/>
              </p:nvSpPr>
              <p:spPr>
                <a:xfrm>
                  <a:off x="114300" y="496570"/>
                  <a:ext cx="114300" cy="13525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54" name="Corde 53">
                <a:extLst>
                  <a:ext uri="{FF2B5EF4-FFF2-40B4-BE49-F238E27FC236}">
                    <a16:creationId xmlns:a16="http://schemas.microsoft.com/office/drawing/2014/main" id="{4DECDA5E-BF39-483A-934A-32A1FFD1403A}"/>
                  </a:ext>
                </a:extLst>
              </p:cNvPr>
              <p:cNvSpPr/>
              <p:nvPr/>
            </p:nvSpPr>
            <p:spPr>
              <a:xfrm rot="17567007">
                <a:off x="227330" y="4445"/>
                <a:ext cx="706120" cy="697230"/>
              </a:xfrm>
              <a:prstGeom prst="chord">
                <a:avLst>
                  <a:gd name="adj1" fmla="val 2700000"/>
                  <a:gd name="adj2" fmla="val 16236166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7" name="Grouper 1156">
              <a:extLst>
                <a:ext uri="{FF2B5EF4-FFF2-40B4-BE49-F238E27FC236}">
                  <a16:creationId xmlns:a16="http://schemas.microsoft.com/office/drawing/2014/main" id="{239CF3F5-1C74-432F-B25B-1D140D636E6A}"/>
                </a:ext>
              </a:extLst>
            </p:cNvPr>
            <p:cNvGrpSpPr/>
            <p:nvPr/>
          </p:nvGrpSpPr>
          <p:grpSpPr>
            <a:xfrm>
              <a:off x="5128290" y="5094371"/>
              <a:ext cx="1547465" cy="1090530"/>
              <a:chOff x="0" y="0"/>
              <a:chExt cx="1156970" cy="81534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196D430-C0E5-470E-91B8-00E08A5158EE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100330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18E7D927-D1BC-41F6-A1D7-8818AD0BF3D5}"/>
                  </a:ext>
                </a:extLst>
              </p:cNvPr>
              <p:cNvSpPr/>
              <p:nvPr/>
            </p:nvSpPr>
            <p:spPr>
              <a:xfrm>
                <a:off x="13970" y="715010"/>
                <a:ext cx="1143000" cy="100330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cxnSp>
            <p:nvCxnSpPr>
              <p:cNvPr id="49" name="Connecteur droit 48">
                <a:extLst>
                  <a:ext uri="{FF2B5EF4-FFF2-40B4-BE49-F238E27FC236}">
                    <a16:creationId xmlns:a16="http://schemas.microsoft.com/office/drawing/2014/main" id="{BE33F7E3-6BA4-4C99-9C76-E2641B70D631}"/>
                  </a:ext>
                </a:extLst>
              </p:cNvPr>
              <p:cNvCxnSpPr/>
              <p:nvPr/>
            </p:nvCxnSpPr>
            <p:spPr>
              <a:xfrm>
                <a:off x="113665" y="100330"/>
                <a:ext cx="924227" cy="3048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necteur droit 49">
                <a:extLst>
                  <a:ext uri="{FF2B5EF4-FFF2-40B4-BE49-F238E27FC236}">
                    <a16:creationId xmlns:a16="http://schemas.microsoft.com/office/drawing/2014/main" id="{1614207F-56C0-4BEB-99E2-B7C3A342F237}"/>
                  </a:ext>
                </a:extLst>
              </p:cNvPr>
              <p:cNvCxnSpPr/>
              <p:nvPr/>
            </p:nvCxnSpPr>
            <p:spPr>
              <a:xfrm flipH="1">
                <a:off x="113665" y="100330"/>
                <a:ext cx="924862" cy="3048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necteur droit 50">
                <a:extLst>
                  <a:ext uri="{FF2B5EF4-FFF2-40B4-BE49-F238E27FC236}">
                    <a16:creationId xmlns:a16="http://schemas.microsoft.com/office/drawing/2014/main" id="{0C07FA73-C211-450B-9B4B-F8D94CAE676D}"/>
                  </a:ext>
                </a:extLst>
              </p:cNvPr>
              <p:cNvCxnSpPr/>
              <p:nvPr/>
            </p:nvCxnSpPr>
            <p:spPr>
              <a:xfrm>
                <a:off x="113665" y="405130"/>
                <a:ext cx="924227" cy="3048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necteur droit 51">
                <a:extLst>
                  <a:ext uri="{FF2B5EF4-FFF2-40B4-BE49-F238E27FC236}">
                    <a16:creationId xmlns:a16="http://schemas.microsoft.com/office/drawing/2014/main" id="{F87E53F3-DF04-4B6C-8EC1-15DF12ED81D5}"/>
                  </a:ext>
                </a:extLst>
              </p:cNvPr>
              <p:cNvCxnSpPr/>
              <p:nvPr/>
            </p:nvCxnSpPr>
            <p:spPr>
              <a:xfrm flipH="1">
                <a:off x="113665" y="405130"/>
                <a:ext cx="924560" cy="3048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er 1286">
              <a:extLst>
                <a:ext uri="{FF2B5EF4-FFF2-40B4-BE49-F238E27FC236}">
                  <a16:creationId xmlns:a16="http://schemas.microsoft.com/office/drawing/2014/main" id="{34CF60F1-5682-40F2-91F7-C35345FEDD5B}"/>
                </a:ext>
              </a:extLst>
            </p:cNvPr>
            <p:cNvGrpSpPr/>
            <p:nvPr/>
          </p:nvGrpSpPr>
          <p:grpSpPr>
            <a:xfrm>
              <a:off x="5434046" y="3563893"/>
              <a:ext cx="927460" cy="1181407"/>
              <a:chOff x="0" y="0"/>
              <a:chExt cx="693420" cy="883285"/>
            </a:xfrm>
          </p:grpSpPr>
          <p:grpSp>
            <p:nvGrpSpPr>
              <p:cNvPr id="14" name="Grouper 1231">
                <a:extLst>
                  <a:ext uri="{FF2B5EF4-FFF2-40B4-BE49-F238E27FC236}">
                    <a16:creationId xmlns:a16="http://schemas.microsoft.com/office/drawing/2014/main" id="{F0D9BA78-D20A-4450-960C-CF0A31A3A1E1}"/>
                  </a:ext>
                </a:extLst>
              </p:cNvPr>
              <p:cNvGrpSpPr/>
              <p:nvPr/>
            </p:nvGrpSpPr>
            <p:grpSpPr>
              <a:xfrm>
                <a:off x="0" y="0"/>
                <a:ext cx="693420" cy="883285"/>
                <a:chOff x="0" y="0"/>
                <a:chExt cx="693420" cy="883285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675823BB-F057-4E96-B42A-06754CF34969}"/>
                    </a:ext>
                  </a:extLst>
                </p:cNvPr>
                <p:cNvSpPr/>
                <p:nvPr/>
              </p:nvSpPr>
              <p:spPr>
                <a:xfrm rot="19775393">
                  <a:off x="28575" y="148590"/>
                  <a:ext cx="152400" cy="25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6242E16A-0B38-431F-AAFC-1D2E476258A4}"/>
                    </a:ext>
                  </a:extLst>
                </p:cNvPr>
                <p:cNvSpPr/>
                <p:nvPr/>
              </p:nvSpPr>
              <p:spPr>
                <a:xfrm>
                  <a:off x="272415" y="12700"/>
                  <a:ext cx="152400" cy="25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44" name="Ellipse 43">
                  <a:extLst>
                    <a:ext uri="{FF2B5EF4-FFF2-40B4-BE49-F238E27FC236}">
                      <a16:creationId xmlns:a16="http://schemas.microsoft.com/office/drawing/2014/main" id="{CFD1BB2D-CEE6-43BD-800A-2D9C04AADA82}"/>
                    </a:ext>
                  </a:extLst>
                </p:cNvPr>
                <p:cNvSpPr/>
                <p:nvPr/>
              </p:nvSpPr>
              <p:spPr>
                <a:xfrm>
                  <a:off x="0" y="189865"/>
                  <a:ext cx="693420" cy="6934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C21BB514-C5AC-40F2-B07F-FD9F50AE37E0}"/>
                    </a:ext>
                  </a:extLst>
                </p:cNvPr>
                <p:cNvSpPr/>
                <p:nvPr/>
              </p:nvSpPr>
              <p:spPr>
                <a:xfrm rot="19775393">
                  <a:off x="38735" y="136525"/>
                  <a:ext cx="134620" cy="2870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7127706-7247-41A5-A5C9-09CAB9F75CC7}"/>
                    </a:ext>
                  </a:extLst>
                </p:cNvPr>
                <p:cNvSpPr/>
                <p:nvPr/>
              </p:nvSpPr>
              <p:spPr>
                <a:xfrm>
                  <a:off x="280035" y="0"/>
                  <a:ext cx="134620" cy="2870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15" name="Grouper 1285">
                <a:extLst>
                  <a:ext uri="{FF2B5EF4-FFF2-40B4-BE49-F238E27FC236}">
                    <a16:creationId xmlns:a16="http://schemas.microsoft.com/office/drawing/2014/main" id="{47636388-715D-40EB-88C0-64899A1411E0}"/>
                  </a:ext>
                </a:extLst>
              </p:cNvPr>
              <p:cNvGrpSpPr/>
              <p:nvPr/>
            </p:nvGrpSpPr>
            <p:grpSpPr>
              <a:xfrm>
                <a:off x="0" y="189230"/>
                <a:ext cx="693420" cy="693420"/>
                <a:chOff x="0" y="0"/>
                <a:chExt cx="693420" cy="693420"/>
              </a:xfrm>
            </p:grpSpPr>
            <p:sp>
              <p:nvSpPr>
                <p:cNvPr id="16" name="Corde 15">
                  <a:extLst>
                    <a:ext uri="{FF2B5EF4-FFF2-40B4-BE49-F238E27FC236}">
                      <a16:creationId xmlns:a16="http://schemas.microsoft.com/office/drawing/2014/main" id="{498B42D1-3C30-4A03-88F3-EEA2CE96CDCB}"/>
                    </a:ext>
                  </a:extLst>
                </p:cNvPr>
                <p:cNvSpPr/>
                <p:nvPr/>
              </p:nvSpPr>
              <p:spPr>
                <a:xfrm rot="17560116">
                  <a:off x="0" y="0"/>
                  <a:ext cx="693420" cy="693420"/>
                </a:xfrm>
                <a:prstGeom prst="chord">
                  <a:avLst>
                    <a:gd name="adj1" fmla="val 4447445"/>
                    <a:gd name="adj2" fmla="val 14321630"/>
                  </a:avLst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grpSp>
              <p:nvGrpSpPr>
                <p:cNvPr id="17" name="Grouper 1119">
                  <a:extLst>
                    <a:ext uri="{FF2B5EF4-FFF2-40B4-BE49-F238E27FC236}">
                      <a16:creationId xmlns:a16="http://schemas.microsoft.com/office/drawing/2014/main" id="{ED5EE42E-F9D9-4CC9-8D44-62D26B0E00B0}"/>
                    </a:ext>
                  </a:extLst>
                </p:cNvPr>
                <p:cNvGrpSpPr/>
                <p:nvPr/>
              </p:nvGrpSpPr>
              <p:grpSpPr>
                <a:xfrm>
                  <a:off x="150495" y="434341"/>
                  <a:ext cx="410210" cy="220343"/>
                  <a:chOff x="0" y="1"/>
                  <a:chExt cx="410210" cy="220343"/>
                </a:xfrm>
              </p:grpSpPr>
              <p:grpSp>
                <p:nvGrpSpPr>
                  <p:cNvPr id="18" name="Grouper 1121">
                    <a:extLst>
                      <a:ext uri="{FF2B5EF4-FFF2-40B4-BE49-F238E27FC236}">
                        <a16:creationId xmlns:a16="http://schemas.microsoft.com/office/drawing/2014/main" id="{DB3A73F0-076A-4F09-9536-0C86A3FC0E52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4322" y="1"/>
                    <a:ext cx="135888" cy="203840"/>
                    <a:chOff x="0" y="134620"/>
                    <a:chExt cx="291465" cy="530225"/>
                  </a:xfrm>
                </p:grpSpPr>
                <p:sp>
                  <p:nvSpPr>
                    <p:cNvPr id="35" name="Ellipse 34">
                      <a:extLst>
                        <a:ext uri="{FF2B5EF4-FFF2-40B4-BE49-F238E27FC236}">
                          <a16:creationId xmlns:a16="http://schemas.microsoft.com/office/drawing/2014/main" id="{6BB8CD22-872A-45F9-A280-0050B76E5A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357505"/>
                      <a:ext cx="60325" cy="6794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36" name="Ellipse 35">
                      <a:extLst>
                        <a:ext uri="{FF2B5EF4-FFF2-40B4-BE49-F238E27FC236}">
                          <a16:creationId xmlns:a16="http://schemas.microsoft.com/office/drawing/2014/main" id="{321D3EF3-D0F7-40FB-B012-A8AE25EFD7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85" y="400685"/>
                      <a:ext cx="75565" cy="889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37" name="Ellipse 36">
                      <a:extLst>
                        <a:ext uri="{FF2B5EF4-FFF2-40B4-BE49-F238E27FC236}">
                          <a16:creationId xmlns:a16="http://schemas.microsoft.com/office/drawing/2014/main" id="{B7160E4F-690C-4FDD-AA10-2F8DC1FF93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640" y="238760"/>
                      <a:ext cx="76200" cy="9017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38" name="Ellipse 37">
                      <a:extLst>
                        <a:ext uri="{FF2B5EF4-FFF2-40B4-BE49-F238E27FC236}">
                          <a16:creationId xmlns:a16="http://schemas.microsoft.com/office/drawing/2014/main" id="{5849B18B-1106-4575-A817-F18C1559BC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176530"/>
                      <a:ext cx="88265" cy="9715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39" name="Ellipse 38">
                      <a:extLst>
                        <a:ext uri="{FF2B5EF4-FFF2-40B4-BE49-F238E27FC236}">
                          <a16:creationId xmlns:a16="http://schemas.microsoft.com/office/drawing/2014/main" id="{8F4B74ED-604E-45A5-9EF9-17F2545D06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400" y="1346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0" name="Ellipse 39">
                      <a:extLst>
                        <a:ext uri="{FF2B5EF4-FFF2-40B4-BE49-F238E27FC236}">
                          <a16:creationId xmlns:a16="http://schemas.microsoft.com/office/drawing/2014/main" id="{628F7316-AEE6-4446-AC90-37E745F98A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1140" y="4394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1" name="Ellipse 40">
                      <a:extLst>
                        <a:ext uri="{FF2B5EF4-FFF2-40B4-BE49-F238E27FC236}">
                          <a16:creationId xmlns:a16="http://schemas.microsoft.com/office/drawing/2014/main" id="{B5DC0E75-79A0-484C-98B4-5048EB5D2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15" y="59690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9" name="Grouper 1129">
                    <a:extLst>
                      <a:ext uri="{FF2B5EF4-FFF2-40B4-BE49-F238E27FC236}">
                        <a16:creationId xmlns:a16="http://schemas.microsoft.com/office/drawing/2014/main" id="{9A57230B-4940-4FD6-8D0F-A49ADA020048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636"/>
                    <a:ext cx="135888" cy="203840"/>
                    <a:chOff x="0" y="134620"/>
                    <a:chExt cx="291465" cy="530225"/>
                  </a:xfrm>
                </p:grpSpPr>
                <p:sp>
                  <p:nvSpPr>
                    <p:cNvPr id="28" name="Ellipse 27">
                      <a:extLst>
                        <a:ext uri="{FF2B5EF4-FFF2-40B4-BE49-F238E27FC236}">
                          <a16:creationId xmlns:a16="http://schemas.microsoft.com/office/drawing/2014/main" id="{150A96AF-1174-49B5-B03C-AD0ACD5C4E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357505"/>
                      <a:ext cx="60325" cy="6794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9" name="Ellipse 28">
                      <a:extLst>
                        <a:ext uri="{FF2B5EF4-FFF2-40B4-BE49-F238E27FC236}">
                          <a16:creationId xmlns:a16="http://schemas.microsoft.com/office/drawing/2014/main" id="{3580F6FB-0C46-44F0-BE96-BC79EF985C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85" y="400685"/>
                      <a:ext cx="75565" cy="889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30" name="Ellipse 29">
                      <a:extLst>
                        <a:ext uri="{FF2B5EF4-FFF2-40B4-BE49-F238E27FC236}">
                          <a16:creationId xmlns:a16="http://schemas.microsoft.com/office/drawing/2014/main" id="{A67D2C64-25BC-4D49-89F1-0AEAFCD943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640" y="238760"/>
                      <a:ext cx="76200" cy="9017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31" name="Ellipse 30">
                      <a:extLst>
                        <a:ext uri="{FF2B5EF4-FFF2-40B4-BE49-F238E27FC236}">
                          <a16:creationId xmlns:a16="http://schemas.microsoft.com/office/drawing/2014/main" id="{EC1ED180-67DB-425A-AB1F-456F02A5F9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176530"/>
                      <a:ext cx="88265" cy="9715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32" name="Ellipse 31">
                      <a:extLst>
                        <a:ext uri="{FF2B5EF4-FFF2-40B4-BE49-F238E27FC236}">
                          <a16:creationId xmlns:a16="http://schemas.microsoft.com/office/drawing/2014/main" id="{360ECFBF-CA53-46D4-9D71-445842419C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400" y="1346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33" name="Ellipse 32">
                      <a:extLst>
                        <a:ext uri="{FF2B5EF4-FFF2-40B4-BE49-F238E27FC236}">
                          <a16:creationId xmlns:a16="http://schemas.microsoft.com/office/drawing/2014/main" id="{B265A407-9174-43B7-AFB2-3BED9D79A5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1140" y="4394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34" name="Ellipse 33">
                      <a:extLst>
                        <a:ext uri="{FF2B5EF4-FFF2-40B4-BE49-F238E27FC236}">
                          <a16:creationId xmlns:a16="http://schemas.microsoft.com/office/drawing/2014/main" id="{66878D5F-C5C0-4E14-BF61-A5FB54ED61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15" y="59690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20" name="Grouper 1137">
                    <a:extLst>
                      <a:ext uri="{FF2B5EF4-FFF2-40B4-BE49-F238E27FC236}">
                        <a16:creationId xmlns:a16="http://schemas.microsoft.com/office/drawing/2014/main" id="{701ECC17-7105-412F-846C-38D25B1B4727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139065" y="16504"/>
                    <a:ext cx="135888" cy="203840"/>
                    <a:chOff x="0" y="134620"/>
                    <a:chExt cx="291465" cy="530225"/>
                  </a:xfrm>
                </p:grpSpPr>
                <p:sp>
                  <p:nvSpPr>
                    <p:cNvPr id="21" name="Ellipse 20">
                      <a:extLst>
                        <a:ext uri="{FF2B5EF4-FFF2-40B4-BE49-F238E27FC236}">
                          <a16:creationId xmlns:a16="http://schemas.microsoft.com/office/drawing/2014/main" id="{782FEAB9-ED7F-408E-8FB5-F9ED147616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357505"/>
                      <a:ext cx="60325" cy="6794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2" name="Ellipse 21">
                      <a:extLst>
                        <a:ext uri="{FF2B5EF4-FFF2-40B4-BE49-F238E27FC236}">
                          <a16:creationId xmlns:a16="http://schemas.microsoft.com/office/drawing/2014/main" id="{E029C770-FE4F-49C3-8EA6-CB20DEA399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85" y="400685"/>
                      <a:ext cx="75565" cy="889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3" name="Ellipse 22">
                      <a:extLst>
                        <a:ext uri="{FF2B5EF4-FFF2-40B4-BE49-F238E27FC236}">
                          <a16:creationId xmlns:a16="http://schemas.microsoft.com/office/drawing/2014/main" id="{19A44968-7514-4424-8696-8C9FC9D570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640" y="238760"/>
                      <a:ext cx="76200" cy="9017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4" name="Ellipse 23">
                      <a:extLst>
                        <a:ext uri="{FF2B5EF4-FFF2-40B4-BE49-F238E27FC236}">
                          <a16:creationId xmlns:a16="http://schemas.microsoft.com/office/drawing/2014/main" id="{784B3620-83EB-4378-A9B6-3C3042CF86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176530"/>
                      <a:ext cx="88265" cy="9715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5" name="Ellipse 24">
                      <a:extLst>
                        <a:ext uri="{FF2B5EF4-FFF2-40B4-BE49-F238E27FC236}">
                          <a16:creationId xmlns:a16="http://schemas.microsoft.com/office/drawing/2014/main" id="{4627DFFC-1A67-4E4F-961F-4DFE10CAEF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400" y="1346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6" name="Ellipse 25">
                      <a:extLst>
                        <a:ext uri="{FF2B5EF4-FFF2-40B4-BE49-F238E27FC236}">
                          <a16:creationId xmlns:a16="http://schemas.microsoft.com/office/drawing/2014/main" id="{C06DB539-0B57-4D91-8F14-6D0949BB4D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1140" y="4394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7" name="Ellipse 26">
                      <a:extLst>
                        <a:ext uri="{FF2B5EF4-FFF2-40B4-BE49-F238E27FC236}">
                          <a16:creationId xmlns:a16="http://schemas.microsoft.com/office/drawing/2014/main" id="{10A3CA1F-7617-49EA-9348-3B90743AE0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15" y="59690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</p:grpSp>
          </p:grpSp>
        </p:grp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F9350F92-1302-4BAE-87D6-EFE4F65B2FC0}"/>
                </a:ext>
              </a:extLst>
            </p:cNvPr>
            <p:cNvSpPr/>
            <p:nvPr/>
          </p:nvSpPr>
          <p:spPr>
            <a:xfrm>
              <a:off x="5791611" y="4634039"/>
              <a:ext cx="195344" cy="1010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114" name="Groupe 113">
              <a:extLst>
                <a:ext uri="{FF2B5EF4-FFF2-40B4-BE49-F238E27FC236}">
                  <a16:creationId xmlns:a16="http://schemas.microsoft.com/office/drawing/2014/main" id="{398E68E6-6582-4524-A345-0C16A8932217}"/>
                </a:ext>
              </a:extLst>
            </p:cNvPr>
            <p:cNvGrpSpPr/>
            <p:nvPr/>
          </p:nvGrpSpPr>
          <p:grpSpPr>
            <a:xfrm>
              <a:off x="5075418" y="2836862"/>
              <a:ext cx="319567" cy="1184275"/>
              <a:chOff x="3261338" y="2240637"/>
              <a:chExt cx="319567" cy="1184275"/>
            </a:xfrm>
          </p:grpSpPr>
          <p:grpSp>
            <p:nvGrpSpPr>
              <p:cNvPr id="69" name="Grouper 679">
                <a:extLst>
                  <a:ext uri="{FF2B5EF4-FFF2-40B4-BE49-F238E27FC236}">
                    <a16:creationId xmlns:a16="http://schemas.microsoft.com/office/drawing/2014/main" id="{BE1F5A54-56A3-4046-A2C2-6C1953DEB4E8}"/>
                  </a:ext>
                </a:extLst>
              </p:cNvPr>
              <p:cNvGrpSpPr/>
              <p:nvPr/>
            </p:nvGrpSpPr>
            <p:grpSpPr>
              <a:xfrm rot="19789929">
                <a:off x="3271497" y="2240637"/>
                <a:ext cx="300355" cy="1184275"/>
                <a:chOff x="0" y="0"/>
                <a:chExt cx="300355" cy="1184275"/>
              </a:xfrm>
            </p:grpSpPr>
            <p:sp>
              <p:nvSpPr>
                <p:cNvPr id="101" name="Cadre 100">
                  <a:extLst>
                    <a:ext uri="{FF2B5EF4-FFF2-40B4-BE49-F238E27FC236}">
                      <a16:creationId xmlns:a16="http://schemas.microsoft.com/office/drawing/2014/main" id="{3FCBAE30-BC89-4F1F-A423-E40A8FBE68EF}"/>
                    </a:ext>
                  </a:extLst>
                </p:cNvPr>
                <p:cNvSpPr/>
                <p:nvPr/>
              </p:nvSpPr>
              <p:spPr>
                <a:xfrm>
                  <a:off x="0" y="139065"/>
                  <a:ext cx="210820" cy="826770"/>
                </a:xfrm>
                <a:prstGeom prst="frame">
                  <a:avLst>
                    <a:gd name="adj1" fmla="val 25000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432B6355-1450-420C-8873-95D84A2E68F4}"/>
                    </a:ext>
                  </a:extLst>
                </p:cNvPr>
                <p:cNvSpPr/>
                <p:nvPr/>
              </p:nvSpPr>
              <p:spPr>
                <a:xfrm>
                  <a:off x="112395" y="13335"/>
                  <a:ext cx="152400" cy="1498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4B7266D3-43DC-4430-9044-9C8383DBC731}"/>
                    </a:ext>
                  </a:extLst>
                </p:cNvPr>
                <p:cNvSpPr/>
                <p:nvPr/>
              </p:nvSpPr>
              <p:spPr>
                <a:xfrm>
                  <a:off x="154940" y="815340"/>
                  <a:ext cx="63500" cy="1498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04" name="Rectangle à coins arrondis 643">
                  <a:extLst>
                    <a:ext uri="{FF2B5EF4-FFF2-40B4-BE49-F238E27FC236}">
                      <a16:creationId xmlns:a16="http://schemas.microsoft.com/office/drawing/2014/main" id="{63B1E7CB-EDB5-4E6C-8C64-129C2F5BE640}"/>
                    </a:ext>
                  </a:extLst>
                </p:cNvPr>
                <p:cNvSpPr/>
                <p:nvPr/>
              </p:nvSpPr>
              <p:spPr>
                <a:xfrm>
                  <a:off x="73660" y="100330"/>
                  <a:ext cx="226695" cy="721360"/>
                </a:xfrm>
                <a:prstGeom prst="roundRect">
                  <a:avLst>
                    <a:gd name="adj" fmla="val 41877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5D7BE346-59BD-4F02-A759-F80EB55C82C3}"/>
                    </a:ext>
                  </a:extLst>
                </p:cNvPr>
                <p:cNvSpPr/>
                <p:nvPr/>
              </p:nvSpPr>
              <p:spPr>
                <a:xfrm>
                  <a:off x="120015" y="962660"/>
                  <a:ext cx="134620" cy="1498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D27C9FA7-49A5-4CCB-BC9A-4C475F42EEEC}"/>
                    </a:ext>
                  </a:extLst>
                </p:cNvPr>
                <p:cNvSpPr/>
                <p:nvPr/>
              </p:nvSpPr>
              <p:spPr>
                <a:xfrm>
                  <a:off x="120015" y="855345"/>
                  <a:ext cx="144780" cy="45719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07" name="Ellipse 106">
                  <a:extLst>
                    <a:ext uri="{FF2B5EF4-FFF2-40B4-BE49-F238E27FC236}">
                      <a16:creationId xmlns:a16="http://schemas.microsoft.com/office/drawing/2014/main" id="{7C7C1B45-ED67-4038-90DC-AACF96465AED}"/>
                    </a:ext>
                  </a:extLst>
                </p:cNvPr>
                <p:cNvSpPr/>
                <p:nvPr/>
              </p:nvSpPr>
              <p:spPr>
                <a:xfrm>
                  <a:off x="255270" y="818515"/>
                  <a:ext cx="45085" cy="112395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47AD099A-DB97-48D9-B686-031BC112DB54}"/>
                    </a:ext>
                  </a:extLst>
                </p:cNvPr>
                <p:cNvSpPr/>
                <p:nvPr/>
              </p:nvSpPr>
              <p:spPr>
                <a:xfrm>
                  <a:off x="127000" y="921385"/>
                  <a:ext cx="85725" cy="1174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6C11C476-89A4-4DC8-A9AE-BDC2D8EAECA8}"/>
                    </a:ext>
                  </a:extLst>
                </p:cNvPr>
                <p:cNvSpPr/>
                <p:nvPr/>
              </p:nvSpPr>
              <p:spPr>
                <a:xfrm>
                  <a:off x="127000" y="1066800"/>
                  <a:ext cx="122555" cy="1174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D81C8D32-A78B-48F1-A4E9-2EE8F9AC67BC}"/>
                    </a:ext>
                  </a:extLst>
                </p:cNvPr>
                <p:cNvSpPr/>
                <p:nvPr/>
              </p:nvSpPr>
              <p:spPr>
                <a:xfrm>
                  <a:off x="67945" y="918210"/>
                  <a:ext cx="114935" cy="44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D5AF3889-7FF1-4A71-92CF-2196A171824E}"/>
                    </a:ext>
                  </a:extLst>
                </p:cNvPr>
                <p:cNvSpPr/>
                <p:nvPr/>
              </p:nvSpPr>
              <p:spPr>
                <a:xfrm>
                  <a:off x="47625" y="143510"/>
                  <a:ext cx="114935" cy="438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3CB60D45-0207-491A-8C37-7F0628AC2CF3}"/>
                    </a:ext>
                  </a:extLst>
                </p:cNvPr>
                <p:cNvSpPr/>
                <p:nvPr/>
              </p:nvSpPr>
              <p:spPr>
                <a:xfrm>
                  <a:off x="121285" y="0"/>
                  <a:ext cx="132715" cy="1314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26BBCF96-0EBC-46F3-ACA3-EA8891D3ACAA}"/>
                    </a:ext>
                  </a:extLst>
                </p:cNvPr>
                <p:cNvSpPr/>
                <p:nvPr/>
              </p:nvSpPr>
              <p:spPr>
                <a:xfrm rot="5400000">
                  <a:off x="129540" y="757555"/>
                  <a:ext cx="114935" cy="438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70" name="Grouper 685">
                <a:extLst>
                  <a:ext uri="{FF2B5EF4-FFF2-40B4-BE49-F238E27FC236}">
                    <a16:creationId xmlns:a16="http://schemas.microsoft.com/office/drawing/2014/main" id="{77E58F0F-61C1-4149-9EB5-C2789C9D3FEB}"/>
                  </a:ext>
                </a:extLst>
              </p:cNvPr>
              <p:cNvGrpSpPr/>
              <p:nvPr/>
            </p:nvGrpSpPr>
            <p:grpSpPr>
              <a:xfrm rot="19789929">
                <a:off x="3361830" y="2617660"/>
                <a:ext cx="219075" cy="449580"/>
                <a:chOff x="0" y="2540"/>
                <a:chExt cx="226695" cy="465310"/>
              </a:xfrm>
              <a:solidFill>
                <a:srgbClr val="C6D9F1"/>
              </a:solidFill>
            </p:grpSpPr>
            <p:grpSp>
              <p:nvGrpSpPr>
                <p:cNvPr id="96" name="Grouper 681">
                  <a:extLst>
                    <a:ext uri="{FF2B5EF4-FFF2-40B4-BE49-F238E27FC236}">
                      <a16:creationId xmlns:a16="http://schemas.microsoft.com/office/drawing/2014/main" id="{B86DE79E-062A-4C5B-93C5-AFEABD3D547D}"/>
                    </a:ext>
                  </a:extLst>
                </p:cNvPr>
                <p:cNvGrpSpPr/>
                <p:nvPr/>
              </p:nvGrpSpPr>
              <p:grpSpPr>
                <a:xfrm>
                  <a:off x="0" y="106045"/>
                  <a:ext cx="226695" cy="361805"/>
                  <a:chOff x="0" y="0"/>
                  <a:chExt cx="226695" cy="361805"/>
                </a:xfrm>
                <a:grpFill/>
              </p:grpSpPr>
              <p:sp>
                <p:nvSpPr>
                  <p:cNvPr id="99" name="Rectangle à coins arrondis 678">
                    <a:extLst>
                      <a:ext uri="{FF2B5EF4-FFF2-40B4-BE49-F238E27FC236}">
                        <a16:creationId xmlns:a16="http://schemas.microsoft.com/office/drawing/2014/main" id="{A3AEE5FF-EB67-45E2-AFC8-12ACDEB548A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26695" cy="322580"/>
                  </a:xfrm>
                  <a:prstGeom prst="roundRect">
                    <a:avLst>
                      <a:gd name="adj" fmla="val 41877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00" name="Rectangle 99">
                    <a:extLst>
                      <a:ext uri="{FF2B5EF4-FFF2-40B4-BE49-F238E27FC236}">
                        <a16:creationId xmlns:a16="http://schemas.microsoft.com/office/drawing/2014/main" id="{79C9C88B-4366-4CB7-A353-1525A4DD25C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4932" y="271853"/>
                    <a:ext cx="132595" cy="47309"/>
                  </a:xfrm>
                  <a:prstGeom prst="rect">
                    <a:avLst/>
                  </a:prstGeom>
                  <a:grp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 dirty="0"/>
                  </a:p>
                </p:txBody>
              </p:sp>
            </p:grpSp>
            <p:sp>
              <p:nvSpPr>
                <p:cNvPr id="97" name="Triangle rectangle 96">
                  <a:extLst>
                    <a:ext uri="{FF2B5EF4-FFF2-40B4-BE49-F238E27FC236}">
                      <a16:creationId xmlns:a16="http://schemas.microsoft.com/office/drawing/2014/main" id="{9283789E-3770-4263-971A-05B7C8A4D4A8}"/>
                    </a:ext>
                  </a:extLst>
                </p:cNvPr>
                <p:cNvSpPr/>
                <p:nvPr/>
              </p:nvSpPr>
              <p:spPr>
                <a:xfrm>
                  <a:off x="0" y="2540"/>
                  <a:ext cx="225425" cy="118110"/>
                </a:xfrm>
                <a:prstGeom prst="rtTriangle">
                  <a:avLst/>
                </a:prstGeom>
                <a:grp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6D017ADA-814C-486D-B31E-8018E40DB6EA}"/>
                    </a:ext>
                  </a:extLst>
                </p:cNvPr>
                <p:cNvSpPr/>
                <p:nvPr/>
              </p:nvSpPr>
              <p:spPr>
                <a:xfrm>
                  <a:off x="0" y="118745"/>
                  <a:ext cx="225905" cy="148328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75" name="Grouper 672">
                <a:extLst>
                  <a:ext uri="{FF2B5EF4-FFF2-40B4-BE49-F238E27FC236}">
                    <a16:creationId xmlns:a16="http://schemas.microsoft.com/office/drawing/2014/main" id="{C3C1ED16-BEA5-44D8-A93D-C3FA0C5B98B1}"/>
                  </a:ext>
                </a:extLst>
              </p:cNvPr>
              <p:cNvGrpSpPr/>
              <p:nvPr/>
            </p:nvGrpSpPr>
            <p:grpSpPr>
              <a:xfrm rot="19789929">
                <a:off x="3486213" y="2563243"/>
                <a:ext cx="46355" cy="357783"/>
                <a:chOff x="571500" y="767444"/>
                <a:chExt cx="251460" cy="457200"/>
              </a:xfrm>
            </p:grpSpPr>
            <p:cxnSp>
              <p:nvCxnSpPr>
                <p:cNvPr id="76" name="Connecteur droit 75">
                  <a:extLst>
                    <a:ext uri="{FF2B5EF4-FFF2-40B4-BE49-F238E27FC236}">
                      <a16:creationId xmlns:a16="http://schemas.microsoft.com/office/drawing/2014/main" id="{CE145D54-31D7-4494-ABDB-9BCD5767357D}"/>
                    </a:ext>
                  </a:extLst>
                </p:cNvPr>
                <p:cNvCxnSpPr/>
                <p:nvPr/>
              </p:nvCxnSpPr>
              <p:spPr>
                <a:xfrm>
                  <a:off x="571500" y="7674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Connecteur droit 76">
                  <a:extLst>
                    <a:ext uri="{FF2B5EF4-FFF2-40B4-BE49-F238E27FC236}">
                      <a16:creationId xmlns:a16="http://schemas.microsoft.com/office/drawing/2014/main" id="{5B89F740-02DD-43EB-B775-DFF4A15C82BE}"/>
                    </a:ext>
                  </a:extLst>
                </p:cNvPr>
                <p:cNvCxnSpPr/>
                <p:nvPr/>
              </p:nvCxnSpPr>
              <p:spPr>
                <a:xfrm>
                  <a:off x="685800" y="12246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Connecteur droit 77">
                  <a:extLst>
                    <a:ext uri="{FF2B5EF4-FFF2-40B4-BE49-F238E27FC236}">
                      <a16:creationId xmlns:a16="http://schemas.microsoft.com/office/drawing/2014/main" id="{8DD417CE-796A-4684-B8C3-FC716378F2AF}"/>
                    </a:ext>
                  </a:extLst>
                </p:cNvPr>
                <p:cNvCxnSpPr/>
                <p:nvPr/>
              </p:nvCxnSpPr>
              <p:spPr>
                <a:xfrm>
                  <a:off x="685800" y="11103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Connecteur droit 78">
                  <a:extLst>
                    <a:ext uri="{FF2B5EF4-FFF2-40B4-BE49-F238E27FC236}">
                      <a16:creationId xmlns:a16="http://schemas.microsoft.com/office/drawing/2014/main" id="{94FC08D9-7589-4714-80AC-82F04BC40927}"/>
                    </a:ext>
                  </a:extLst>
                </p:cNvPr>
                <p:cNvCxnSpPr/>
                <p:nvPr/>
              </p:nvCxnSpPr>
              <p:spPr>
                <a:xfrm>
                  <a:off x="685800" y="9960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Connecteur droit 79">
                  <a:extLst>
                    <a:ext uri="{FF2B5EF4-FFF2-40B4-BE49-F238E27FC236}">
                      <a16:creationId xmlns:a16="http://schemas.microsoft.com/office/drawing/2014/main" id="{5A8193CA-6AE4-4981-91C9-DC366706F357}"/>
                    </a:ext>
                  </a:extLst>
                </p:cNvPr>
                <p:cNvCxnSpPr/>
                <p:nvPr/>
              </p:nvCxnSpPr>
              <p:spPr>
                <a:xfrm>
                  <a:off x="685800" y="8817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8" name="Connecteur droit 67">
                <a:extLst>
                  <a:ext uri="{FF2B5EF4-FFF2-40B4-BE49-F238E27FC236}">
                    <a16:creationId xmlns:a16="http://schemas.microsoft.com/office/drawing/2014/main" id="{81CB1669-05F2-4BD5-A3B0-B0960D94AEF7}"/>
                  </a:ext>
                </a:extLst>
              </p:cNvPr>
              <p:cNvCxnSpPr/>
              <p:nvPr/>
            </p:nvCxnSpPr>
            <p:spPr>
              <a:xfrm>
                <a:off x="3261338" y="2701012"/>
                <a:ext cx="251512" cy="0"/>
              </a:xfrm>
              <a:prstGeom prst="line">
                <a:avLst/>
              </a:prstGeom>
              <a:ln w="9525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Grouper 862">
              <a:extLst>
                <a:ext uri="{FF2B5EF4-FFF2-40B4-BE49-F238E27FC236}">
                  <a16:creationId xmlns:a16="http://schemas.microsoft.com/office/drawing/2014/main" id="{3515A8FE-A7E7-4969-97D6-6002FA2F83DB}"/>
                </a:ext>
              </a:extLst>
            </p:cNvPr>
            <p:cNvGrpSpPr/>
            <p:nvPr/>
          </p:nvGrpSpPr>
          <p:grpSpPr>
            <a:xfrm rot="19710614">
              <a:off x="4861428" y="2824156"/>
              <a:ext cx="219710" cy="161925"/>
              <a:chOff x="0" y="0"/>
              <a:chExt cx="219710" cy="161925"/>
            </a:xfrm>
            <a:solidFill>
              <a:schemeClr val="bg1">
                <a:lumMod val="85000"/>
              </a:schemeClr>
            </a:solidFill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1EEE00DF-1D95-4193-8D39-64506FE93975}"/>
                  </a:ext>
                </a:extLst>
              </p:cNvPr>
              <p:cNvSpPr/>
              <p:nvPr/>
            </p:nvSpPr>
            <p:spPr>
              <a:xfrm>
                <a:off x="45720" y="45720"/>
                <a:ext cx="134620" cy="11620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F9DA8D7-B1D8-47B9-9B1E-FC51215F2BCC}"/>
                  </a:ext>
                </a:extLst>
              </p:cNvPr>
              <p:cNvSpPr/>
              <p:nvPr/>
            </p:nvSpPr>
            <p:spPr>
              <a:xfrm>
                <a:off x="0" y="0"/>
                <a:ext cx="219710" cy="4508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318F3E8-1B4A-41AF-9E51-0AA807358FFE}"/>
                </a:ext>
              </a:extLst>
            </p:cNvPr>
            <p:cNvSpPr/>
            <p:nvPr/>
          </p:nvSpPr>
          <p:spPr>
            <a:xfrm>
              <a:off x="5841178" y="2391564"/>
              <a:ext cx="123825" cy="565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B73E8D8-4B69-404B-97C0-8DEE74B32275}"/>
                </a:ext>
              </a:extLst>
            </p:cNvPr>
            <p:cNvSpPr/>
            <p:nvPr/>
          </p:nvSpPr>
          <p:spPr>
            <a:xfrm>
              <a:off x="5843083" y="3718714"/>
              <a:ext cx="108585" cy="622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122" name="Grouper 505">
              <a:extLst>
                <a:ext uri="{FF2B5EF4-FFF2-40B4-BE49-F238E27FC236}">
                  <a16:creationId xmlns:a16="http://schemas.microsoft.com/office/drawing/2014/main" id="{9CF4C71F-FAD8-4E39-8D44-6834277AAD7B}"/>
                </a:ext>
              </a:extLst>
            </p:cNvPr>
            <p:cNvGrpSpPr/>
            <p:nvPr/>
          </p:nvGrpSpPr>
          <p:grpSpPr>
            <a:xfrm>
              <a:off x="5594701" y="2230977"/>
              <a:ext cx="612140" cy="1455420"/>
              <a:chOff x="0" y="0"/>
              <a:chExt cx="612140" cy="1455420"/>
            </a:xfrm>
          </p:grpSpPr>
          <p:sp>
            <p:nvSpPr>
              <p:cNvPr id="123" name="Rectangle à coins arrondis 496">
                <a:extLst>
                  <a:ext uri="{FF2B5EF4-FFF2-40B4-BE49-F238E27FC236}">
                    <a16:creationId xmlns:a16="http://schemas.microsoft.com/office/drawing/2014/main" id="{22CE5A88-EDB3-401E-B73C-9143A3111C2E}"/>
                  </a:ext>
                </a:extLst>
              </p:cNvPr>
              <p:cNvSpPr/>
              <p:nvPr/>
            </p:nvSpPr>
            <p:spPr>
              <a:xfrm>
                <a:off x="136525" y="134620"/>
                <a:ext cx="337185" cy="117602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DBBC2120-3A88-4FBD-96B0-1C676D4A79DC}"/>
                  </a:ext>
                </a:extLst>
              </p:cNvPr>
              <p:cNvSpPr/>
              <p:nvPr/>
            </p:nvSpPr>
            <p:spPr>
              <a:xfrm>
                <a:off x="242570" y="33020"/>
                <a:ext cx="130175" cy="13696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193E0561-4170-43CB-8574-112417A498AE}"/>
                  </a:ext>
                </a:extLst>
              </p:cNvPr>
              <p:cNvSpPr/>
              <p:nvPr/>
            </p:nvSpPr>
            <p:spPr>
              <a:xfrm>
                <a:off x="218440" y="0"/>
                <a:ext cx="169545" cy="4508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6C4D19FA-C478-4149-9FB8-FFF92A218C00}"/>
                  </a:ext>
                </a:extLst>
              </p:cNvPr>
              <p:cNvSpPr/>
              <p:nvPr/>
            </p:nvSpPr>
            <p:spPr>
              <a:xfrm>
                <a:off x="245745" y="1397635"/>
                <a:ext cx="124481" cy="57785"/>
              </a:xfrm>
              <a:prstGeom prst="rect">
                <a:avLst/>
              </a:prstGeom>
              <a:solidFill>
                <a:schemeClr val="bg1"/>
              </a:solidFill>
              <a:ln w="19050" cmpd="sng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27" name="Arc plein 126">
                <a:extLst>
                  <a:ext uri="{FF2B5EF4-FFF2-40B4-BE49-F238E27FC236}">
                    <a16:creationId xmlns:a16="http://schemas.microsoft.com/office/drawing/2014/main" id="{5A5232F2-DB3E-4352-B1DE-13346FBA4859}"/>
                  </a:ext>
                </a:extLst>
              </p:cNvPr>
              <p:cNvSpPr/>
              <p:nvPr/>
            </p:nvSpPr>
            <p:spPr>
              <a:xfrm rot="5400000">
                <a:off x="325755" y="233045"/>
                <a:ext cx="297180" cy="275590"/>
              </a:xfrm>
              <a:prstGeom prst="blockArc">
                <a:avLst>
                  <a:gd name="adj1" fmla="val 10800000"/>
                  <a:gd name="adj2" fmla="val 16383978"/>
                  <a:gd name="adj3" fmla="val 2066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cxnSp>
            <p:nvCxnSpPr>
              <p:cNvPr id="128" name="Connecteur droit avec flèche 127">
                <a:extLst>
                  <a:ext uri="{FF2B5EF4-FFF2-40B4-BE49-F238E27FC236}">
                    <a16:creationId xmlns:a16="http://schemas.microsoft.com/office/drawing/2014/main" id="{3163D692-401C-4CC1-9EEC-775F0252B5BD}"/>
                  </a:ext>
                </a:extLst>
              </p:cNvPr>
              <p:cNvCxnSpPr/>
              <p:nvPr/>
            </p:nvCxnSpPr>
            <p:spPr>
              <a:xfrm>
                <a:off x="584200" y="340360"/>
                <a:ext cx="0" cy="179070"/>
              </a:xfrm>
              <a:prstGeom prst="straightConnector1">
                <a:avLst/>
              </a:prstGeom>
              <a:ln w="12700" cmpd="sng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Arc plein 128">
                <a:extLst>
                  <a:ext uri="{FF2B5EF4-FFF2-40B4-BE49-F238E27FC236}">
                    <a16:creationId xmlns:a16="http://schemas.microsoft.com/office/drawing/2014/main" id="{8CB81966-44C5-462C-89BD-8AAD45B84912}"/>
                  </a:ext>
                </a:extLst>
              </p:cNvPr>
              <p:cNvSpPr/>
              <p:nvPr/>
            </p:nvSpPr>
            <p:spPr>
              <a:xfrm rot="16200000" flipH="1">
                <a:off x="-10795" y="1127125"/>
                <a:ext cx="297180" cy="275590"/>
              </a:xfrm>
              <a:prstGeom prst="blockArc">
                <a:avLst>
                  <a:gd name="adj1" fmla="val 10800000"/>
                  <a:gd name="adj2" fmla="val 16383978"/>
                  <a:gd name="adj3" fmla="val 2066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cxnSp>
            <p:nvCxnSpPr>
              <p:cNvPr id="130" name="Connecteur droit avec flèche 129">
                <a:extLst>
                  <a:ext uri="{FF2B5EF4-FFF2-40B4-BE49-F238E27FC236}">
                    <a16:creationId xmlns:a16="http://schemas.microsoft.com/office/drawing/2014/main" id="{B297DD32-707D-4323-B278-875A306D15EC}"/>
                  </a:ext>
                </a:extLst>
              </p:cNvPr>
              <p:cNvCxnSpPr/>
              <p:nvPr/>
            </p:nvCxnSpPr>
            <p:spPr>
              <a:xfrm flipH="1" flipV="1">
                <a:off x="27940" y="1240790"/>
                <a:ext cx="0" cy="179070"/>
              </a:xfrm>
              <a:prstGeom prst="straightConnector1">
                <a:avLst/>
              </a:prstGeom>
              <a:ln w="12700" cmpd="sng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2" name="ZoneTexte 131">
            <a:extLst>
              <a:ext uri="{FF2B5EF4-FFF2-40B4-BE49-F238E27FC236}">
                <a16:creationId xmlns:a16="http://schemas.microsoft.com/office/drawing/2014/main" id="{F4ECBE48-74F8-4032-BAB1-EF13101FC140}"/>
              </a:ext>
            </a:extLst>
          </p:cNvPr>
          <p:cNvSpPr txBox="1"/>
          <p:nvPr/>
        </p:nvSpPr>
        <p:spPr>
          <a:xfrm>
            <a:off x="7464056" y="3130553"/>
            <a:ext cx="3537097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0.50 g de 2-nitrobenzaldéhyde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5 </a:t>
            </a:r>
            <a:r>
              <a:rPr lang="fr-FR" dirty="0" err="1"/>
              <a:t>mL</a:t>
            </a:r>
            <a:r>
              <a:rPr lang="fr-FR" dirty="0"/>
              <a:t> d’acétone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D8830033-C386-4CA7-9DD9-267891B97BB3}"/>
              </a:ext>
            </a:extLst>
          </p:cNvPr>
          <p:cNvSpPr txBox="1"/>
          <p:nvPr/>
        </p:nvSpPr>
        <p:spPr>
          <a:xfrm>
            <a:off x="531603" y="3130552"/>
            <a:ext cx="353709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2.5 </a:t>
            </a:r>
            <a:r>
              <a:rPr lang="fr-FR" dirty="0" err="1"/>
              <a:t>mL</a:t>
            </a:r>
            <a:r>
              <a:rPr lang="fr-FR" dirty="0"/>
              <a:t> d’hydroxyde de sodium</a:t>
            </a:r>
          </a:p>
        </p:txBody>
      </p: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A77117DF-B2C7-4E77-9DD1-D7874F1039C7}"/>
              </a:ext>
            </a:extLst>
          </p:cNvPr>
          <p:cNvCxnSpPr>
            <a:stCxn id="133" idx="3"/>
            <a:endCxn id="98" idx="2"/>
          </p:cNvCxnSpPr>
          <p:nvPr/>
        </p:nvCxnSpPr>
        <p:spPr>
          <a:xfrm>
            <a:off x="4068700" y="3315218"/>
            <a:ext cx="1231896" cy="150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avec flèche 136">
            <a:extLst>
              <a:ext uri="{FF2B5EF4-FFF2-40B4-BE49-F238E27FC236}">
                <a16:creationId xmlns:a16="http://schemas.microsoft.com/office/drawing/2014/main" id="{342470E8-5144-4694-8B9B-ACDBADC0E8C4}"/>
              </a:ext>
            </a:extLst>
          </p:cNvPr>
          <p:cNvCxnSpPr>
            <a:stCxn id="132" idx="1"/>
            <a:endCxn id="16" idx="2"/>
          </p:cNvCxnSpPr>
          <p:nvPr/>
        </p:nvCxnSpPr>
        <p:spPr>
          <a:xfrm flipH="1">
            <a:off x="5898778" y="3453719"/>
            <a:ext cx="1565278" cy="889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030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77E692-9215-4F55-B8FB-00D541E38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Rendement de la synthèse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A5E2350-9FBD-464D-B144-F6FADC4600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fr-FR" sz="3200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dirty="0"/>
                  <a:t> </a:t>
                </a:r>
                <a:r>
                  <a:rPr lang="fr-FR" sz="2400" b="1" u="sng" dirty="0">
                    <a:solidFill>
                      <a:schemeClr val="accent1"/>
                    </a:solidFill>
                  </a:rPr>
                  <a:t>Réactifs :</a:t>
                </a:r>
              </a:p>
              <a:p>
                <a:pPr marL="0" indent="0">
                  <a:buNone/>
                </a:pPr>
                <a:r>
                  <a:rPr lang="fr-FR" dirty="0"/>
                  <a:t>2-nitrobenzaldéhyde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3,3.10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mol</m:t>
                    </m:r>
                  </m:oMath>
                </a14:m>
                <a:r>
                  <a:rPr lang="fr-FR" b="0" dirty="0"/>
                  <a:t>	</a:t>
                </a:r>
                <a:r>
                  <a:rPr lang="fr-FR" b="0" i="1" dirty="0">
                    <a:solidFill>
                      <a:srgbClr val="C00000"/>
                    </a:solidFill>
                  </a:rPr>
                  <a:t>réactif limitant</a:t>
                </a:r>
              </a:p>
              <a:p>
                <a:pPr marL="0" indent="0">
                  <a:buNone/>
                </a:pPr>
                <a:r>
                  <a:rPr lang="fr-FR" dirty="0"/>
                  <a:t>Acétone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68.10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mol</m:t>
                    </m:r>
                  </m:oMath>
                </a14:m>
                <a:endParaRPr lang="fr-FR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fr-FR" dirty="0"/>
                  <a:t> avancement maximal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fr-FR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1,7.10</m:t>
                        </m:r>
                      </m:e>
                      <m:sup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fr-FR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mol</m:t>
                    </m:r>
                  </m:oMath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dirty="0"/>
                  <a:t> </a:t>
                </a:r>
                <a:r>
                  <a:rPr lang="fr-FR" sz="2400" b="1" u="sng" dirty="0">
                    <a:solidFill>
                      <a:schemeClr val="accent1"/>
                    </a:solidFill>
                  </a:rPr>
                  <a:t>Produit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0" dirty="0" smtClean="0">
                            <a:latin typeface="Cambria Math" panose="02040503050406030204" pitchFamily="18" charset="0"/>
                          </a:rPr>
                          <m:t>indigo</m:t>
                        </m:r>
                      </m:sub>
                    </m:sSub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=262,3 </m:t>
                    </m:r>
                    <m:r>
                      <m:rPr>
                        <m:sty m:val="p"/>
                      </m:rPr>
                      <a:rPr lang="fr-FR" b="0" i="0" dirty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fr-FR" b="0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fr-FR" b="0" i="0" dirty="0" smtClean="0">
                        <a:latin typeface="Cambria Math" panose="02040503050406030204" pitchFamily="18" charset="0"/>
                      </a:rPr>
                      <m:t>mo</m:t>
                    </m:r>
                    <m:sSup>
                      <m:sSupPr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b="0" i="0" dirty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p>
                        <m:r>
                          <a:rPr lang="fr-FR" b="0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dirty="0"/>
                  <a:t> d’où une masse théorique maximale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=0,43 </m:t>
                          </m:r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borderBox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A5E2350-9FBD-464D-B144-F6FADC460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F815B8-C605-4B5D-9640-D5100B0D6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4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2FACF33-DE63-43D4-8041-E3BAB15B3B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71" y="2007089"/>
            <a:ext cx="11053457" cy="32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60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98C10-41D7-449C-89F6-2165BEE70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commercial de l’indigo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98E3278-432B-4059-9F0B-DC77DE69C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324" y="1866335"/>
            <a:ext cx="8281350" cy="440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571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7052AF-EA21-446A-8EEC-3834C8741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Spectrophotométrie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255679F-C34F-4152-B23D-87B2786D7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9" y="1931323"/>
            <a:ext cx="4353754" cy="4022725"/>
          </a:xfr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F706DD9-3558-40E6-AF56-4D09B299C4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42" t="30281" r="11845" b="32266"/>
          <a:stretch/>
        </p:blipFill>
        <p:spPr>
          <a:xfrm>
            <a:off x="204815" y="2891258"/>
            <a:ext cx="7123708" cy="196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61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A6A5F1-6C14-429C-957B-BC2B11D9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Dosage par étalonnage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C8F0CC-4426-44BB-ADF4-08D91CAA6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7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28FB5A99-28C5-4875-9527-4AFBEE2082AA}"/>
              </a:ext>
            </a:extLst>
          </p:cNvPr>
          <p:cNvGrpSpPr/>
          <p:nvPr/>
        </p:nvGrpSpPr>
        <p:grpSpPr>
          <a:xfrm>
            <a:off x="2365238" y="1907032"/>
            <a:ext cx="7385714" cy="4057267"/>
            <a:chOff x="492505" y="1926082"/>
            <a:chExt cx="7385714" cy="4057267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AC7A3A6F-F32C-41CC-B104-25B0D946435B}"/>
                </a:ext>
              </a:extLst>
            </p:cNvPr>
            <p:cNvSpPr txBox="1"/>
            <p:nvPr/>
          </p:nvSpPr>
          <p:spPr>
            <a:xfrm>
              <a:off x="492505" y="5429351"/>
              <a:ext cx="113333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7030A0"/>
                  </a:solidFill>
                </a:rPr>
                <a:t>Tube T</a:t>
              </a:r>
              <a:r>
                <a:rPr lang="fr-FR" baseline="-25000" dirty="0">
                  <a:solidFill>
                    <a:srgbClr val="7030A0"/>
                  </a:solidFill>
                </a:rPr>
                <a:t>1</a:t>
              </a:r>
            </a:p>
            <a:p>
              <a:pPr algn="ctr"/>
              <a:r>
                <a:rPr lang="fr-FR" baseline="-25000" dirty="0">
                  <a:solidFill>
                    <a:srgbClr val="7030A0"/>
                  </a:solidFill>
                </a:rPr>
                <a:t>C = 2,0 µmol/L</a:t>
              </a:r>
            </a:p>
          </p:txBody>
        </p:sp>
        <p:sp>
          <p:nvSpPr>
            <p:cNvPr id="7" name="Rectangle : avec coins arrondis en haut 6">
              <a:extLst>
                <a:ext uri="{FF2B5EF4-FFF2-40B4-BE49-F238E27FC236}">
                  <a16:creationId xmlns:a16="http://schemas.microsoft.com/office/drawing/2014/main" id="{D72E4C4C-BFCB-4ABC-ADD3-C7957EE7EFDD}"/>
                </a:ext>
              </a:extLst>
            </p:cNvPr>
            <p:cNvSpPr/>
            <p:nvPr/>
          </p:nvSpPr>
          <p:spPr>
            <a:xfrm rot="10800000">
              <a:off x="838197" y="3314699"/>
              <a:ext cx="430497" cy="1953599"/>
            </a:xfrm>
            <a:prstGeom prst="round2Same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Arrondir un rectangle avec un coin du même côté 734">
              <a:extLst>
                <a:ext uri="{FF2B5EF4-FFF2-40B4-BE49-F238E27FC236}">
                  <a16:creationId xmlns:a16="http://schemas.microsoft.com/office/drawing/2014/main" id="{71A2DEF6-31CA-433C-8293-9EFCE4E59BC1}"/>
                </a:ext>
              </a:extLst>
            </p:cNvPr>
            <p:cNvSpPr/>
            <p:nvPr/>
          </p:nvSpPr>
          <p:spPr>
            <a:xfrm rot="10800000" flipH="1">
              <a:off x="838200" y="1926083"/>
              <a:ext cx="430495" cy="3342216"/>
            </a:xfrm>
            <a:custGeom>
              <a:avLst/>
              <a:gdLst>
                <a:gd name="connsiteX0" fmla="*/ 71751 w 430495"/>
                <a:gd name="connsiteY0" fmla="*/ 0 h 3342216"/>
                <a:gd name="connsiteX1" fmla="*/ 358744 w 430495"/>
                <a:gd name="connsiteY1" fmla="*/ 0 h 3342216"/>
                <a:gd name="connsiteX2" fmla="*/ 430495 w 430495"/>
                <a:gd name="connsiteY2" fmla="*/ 71751 h 3342216"/>
                <a:gd name="connsiteX3" fmla="*/ 430495 w 430495"/>
                <a:gd name="connsiteY3" fmla="*/ 3342216 h 3342216"/>
                <a:gd name="connsiteX4" fmla="*/ 430495 w 430495"/>
                <a:gd name="connsiteY4" fmla="*/ 3342216 h 3342216"/>
                <a:gd name="connsiteX5" fmla="*/ 0 w 430495"/>
                <a:gd name="connsiteY5" fmla="*/ 3342216 h 3342216"/>
                <a:gd name="connsiteX6" fmla="*/ 0 w 430495"/>
                <a:gd name="connsiteY6" fmla="*/ 3342216 h 3342216"/>
                <a:gd name="connsiteX7" fmla="*/ 0 w 430495"/>
                <a:gd name="connsiteY7" fmla="*/ 71751 h 3342216"/>
                <a:gd name="connsiteX8" fmla="*/ 71751 w 430495"/>
                <a:gd name="connsiteY8" fmla="*/ 0 h 3342216"/>
                <a:gd name="connsiteX0" fmla="*/ 0 w 521935"/>
                <a:gd name="connsiteY0" fmla="*/ 3342216 h 3433656"/>
                <a:gd name="connsiteX1" fmla="*/ 0 w 521935"/>
                <a:gd name="connsiteY1" fmla="*/ 3342216 h 3433656"/>
                <a:gd name="connsiteX2" fmla="*/ 0 w 521935"/>
                <a:gd name="connsiteY2" fmla="*/ 71751 h 3433656"/>
                <a:gd name="connsiteX3" fmla="*/ 71751 w 521935"/>
                <a:gd name="connsiteY3" fmla="*/ 0 h 3433656"/>
                <a:gd name="connsiteX4" fmla="*/ 358744 w 521935"/>
                <a:gd name="connsiteY4" fmla="*/ 0 h 3433656"/>
                <a:gd name="connsiteX5" fmla="*/ 430495 w 521935"/>
                <a:gd name="connsiteY5" fmla="*/ 71751 h 3433656"/>
                <a:gd name="connsiteX6" fmla="*/ 430495 w 521935"/>
                <a:gd name="connsiteY6" fmla="*/ 3342216 h 3433656"/>
                <a:gd name="connsiteX7" fmla="*/ 521935 w 521935"/>
                <a:gd name="connsiteY7" fmla="*/ 3433656 h 3433656"/>
                <a:gd name="connsiteX0" fmla="*/ 0 w 430495"/>
                <a:gd name="connsiteY0" fmla="*/ 3342216 h 3342216"/>
                <a:gd name="connsiteX1" fmla="*/ 0 w 430495"/>
                <a:gd name="connsiteY1" fmla="*/ 3342216 h 3342216"/>
                <a:gd name="connsiteX2" fmla="*/ 0 w 430495"/>
                <a:gd name="connsiteY2" fmla="*/ 71751 h 3342216"/>
                <a:gd name="connsiteX3" fmla="*/ 71751 w 430495"/>
                <a:gd name="connsiteY3" fmla="*/ 0 h 3342216"/>
                <a:gd name="connsiteX4" fmla="*/ 358744 w 430495"/>
                <a:gd name="connsiteY4" fmla="*/ 0 h 3342216"/>
                <a:gd name="connsiteX5" fmla="*/ 430495 w 430495"/>
                <a:gd name="connsiteY5" fmla="*/ 71751 h 3342216"/>
                <a:gd name="connsiteX6" fmla="*/ 430495 w 430495"/>
                <a:gd name="connsiteY6" fmla="*/ 3342216 h 3342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0495" h="3342216">
                  <a:moveTo>
                    <a:pt x="0" y="3342216"/>
                  </a:moveTo>
                  <a:lnTo>
                    <a:pt x="0" y="3342216"/>
                  </a:lnTo>
                  <a:lnTo>
                    <a:pt x="0" y="71751"/>
                  </a:lnTo>
                  <a:cubicBezTo>
                    <a:pt x="0" y="32124"/>
                    <a:pt x="32124" y="0"/>
                    <a:pt x="71751" y="0"/>
                  </a:cubicBezTo>
                  <a:lnTo>
                    <a:pt x="358744" y="0"/>
                  </a:lnTo>
                  <a:cubicBezTo>
                    <a:pt x="398371" y="0"/>
                    <a:pt x="430495" y="32124"/>
                    <a:pt x="430495" y="71751"/>
                  </a:cubicBezTo>
                  <a:lnTo>
                    <a:pt x="430495" y="334221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9" name="Rectangle : avec coins arrondis en haut 8">
              <a:extLst>
                <a:ext uri="{FF2B5EF4-FFF2-40B4-BE49-F238E27FC236}">
                  <a16:creationId xmlns:a16="http://schemas.microsoft.com/office/drawing/2014/main" id="{2863B9F6-2A2C-4136-AE26-AC5E20902060}"/>
                </a:ext>
              </a:extLst>
            </p:cNvPr>
            <p:cNvSpPr/>
            <p:nvPr/>
          </p:nvSpPr>
          <p:spPr>
            <a:xfrm rot="10800000">
              <a:off x="2158997" y="3314699"/>
              <a:ext cx="430497" cy="1953599"/>
            </a:xfrm>
            <a:prstGeom prst="round2Same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Arrondir un rectangle avec un coin du même côté 734">
              <a:extLst>
                <a:ext uri="{FF2B5EF4-FFF2-40B4-BE49-F238E27FC236}">
                  <a16:creationId xmlns:a16="http://schemas.microsoft.com/office/drawing/2014/main" id="{C81F9BFB-3E88-479C-8B03-10182F7B6104}"/>
                </a:ext>
              </a:extLst>
            </p:cNvPr>
            <p:cNvSpPr/>
            <p:nvPr/>
          </p:nvSpPr>
          <p:spPr>
            <a:xfrm rot="10800000" flipH="1">
              <a:off x="2159000" y="1926083"/>
              <a:ext cx="430495" cy="3342216"/>
            </a:xfrm>
            <a:custGeom>
              <a:avLst/>
              <a:gdLst>
                <a:gd name="connsiteX0" fmla="*/ 71751 w 430495"/>
                <a:gd name="connsiteY0" fmla="*/ 0 h 3342216"/>
                <a:gd name="connsiteX1" fmla="*/ 358744 w 430495"/>
                <a:gd name="connsiteY1" fmla="*/ 0 h 3342216"/>
                <a:gd name="connsiteX2" fmla="*/ 430495 w 430495"/>
                <a:gd name="connsiteY2" fmla="*/ 71751 h 3342216"/>
                <a:gd name="connsiteX3" fmla="*/ 430495 w 430495"/>
                <a:gd name="connsiteY3" fmla="*/ 3342216 h 3342216"/>
                <a:gd name="connsiteX4" fmla="*/ 430495 w 430495"/>
                <a:gd name="connsiteY4" fmla="*/ 3342216 h 3342216"/>
                <a:gd name="connsiteX5" fmla="*/ 0 w 430495"/>
                <a:gd name="connsiteY5" fmla="*/ 3342216 h 3342216"/>
                <a:gd name="connsiteX6" fmla="*/ 0 w 430495"/>
                <a:gd name="connsiteY6" fmla="*/ 3342216 h 3342216"/>
                <a:gd name="connsiteX7" fmla="*/ 0 w 430495"/>
                <a:gd name="connsiteY7" fmla="*/ 71751 h 3342216"/>
                <a:gd name="connsiteX8" fmla="*/ 71751 w 430495"/>
                <a:gd name="connsiteY8" fmla="*/ 0 h 3342216"/>
                <a:gd name="connsiteX0" fmla="*/ 0 w 521935"/>
                <a:gd name="connsiteY0" fmla="*/ 3342216 h 3433656"/>
                <a:gd name="connsiteX1" fmla="*/ 0 w 521935"/>
                <a:gd name="connsiteY1" fmla="*/ 3342216 h 3433656"/>
                <a:gd name="connsiteX2" fmla="*/ 0 w 521935"/>
                <a:gd name="connsiteY2" fmla="*/ 71751 h 3433656"/>
                <a:gd name="connsiteX3" fmla="*/ 71751 w 521935"/>
                <a:gd name="connsiteY3" fmla="*/ 0 h 3433656"/>
                <a:gd name="connsiteX4" fmla="*/ 358744 w 521935"/>
                <a:gd name="connsiteY4" fmla="*/ 0 h 3433656"/>
                <a:gd name="connsiteX5" fmla="*/ 430495 w 521935"/>
                <a:gd name="connsiteY5" fmla="*/ 71751 h 3433656"/>
                <a:gd name="connsiteX6" fmla="*/ 430495 w 521935"/>
                <a:gd name="connsiteY6" fmla="*/ 3342216 h 3433656"/>
                <a:gd name="connsiteX7" fmla="*/ 521935 w 521935"/>
                <a:gd name="connsiteY7" fmla="*/ 3433656 h 3433656"/>
                <a:gd name="connsiteX0" fmla="*/ 0 w 430495"/>
                <a:gd name="connsiteY0" fmla="*/ 3342216 h 3342216"/>
                <a:gd name="connsiteX1" fmla="*/ 0 w 430495"/>
                <a:gd name="connsiteY1" fmla="*/ 3342216 h 3342216"/>
                <a:gd name="connsiteX2" fmla="*/ 0 w 430495"/>
                <a:gd name="connsiteY2" fmla="*/ 71751 h 3342216"/>
                <a:gd name="connsiteX3" fmla="*/ 71751 w 430495"/>
                <a:gd name="connsiteY3" fmla="*/ 0 h 3342216"/>
                <a:gd name="connsiteX4" fmla="*/ 358744 w 430495"/>
                <a:gd name="connsiteY4" fmla="*/ 0 h 3342216"/>
                <a:gd name="connsiteX5" fmla="*/ 430495 w 430495"/>
                <a:gd name="connsiteY5" fmla="*/ 71751 h 3342216"/>
                <a:gd name="connsiteX6" fmla="*/ 430495 w 430495"/>
                <a:gd name="connsiteY6" fmla="*/ 3342216 h 3342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0495" h="3342216">
                  <a:moveTo>
                    <a:pt x="0" y="3342216"/>
                  </a:moveTo>
                  <a:lnTo>
                    <a:pt x="0" y="3342216"/>
                  </a:lnTo>
                  <a:lnTo>
                    <a:pt x="0" y="71751"/>
                  </a:lnTo>
                  <a:cubicBezTo>
                    <a:pt x="0" y="32124"/>
                    <a:pt x="32124" y="0"/>
                    <a:pt x="71751" y="0"/>
                  </a:cubicBezTo>
                  <a:lnTo>
                    <a:pt x="358744" y="0"/>
                  </a:lnTo>
                  <a:cubicBezTo>
                    <a:pt x="398371" y="0"/>
                    <a:pt x="430495" y="32124"/>
                    <a:pt x="430495" y="71751"/>
                  </a:cubicBezTo>
                  <a:lnTo>
                    <a:pt x="430495" y="334221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1" name="Rectangle : avec coins arrondis en haut 10">
              <a:extLst>
                <a:ext uri="{FF2B5EF4-FFF2-40B4-BE49-F238E27FC236}">
                  <a16:creationId xmlns:a16="http://schemas.microsoft.com/office/drawing/2014/main" id="{4DBA7098-9F68-4030-938D-A5FE003E3C6E}"/>
                </a:ext>
              </a:extLst>
            </p:cNvPr>
            <p:cNvSpPr/>
            <p:nvPr/>
          </p:nvSpPr>
          <p:spPr>
            <a:xfrm rot="10800000">
              <a:off x="3479791" y="3314698"/>
              <a:ext cx="430497" cy="1953599"/>
            </a:xfrm>
            <a:prstGeom prst="round2Same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Arrondir un rectangle avec un coin du même côté 734">
              <a:extLst>
                <a:ext uri="{FF2B5EF4-FFF2-40B4-BE49-F238E27FC236}">
                  <a16:creationId xmlns:a16="http://schemas.microsoft.com/office/drawing/2014/main" id="{A0105320-801E-4AFE-B03E-BF3CFD9AB37E}"/>
                </a:ext>
              </a:extLst>
            </p:cNvPr>
            <p:cNvSpPr/>
            <p:nvPr/>
          </p:nvSpPr>
          <p:spPr>
            <a:xfrm rot="10800000" flipH="1">
              <a:off x="3479794" y="1926082"/>
              <a:ext cx="430495" cy="3342216"/>
            </a:xfrm>
            <a:custGeom>
              <a:avLst/>
              <a:gdLst>
                <a:gd name="connsiteX0" fmla="*/ 71751 w 430495"/>
                <a:gd name="connsiteY0" fmla="*/ 0 h 3342216"/>
                <a:gd name="connsiteX1" fmla="*/ 358744 w 430495"/>
                <a:gd name="connsiteY1" fmla="*/ 0 h 3342216"/>
                <a:gd name="connsiteX2" fmla="*/ 430495 w 430495"/>
                <a:gd name="connsiteY2" fmla="*/ 71751 h 3342216"/>
                <a:gd name="connsiteX3" fmla="*/ 430495 w 430495"/>
                <a:gd name="connsiteY3" fmla="*/ 3342216 h 3342216"/>
                <a:gd name="connsiteX4" fmla="*/ 430495 w 430495"/>
                <a:gd name="connsiteY4" fmla="*/ 3342216 h 3342216"/>
                <a:gd name="connsiteX5" fmla="*/ 0 w 430495"/>
                <a:gd name="connsiteY5" fmla="*/ 3342216 h 3342216"/>
                <a:gd name="connsiteX6" fmla="*/ 0 w 430495"/>
                <a:gd name="connsiteY6" fmla="*/ 3342216 h 3342216"/>
                <a:gd name="connsiteX7" fmla="*/ 0 w 430495"/>
                <a:gd name="connsiteY7" fmla="*/ 71751 h 3342216"/>
                <a:gd name="connsiteX8" fmla="*/ 71751 w 430495"/>
                <a:gd name="connsiteY8" fmla="*/ 0 h 3342216"/>
                <a:gd name="connsiteX0" fmla="*/ 0 w 521935"/>
                <a:gd name="connsiteY0" fmla="*/ 3342216 h 3433656"/>
                <a:gd name="connsiteX1" fmla="*/ 0 w 521935"/>
                <a:gd name="connsiteY1" fmla="*/ 3342216 h 3433656"/>
                <a:gd name="connsiteX2" fmla="*/ 0 w 521935"/>
                <a:gd name="connsiteY2" fmla="*/ 71751 h 3433656"/>
                <a:gd name="connsiteX3" fmla="*/ 71751 w 521935"/>
                <a:gd name="connsiteY3" fmla="*/ 0 h 3433656"/>
                <a:gd name="connsiteX4" fmla="*/ 358744 w 521935"/>
                <a:gd name="connsiteY4" fmla="*/ 0 h 3433656"/>
                <a:gd name="connsiteX5" fmla="*/ 430495 w 521935"/>
                <a:gd name="connsiteY5" fmla="*/ 71751 h 3433656"/>
                <a:gd name="connsiteX6" fmla="*/ 430495 w 521935"/>
                <a:gd name="connsiteY6" fmla="*/ 3342216 h 3433656"/>
                <a:gd name="connsiteX7" fmla="*/ 521935 w 521935"/>
                <a:gd name="connsiteY7" fmla="*/ 3433656 h 3433656"/>
                <a:gd name="connsiteX0" fmla="*/ 0 w 430495"/>
                <a:gd name="connsiteY0" fmla="*/ 3342216 h 3342216"/>
                <a:gd name="connsiteX1" fmla="*/ 0 w 430495"/>
                <a:gd name="connsiteY1" fmla="*/ 3342216 h 3342216"/>
                <a:gd name="connsiteX2" fmla="*/ 0 w 430495"/>
                <a:gd name="connsiteY2" fmla="*/ 71751 h 3342216"/>
                <a:gd name="connsiteX3" fmla="*/ 71751 w 430495"/>
                <a:gd name="connsiteY3" fmla="*/ 0 h 3342216"/>
                <a:gd name="connsiteX4" fmla="*/ 358744 w 430495"/>
                <a:gd name="connsiteY4" fmla="*/ 0 h 3342216"/>
                <a:gd name="connsiteX5" fmla="*/ 430495 w 430495"/>
                <a:gd name="connsiteY5" fmla="*/ 71751 h 3342216"/>
                <a:gd name="connsiteX6" fmla="*/ 430495 w 430495"/>
                <a:gd name="connsiteY6" fmla="*/ 3342216 h 3342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0495" h="3342216">
                  <a:moveTo>
                    <a:pt x="0" y="3342216"/>
                  </a:moveTo>
                  <a:lnTo>
                    <a:pt x="0" y="3342216"/>
                  </a:lnTo>
                  <a:lnTo>
                    <a:pt x="0" y="71751"/>
                  </a:lnTo>
                  <a:cubicBezTo>
                    <a:pt x="0" y="32124"/>
                    <a:pt x="32124" y="0"/>
                    <a:pt x="71751" y="0"/>
                  </a:cubicBezTo>
                  <a:lnTo>
                    <a:pt x="358744" y="0"/>
                  </a:lnTo>
                  <a:cubicBezTo>
                    <a:pt x="398371" y="0"/>
                    <a:pt x="430495" y="32124"/>
                    <a:pt x="430495" y="71751"/>
                  </a:cubicBezTo>
                  <a:lnTo>
                    <a:pt x="430495" y="334221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3" name="Rectangle : avec coins arrondis en haut 12">
              <a:extLst>
                <a:ext uri="{FF2B5EF4-FFF2-40B4-BE49-F238E27FC236}">
                  <a16:creationId xmlns:a16="http://schemas.microsoft.com/office/drawing/2014/main" id="{27D1297E-4411-489C-A851-62ABE695B4F1}"/>
                </a:ext>
              </a:extLst>
            </p:cNvPr>
            <p:cNvSpPr/>
            <p:nvPr/>
          </p:nvSpPr>
          <p:spPr>
            <a:xfrm rot="10800000">
              <a:off x="4810971" y="3314698"/>
              <a:ext cx="430497" cy="1953599"/>
            </a:xfrm>
            <a:prstGeom prst="round2Same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Arrondir un rectangle avec un coin du même côté 734">
              <a:extLst>
                <a:ext uri="{FF2B5EF4-FFF2-40B4-BE49-F238E27FC236}">
                  <a16:creationId xmlns:a16="http://schemas.microsoft.com/office/drawing/2014/main" id="{FE67C5A6-87CE-4328-AAE7-E24319390CF7}"/>
                </a:ext>
              </a:extLst>
            </p:cNvPr>
            <p:cNvSpPr/>
            <p:nvPr/>
          </p:nvSpPr>
          <p:spPr>
            <a:xfrm rot="10800000" flipH="1">
              <a:off x="4810974" y="1926082"/>
              <a:ext cx="430495" cy="3342216"/>
            </a:xfrm>
            <a:custGeom>
              <a:avLst/>
              <a:gdLst>
                <a:gd name="connsiteX0" fmla="*/ 71751 w 430495"/>
                <a:gd name="connsiteY0" fmla="*/ 0 h 3342216"/>
                <a:gd name="connsiteX1" fmla="*/ 358744 w 430495"/>
                <a:gd name="connsiteY1" fmla="*/ 0 h 3342216"/>
                <a:gd name="connsiteX2" fmla="*/ 430495 w 430495"/>
                <a:gd name="connsiteY2" fmla="*/ 71751 h 3342216"/>
                <a:gd name="connsiteX3" fmla="*/ 430495 w 430495"/>
                <a:gd name="connsiteY3" fmla="*/ 3342216 h 3342216"/>
                <a:gd name="connsiteX4" fmla="*/ 430495 w 430495"/>
                <a:gd name="connsiteY4" fmla="*/ 3342216 h 3342216"/>
                <a:gd name="connsiteX5" fmla="*/ 0 w 430495"/>
                <a:gd name="connsiteY5" fmla="*/ 3342216 h 3342216"/>
                <a:gd name="connsiteX6" fmla="*/ 0 w 430495"/>
                <a:gd name="connsiteY6" fmla="*/ 3342216 h 3342216"/>
                <a:gd name="connsiteX7" fmla="*/ 0 w 430495"/>
                <a:gd name="connsiteY7" fmla="*/ 71751 h 3342216"/>
                <a:gd name="connsiteX8" fmla="*/ 71751 w 430495"/>
                <a:gd name="connsiteY8" fmla="*/ 0 h 3342216"/>
                <a:gd name="connsiteX0" fmla="*/ 0 w 521935"/>
                <a:gd name="connsiteY0" fmla="*/ 3342216 h 3433656"/>
                <a:gd name="connsiteX1" fmla="*/ 0 w 521935"/>
                <a:gd name="connsiteY1" fmla="*/ 3342216 h 3433656"/>
                <a:gd name="connsiteX2" fmla="*/ 0 w 521935"/>
                <a:gd name="connsiteY2" fmla="*/ 71751 h 3433656"/>
                <a:gd name="connsiteX3" fmla="*/ 71751 w 521935"/>
                <a:gd name="connsiteY3" fmla="*/ 0 h 3433656"/>
                <a:gd name="connsiteX4" fmla="*/ 358744 w 521935"/>
                <a:gd name="connsiteY4" fmla="*/ 0 h 3433656"/>
                <a:gd name="connsiteX5" fmla="*/ 430495 w 521935"/>
                <a:gd name="connsiteY5" fmla="*/ 71751 h 3433656"/>
                <a:gd name="connsiteX6" fmla="*/ 430495 w 521935"/>
                <a:gd name="connsiteY6" fmla="*/ 3342216 h 3433656"/>
                <a:gd name="connsiteX7" fmla="*/ 521935 w 521935"/>
                <a:gd name="connsiteY7" fmla="*/ 3433656 h 3433656"/>
                <a:gd name="connsiteX0" fmla="*/ 0 w 430495"/>
                <a:gd name="connsiteY0" fmla="*/ 3342216 h 3342216"/>
                <a:gd name="connsiteX1" fmla="*/ 0 w 430495"/>
                <a:gd name="connsiteY1" fmla="*/ 3342216 h 3342216"/>
                <a:gd name="connsiteX2" fmla="*/ 0 w 430495"/>
                <a:gd name="connsiteY2" fmla="*/ 71751 h 3342216"/>
                <a:gd name="connsiteX3" fmla="*/ 71751 w 430495"/>
                <a:gd name="connsiteY3" fmla="*/ 0 h 3342216"/>
                <a:gd name="connsiteX4" fmla="*/ 358744 w 430495"/>
                <a:gd name="connsiteY4" fmla="*/ 0 h 3342216"/>
                <a:gd name="connsiteX5" fmla="*/ 430495 w 430495"/>
                <a:gd name="connsiteY5" fmla="*/ 71751 h 3342216"/>
                <a:gd name="connsiteX6" fmla="*/ 430495 w 430495"/>
                <a:gd name="connsiteY6" fmla="*/ 3342216 h 3342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0495" h="3342216">
                  <a:moveTo>
                    <a:pt x="0" y="3342216"/>
                  </a:moveTo>
                  <a:lnTo>
                    <a:pt x="0" y="3342216"/>
                  </a:lnTo>
                  <a:lnTo>
                    <a:pt x="0" y="71751"/>
                  </a:lnTo>
                  <a:cubicBezTo>
                    <a:pt x="0" y="32124"/>
                    <a:pt x="32124" y="0"/>
                    <a:pt x="71751" y="0"/>
                  </a:cubicBezTo>
                  <a:lnTo>
                    <a:pt x="358744" y="0"/>
                  </a:lnTo>
                  <a:cubicBezTo>
                    <a:pt x="398371" y="0"/>
                    <a:pt x="430495" y="32124"/>
                    <a:pt x="430495" y="71751"/>
                  </a:cubicBezTo>
                  <a:lnTo>
                    <a:pt x="430495" y="334221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5" name="Rectangle : avec coins arrondis en haut 14">
              <a:extLst>
                <a:ext uri="{FF2B5EF4-FFF2-40B4-BE49-F238E27FC236}">
                  <a16:creationId xmlns:a16="http://schemas.microsoft.com/office/drawing/2014/main" id="{D0234DF5-9106-4B07-BD61-F410C6466D00}"/>
                </a:ext>
              </a:extLst>
            </p:cNvPr>
            <p:cNvSpPr/>
            <p:nvPr/>
          </p:nvSpPr>
          <p:spPr>
            <a:xfrm rot="10800000">
              <a:off x="7177841" y="3314698"/>
              <a:ext cx="430497" cy="1953599"/>
            </a:xfrm>
            <a:prstGeom prst="round2Same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Arrondir un rectangle avec un coin du même côté 734">
              <a:extLst>
                <a:ext uri="{FF2B5EF4-FFF2-40B4-BE49-F238E27FC236}">
                  <a16:creationId xmlns:a16="http://schemas.microsoft.com/office/drawing/2014/main" id="{E5E0437E-A54B-4C9E-A2B3-2FF8E00189D6}"/>
                </a:ext>
              </a:extLst>
            </p:cNvPr>
            <p:cNvSpPr/>
            <p:nvPr/>
          </p:nvSpPr>
          <p:spPr>
            <a:xfrm rot="10800000" flipH="1">
              <a:off x="7177844" y="1926082"/>
              <a:ext cx="430495" cy="3342216"/>
            </a:xfrm>
            <a:custGeom>
              <a:avLst/>
              <a:gdLst>
                <a:gd name="connsiteX0" fmla="*/ 71751 w 430495"/>
                <a:gd name="connsiteY0" fmla="*/ 0 h 3342216"/>
                <a:gd name="connsiteX1" fmla="*/ 358744 w 430495"/>
                <a:gd name="connsiteY1" fmla="*/ 0 h 3342216"/>
                <a:gd name="connsiteX2" fmla="*/ 430495 w 430495"/>
                <a:gd name="connsiteY2" fmla="*/ 71751 h 3342216"/>
                <a:gd name="connsiteX3" fmla="*/ 430495 w 430495"/>
                <a:gd name="connsiteY3" fmla="*/ 3342216 h 3342216"/>
                <a:gd name="connsiteX4" fmla="*/ 430495 w 430495"/>
                <a:gd name="connsiteY4" fmla="*/ 3342216 h 3342216"/>
                <a:gd name="connsiteX5" fmla="*/ 0 w 430495"/>
                <a:gd name="connsiteY5" fmla="*/ 3342216 h 3342216"/>
                <a:gd name="connsiteX6" fmla="*/ 0 w 430495"/>
                <a:gd name="connsiteY6" fmla="*/ 3342216 h 3342216"/>
                <a:gd name="connsiteX7" fmla="*/ 0 w 430495"/>
                <a:gd name="connsiteY7" fmla="*/ 71751 h 3342216"/>
                <a:gd name="connsiteX8" fmla="*/ 71751 w 430495"/>
                <a:gd name="connsiteY8" fmla="*/ 0 h 3342216"/>
                <a:gd name="connsiteX0" fmla="*/ 0 w 521935"/>
                <a:gd name="connsiteY0" fmla="*/ 3342216 h 3433656"/>
                <a:gd name="connsiteX1" fmla="*/ 0 w 521935"/>
                <a:gd name="connsiteY1" fmla="*/ 3342216 h 3433656"/>
                <a:gd name="connsiteX2" fmla="*/ 0 w 521935"/>
                <a:gd name="connsiteY2" fmla="*/ 71751 h 3433656"/>
                <a:gd name="connsiteX3" fmla="*/ 71751 w 521935"/>
                <a:gd name="connsiteY3" fmla="*/ 0 h 3433656"/>
                <a:gd name="connsiteX4" fmla="*/ 358744 w 521935"/>
                <a:gd name="connsiteY4" fmla="*/ 0 h 3433656"/>
                <a:gd name="connsiteX5" fmla="*/ 430495 w 521935"/>
                <a:gd name="connsiteY5" fmla="*/ 71751 h 3433656"/>
                <a:gd name="connsiteX6" fmla="*/ 430495 w 521935"/>
                <a:gd name="connsiteY6" fmla="*/ 3342216 h 3433656"/>
                <a:gd name="connsiteX7" fmla="*/ 521935 w 521935"/>
                <a:gd name="connsiteY7" fmla="*/ 3433656 h 3433656"/>
                <a:gd name="connsiteX0" fmla="*/ 0 w 430495"/>
                <a:gd name="connsiteY0" fmla="*/ 3342216 h 3342216"/>
                <a:gd name="connsiteX1" fmla="*/ 0 w 430495"/>
                <a:gd name="connsiteY1" fmla="*/ 3342216 h 3342216"/>
                <a:gd name="connsiteX2" fmla="*/ 0 w 430495"/>
                <a:gd name="connsiteY2" fmla="*/ 71751 h 3342216"/>
                <a:gd name="connsiteX3" fmla="*/ 71751 w 430495"/>
                <a:gd name="connsiteY3" fmla="*/ 0 h 3342216"/>
                <a:gd name="connsiteX4" fmla="*/ 358744 w 430495"/>
                <a:gd name="connsiteY4" fmla="*/ 0 h 3342216"/>
                <a:gd name="connsiteX5" fmla="*/ 430495 w 430495"/>
                <a:gd name="connsiteY5" fmla="*/ 71751 h 3342216"/>
                <a:gd name="connsiteX6" fmla="*/ 430495 w 430495"/>
                <a:gd name="connsiteY6" fmla="*/ 3342216 h 3342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0495" h="3342216">
                  <a:moveTo>
                    <a:pt x="0" y="3342216"/>
                  </a:moveTo>
                  <a:lnTo>
                    <a:pt x="0" y="3342216"/>
                  </a:lnTo>
                  <a:lnTo>
                    <a:pt x="0" y="71751"/>
                  </a:lnTo>
                  <a:cubicBezTo>
                    <a:pt x="0" y="32124"/>
                    <a:pt x="32124" y="0"/>
                    <a:pt x="71751" y="0"/>
                  </a:cubicBezTo>
                  <a:lnTo>
                    <a:pt x="358744" y="0"/>
                  </a:lnTo>
                  <a:cubicBezTo>
                    <a:pt x="398371" y="0"/>
                    <a:pt x="430495" y="32124"/>
                    <a:pt x="430495" y="71751"/>
                  </a:cubicBezTo>
                  <a:lnTo>
                    <a:pt x="430495" y="334221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F7F99D96-D77D-4274-97DB-30340B3E4F4D}"/>
                </a:ext>
              </a:extLst>
            </p:cNvPr>
            <p:cNvSpPr txBox="1"/>
            <p:nvPr/>
          </p:nvSpPr>
          <p:spPr>
            <a:xfrm>
              <a:off x="1707377" y="5429351"/>
              <a:ext cx="123353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7030A0"/>
                  </a:solidFill>
                </a:rPr>
                <a:t>Tube T</a:t>
              </a:r>
              <a:r>
                <a:rPr lang="fr-FR" baseline="-25000" dirty="0">
                  <a:solidFill>
                    <a:srgbClr val="7030A0"/>
                  </a:solidFill>
                </a:rPr>
                <a:t>2</a:t>
              </a:r>
            </a:p>
            <a:p>
              <a:pPr algn="ctr"/>
              <a:r>
                <a:rPr lang="fr-FR" baseline="-25000" dirty="0">
                  <a:solidFill>
                    <a:srgbClr val="7030A0"/>
                  </a:solidFill>
                </a:rPr>
                <a:t>C = 4,0 µmol/L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946232B6-584F-4A5E-81ED-563BEC45DCE0}"/>
                </a:ext>
              </a:extLst>
            </p:cNvPr>
            <p:cNvSpPr txBox="1"/>
            <p:nvPr/>
          </p:nvSpPr>
          <p:spPr>
            <a:xfrm>
              <a:off x="3138157" y="5429351"/>
              <a:ext cx="113333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7030A0"/>
                  </a:solidFill>
                </a:rPr>
                <a:t>Tube T</a:t>
              </a:r>
              <a:r>
                <a:rPr lang="fr-FR" baseline="-25000" dirty="0">
                  <a:solidFill>
                    <a:srgbClr val="7030A0"/>
                  </a:solidFill>
                </a:rPr>
                <a:t>3</a:t>
              </a:r>
            </a:p>
            <a:p>
              <a:pPr algn="ctr"/>
              <a:r>
                <a:rPr lang="fr-FR" baseline="-25000" dirty="0">
                  <a:solidFill>
                    <a:srgbClr val="7030A0"/>
                  </a:solidFill>
                </a:rPr>
                <a:t>C = 6,0 µmol/L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4785BA30-A2F0-4A6E-B4D1-1CE45FABDF7F}"/>
                </a:ext>
              </a:extLst>
            </p:cNvPr>
            <p:cNvSpPr txBox="1"/>
            <p:nvPr/>
          </p:nvSpPr>
          <p:spPr>
            <a:xfrm>
              <a:off x="4468737" y="5411964"/>
              <a:ext cx="113333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7030A0"/>
                  </a:solidFill>
                </a:rPr>
                <a:t>Tube T</a:t>
              </a:r>
              <a:r>
                <a:rPr lang="fr-FR" baseline="-25000" dirty="0">
                  <a:solidFill>
                    <a:srgbClr val="7030A0"/>
                  </a:solidFill>
                </a:rPr>
                <a:t>4</a:t>
              </a:r>
            </a:p>
            <a:p>
              <a:pPr algn="ctr"/>
              <a:r>
                <a:rPr lang="fr-FR" baseline="-25000" dirty="0">
                  <a:solidFill>
                    <a:srgbClr val="7030A0"/>
                  </a:solidFill>
                </a:rPr>
                <a:t>C = 8,0 µmol/L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4CA96AD1-F631-4624-97F1-B7D339F5CFE4}"/>
                </a:ext>
              </a:extLst>
            </p:cNvPr>
            <p:cNvSpPr txBox="1"/>
            <p:nvPr/>
          </p:nvSpPr>
          <p:spPr>
            <a:xfrm>
              <a:off x="6820696" y="5429351"/>
              <a:ext cx="105752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7030A0"/>
                  </a:solidFill>
                </a:rPr>
                <a:t>Tube T</a:t>
              </a:r>
              <a:endParaRPr lang="fr-FR" baseline="-25000" dirty="0">
                <a:solidFill>
                  <a:srgbClr val="7030A0"/>
                </a:solidFill>
              </a:endParaRPr>
            </a:p>
            <a:p>
              <a:pPr algn="ctr"/>
              <a:r>
                <a:rPr lang="fr-FR" baseline="-25000" dirty="0">
                  <a:solidFill>
                    <a:srgbClr val="7030A0"/>
                  </a:solidFill>
                </a:rPr>
                <a:t>C = ?? µmol/L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530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E97062-1C43-4246-BC07-60C5277B0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du sirop de menthe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6A4F96E-B103-4479-80EA-914B3ADA10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6"/>
          <a:stretch/>
        </p:blipFill>
        <p:spPr>
          <a:xfrm>
            <a:off x="1575820" y="2116667"/>
            <a:ext cx="9561462" cy="474133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4197093-54C5-4A96-876F-24A7A689A9C0}"/>
              </a:ext>
            </a:extLst>
          </p:cNvPr>
          <p:cNvSpPr txBox="1"/>
          <p:nvPr/>
        </p:nvSpPr>
        <p:spPr>
          <a:xfrm>
            <a:off x="3471334" y="3208867"/>
            <a:ext cx="1270000" cy="646331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Pic dû à la tartrazine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574F08F-6D4C-4D5E-ADDD-E0CDC80E6FC6}"/>
              </a:ext>
            </a:extLst>
          </p:cNvPr>
          <p:cNvSpPr txBox="1"/>
          <p:nvPr/>
        </p:nvSpPr>
        <p:spPr>
          <a:xfrm>
            <a:off x="7272866" y="1580512"/>
            <a:ext cx="1430867" cy="64633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Pic dû au bleu patenté</a:t>
            </a:r>
          </a:p>
        </p:txBody>
      </p:sp>
    </p:spTree>
    <p:extLst>
      <p:ext uri="{BB962C8B-B14F-4D97-AF65-F5344CB8AC3E}">
        <p14:creationId xmlns:p14="http://schemas.microsoft.com/office/powerpoint/2010/main" val="323359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4047AF-18A8-4C1D-9FAE-88DF6B7E1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du bleu patenté E131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F0A452F-2E1F-40D5-83F2-FA38073F2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565905" y="1846263"/>
            <a:ext cx="7120516" cy="4022725"/>
          </a:xfrm>
        </p:spPr>
      </p:pic>
    </p:spTree>
    <p:extLst>
      <p:ext uri="{BB962C8B-B14F-4D97-AF65-F5344CB8AC3E}">
        <p14:creationId xmlns:p14="http://schemas.microsoft.com/office/powerpoint/2010/main" val="2433318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C204DC-1B8E-45B6-931B-A3C9F58E6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Molécules colorées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D3EBBD-EC6F-41C6-B951-0BD0351AA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10</a:t>
            </a:fld>
            <a:endParaRPr lang="fr-FR"/>
          </a:p>
        </p:txBody>
      </p:sp>
      <p:pic>
        <p:nvPicPr>
          <p:cNvPr id="1026" name="Picture 2" descr="RÃ©sultat de recherche d'images pour &quot;indigo molÃ©cule&quot;">
            <a:extLst>
              <a:ext uri="{FF2B5EF4-FFF2-40B4-BE49-F238E27FC236}">
                <a16:creationId xmlns:a16="http://schemas.microsoft.com/office/drawing/2014/main" id="{E26353A5-C70F-45E3-A977-D9B267E61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471" y="1711955"/>
            <a:ext cx="2592526" cy="1445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illustrative de lâarticle Tartrazine">
            <a:extLst>
              <a:ext uri="{FF2B5EF4-FFF2-40B4-BE49-F238E27FC236}">
                <a16:creationId xmlns:a16="http://schemas.microsoft.com/office/drawing/2014/main" id="{FD8A8EF3-6913-415E-A767-22A6B8D01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727" y="1711955"/>
            <a:ext cx="4232581" cy="1364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7EAC276-BA4A-4AB5-85C5-AC069BBAE772}"/>
              </a:ext>
            </a:extLst>
          </p:cNvPr>
          <p:cNvSpPr txBox="1"/>
          <p:nvPr/>
        </p:nvSpPr>
        <p:spPr>
          <a:xfrm>
            <a:off x="388183" y="2926457"/>
            <a:ext cx="960006" cy="461665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Indigo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9B2C598-FB57-4F0A-972D-B2B738E86F6D}"/>
              </a:ext>
            </a:extLst>
          </p:cNvPr>
          <p:cNvSpPr txBox="1"/>
          <p:nvPr/>
        </p:nvSpPr>
        <p:spPr>
          <a:xfrm>
            <a:off x="9614243" y="2464792"/>
            <a:ext cx="2189574" cy="461665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FF9900"/>
                </a:solidFill>
              </a:rPr>
              <a:t>Jaune tartrazine</a:t>
            </a:r>
          </a:p>
        </p:txBody>
      </p:sp>
      <p:pic>
        <p:nvPicPr>
          <p:cNvPr id="1032" name="Picture 8" descr="Image illustrative de lâarticle Bleu patentÃ© V">
            <a:extLst>
              <a:ext uri="{FF2B5EF4-FFF2-40B4-BE49-F238E27FC236}">
                <a16:creationId xmlns:a16="http://schemas.microsoft.com/office/drawing/2014/main" id="{7FBCD8B0-2ACF-400B-B50A-298DE361E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734" y="3429000"/>
            <a:ext cx="3480277" cy="2875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illustrative de lâarticle Bleu brillant FCF">
            <a:extLst>
              <a:ext uri="{FF2B5EF4-FFF2-40B4-BE49-F238E27FC236}">
                <a16:creationId xmlns:a16="http://schemas.microsoft.com/office/drawing/2014/main" id="{EDA3C738-B240-4E24-A4CE-62F2F1FA0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412" y="3781480"/>
            <a:ext cx="4580071" cy="2092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AD1F240-AFF9-4F8B-822E-B11363F299E4}"/>
              </a:ext>
            </a:extLst>
          </p:cNvPr>
          <p:cNvSpPr txBox="1"/>
          <p:nvPr/>
        </p:nvSpPr>
        <p:spPr>
          <a:xfrm>
            <a:off x="117237" y="4791583"/>
            <a:ext cx="2022092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Bleu patenté V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F337687-9851-4EEF-B2B5-396774FDC30A}"/>
              </a:ext>
            </a:extLst>
          </p:cNvPr>
          <p:cNvSpPr txBox="1"/>
          <p:nvPr/>
        </p:nvSpPr>
        <p:spPr>
          <a:xfrm>
            <a:off x="10364174" y="5536315"/>
            <a:ext cx="1696618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accent1"/>
                </a:solidFill>
              </a:rPr>
              <a:t>Bleu brillant</a:t>
            </a:r>
          </a:p>
        </p:txBody>
      </p:sp>
    </p:spTree>
    <p:extLst>
      <p:ext uri="{BB962C8B-B14F-4D97-AF65-F5344CB8AC3E}">
        <p14:creationId xmlns:p14="http://schemas.microsoft.com/office/powerpoint/2010/main" val="4089628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A8C4EC-7426-4093-839D-3A9D42952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Molécules colorées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66569A5-FA2D-478A-89DE-4E22CBEE1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667" y="1899269"/>
            <a:ext cx="5749625" cy="4274589"/>
          </a:xfrm>
        </p:spPr>
      </p:pic>
    </p:spTree>
    <p:extLst>
      <p:ext uri="{BB962C8B-B14F-4D97-AF65-F5344CB8AC3E}">
        <p14:creationId xmlns:p14="http://schemas.microsoft.com/office/powerpoint/2010/main" val="4262466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02E667-5E9A-4A4C-9870-B8E841F8A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Influence du pH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063AB20-6109-42F6-AA9D-3999CEF68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515" y="2221379"/>
            <a:ext cx="9714285" cy="3238095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E5658FD-8A91-49DC-BB70-EF8DDD6A5F79}"/>
              </a:ext>
            </a:extLst>
          </p:cNvPr>
          <p:cNvSpPr txBox="1"/>
          <p:nvPr/>
        </p:nvSpPr>
        <p:spPr>
          <a:xfrm>
            <a:off x="838200" y="4931492"/>
            <a:ext cx="80131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/>
              <a:t>pH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879857509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268</TotalTime>
  <Words>136</Words>
  <Application>Microsoft Office PowerPoint</Application>
  <PresentationFormat>Grand écran</PresentationFormat>
  <Paragraphs>53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Courier New</vt:lpstr>
      <vt:lpstr>Rétrospective</vt:lpstr>
      <vt:lpstr>Chimie et couleur</vt:lpstr>
      <vt:lpstr>Synthèse de l’indigo</vt:lpstr>
      <vt:lpstr>Synthèse de l’indigo</vt:lpstr>
      <vt:lpstr>Rendement de la synthèse</vt:lpstr>
      <vt:lpstr>Spectre commercial de l’indigo</vt:lpstr>
      <vt:lpstr>Spectrophotométrie</vt:lpstr>
      <vt:lpstr>Dosage par étalonnage</vt:lpstr>
      <vt:lpstr>Spectre du sirop de menthe</vt:lpstr>
      <vt:lpstr>Spectre du bleu patenté E131</vt:lpstr>
      <vt:lpstr>Molécules colorées</vt:lpstr>
      <vt:lpstr>Molécules colorées</vt:lpstr>
      <vt:lpstr>Influence du pH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et couleur</dc:title>
  <dc:creator>Hugo Roussille</dc:creator>
  <cp:lastModifiedBy>Hugo Roussille</cp:lastModifiedBy>
  <cp:revision>49</cp:revision>
  <dcterms:created xsi:type="dcterms:W3CDTF">2019-03-27T15:07:39Z</dcterms:created>
  <dcterms:modified xsi:type="dcterms:W3CDTF">2019-05-31T09:01:02Z</dcterms:modified>
</cp:coreProperties>
</file>