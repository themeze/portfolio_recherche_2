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B07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05/06/2019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05/06/2019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05/06/2019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05/06/2019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05/06/2019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05/06/2019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05/06/2019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05/06/2019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05/06/2019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05/06/2019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05/06/2019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05/06/2019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05/06/2019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Cinétique et catalyse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3F5AFF-8388-4A3D-900C-3A53C7BA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Ions iodure et peroxodisulfate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B412D03-9BE2-48DD-B5FA-23CA3EB1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B4DC29-CD0C-4A8C-AAD4-4ECDC289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2</a:t>
            </a:fld>
            <a:endParaRPr lang="fr-FR"/>
          </a:p>
        </p:txBody>
      </p:sp>
      <p:grpSp>
        <p:nvGrpSpPr>
          <p:cNvPr id="19" name="Grouper 48">
            <a:extLst>
              <a:ext uri="{FF2B5EF4-FFF2-40B4-BE49-F238E27FC236}">
                <a16:creationId xmlns:a16="http://schemas.microsoft.com/office/drawing/2014/main" id="{2DC55C4D-DBF9-49C6-AD78-863B875BEA62}"/>
              </a:ext>
            </a:extLst>
          </p:cNvPr>
          <p:cNvGrpSpPr/>
          <p:nvPr/>
        </p:nvGrpSpPr>
        <p:grpSpPr>
          <a:xfrm>
            <a:off x="4592333" y="2351819"/>
            <a:ext cx="3068301" cy="3300152"/>
            <a:chOff x="0" y="0"/>
            <a:chExt cx="571500" cy="824230"/>
          </a:xfrm>
        </p:grpSpPr>
        <p:grpSp>
          <p:nvGrpSpPr>
            <p:cNvPr id="34" name="Grouper 31">
              <a:extLst>
                <a:ext uri="{FF2B5EF4-FFF2-40B4-BE49-F238E27FC236}">
                  <a16:creationId xmlns:a16="http://schemas.microsoft.com/office/drawing/2014/main" id="{35B37C7E-BBC8-4ACD-B52E-9D8D572CE3CF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36" name="Arrondir un rectangle avec un coin du même côté 29">
                <a:extLst>
                  <a:ext uri="{FF2B5EF4-FFF2-40B4-BE49-F238E27FC236}">
                    <a16:creationId xmlns:a16="http://schemas.microsoft.com/office/drawing/2014/main" id="{54D46A76-C750-4A3F-B5A2-14251A67F229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37" name="Arrondir un rectangle avec un coin du même côté 30">
                <a:extLst>
                  <a:ext uri="{FF2B5EF4-FFF2-40B4-BE49-F238E27FC236}">
                    <a16:creationId xmlns:a16="http://schemas.microsoft.com/office/drawing/2014/main" id="{6317C273-6C8D-412B-BB14-D6C8621A961F}"/>
                  </a:ext>
                </a:extLst>
              </p:cNvPr>
              <p:cNvSpPr/>
              <p:nvPr/>
            </p:nvSpPr>
            <p:spPr>
              <a:xfrm rot="10800000">
                <a:off x="0" y="457200"/>
                <a:ext cx="571500" cy="3429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E7C5C4-950D-4BA5-ABBB-19F361982B77}"/>
                </a:ext>
              </a:extLst>
            </p:cNvPr>
            <p:cNvSpPr/>
            <p:nvPr/>
          </p:nvSpPr>
          <p:spPr>
            <a:xfrm flipV="1">
              <a:off x="0" y="0"/>
              <a:ext cx="571500" cy="4508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sp>
        <p:nvSpPr>
          <p:cNvPr id="16" name="Arrondir un rectangle avec un coin du même côté 9">
            <a:extLst>
              <a:ext uri="{FF2B5EF4-FFF2-40B4-BE49-F238E27FC236}">
                <a16:creationId xmlns:a16="http://schemas.microsoft.com/office/drawing/2014/main" id="{707D0F7D-99B8-43BD-B687-9934D1319508}"/>
              </a:ext>
            </a:extLst>
          </p:cNvPr>
          <p:cNvSpPr/>
          <p:nvPr/>
        </p:nvSpPr>
        <p:spPr>
          <a:xfrm rot="10800000">
            <a:off x="4592325" y="4276970"/>
            <a:ext cx="3068301" cy="1375000"/>
          </a:xfrm>
          <a:prstGeom prst="round2SameRect">
            <a:avLst/>
          </a:prstGeom>
          <a:solidFill>
            <a:srgbClr val="FFFF00">
              <a:alpha val="23000"/>
            </a:srgbClr>
          </a:solidFill>
          <a:ln w="3175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251DC1FC-4E0D-48A3-8BDF-E354DC69F798}"/>
                  </a:ext>
                </a:extLst>
              </p:cNvPr>
              <p:cNvSpPr txBox="1"/>
              <p:nvPr/>
            </p:nvSpPr>
            <p:spPr>
              <a:xfrm>
                <a:off x="482009" y="4495303"/>
                <a:ext cx="3388243" cy="469167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S</m:t>
                        </m:r>
                      </m:e>
                      <m:sub>
                        <m:r>
                          <a:rPr lang="fr-FR" sz="2400" b="0" i="0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fr-FR" sz="2400" b="0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fr-FR" sz="2400" b="0" i="0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O</m:t>
                        </m:r>
                      </m:e>
                      <m:sub>
                        <m:r>
                          <a:rPr lang="fr-FR" sz="2400" b="0" i="0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sub>
                      <m:sup>
                        <m:r>
                          <a:rPr lang="fr-FR" sz="2400" b="0" i="0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2−</m:t>
                        </m:r>
                      </m:sup>
                    </m:sSubSup>
                    <m:r>
                      <a:rPr lang="fr-FR" sz="2400" b="0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fr-FR" sz="2400" kern="1200" dirty="0">
                    <a:solidFill>
                      <a:schemeClr val="tx1"/>
                    </a:solidFill>
                    <a:ea typeface="+mn-ea"/>
                    <a:cs typeface="+mn-cs"/>
                  </a:rPr>
                  <a:t>: </a:t>
                </a:r>
                <a14:m>
                  <m:oMath xmlns:m="http://schemas.openxmlformats.org/officeDocument/2006/math">
                    <m:r>
                      <a:rPr lang="fr-FR" sz="24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5,0</m:t>
                    </m:r>
                    <m:r>
                      <a:rPr lang="fr-FR" sz="24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fr-FR" sz="24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sz="24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fr-FR" sz="2400" kern="1200" dirty="0">
                    <a:solidFill>
                      <a:schemeClr val="tx1"/>
                    </a:solidFill>
                    <a:ea typeface="+mn-ea"/>
                    <a:cs typeface="+mn-cs"/>
                  </a:rPr>
                  <a:t> mol/L</a:t>
                </a:r>
              </a:p>
            </p:txBody>
          </p:sp>
        </mc:Choice>
        <mc:Fallback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251DC1FC-4E0D-48A3-8BDF-E354DC69F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09" y="4495303"/>
                <a:ext cx="3388243" cy="469167"/>
              </a:xfrm>
              <a:prstGeom prst="rect">
                <a:avLst/>
              </a:prstGeom>
              <a:blipFill>
                <a:blip r:embed="rId2"/>
                <a:stretch>
                  <a:fillRect l="-179" t="-7500" r="-1789" b="-25000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526A6094-7157-439F-AABC-E5D296AFB7D0}"/>
                  </a:ext>
                </a:extLst>
              </p:cNvPr>
              <p:cNvSpPr txBox="1"/>
              <p:nvPr/>
            </p:nvSpPr>
            <p:spPr>
              <a:xfrm>
                <a:off x="8382698" y="4495303"/>
                <a:ext cx="2143535" cy="46166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sz="24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fr-FR" sz="24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p>
                        <m:r>
                          <a:rPr lang="fr-FR" sz="24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</m:sup>
                    </m:sSup>
                  </m:oMath>
                </a14:m>
                <a:r>
                  <a:rPr lang="fr-FR" sz="2400" kern="1200" dirty="0">
                    <a:solidFill>
                      <a:schemeClr val="tx1"/>
                    </a:solidFill>
                    <a:ea typeface="+mn-ea"/>
                    <a:cs typeface="+mn-cs"/>
                  </a:rPr>
                  <a:t>: 0,75 mol/L</a:t>
                </a:r>
              </a:p>
            </p:txBody>
          </p:sp>
        </mc:Choice>
        <mc:Fallback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526A6094-7157-439F-AABC-E5D296AFB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698" y="4495303"/>
                <a:ext cx="2143535" cy="461665"/>
              </a:xfrm>
              <a:prstGeom prst="rect">
                <a:avLst/>
              </a:prstGeom>
              <a:blipFill>
                <a:blip r:embed="rId3"/>
                <a:stretch>
                  <a:fillRect l="-282" t="-8861" b="-25316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A99BE1FD-59FC-4B6A-A1F1-0B8CBF9B611E}"/>
              </a:ext>
            </a:extLst>
          </p:cNvPr>
          <p:cNvCxnSpPr>
            <a:stCxn id="38" idx="3"/>
          </p:cNvCxnSpPr>
          <p:nvPr/>
        </p:nvCxnSpPr>
        <p:spPr>
          <a:xfrm flipV="1">
            <a:off x="3870252" y="4727946"/>
            <a:ext cx="1282995" cy="19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E935FA62-3146-4A43-8CDB-494C607E8229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6925340" y="4726136"/>
            <a:ext cx="145735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1B55C6C4-D4C9-4CDD-B6F1-5EB36FF59D80}"/>
                  </a:ext>
                </a:extLst>
              </p:cNvPr>
              <p:cNvSpPr txBox="1"/>
              <p:nvPr/>
            </p:nvSpPr>
            <p:spPr>
              <a:xfrm>
                <a:off x="2357345" y="1803991"/>
                <a:ext cx="8199125" cy="5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2 </m:t>
                      </m:r>
                      <m:sSup>
                        <m:sSupPr>
                          <m:ctrlPr>
                            <a:rPr lang="fr-FR" sz="2800" b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I</m:t>
                          </m:r>
                        </m:e>
                        <m:sup>
                          <m: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fr-FR" sz="2800" b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aq</m:t>
                          </m:r>
                        </m:e>
                      </m:d>
                      <m:r>
                        <a:rPr lang="fr-FR" sz="28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fr-FR" sz="2800" b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</m:t>
                          </m:r>
                        </m:e>
                        <m:sub>
                          <m: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fr-FR" sz="2800" b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O</m:t>
                          </m:r>
                        </m:e>
                        <m:sub>
                          <m: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</m:t>
                          </m:r>
                        </m:sub>
                        <m:sup>
                          <m: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2−</m:t>
                          </m:r>
                        </m:sup>
                      </m:sSubSup>
                      <m:d>
                        <m:dPr>
                          <m:ctrlPr>
                            <a:rPr lang="fr-FR" sz="2800" b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aq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fr-FR" sz="2800" b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fr-FR" sz="2800" b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        </m:t>
                          </m:r>
                        </m:e>
                      </m:groupChr>
                      <m:sSub>
                        <m:sSubPr>
                          <m:ctrlPr>
                            <a:rPr lang="fr-FR" sz="2800" b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I</m:t>
                          </m:r>
                        </m:e>
                        <m:sub>
                          <m: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2800" b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aq</m:t>
                          </m:r>
                        </m:e>
                      </m:d>
                      <m:r>
                        <a:rPr lang="fr-FR" sz="28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+2 </m:t>
                      </m:r>
                      <m:r>
                        <m:rPr>
                          <m:sty m:val="p"/>
                        </m:rPr>
                        <a:rPr lang="fr-FR" sz="28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S</m:t>
                      </m:r>
                      <m:sSubSup>
                        <m:sSubSupPr>
                          <m:ctrlPr>
                            <a:rPr lang="fr-FR" sz="2800" b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O</m:t>
                          </m:r>
                        </m:e>
                        <m:sub>
                          <m: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  <m:sup>
                          <m:r>
                            <a:rPr lang="fr-FR" sz="28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2−</m:t>
                          </m:r>
                        </m:sup>
                      </m:sSubSup>
                      <m:r>
                        <a:rPr lang="fr-FR" sz="28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28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aq</m:t>
                      </m:r>
                      <m:r>
                        <a:rPr lang="fr-FR" sz="28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fr-FR" sz="2800" kern="1200" dirty="0">
                  <a:solidFill>
                    <a:schemeClr val="tx1"/>
                  </a:solidFill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1B55C6C4-D4C9-4CDD-B6F1-5EB36FF59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45" y="1803991"/>
                <a:ext cx="8199125" cy="5319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CDD85471-F763-40B3-9A2B-A4B0FC4F07B3}"/>
                  </a:ext>
                </a:extLst>
              </p:cNvPr>
              <p:cNvSpPr txBox="1"/>
              <p:nvPr/>
            </p:nvSpPr>
            <p:spPr>
              <a:xfrm>
                <a:off x="5470800" y="5686545"/>
                <a:ext cx="1311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mL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CDD85471-F763-40B3-9A2B-A4B0FC4F0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800" y="5686545"/>
                <a:ext cx="13113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69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09441A-436C-472E-BC70-B405CF53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Catalyse homogène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42A244-608B-43A5-BC6B-4722F401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4EA715-5E0D-4F98-9BBC-CE0E5107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37B950B7-61B7-408E-8C5E-9D81917969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3873762"/>
                  </p:ext>
                </p:extLst>
              </p:nvPr>
            </p:nvGraphicFramePr>
            <p:xfrm>
              <a:off x="7057652" y="2228397"/>
              <a:ext cx="4198680" cy="20184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9340">
                      <a:extLst>
                        <a:ext uri="{9D8B030D-6E8A-4147-A177-3AD203B41FA5}">
                          <a16:colId xmlns:a16="http://schemas.microsoft.com/office/drawing/2014/main" val="4022605454"/>
                        </a:ext>
                      </a:extLst>
                    </a:gridCol>
                    <a:gridCol w="2099340">
                      <a:extLst>
                        <a:ext uri="{9D8B030D-6E8A-4147-A177-3AD203B41FA5}">
                          <a16:colId xmlns:a16="http://schemas.microsoft.com/office/drawing/2014/main" val="2362805588"/>
                        </a:ext>
                      </a:extLst>
                    </a:gridCol>
                  </a:tblGrid>
                  <a:tr h="640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 de catalyse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Catalyseur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6551098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Homogène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dirty="0"/>
                            <a:t>Ions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sSup>
                                <m:sSupPr>
                                  <m:ctrlP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</m:sup>
                              </m:sSup>
                            </m:oMath>
                          </a14:m>
                          <a:endParaRPr lang="fr-FR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82479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37B950B7-61B7-408E-8C5E-9D81917969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3873762"/>
                  </p:ext>
                </p:extLst>
              </p:nvPr>
            </p:nvGraphicFramePr>
            <p:xfrm>
              <a:off x="7057652" y="2228397"/>
              <a:ext cx="4198680" cy="20184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9340">
                      <a:extLst>
                        <a:ext uri="{9D8B030D-6E8A-4147-A177-3AD203B41FA5}">
                          <a16:colId xmlns:a16="http://schemas.microsoft.com/office/drawing/2014/main" val="4022605454"/>
                        </a:ext>
                      </a:extLst>
                    </a:gridCol>
                    <a:gridCol w="2099340">
                      <a:extLst>
                        <a:ext uri="{9D8B030D-6E8A-4147-A177-3AD203B41FA5}">
                          <a16:colId xmlns:a16="http://schemas.microsoft.com/office/drawing/2014/main" val="2362805588"/>
                        </a:ext>
                      </a:extLst>
                    </a:gridCol>
                  </a:tblGrid>
                  <a:tr h="640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 de catalyse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Catalyseur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6551098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Homogène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90" t="-46696" r="-1159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24797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3" name="Grouper 38">
            <a:extLst>
              <a:ext uri="{FF2B5EF4-FFF2-40B4-BE49-F238E27FC236}">
                <a16:creationId xmlns:a16="http://schemas.microsoft.com/office/drawing/2014/main" id="{FB3E09DE-F7F3-4564-8540-16D8F033F1BF}"/>
              </a:ext>
            </a:extLst>
          </p:cNvPr>
          <p:cNvGrpSpPr/>
          <p:nvPr/>
        </p:nvGrpSpPr>
        <p:grpSpPr>
          <a:xfrm>
            <a:off x="1097280" y="1616017"/>
            <a:ext cx="980049" cy="4150507"/>
            <a:chOff x="-285750" y="0"/>
            <a:chExt cx="1143000" cy="824230"/>
          </a:xfrm>
        </p:grpSpPr>
        <p:grpSp>
          <p:nvGrpSpPr>
            <p:cNvPr id="54" name="Grouper 40">
              <a:extLst>
                <a:ext uri="{FF2B5EF4-FFF2-40B4-BE49-F238E27FC236}">
                  <a16:creationId xmlns:a16="http://schemas.microsoft.com/office/drawing/2014/main" id="{FFEDF295-4018-4383-BF87-B0D6E8C4B32D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56" name="Arrondir un rectangle avec un coin du même côté 42">
                <a:extLst>
                  <a:ext uri="{FF2B5EF4-FFF2-40B4-BE49-F238E27FC236}">
                    <a16:creationId xmlns:a16="http://schemas.microsoft.com/office/drawing/2014/main" id="{25C8E4CC-16B8-49D7-BBB3-E7BDD0F4C3B7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57" name="Arrondir un rectangle avec un coin du même côté 43">
                <a:extLst>
                  <a:ext uri="{FF2B5EF4-FFF2-40B4-BE49-F238E27FC236}">
                    <a16:creationId xmlns:a16="http://schemas.microsoft.com/office/drawing/2014/main" id="{866D2D72-0FD4-485B-B436-E29B0DA87FFA}"/>
                  </a:ext>
                </a:extLst>
              </p:cNvPr>
              <p:cNvSpPr/>
              <p:nvPr/>
            </p:nvSpPr>
            <p:spPr>
              <a:xfrm rot="10800000">
                <a:off x="0" y="457200"/>
                <a:ext cx="571500" cy="3429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C87C1C7-4E2E-4B90-8801-6B64E207E942}"/>
                </a:ext>
              </a:extLst>
            </p:cNvPr>
            <p:cNvSpPr/>
            <p:nvPr/>
          </p:nvSpPr>
          <p:spPr>
            <a:xfrm flipV="1">
              <a:off x="-285750" y="0"/>
              <a:ext cx="1143000" cy="58874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58" name="Grouper 367">
            <a:extLst>
              <a:ext uri="{FF2B5EF4-FFF2-40B4-BE49-F238E27FC236}">
                <a16:creationId xmlns:a16="http://schemas.microsoft.com/office/drawing/2014/main" id="{CC14D8C4-8AA3-4CF7-8885-05BE2CCCDC7F}"/>
              </a:ext>
            </a:extLst>
          </p:cNvPr>
          <p:cNvGrpSpPr/>
          <p:nvPr/>
        </p:nvGrpSpPr>
        <p:grpSpPr>
          <a:xfrm>
            <a:off x="1441571" y="4538508"/>
            <a:ext cx="291465" cy="1112520"/>
            <a:chOff x="0" y="0"/>
            <a:chExt cx="291465" cy="1112520"/>
          </a:xfrm>
        </p:grpSpPr>
        <p:grpSp>
          <p:nvGrpSpPr>
            <p:cNvPr id="59" name="Grouper 364">
              <a:extLst>
                <a:ext uri="{FF2B5EF4-FFF2-40B4-BE49-F238E27FC236}">
                  <a16:creationId xmlns:a16="http://schemas.microsoft.com/office/drawing/2014/main" id="{18E998EA-BE50-4A41-8EC5-170C62101998}"/>
                </a:ext>
              </a:extLst>
            </p:cNvPr>
            <p:cNvGrpSpPr/>
            <p:nvPr/>
          </p:nvGrpSpPr>
          <p:grpSpPr>
            <a:xfrm>
              <a:off x="0" y="447675"/>
              <a:ext cx="291465" cy="664845"/>
              <a:chOff x="0" y="0"/>
              <a:chExt cx="291465" cy="664845"/>
            </a:xfrm>
          </p:grpSpPr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4234671A-E6B6-4AB6-A1BF-D0F7977FEFDC}"/>
                  </a:ext>
                </a:extLst>
              </p:cNvPr>
              <p:cNvSpPr/>
              <p:nvPr/>
            </p:nvSpPr>
            <p:spPr>
              <a:xfrm>
                <a:off x="0" y="357505"/>
                <a:ext cx="60325" cy="67946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AE91BCD8-9B51-4D39-A00F-9530B96FFEEC}"/>
                  </a:ext>
                </a:extLst>
              </p:cNvPr>
              <p:cNvSpPr/>
              <p:nvPr/>
            </p:nvSpPr>
            <p:spPr>
              <a:xfrm>
                <a:off x="152400" y="509905"/>
                <a:ext cx="60325" cy="67946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7BE7D190-27A2-43E4-9B88-6DB6C78B20E8}"/>
                  </a:ext>
                </a:extLst>
              </p:cNvPr>
              <p:cNvSpPr/>
              <p:nvPr/>
            </p:nvSpPr>
            <p:spPr>
              <a:xfrm>
                <a:off x="29845" y="54991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BBCC2C00-8F42-4170-B7B6-4E5C9013C311}"/>
                  </a:ext>
                </a:extLst>
              </p:cNvPr>
              <p:cNvSpPr/>
              <p:nvPr/>
            </p:nvSpPr>
            <p:spPr>
              <a:xfrm>
                <a:off x="95885" y="400685"/>
                <a:ext cx="75565" cy="88900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1E13980B-F075-4FF1-A7EA-DAA24BCFFA12}"/>
                  </a:ext>
                </a:extLst>
              </p:cNvPr>
              <p:cNvSpPr/>
              <p:nvPr/>
            </p:nvSpPr>
            <p:spPr>
              <a:xfrm>
                <a:off x="167640" y="238760"/>
                <a:ext cx="76200" cy="90170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CD6651B0-8B61-4573-9894-AFB48845C190}"/>
                  </a:ext>
                </a:extLst>
              </p:cNvPr>
              <p:cNvSpPr/>
              <p:nvPr/>
            </p:nvSpPr>
            <p:spPr>
              <a:xfrm>
                <a:off x="0" y="176530"/>
                <a:ext cx="88265" cy="9715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F335552D-7695-45F3-8BC8-BD48EC1EAA69}"/>
                  </a:ext>
                </a:extLst>
              </p:cNvPr>
              <p:cNvSpPr/>
              <p:nvPr/>
            </p:nvSpPr>
            <p:spPr>
              <a:xfrm>
                <a:off x="152400" y="13462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EFE02271-E0A9-4D1C-B307-4848AB44CFEB}"/>
                  </a:ext>
                </a:extLst>
              </p:cNvPr>
              <p:cNvSpPr/>
              <p:nvPr/>
            </p:nvSpPr>
            <p:spPr>
              <a:xfrm>
                <a:off x="95885" y="30099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FA2EF015-E30A-4770-B36B-9509B7F1BB55}"/>
                  </a:ext>
                </a:extLst>
              </p:cNvPr>
              <p:cNvSpPr/>
              <p:nvPr/>
            </p:nvSpPr>
            <p:spPr>
              <a:xfrm>
                <a:off x="29845" y="0"/>
                <a:ext cx="100965" cy="10985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24E64DA6-99B5-4819-BD5C-4D598FBEE732}"/>
                  </a:ext>
                </a:extLst>
              </p:cNvPr>
              <p:cNvSpPr/>
              <p:nvPr/>
            </p:nvSpPr>
            <p:spPr>
              <a:xfrm>
                <a:off x="231140" y="43942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2E38CD33-1EC9-49C4-BF3B-76469127B72E}"/>
                  </a:ext>
                </a:extLst>
              </p:cNvPr>
              <p:cNvSpPr/>
              <p:nvPr/>
            </p:nvSpPr>
            <p:spPr>
              <a:xfrm>
                <a:off x="107315" y="59690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93BBA5AD-42C6-4A7E-9868-2555EF82289C}"/>
                  </a:ext>
                </a:extLst>
              </p:cNvPr>
              <p:cNvSpPr/>
              <p:nvPr/>
            </p:nvSpPr>
            <p:spPr>
              <a:xfrm>
                <a:off x="182245" y="37592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976B6AF1-0CF4-4534-A9EA-96915B2854E3}"/>
                </a:ext>
              </a:extLst>
            </p:cNvPr>
            <p:cNvSpPr/>
            <p:nvPr/>
          </p:nvSpPr>
          <p:spPr>
            <a:xfrm>
              <a:off x="142240" y="190500"/>
              <a:ext cx="100965" cy="109855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7BD95196-C4FC-4972-89A1-B7A9B2D32D52}"/>
                </a:ext>
              </a:extLst>
            </p:cNvPr>
            <p:cNvSpPr/>
            <p:nvPr/>
          </p:nvSpPr>
          <p:spPr>
            <a:xfrm>
              <a:off x="57785" y="0"/>
              <a:ext cx="64770" cy="67945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12CB667C-4AC7-40BB-BD0B-6A5C53397D43}"/>
                  </a:ext>
                </a:extLst>
              </p:cNvPr>
              <p:cNvSpPr txBox="1"/>
              <p:nvPr/>
            </p:nvSpPr>
            <p:spPr>
              <a:xfrm>
                <a:off x="1832318" y="2419781"/>
                <a:ext cx="45861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2 </m:t>
                      </m:r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fr-FR" sz="2400" b="0" smtClean="0">
                              <a:latin typeface="Cambria Math" panose="02040503050406030204" pitchFamily="18" charset="0"/>
                            </a:rPr>
                            <m:t>         </m:t>
                          </m:r>
                        </m:e>
                      </m:groupChr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+2 </m:t>
                      </m:r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12CB667C-4AC7-40BB-BD0B-6A5C53397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318" y="2419781"/>
                <a:ext cx="4586177" cy="461665"/>
              </a:xfrm>
              <a:prstGeom prst="rect">
                <a:avLst/>
              </a:prstGeom>
              <a:blipFill>
                <a:blip r:embed="rId3"/>
                <a:stretch>
                  <a:fillRect r="-266" b="-171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7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09441A-436C-472E-BC70-B405CF53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Catalyse hétérogène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42A244-608B-43A5-BC6B-4722F401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4EA715-5E0D-4F98-9BBC-CE0E5107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4</a:t>
            </a:fld>
            <a:endParaRPr lang="fr-FR"/>
          </a:p>
        </p:txBody>
      </p:sp>
      <p:grpSp>
        <p:nvGrpSpPr>
          <p:cNvPr id="53" name="Grouper 38">
            <a:extLst>
              <a:ext uri="{FF2B5EF4-FFF2-40B4-BE49-F238E27FC236}">
                <a16:creationId xmlns:a16="http://schemas.microsoft.com/office/drawing/2014/main" id="{FB3E09DE-F7F3-4564-8540-16D8F033F1BF}"/>
              </a:ext>
            </a:extLst>
          </p:cNvPr>
          <p:cNvGrpSpPr/>
          <p:nvPr/>
        </p:nvGrpSpPr>
        <p:grpSpPr>
          <a:xfrm>
            <a:off x="1097280" y="1616017"/>
            <a:ext cx="980049" cy="4150507"/>
            <a:chOff x="-285750" y="0"/>
            <a:chExt cx="1143000" cy="824230"/>
          </a:xfrm>
        </p:grpSpPr>
        <p:grpSp>
          <p:nvGrpSpPr>
            <p:cNvPr id="54" name="Grouper 40">
              <a:extLst>
                <a:ext uri="{FF2B5EF4-FFF2-40B4-BE49-F238E27FC236}">
                  <a16:creationId xmlns:a16="http://schemas.microsoft.com/office/drawing/2014/main" id="{FFEDF295-4018-4383-BF87-B0D6E8C4B32D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56" name="Arrondir un rectangle avec un coin du même côté 42">
                <a:extLst>
                  <a:ext uri="{FF2B5EF4-FFF2-40B4-BE49-F238E27FC236}">
                    <a16:creationId xmlns:a16="http://schemas.microsoft.com/office/drawing/2014/main" id="{25C8E4CC-16B8-49D7-BBB3-E7BDD0F4C3B7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57" name="Arrondir un rectangle avec un coin du même côté 43">
                <a:extLst>
                  <a:ext uri="{FF2B5EF4-FFF2-40B4-BE49-F238E27FC236}">
                    <a16:creationId xmlns:a16="http://schemas.microsoft.com/office/drawing/2014/main" id="{866D2D72-0FD4-485B-B436-E29B0DA87FFA}"/>
                  </a:ext>
                </a:extLst>
              </p:cNvPr>
              <p:cNvSpPr/>
              <p:nvPr/>
            </p:nvSpPr>
            <p:spPr>
              <a:xfrm rot="10800000">
                <a:off x="0" y="457200"/>
                <a:ext cx="571500" cy="3429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C87C1C7-4E2E-4B90-8801-6B64E207E942}"/>
                </a:ext>
              </a:extLst>
            </p:cNvPr>
            <p:cNvSpPr/>
            <p:nvPr/>
          </p:nvSpPr>
          <p:spPr>
            <a:xfrm flipV="1">
              <a:off x="-285750" y="0"/>
              <a:ext cx="1143000" cy="58874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58" name="Grouper 367">
            <a:extLst>
              <a:ext uri="{FF2B5EF4-FFF2-40B4-BE49-F238E27FC236}">
                <a16:creationId xmlns:a16="http://schemas.microsoft.com/office/drawing/2014/main" id="{CC14D8C4-8AA3-4CF7-8885-05BE2CCCDC7F}"/>
              </a:ext>
            </a:extLst>
          </p:cNvPr>
          <p:cNvGrpSpPr/>
          <p:nvPr/>
        </p:nvGrpSpPr>
        <p:grpSpPr>
          <a:xfrm>
            <a:off x="1441571" y="4538508"/>
            <a:ext cx="291465" cy="1112520"/>
            <a:chOff x="0" y="0"/>
            <a:chExt cx="291465" cy="1112520"/>
          </a:xfrm>
        </p:grpSpPr>
        <p:grpSp>
          <p:nvGrpSpPr>
            <p:cNvPr id="59" name="Grouper 364">
              <a:extLst>
                <a:ext uri="{FF2B5EF4-FFF2-40B4-BE49-F238E27FC236}">
                  <a16:creationId xmlns:a16="http://schemas.microsoft.com/office/drawing/2014/main" id="{18E998EA-BE50-4A41-8EC5-170C62101998}"/>
                </a:ext>
              </a:extLst>
            </p:cNvPr>
            <p:cNvGrpSpPr/>
            <p:nvPr/>
          </p:nvGrpSpPr>
          <p:grpSpPr>
            <a:xfrm>
              <a:off x="0" y="447675"/>
              <a:ext cx="291465" cy="664845"/>
              <a:chOff x="0" y="0"/>
              <a:chExt cx="291465" cy="664845"/>
            </a:xfrm>
          </p:grpSpPr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4234671A-E6B6-4AB6-A1BF-D0F7977FEFDC}"/>
                  </a:ext>
                </a:extLst>
              </p:cNvPr>
              <p:cNvSpPr/>
              <p:nvPr/>
            </p:nvSpPr>
            <p:spPr>
              <a:xfrm>
                <a:off x="0" y="357505"/>
                <a:ext cx="60325" cy="67946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AE91BCD8-9B51-4D39-A00F-9530B96FFEEC}"/>
                  </a:ext>
                </a:extLst>
              </p:cNvPr>
              <p:cNvSpPr/>
              <p:nvPr/>
            </p:nvSpPr>
            <p:spPr>
              <a:xfrm>
                <a:off x="152400" y="509905"/>
                <a:ext cx="60325" cy="67946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7BE7D190-27A2-43E4-9B88-6DB6C78B20E8}"/>
                  </a:ext>
                </a:extLst>
              </p:cNvPr>
              <p:cNvSpPr/>
              <p:nvPr/>
            </p:nvSpPr>
            <p:spPr>
              <a:xfrm>
                <a:off x="29845" y="54991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BBCC2C00-8F42-4170-B7B6-4E5C9013C311}"/>
                  </a:ext>
                </a:extLst>
              </p:cNvPr>
              <p:cNvSpPr/>
              <p:nvPr/>
            </p:nvSpPr>
            <p:spPr>
              <a:xfrm>
                <a:off x="95885" y="400685"/>
                <a:ext cx="75565" cy="88900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1E13980B-F075-4FF1-A7EA-DAA24BCFFA12}"/>
                  </a:ext>
                </a:extLst>
              </p:cNvPr>
              <p:cNvSpPr/>
              <p:nvPr/>
            </p:nvSpPr>
            <p:spPr>
              <a:xfrm>
                <a:off x="167640" y="238760"/>
                <a:ext cx="76200" cy="90170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CD6651B0-8B61-4573-9894-AFB48845C190}"/>
                  </a:ext>
                </a:extLst>
              </p:cNvPr>
              <p:cNvSpPr/>
              <p:nvPr/>
            </p:nvSpPr>
            <p:spPr>
              <a:xfrm>
                <a:off x="0" y="176530"/>
                <a:ext cx="88265" cy="9715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F335552D-7695-45F3-8BC8-BD48EC1EAA69}"/>
                  </a:ext>
                </a:extLst>
              </p:cNvPr>
              <p:cNvSpPr/>
              <p:nvPr/>
            </p:nvSpPr>
            <p:spPr>
              <a:xfrm>
                <a:off x="152400" y="13462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EFE02271-E0A9-4D1C-B307-4848AB44CFEB}"/>
                  </a:ext>
                </a:extLst>
              </p:cNvPr>
              <p:cNvSpPr/>
              <p:nvPr/>
            </p:nvSpPr>
            <p:spPr>
              <a:xfrm>
                <a:off x="95885" y="30099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FA2EF015-E30A-4770-B36B-9509B7F1BB55}"/>
                  </a:ext>
                </a:extLst>
              </p:cNvPr>
              <p:cNvSpPr/>
              <p:nvPr/>
            </p:nvSpPr>
            <p:spPr>
              <a:xfrm>
                <a:off x="29845" y="0"/>
                <a:ext cx="100965" cy="10985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24E64DA6-99B5-4819-BD5C-4D598FBEE732}"/>
                  </a:ext>
                </a:extLst>
              </p:cNvPr>
              <p:cNvSpPr/>
              <p:nvPr/>
            </p:nvSpPr>
            <p:spPr>
              <a:xfrm>
                <a:off x="231140" y="43942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2E38CD33-1EC9-49C4-BF3B-76469127B72E}"/>
                  </a:ext>
                </a:extLst>
              </p:cNvPr>
              <p:cNvSpPr/>
              <p:nvPr/>
            </p:nvSpPr>
            <p:spPr>
              <a:xfrm>
                <a:off x="107315" y="59690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93BBA5AD-42C6-4A7E-9868-2555EF82289C}"/>
                  </a:ext>
                </a:extLst>
              </p:cNvPr>
              <p:cNvSpPr/>
              <p:nvPr/>
            </p:nvSpPr>
            <p:spPr>
              <a:xfrm>
                <a:off x="182245" y="37592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976B6AF1-0CF4-4534-A9EA-96915B2854E3}"/>
                </a:ext>
              </a:extLst>
            </p:cNvPr>
            <p:cNvSpPr/>
            <p:nvPr/>
          </p:nvSpPr>
          <p:spPr>
            <a:xfrm>
              <a:off x="142240" y="190500"/>
              <a:ext cx="100965" cy="109855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7BD95196-C4FC-4972-89A1-B7A9B2D32D52}"/>
                </a:ext>
              </a:extLst>
            </p:cNvPr>
            <p:cNvSpPr/>
            <p:nvPr/>
          </p:nvSpPr>
          <p:spPr>
            <a:xfrm>
              <a:off x="57785" y="0"/>
              <a:ext cx="64770" cy="67945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12CB667C-4AC7-40BB-BD0B-6A5C53397D43}"/>
                  </a:ext>
                </a:extLst>
              </p:cNvPr>
              <p:cNvSpPr txBox="1"/>
              <p:nvPr/>
            </p:nvSpPr>
            <p:spPr>
              <a:xfrm>
                <a:off x="1832318" y="2419781"/>
                <a:ext cx="45861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2 </m:t>
                      </m:r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fr-FR" sz="2400" b="0" smtClean="0">
                              <a:latin typeface="Cambria Math" panose="02040503050406030204" pitchFamily="18" charset="0"/>
                            </a:rPr>
                            <m:t>         </m:t>
                          </m:r>
                        </m:e>
                      </m:groupChr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+2 </m:t>
                      </m:r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12CB667C-4AC7-40BB-BD0B-6A5C53397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318" y="2419781"/>
                <a:ext cx="4586177" cy="461665"/>
              </a:xfrm>
              <a:prstGeom prst="rect">
                <a:avLst/>
              </a:prstGeom>
              <a:blipFill>
                <a:blip r:embed="rId2"/>
                <a:stretch>
                  <a:fillRect r="-266" b="-171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Tableau 27">
                <a:extLst>
                  <a:ext uri="{FF2B5EF4-FFF2-40B4-BE49-F238E27FC236}">
                    <a16:creationId xmlns:a16="http://schemas.microsoft.com/office/drawing/2014/main" id="{626CC35B-8D06-4592-A943-CFDB555A03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1709822"/>
                  </p:ext>
                </p:extLst>
              </p:nvPr>
            </p:nvGraphicFramePr>
            <p:xfrm>
              <a:off x="7057652" y="2065366"/>
              <a:ext cx="4198680" cy="33966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9340">
                      <a:extLst>
                        <a:ext uri="{9D8B030D-6E8A-4147-A177-3AD203B41FA5}">
                          <a16:colId xmlns:a16="http://schemas.microsoft.com/office/drawing/2014/main" val="4022605454"/>
                        </a:ext>
                      </a:extLst>
                    </a:gridCol>
                    <a:gridCol w="2099340">
                      <a:extLst>
                        <a:ext uri="{9D8B030D-6E8A-4147-A177-3AD203B41FA5}">
                          <a16:colId xmlns:a16="http://schemas.microsoft.com/office/drawing/2014/main" val="2362805588"/>
                        </a:ext>
                      </a:extLst>
                    </a:gridCol>
                  </a:tblGrid>
                  <a:tr h="640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 de catalyse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Catalyseur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6551098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Homogène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dirty="0"/>
                            <a:t>Ions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sSup>
                                <m:sSupPr>
                                  <m:ctrlP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</m:sup>
                              </m:sSup>
                            </m:oMath>
                          </a14:m>
                          <a:endParaRPr lang="fr-FR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8247972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Hétérogène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Fil d’argent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43355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" name="Tableau 27">
                <a:extLst>
                  <a:ext uri="{FF2B5EF4-FFF2-40B4-BE49-F238E27FC236}">
                    <a16:creationId xmlns:a16="http://schemas.microsoft.com/office/drawing/2014/main" id="{626CC35B-8D06-4592-A943-CFDB555A03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1709822"/>
                  </p:ext>
                </p:extLst>
              </p:nvPr>
            </p:nvGraphicFramePr>
            <p:xfrm>
              <a:off x="7057652" y="2065366"/>
              <a:ext cx="4198680" cy="33966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9340">
                      <a:extLst>
                        <a:ext uri="{9D8B030D-6E8A-4147-A177-3AD203B41FA5}">
                          <a16:colId xmlns:a16="http://schemas.microsoft.com/office/drawing/2014/main" val="4022605454"/>
                        </a:ext>
                      </a:extLst>
                    </a:gridCol>
                    <a:gridCol w="2099340">
                      <a:extLst>
                        <a:ext uri="{9D8B030D-6E8A-4147-A177-3AD203B41FA5}">
                          <a16:colId xmlns:a16="http://schemas.microsoft.com/office/drawing/2014/main" val="2362805588"/>
                        </a:ext>
                      </a:extLst>
                    </a:gridCol>
                  </a:tblGrid>
                  <a:tr h="640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 de catalyse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Catalyseur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6551098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Homogène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290" t="-46696" r="-1159" b="-100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247972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Hétérogène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Fil d’argent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433557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7820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09441A-436C-472E-BC70-B405CF53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Catalyse enzymatique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42A244-608B-43A5-BC6B-4722F401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4EA715-5E0D-4F98-9BBC-CE0E5107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5</a:t>
            </a:fld>
            <a:endParaRPr lang="fr-FR"/>
          </a:p>
        </p:txBody>
      </p:sp>
      <p:grpSp>
        <p:nvGrpSpPr>
          <p:cNvPr id="53" name="Grouper 38">
            <a:extLst>
              <a:ext uri="{FF2B5EF4-FFF2-40B4-BE49-F238E27FC236}">
                <a16:creationId xmlns:a16="http://schemas.microsoft.com/office/drawing/2014/main" id="{FB3E09DE-F7F3-4564-8540-16D8F033F1BF}"/>
              </a:ext>
            </a:extLst>
          </p:cNvPr>
          <p:cNvGrpSpPr/>
          <p:nvPr/>
        </p:nvGrpSpPr>
        <p:grpSpPr>
          <a:xfrm>
            <a:off x="1097280" y="1616017"/>
            <a:ext cx="980049" cy="4150507"/>
            <a:chOff x="-285750" y="0"/>
            <a:chExt cx="1143000" cy="824230"/>
          </a:xfrm>
        </p:grpSpPr>
        <p:grpSp>
          <p:nvGrpSpPr>
            <p:cNvPr id="54" name="Grouper 40">
              <a:extLst>
                <a:ext uri="{FF2B5EF4-FFF2-40B4-BE49-F238E27FC236}">
                  <a16:creationId xmlns:a16="http://schemas.microsoft.com/office/drawing/2014/main" id="{FFEDF295-4018-4383-BF87-B0D6E8C4B32D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56" name="Arrondir un rectangle avec un coin du même côté 42">
                <a:extLst>
                  <a:ext uri="{FF2B5EF4-FFF2-40B4-BE49-F238E27FC236}">
                    <a16:creationId xmlns:a16="http://schemas.microsoft.com/office/drawing/2014/main" id="{25C8E4CC-16B8-49D7-BBB3-E7BDD0F4C3B7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57" name="Arrondir un rectangle avec un coin du même côté 43">
                <a:extLst>
                  <a:ext uri="{FF2B5EF4-FFF2-40B4-BE49-F238E27FC236}">
                    <a16:creationId xmlns:a16="http://schemas.microsoft.com/office/drawing/2014/main" id="{866D2D72-0FD4-485B-B436-E29B0DA87FFA}"/>
                  </a:ext>
                </a:extLst>
              </p:cNvPr>
              <p:cNvSpPr/>
              <p:nvPr/>
            </p:nvSpPr>
            <p:spPr>
              <a:xfrm rot="10800000">
                <a:off x="0" y="457200"/>
                <a:ext cx="571500" cy="3429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C87C1C7-4E2E-4B90-8801-6B64E207E942}"/>
                </a:ext>
              </a:extLst>
            </p:cNvPr>
            <p:cNvSpPr/>
            <p:nvPr/>
          </p:nvSpPr>
          <p:spPr>
            <a:xfrm flipV="1">
              <a:off x="-285750" y="0"/>
              <a:ext cx="1143000" cy="58874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58" name="Grouper 367">
            <a:extLst>
              <a:ext uri="{FF2B5EF4-FFF2-40B4-BE49-F238E27FC236}">
                <a16:creationId xmlns:a16="http://schemas.microsoft.com/office/drawing/2014/main" id="{CC14D8C4-8AA3-4CF7-8885-05BE2CCCDC7F}"/>
              </a:ext>
            </a:extLst>
          </p:cNvPr>
          <p:cNvGrpSpPr/>
          <p:nvPr/>
        </p:nvGrpSpPr>
        <p:grpSpPr>
          <a:xfrm>
            <a:off x="1441571" y="4538508"/>
            <a:ext cx="291465" cy="1112520"/>
            <a:chOff x="0" y="0"/>
            <a:chExt cx="291465" cy="1112520"/>
          </a:xfrm>
        </p:grpSpPr>
        <p:grpSp>
          <p:nvGrpSpPr>
            <p:cNvPr id="59" name="Grouper 364">
              <a:extLst>
                <a:ext uri="{FF2B5EF4-FFF2-40B4-BE49-F238E27FC236}">
                  <a16:creationId xmlns:a16="http://schemas.microsoft.com/office/drawing/2014/main" id="{18E998EA-BE50-4A41-8EC5-170C62101998}"/>
                </a:ext>
              </a:extLst>
            </p:cNvPr>
            <p:cNvGrpSpPr/>
            <p:nvPr/>
          </p:nvGrpSpPr>
          <p:grpSpPr>
            <a:xfrm>
              <a:off x="0" y="447675"/>
              <a:ext cx="291465" cy="664845"/>
              <a:chOff x="0" y="0"/>
              <a:chExt cx="291465" cy="664845"/>
            </a:xfrm>
          </p:grpSpPr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4234671A-E6B6-4AB6-A1BF-D0F7977FEFDC}"/>
                  </a:ext>
                </a:extLst>
              </p:cNvPr>
              <p:cNvSpPr/>
              <p:nvPr/>
            </p:nvSpPr>
            <p:spPr>
              <a:xfrm>
                <a:off x="0" y="357505"/>
                <a:ext cx="60325" cy="67946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AE91BCD8-9B51-4D39-A00F-9530B96FFEEC}"/>
                  </a:ext>
                </a:extLst>
              </p:cNvPr>
              <p:cNvSpPr/>
              <p:nvPr/>
            </p:nvSpPr>
            <p:spPr>
              <a:xfrm>
                <a:off x="152400" y="509905"/>
                <a:ext cx="60325" cy="67946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7BE7D190-27A2-43E4-9B88-6DB6C78B20E8}"/>
                  </a:ext>
                </a:extLst>
              </p:cNvPr>
              <p:cNvSpPr/>
              <p:nvPr/>
            </p:nvSpPr>
            <p:spPr>
              <a:xfrm>
                <a:off x="29845" y="54991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BBCC2C00-8F42-4170-B7B6-4E5C9013C311}"/>
                  </a:ext>
                </a:extLst>
              </p:cNvPr>
              <p:cNvSpPr/>
              <p:nvPr/>
            </p:nvSpPr>
            <p:spPr>
              <a:xfrm>
                <a:off x="95885" y="400685"/>
                <a:ext cx="75565" cy="88900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1E13980B-F075-4FF1-A7EA-DAA24BCFFA12}"/>
                  </a:ext>
                </a:extLst>
              </p:cNvPr>
              <p:cNvSpPr/>
              <p:nvPr/>
            </p:nvSpPr>
            <p:spPr>
              <a:xfrm>
                <a:off x="167640" y="238760"/>
                <a:ext cx="76200" cy="90170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CD6651B0-8B61-4573-9894-AFB48845C190}"/>
                  </a:ext>
                </a:extLst>
              </p:cNvPr>
              <p:cNvSpPr/>
              <p:nvPr/>
            </p:nvSpPr>
            <p:spPr>
              <a:xfrm>
                <a:off x="0" y="176530"/>
                <a:ext cx="88265" cy="9715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F335552D-7695-45F3-8BC8-BD48EC1EAA69}"/>
                  </a:ext>
                </a:extLst>
              </p:cNvPr>
              <p:cNvSpPr/>
              <p:nvPr/>
            </p:nvSpPr>
            <p:spPr>
              <a:xfrm>
                <a:off x="152400" y="13462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EFE02271-E0A9-4D1C-B307-4848AB44CFEB}"/>
                  </a:ext>
                </a:extLst>
              </p:cNvPr>
              <p:cNvSpPr/>
              <p:nvPr/>
            </p:nvSpPr>
            <p:spPr>
              <a:xfrm>
                <a:off x="95885" y="30099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FA2EF015-E30A-4770-B36B-9509B7F1BB55}"/>
                  </a:ext>
                </a:extLst>
              </p:cNvPr>
              <p:cNvSpPr/>
              <p:nvPr/>
            </p:nvSpPr>
            <p:spPr>
              <a:xfrm>
                <a:off x="29845" y="0"/>
                <a:ext cx="100965" cy="10985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24E64DA6-99B5-4819-BD5C-4D598FBEE732}"/>
                  </a:ext>
                </a:extLst>
              </p:cNvPr>
              <p:cNvSpPr/>
              <p:nvPr/>
            </p:nvSpPr>
            <p:spPr>
              <a:xfrm>
                <a:off x="231140" y="43942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2E38CD33-1EC9-49C4-BF3B-76469127B72E}"/>
                  </a:ext>
                </a:extLst>
              </p:cNvPr>
              <p:cNvSpPr/>
              <p:nvPr/>
            </p:nvSpPr>
            <p:spPr>
              <a:xfrm>
                <a:off x="107315" y="59690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93BBA5AD-42C6-4A7E-9868-2555EF82289C}"/>
                  </a:ext>
                </a:extLst>
              </p:cNvPr>
              <p:cNvSpPr/>
              <p:nvPr/>
            </p:nvSpPr>
            <p:spPr>
              <a:xfrm>
                <a:off x="182245" y="375920"/>
                <a:ext cx="60325" cy="67945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976B6AF1-0CF4-4534-A9EA-96915B2854E3}"/>
                </a:ext>
              </a:extLst>
            </p:cNvPr>
            <p:cNvSpPr/>
            <p:nvPr/>
          </p:nvSpPr>
          <p:spPr>
            <a:xfrm>
              <a:off x="142240" y="190500"/>
              <a:ext cx="100965" cy="109855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7BD95196-C4FC-4972-89A1-B7A9B2D32D52}"/>
                </a:ext>
              </a:extLst>
            </p:cNvPr>
            <p:cNvSpPr/>
            <p:nvPr/>
          </p:nvSpPr>
          <p:spPr>
            <a:xfrm>
              <a:off x="57785" y="0"/>
              <a:ext cx="64770" cy="67945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12CB667C-4AC7-40BB-BD0B-6A5C53397D43}"/>
                  </a:ext>
                </a:extLst>
              </p:cNvPr>
              <p:cNvSpPr txBox="1"/>
              <p:nvPr/>
            </p:nvSpPr>
            <p:spPr>
              <a:xfrm>
                <a:off x="1832318" y="2419781"/>
                <a:ext cx="45861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2 </m:t>
                      </m:r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fr-FR" sz="2400" b="0" smtClean="0">
                              <a:latin typeface="Cambria Math" panose="02040503050406030204" pitchFamily="18" charset="0"/>
                            </a:rPr>
                            <m:t>         </m:t>
                          </m:r>
                        </m:e>
                      </m:groupChr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+2 </m:t>
                      </m:r>
                      <m:sSub>
                        <m:sSubPr>
                          <m:ctrlPr>
                            <a:rPr lang="fr-FR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12CB667C-4AC7-40BB-BD0B-6A5C53397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318" y="2419781"/>
                <a:ext cx="4586177" cy="461665"/>
              </a:xfrm>
              <a:prstGeom prst="rect">
                <a:avLst/>
              </a:prstGeom>
              <a:blipFill>
                <a:blip r:embed="rId2"/>
                <a:stretch>
                  <a:fillRect r="-266" b="-171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Tableau 27">
                <a:extLst>
                  <a:ext uri="{FF2B5EF4-FFF2-40B4-BE49-F238E27FC236}">
                    <a16:creationId xmlns:a16="http://schemas.microsoft.com/office/drawing/2014/main" id="{73D6464C-B8FD-4F2D-9D41-874375D9A2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5901595"/>
                  </p:ext>
                </p:extLst>
              </p:nvPr>
            </p:nvGraphicFramePr>
            <p:xfrm>
              <a:off x="7057652" y="1512478"/>
              <a:ext cx="4198680" cy="47749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9340">
                      <a:extLst>
                        <a:ext uri="{9D8B030D-6E8A-4147-A177-3AD203B41FA5}">
                          <a16:colId xmlns:a16="http://schemas.microsoft.com/office/drawing/2014/main" val="4022605454"/>
                        </a:ext>
                      </a:extLst>
                    </a:gridCol>
                    <a:gridCol w="2099340">
                      <a:extLst>
                        <a:ext uri="{9D8B030D-6E8A-4147-A177-3AD203B41FA5}">
                          <a16:colId xmlns:a16="http://schemas.microsoft.com/office/drawing/2014/main" val="2362805588"/>
                        </a:ext>
                      </a:extLst>
                    </a:gridCol>
                  </a:tblGrid>
                  <a:tr h="640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 de catalyse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Catalyseur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6551098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Homogène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dirty="0"/>
                            <a:t>Ions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sSup>
                                <m:sSupPr>
                                  <m:ctrlP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</m:sup>
                              </m:sSup>
                            </m:oMath>
                          </a14:m>
                          <a:endParaRPr lang="fr-FR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8247972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Hétérogène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Fil d’argent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4335575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Enzymatique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Navet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092883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" name="Tableau 27">
                <a:extLst>
                  <a:ext uri="{FF2B5EF4-FFF2-40B4-BE49-F238E27FC236}">
                    <a16:creationId xmlns:a16="http://schemas.microsoft.com/office/drawing/2014/main" id="{73D6464C-B8FD-4F2D-9D41-874375D9A2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5901595"/>
                  </p:ext>
                </p:extLst>
              </p:nvPr>
            </p:nvGraphicFramePr>
            <p:xfrm>
              <a:off x="7057652" y="1512478"/>
              <a:ext cx="4198680" cy="47749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9340">
                      <a:extLst>
                        <a:ext uri="{9D8B030D-6E8A-4147-A177-3AD203B41FA5}">
                          <a16:colId xmlns:a16="http://schemas.microsoft.com/office/drawing/2014/main" val="4022605454"/>
                        </a:ext>
                      </a:extLst>
                    </a:gridCol>
                    <a:gridCol w="2099340">
                      <a:extLst>
                        <a:ext uri="{9D8B030D-6E8A-4147-A177-3AD203B41FA5}">
                          <a16:colId xmlns:a16="http://schemas.microsoft.com/office/drawing/2014/main" val="2362805588"/>
                        </a:ext>
                      </a:extLst>
                    </a:gridCol>
                  </a:tblGrid>
                  <a:tr h="640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 de catalyse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Catalyseur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6551098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Homogène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290" t="-46903" r="-1159" b="-2013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247972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Hétérogène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Fil d’argent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4335575"/>
                      </a:ext>
                    </a:extLst>
                  </a:tr>
                  <a:tr h="13782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Enzymatique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i="0" dirty="0"/>
                            <a:t>Navet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092883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9839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451FC6-E780-4AD0-9E09-C0001414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Différents types de catalyse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1BB6665A-014A-45B9-9CBC-2A61883E5C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6805352"/>
              </p:ext>
            </p:extLst>
          </p:nvPr>
        </p:nvGraphicFramePr>
        <p:xfrm>
          <a:off x="1196845" y="2466340"/>
          <a:ext cx="10058400" cy="1925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77445302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0779839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71140244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085341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Catalyse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Homogène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Hétérogène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Enzymatique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6791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Toutes les molécules du catalyseur sont disponibles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Facilement recyclable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Coûts plus bas, peu de rejets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11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Inconvénient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Difficilement recyclable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Seule la surface du catalyseur est disponible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Efficacité fortement dépendante du milieu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307035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0B9A15-3E4D-4238-B6E8-507F7272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2B496F-6BA6-43CD-8EA0-9F461344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974295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1034</TotalTime>
  <Words>183</Words>
  <Application>Microsoft Office PowerPoint</Application>
  <PresentationFormat>Grand écran</PresentationFormat>
  <Paragraphs>56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Cambria Math</vt:lpstr>
      <vt:lpstr>Rétrospective</vt:lpstr>
      <vt:lpstr>Cinétique et catalyse</vt:lpstr>
      <vt:lpstr>Ions iodure et peroxodisulfate</vt:lpstr>
      <vt:lpstr>Catalyse homogène</vt:lpstr>
      <vt:lpstr>Catalyse hétérogène</vt:lpstr>
      <vt:lpstr>Catalyse enzymatique</vt:lpstr>
      <vt:lpstr>Différents types de catalyse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81</cp:revision>
  <dcterms:created xsi:type="dcterms:W3CDTF">2019-04-06T14:18:31Z</dcterms:created>
  <dcterms:modified xsi:type="dcterms:W3CDTF">2019-06-05T18:06:02Z</dcterms:modified>
</cp:coreProperties>
</file>