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76" r:id="rId3"/>
    <p:sldId id="275" r:id="rId4"/>
    <p:sldId id="278" r:id="rId5"/>
    <p:sldId id="277" r:id="rId6"/>
    <p:sldId id="279" r:id="rId7"/>
    <p:sldId id="280" r:id="rId8"/>
    <p:sldId id="28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16/06/2019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16/06/2019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16/06/2019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16/06/2019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16/06/2019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16/06/2019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16/06/2019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Solvants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5D3FC7-AC70-4D7B-86EA-E1DCF8A0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Caractéristiques de solvants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3BD672-79F5-4FB1-9E49-CBD4552E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67E085-BFC8-486A-B09F-7FB3C745E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2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Espace réservé du contenu 7">
                <a:extLst>
                  <a:ext uri="{FF2B5EF4-FFF2-40B4-BE49-F238E27FC236}">
                    <a16:creationId xmlns:a16="http://schemas.microsoft.com/office/drawing/2014/main" id="{13D8C368-8A95-4678-AE39-46FF67457BC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16771034"/>
                  </p:ext>
                </p:extLst>
              </p:nvPr>
            </p:nvGraphicFramePr>
            <p:xfrm>
              <a:off x="2818525" y="1719368"/>
              <a:ext cx="6554949" cy="40930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4983">
                      <a:extLst>
                        <a:ext uri="{9D8B030D-6E8A-4147-A177-3AD203B41FA5}">
                          <a16:colId xmlns:a16="http://schemas.microsoft.com/office/drawing/2014/main" val="2027325449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2769981301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2544676401"/>
                        </a:ext>
                      </a:extLst>
                    </a:gridCol>
                  </a:tblGrid>
                  <a:tr h="4354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Solvant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Formule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Moment dipolaire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9071035"/>
                      </a:ext>
                    </a:extLst>
                  </a:tr>
                  <a:tr h="6004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Eau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1,85 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0851063"/>
                      </a:ext>
                    </a:extLst>
                  </a:tr>
                  <a:tr h="859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DMSO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fr-FR" dirty="0" smtClean="0"/>
                                  <m:t>3,96 </m:t>
                                </m:r>
                                <m:r>
                                  <m:rPr>
                                    <m:nor/>
                                  </m:rPr>
                                  <a:rPr lang="fr-FR" dirty="0" smtClean="0"/>
                                  <m:t>D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64791284"/>
                      </a:ext>
                    </a:extLst>
                  </a:tr>
                  <a:tr h="1261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Toluène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0,37 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0306838"/>
                      </a:ext>
                    </a:extLst>
                  </a:tr>
                  <a:tr h="9356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Cyclohexane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 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0770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Espace réservé du contenu 7">
                <a:extLst>
                  <a:ext uri="{FF2B5EF4-FFF2-40B4-BE49-F238E27FC236}">
                    <a16:creationId xmlns:a16="http://schemas.microsoft.com/office/drawing/2014/main" id="{13D8C368-8A95-4678-AE39-46FF67457BC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16771034"/>
                  </p:ext>
                </p:extLst>
              </p:nvPr>
            </p:nvGraphicFramePr>
            <p:xfrm>
              <a:off x="2818525" y="1719368"/>
              <a:ext cx="6554949" cy="40930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4983">
                      <a:extLst>
                        <a:ext uri="{9D8B030D-6E8A-4147-A177-3AD203B41FA5}">
                          <a16:colId xmlns:a16="http://schemas.microsoft.com/office/drawing/2014/main" val="2027325449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2769981301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2544676401"/>
                        </a:ext>
                      </a:extLst>
                    </a:gridCol>
                  </a:tblGrid>
                  <a:tr h="4354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Solvant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Formule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Moment dipolaire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9071035"/>
                      </a:ext>
                    </a:extLst>
                  </a:tr>
                  <a:tr h="6004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Eau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1,85 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0851063"/>
                      </a:ext>
                    </a:extLst>
                  </a:tr>
                  <a:tr h="859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DMSO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21277" r="-1114" b="-2574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4791284"/>
                      </a:ext>
                    </a:extLst>
                  </a:tr>
                  <a:tr h="1261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Toluène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0,37 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0306838"/>
                      </a:ext>
                    </a:extLst>
                  </a:tr>
                  <a:tr h="9356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Cyclohexane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 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07706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Graphique 11">
            <a:extLst>
              <a:ext uri="{FF2B5EF4-FFF2-40B4-BE49-F238E27FC236}">
                <a16:creationId xmlns:a16="http://schemas.microsoft.com/office/drawing/2014/main" id="{8DB81814-155C-432A-A34D-1D521AF4BF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8369" y="2214236"/>
            <a:ext cx="807905" cy="558189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D90DE9C8-FCEA-4198-A254-AFAF732625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5097" y="2772425"/>
            <a:ext cx="1314450" cy="781050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826F821A-BC25-4608-A36D-C571A1DC57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91691" y="3635337"/>
            <a:ext cx="666750" cy="1219200"/>
          </a:xfrm>
          <a:prstGeom prst="rect">
            <a:avLst/>
          </a:prstGeom>
        </p:spPr>
      </p:pic>
      <p:pic>
        <p:nvPicPr>
          <p:cNvPr id="22" name="Graphique 21">
            <a:extLst>
              <a:ext uri="{FF2B5EF4-FFF2-40B4-BE49-F238E27FC236}">
                <a16:creationId xmlns:a16="http://schemas.microsoft.com/office/drawing/2014/main" id="{7C25C8D3-807D-457B-B308-FA2E1A8728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91220" y="4949575"/>
            <a:ext cx="667690" cy="76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14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5D3FC7-AC70-4D7B-86EA-E1DCF8A0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Caractéristiques de solvants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3BD672-79F5-4FB1-9E49-CBD4552E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67E085-BFC8-486A-B09F-7FB3C745E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3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Espace réservé du contenu 7">
                <a:extLst>
                  <a:ext uri="{FF2B5EF4-FFF2-40B4-BE49-F238E27FC236}">
                    <a16:creationId xmlns:a16="http://schemas.microsoft.com/office/drawing/2014/main" id="{13D8C368-8A95-4678-AE39-46FF67457BC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36339343"/>
                  </p:ext>
                </p:extLst>
              </p:nvPr>
            </p:nvGraphicFramePr>
            <p:xfrm>
              <a:off x="1726034" y="1754811"/>
              <a:ext cx="8739932" cy="40930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4983">
                      <a:extLst>
                        <a:ext uri="{9D8B030D-6E8A-4147-A177-3AD203B41FA5}">
                          <a16:colId xmlns:a16="http://schemas.microsoft.com/office/drawing/2014/main" val="2027325449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2769981301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2544676401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3237337062"/>
                        </a:ext>
                      </a:extLst>
                    </a:gridCol>
                  </a:tblGrid>
                  <a:tr h="4354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Solvant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Formule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Moment dipolaire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Permittivité relative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9071035"/>
                      </a:ext>
                    </a:extLst>
                  </a:tr>
                  <a:tr h="6004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Eau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1,85 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80,10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0851063"/>
                      </a:ext>
                    </a:extLst>
                  </a:tr>
                  <a:tr h="859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DMSO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fr-FR" dirty="0" smtClean="0"/>
                                  <m:t>3,96 </m:t>
                                </m:r>
                                <m:r>
                                  <m:rPr>
                                    <m:nor/>
                                  </m:rPr>
                                  <a:rPr lang="fr-FR" dirty="0" smtClean="0"/>
                                  <m:t>D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47,24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64791284"/>
                      </a:ext>
                    </a:extLst>
                  </a:tr>
                  <a:tr h="1261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Toluène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0,37 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2,379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0306838"/>
                      </a:ext>
                    </a:extLst>
                  </a:tr>
                  <a:tr h="9356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Cyclohexane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 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2,024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0770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Espace réservé du contenu 7">
                <a:extLst>
                  <a:ext uri="{FF2B5EF4-FFF2-40B4-BE49-F238E27FC236}">
                    <a16:creationId xmlns:a16="http://schemas.microsoft.com/office/drawing/2014/main" id="{13D8C368-8A95-4678-AE39-46FF67457BC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36339343"/>
                  </p:ext>
                </p:extLst>
              </p:nvPr>
            </p:nvGraphicFramePr>
            <p:xfrm>
              <a:off x="1726034" y="1754811"/>
              <a:ext cx="8739932" cy="40930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4983">
                      <a:extLst>
                        <a:ext uri="{9D8B030D-6E8A-4147-A177-3AD203B41FA5}">
                          <a16:colId xmlns:a16="http://schemas.microsoft.com/office/drawing/2014/main" val="2027325449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2769981301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2544676401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3237337062"/>
                        </a:ext>
                      </a:extLst>
                    </a:gridCol>
                  </a:tblGrid>
                  <a:tr h="4354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Solvant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Formule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Moment dipolaire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Permittivité relative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9071035"/>
                      </a:ext>
                    </a:extLst>
                  </a:tr>
                  <a:tr h="6004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Eau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1,85 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80,10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0851063"/>
                      </a:ext>
                    </a:extLst>
                  </a:tr>
                  <a:tr h="859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DMSO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20423" r="-101114" b="-25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47,24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64791284"/>
                      </a:ext>
                    </a:extLst>
                  </a:tr>
                  <a:tr h="1261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Toluène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0,37 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2,379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0306838"/>
                      </a:ext>
                    </a:extLst>
                  </a:tr>
                  <a:tr h="9356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Cyclohexane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 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2,024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07706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Graphique 11">
            <a:extLst>
              <a:ext uri="{FF2B5EF4-FFF2-40B4-BE49-F238E27FC236}">
                <a16:creationId xmlns:a16="http://schemas.microsoft.com/office/drawing/2014/main" id="{8DB81814-155C-432A-A34D-1D521AF4BF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5878" y="2249679"/>
            <a:ext cx="807905" cy="558189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D90DE9C8-FCEA-4198-A254-AFAF732625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12606" y="2807868"/>
            <a:ext cx="1314450" cy="781050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826F821A-BC25-4608-A36D-C571A1DC57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9200" y="3670780"/>
            <a:ext cx="666750" cy="1219200"/>
          </a:xfrm>
          <a:prstGeom prst="rect">
            <a:avLst/>
          </a:prstGeom>
        </p:spPr>
      </p:pic>
      <p:pic>
        <p:nvPicPr>
          <p:cNvPr id="22" name="Graphique 21">
            <a:extLst>
              <a:ext uri="{FF2B5EF4-FFF2-40B4-BE49-F238E27FC236}">
                <a16:creationId xmlns:a16="http://schemas.microsoft.com/office/drawing/2014/main" id="{7C25C8D3-807D-457B-B308-FA2E1A8728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98729" y="4985018"/>
            <a:ext cx="667690" cy="76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85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CFCB78-5034-4404-B8CB-02972532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Processus de dissolution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D8A90F5-E412-48FC-8E4E-353970BA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435FFDC-8AB5-4018-A7F5-04E158D3A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4</a:t>
            </a:fld>
            <a:endParaRPr lang="fr-FR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D9357AE9-5527-4DFB-AEBD-9DA51B4A3973}"/>
              </a:ext>
            </a:extLst>
          </p:cNvPr>
          <p:cNvGrpSpPr/>
          <p:nvPr/>
        </p:nvGrpSpPr>
        <p:grpSpPr>
          <a:xfrm>
            <a:off x="793953" y="2109306"/>
            <a:ext cx="1662223" cy="836427"/>
            <a:chOff x="2137144" y="2962940"/>
            <a:chExt cx="1662223" cy="836427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EEEB089-3BA0-42B6-9874-A03CFA1FA6CC}"/>
                </a:ext>
              </a:extLst>
            </p:cNvPr>
            <p:cNvSpPr/>
            <p:nvPr/>
          </p:nvSpPr>
          <p:spPr>
            <a:xfrm>
              <a:off x="2137144" y="3150781"/>
              <a:ext cx="460744" cy="4607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H</a:t>
              </a:r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5B25AA39-B62A-4639-AD04-5EA6C057853D}"/>
                </a:ext>
              </a:extLst>
            </p:cNvPr>
            <p:cNvSpPr/>
            <p:nvPr/>
          </p:nvSpPr>
          <p:spPr>
            <a:xfrm>
              <a:off x="2962940" y="2962940"/>
              <a:ext cx="836427" cy="83642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Cl</a:t>
              </a:r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F31B3A6-4DD2-439B-8041-778E94F15C32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2597888" y="3381153"/>
              <a:ext cx="365052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08453D5D-5693-4FAE-95D7-F3685C5C497B}"/>
              </a:ext>
            </a:extLst>
          </p:cNvPr>
          <p:cNvGrpSpPr/>
          <p:nvPr/>
        </p:nvGrpSpPr>
        <p:grpSpPr>
          <a:xfrm>
            <a:off x="4877465" y="2127423"/>
            <a:ext cx="1662223" cy="836427"/>
            <a:chOff x="2137144" y="2962940"/>
            <a:chExt cx="1662223" cy="8364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58EDC70F-F1A9-41ED-B8A5-19167E5B65C8}"/>
                    </a:ext>
                  </a:extLst>
                </p:cNvPr>
                <p:cNvSpPr/>
                <p:nvPr/>
              </p:nvSpPr>
              <p:spPr>
                <a:xfrm>
                  <a:off x="2137144" y="3150781"/>
                  <a:ext cx="460744" cy="4607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58EDC70F-F1A9-41ED-B8A5-19167E5B65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7144" y="3150781"/>
                  <a:ext cx="460744" cy="460744"/>
                </a:xfrm>
                <a:prstGeom prst="ellipse">
                  <a:avLst/>
                </a:prstGeom>
                <a:blipFill>
                  <a:blip r:embed="rId2"/>
                  <a:stretch>
                    <a:fillRect l="-379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93D6F1FE-0B41-423B-93C0-12C6F80DB06D}"/>
                    </a:ext>
                  </a:extLst>
                </p:cNvPr>
                <p:cNvSpPr/>
                <p:nvPr/>
              </p:nvSpPr>
              <p:spPr>
                <a:xfrm>
                  <a:off x="2962940" y="2962940"/>
                  <a:ext cx="836427" cy="83642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p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93D6F1FE-0B41-423B-93C0-12C6F80DB0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2940" y="2962940"/>
                  <a:ext cx="836427" cy="83642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0C70B3D4-AC92-4DC8-8CCB-313C688B9EC7}"/>
                </a:ext>
              </a:extLst>
            </p:cNvPr>
            <p:cNvCxnSpPr>
              <a:stCxn id="13" idx="6"/>
              <a:endCxn id="14" idx="2"/>
            </p:cNvCxnSpPr>
            <p:nvPr/>
          </p:nvCxnSpPr>
          <p:spPr>
            <a:xfrm>
              <a:off x="2597888" y="3381153"/>
              <a:ext cx="365052" cy="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2536FE65-B86C-485B-8D2A-3414BD5205AB}"/>
              </a:ext>
            </a:extLst>
          </p:cNvPr>
          <p:cNvGrpSpPr/>
          <p:nvPr/>
        </p:nvGrpSpPr>
        <p:grpSpPr>
          <a:xfrm>
            <a:off x="9215042" y="2109306"/>
            <a:ext cx="2401961" cy="836427"/>
            <a:chOff x="4410998" y="2854183"/>
            <a:chExt cx="2401961" cy="8364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1883AB31-713E-41F0-B89F-974B38753EA1}"/>
                    </a:ext>
                  </a:extLst>
                </p:cNvPr>
                <p:cNvSpPr/>
                <p:nvPr/>
              </p:nvSpPr>
              <p:spPr>
                <a:xfrm>
                  <a:off x="4410998" y="3042024"/>
                  <a:ext cx="460744" cy="4607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1883AB31-713E-41F0-B89F-974B38753E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0998" y="3042024"/>
                  <a:ext cx="460744" cy="460744"/>
                </a:xfrm>
                <a:prstGeom prst="ellipse">
                  <a:avLst/>
                </a:prstGeom>
                <a:blipFill>
                  <a:blip r:embed="rId4"/>
                  <a:stretch>
                    <a:fillRect l="-512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id="{26F33D47-60E9-4361-A62C-8957844F587C}"/>
                    </a:ext>
                  </a:extLst>
                </p:cNvPr>
                <p:cNvSpPr/>
                <p:nvPr/>
              </p:nvSpPr>
              <p:spPr>
                <a:xfrm>
                  <a:off x="5976532" y="2854183"/>
                  <a:ext cx="836427" cy="83642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p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id="{26F33D47-60E9-4361-A62C-8957844F58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6532" y="2854183"/>
                  <a:ext cx="836427" cy="83642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367FAF1F-505A-45BB-A1CD-E2792C9B9241}"/>
                </a:ext>
              </a:extLst>
            </p:cNvPr>
            <p:cNvCxnSpPr>
              <a:stCxn id="21" idx="6"/>
              <a:endCxn id="22" idx="2"/>
            </p:cNvCxnSpPr>
            <p:nvPr/>
          </p:nvCxnSpPr>
          <p:spPr>
            <a:xfrm>
              <a:off x="4871742" y="3272396"/>
              <a:ext cx="1104790" cy="1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87C1A8ED-A303-4D15-B9D9-0886CF4B3618}"/>
              </a:ext>
            </a:extLst>
          </p:cNvPr>
          <p:cNvGrpSpPr/>
          <p:nvPr/>
        </p:nvGrpSpPr>
        <p:grpSpPr>
          <a:xfrm>
            <a:off x="2244640" y="3770426"/>
            <a:ext cx="6187137" cy="2434494"/>
            <a:chOff x="3262645" y="3382063"/>
            <a:chExt cx="6187137" cy="2434494"/>
          </a:xfrm>
        </p:grpSpPr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718DE4F4-D997-49C9-BF47-82B8C5AC79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32999"/>
            <a:stretch/>
          </p:blipFill>
          <p:spPr>
            <a:xfrm>
              <a:off x="3262645" y="3382063"/>
              <a:ext cx="6187137" cy="243449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61369ACC-9210-42F0-B369-7A54CE01FFBB}"/>
                    </a:ext>
                  </a:extLst>
                </p:cNvPr>
                <p:cNvSpPr/>
                <p:nvPr/>
              </p:nvSpPr>
              <p:spPr>
                <a:xfrm>
                  <a:off x="7702465" y="4174008"/>
                  <a:ext cx="836427" cy="83642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p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61369ACC-9210-42F0-B369-7A54CE01FF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2465" y="4174008"/>
                  <a:ext cx="836427" cy="836427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80B4FB06-3159-43DE-8230-EAC5BC3A9CF0}"/>
                </a:ext>
              </a:extLst>
            </p:cNvPr>
            <p:cNvSpPr/>
            <p:nvPr/>
          </p:nvSpPr>
          <p:spPr>
            <a:xfrm>
              <a:off x="4169294" y="4174007"/>
              <a:ext cx="836427" cy="8364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Ellipse 25">
                  <a:extLst>
                    <a:ext uri="{FF2B5EF4-FFF2-40B4-BE49-F238E27FC236}">
                      <a16:creationId xmlns:a16="http://schemas.microsoft.com/office/drawing/2014/main" id="{BFC7C5F8-3BC0-4673-B93E-05B46827E6FD}"/>
                    </a:ext>
                  </a:extLst>
                </p:cNvPr>
                <p:cNvSpPr/>
                <p:nvPr/>
              </p:nvSpPr>
              <p:spPr>
                <a:xfrm>
                  <a:off x="4357135" y="4368938"/>
                  <a:ext cx="460744" cy="4607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26" name="Ellipse 25">
                  <a:extLst>
                    <a:ext uri="{FF2B5EF4-FFF2-40B4-BE49-F238E27FC236}">
                      <a16:creationId xmlns:a16="http://schemas.microsoft.com/office/drawing/2014/main" id="{BFC7C5F8-3BC0-4673-B93E-05B46827E6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7135" y="4368938"/>
                  <a:ext cx="460744" cy="460744"/>
                </a:xfrm>
                <a:prstGeom prst="ellipse">
                  <a:avLst/>
                </a:prstGeom>
                <a:blipFill>
                  <a:blip r:embed="rId8"/>
                  <a:stretch>
                    <a:fillRect l="-384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Flèche : droite 29">
            <a:extLst>
              <a:ext uri="{FF2B5EF4-FFF2-40B4-BE49-F238E27FC236}">
                <a16:creationId xmlns:a16="http://schemas.microsoft.com/office/drawing/2014/main" id="{7AA958F6-BB2D-4A28-AAD2-A86E63FCBCBF}"/>
              </a:ext>
            </a:extLst>
          </p:cNvPr>
          <p:cNvSpPr/>
          <p:nvPr/>
        </p:nvSpPr>
        <p:spPr>
          <a:xfrm>
            <a:off x="2625135" y="2269970"/>
            <a:ext cx="2069804" cy="47886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Ionisation</a:t>
            </a:r>
          </a:p>
        </p:txBody>
      </p:sp>
      <p:sp>
        <p:nvSpPr>
          <p:cNvPr id="31" name="Flèche : droite 30">
            <a:extLst>
              <a:ext uri="{FF2B5EF4-FFF2-40B4-BE49-F238E27FC236}">
                <a16:creationId xmlns:a16="http://schemas.microsoft.com/office/drawing/2014/main" id="{9ADEB586-CEBA-407D-B3AC-4463A7DAE382}"/>
              </a:ext>
            </a:extLst>
          </p:cNvPr>
          <p:cNvSpPr/>
          <p:nvPr/>
        </p:nvSpPr>
        <p:spPr>
          <a:xfrm>
            <a:off x="6842463" y="2267336"/>
            <a:ext cx="2069804" cy="47886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Dissociation</a:t>
            </a:r>
          </a:p>
        </p:txBody>
      </p:sp>
      <p:sp>
        <p:nvSpPr>
          <p:cNvPr id="33" name="Flèche : gauche 32">
            <a:extLst>
              <a:ext uri="{FF2B5EF4-FFF2-40B4-BE49-F238E27FC236}">
                <a16:creationId xmlns:a16="http://schemas.microsoft.com/office/drawing/2014/main" id="{566028A4-B785-442C-9468-7ECBA1068A07}"/>
              </a:ext>
            </a:extLst>
          </p:cNvPr>
          <p:cNvSpPr/>
          <p:nvPr/>
        </p:nvSpPr>
        <p:spPr>
          <a:xfrm rot="19399446">
            <a:off x="8355656" y="3645190"/>
            <a:ext cx="2183219" cy="460742"/>
          </a:xfrm>
          <a:prstGeom prst="lef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Solvatation</a:t>
            </a:r>
          </a:p>
        </p:txBody>
      </p:sp>
    </p:spTree>
    <p:extLst>
      <p:ext uri="{BB962C8B-B14F-4D97-AF65-F5344CB8AC3E}">
        <p14:creationId xmlns:p14="http://schemas.microsoft.com/office/powerpoint/2010/main" val="583890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5D3FC7-AC70-4D7B-86EA-E1DCF8A0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Caractéristiques de solvants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3BD672-79F5-4FB1-9E49-CBD4552E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67E085-BFC8-486A-B09F-7FB3C745E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5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Espace réservé du contenu 7">
                <a:extLst>
                  <a:ext uri="{FF2B5EF4-FFF2-40B4-BE49-F238E27FC236}">
                    <a16:creationId xmlns:a16="http://schemas.microsoft.com/office/drawing/2014/main" id="{13D8C368-8A95-4678-AE39-46FF67457BC3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33542" y="1790252"/>
              <a:ext cx="10924915" cy="40930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4983">
                      <a:extLst>
                        <a:ext uri="{9D8B030D-6E8A-4147-A177-3AD203B41FA5}">
                          <a16:colId xmlns:a16="http://schemas.microsoft.com/office/drawing/2014/main" val="2027325449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2769981301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2544676401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3237337062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2336928122"/>
                        </a:ext>
                      </a:extLst>
                    </a:gridCol>
                  </a:tblGrid>
                  <a:tr h="4354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Solvant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Formule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Moment dipolaire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Permittivité relative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Catégorie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9071035"/>
                      </a:ext>
                    </a:extLst>
                  </a:tr>
                  <a:tr h="6004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Eau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1,85 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80,10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Polaire protique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0851063"/>
                      </a:ext>
                    </a:extLst>
                  </a:tr>
                  <a:tr h="859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DMSO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fr-FR" dirty="0" smtClean="0"/>
                                  <m:t>3,96 </m:t>
                                </m:r>
                                <m:r>
                                  <m:rPr>
                                    <m:nor/>
                                  </m:rPr>
                                  <a:rPr lang="fr-FR" dirty="0" smtClean="0"/>
                                  <m:t>D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47,24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Polaire aprotique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64791284"/>
                      </a:ext>
                    </a:extLst>
                  </a:tr>
                  <a:tr h="1261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Toluène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0,37 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2,379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Apolaire aprotique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0306838"/>
                      </a:ext>
                    </a:extLst>
                  </a:tr>
                  <a:tr h="9356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Cyclohexane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 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2,024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Apolaire aprotique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0770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Espace réservé du contenu 7">
                <a:extLst>
                  <a:ext uri="{FF2B5EF4-FFF2-40B4-BE49-F238E27FC236}">
                    <a16:creationId xmlns:a16="http://schemas.microsoft.com/office/drawing/2014/main" id="{13D8C368-8A95-4678-AE39-46FF67457BC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98202189"/>
                  </p:ext>
                </p:extLst>
              </p:nvPr>
            </p:nvGraphicFramePr>
            <p:xfrm>
              <a:off x="633542" y="1790252"/>
              <a:ext cx="10924915" cy="40930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4983">
                      <a:extLst>
                        <a:ext uri="{9D8B030D-6E8A-4147-A177-3AD203B41FA5}">
                          <a16:colId xmlns:a16="http://schemas.microsoft.com/office/drawing/2014/main" val="2027325449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2769981301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2544676401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3237337062"/>
                        </a:ext>
                      </a:extLst>
                    </a:gridCol>
                    <a:gridCol w="2184983">
                      <a:extLst>
                        <a:ext uri="{9D8B030D-6E8A-4147-A177-3AD203B41FA5}">
                          <a16:colId xmlns:a16="http://schemas.microsoft.com/office/drawing/2014/main" val="2336928122"/>
                        </a:ext>
                      </a:extLst>
                    </a:gridCol>
                  </a:tblGrid>
                  <a:tr h="4354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Solvant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Formule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Moment dipolaire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Permittivité relative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Catégorie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9071035"/>
                      </a:ext>
                    </a:extLst>
                  </a:tr>
                  <a:tr h="6004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Eau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1,85 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80,10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Polaire protique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0851063"/>
                      </a:ext>
                    </a:extLst>
                  </a:tr>
                  <a:tr h="859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DMSO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838" t="-120423" r="-201676" b="-25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47,24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Polaire aprotique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64791284"/>
                      </a:ext>
                    </a:extLst>
                  </a:tr>
                  <a:tr h="1261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Toluène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0,37 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2,379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Apolaire aprotique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0306838"/>
                      </a:ext>
                    </a:extLst>
                  </a:tr>
                  <a:tr h="9356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Cyclohexane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 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2,024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Apolaire aprotique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07706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Graphique 11">
            <a:extLst>
              <a:ext uri="{FF2B5EF4-FFF2-40B4-BE49-F238E27FC236}">
                <a16:creationId xmlns:a16="http://schemas.microsoft.com/office/drawing/2014/main" id="{8DB81814-155C-432A-A34D-1D521AF4BF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3386" y="2285120"/>
            <a:ext cx="807905" cy="558189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D90DE9C8-FCEA-4198-A254-AFAF732625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20114" y="2843309"/>
            <a:ext cx="1314450" cy="781050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826F821A-BC25-4608-A36D-C571A1DC57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06708" y="3706221"/>
            <a:ext cx="666750" cy="1219200"/>
          </a:xfrm>
          <a:prstGeom prst="rect">
            <a:avLst/>
          </a:prstGeom>
        </p:spPr>
      </p:pic>
      <p:pic>
        <p:nvPicPr>
          <p:cNvPr id="22" name="Graphique 21">
            <a:extLst>
              <a:ext uri="{FF2B5EF4-FFF2-40B4-BE49-F238E27FC236}">
                <a16:creationId xmlns:a16="http://schemas.microsoft.com/office/drawing/2014/main" id="{7C25C8D3-807D-457B-B308-FA2E1A8728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06237" y="5020459"/>
            <a:ext cx="667690" cy="76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75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er 588">
            <a:extLst>
              <a:ext uri="{FF2B5EF4-FFF2-40B4-BE49-F238E27FC236}">
                <a16:creationId xmlns:a16="http://schemas.microsoft.com/office/drawing/2014/main" id="{5B1A90C0-A05B-46C4-93CC-5DA5316501E0}"/>
              </a:ext>
            </a:extLst>
          </p:cNvPr>
          <p:cNvGrpSpPr/>
          <p:nvPr/>
        </p:nvGrpSpPr>
        <p:grpSpPr>
          <a:xfrm>
            <a:off x="1529316" y="2627937"/>
            <a:ext cx="146685" cy="815975"/>
            <a:chOff x="0" y="0"/>
            <a:chExt cx="146685" cy="8159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D305F53-FDCD-4DB8-8F97-85BD75F10687}"/>
                </a:ext>
              </a:extLst>
            </p:cNvPr>
            <p:cNvSpPr/>
            <p:nvPr/>
          </p:nvSpPr>
          <p:spPr>
            <a:xfrm rot="5400000">
              <a:off x="-284798" y="284798"/>
              <a:ext cx="715645" cy="146050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23" name="Grouper 584">
              <a:extLst>
                <a:ext uri="{FF2B5EF4-FFF2-40B4-BE49-F238E27FC236}">
                  <a16:creationId xmlns:a16="http://schemas.microsoft.com/office/drawing/2014/main" id="{F8C4F762-53A2-40BE-8622-EA7593B5B850}"/>
                </a:ext>
              </a:extLst>
            </p:cNvPr>
            <p:cNvGrpSpPr/>
            <p:nvPr/>
          </p:nvGrpSpPr>
          <p:grpSpPr>
            <a:xfrm>
              <a:off x="635" y="718185"/>
              <a:ext cx="55245" cy="97790"/>
              <a:chOff x="0" y="0"/>
              <a:chExt cx="55245" cy="9779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1BB8818-DB41-44E9-979B-4F64AE81A067}"/>
                  </a:ext>
                </a:extLst>
              </p:cNvPr>
              <p:cNvSpPr/>
              <p:nvPr/>
            </p:nvSpPr>
            <p:spPr>
              <a:xfrm>
                <a:off x="0" y="0"/>
                <a:ext cx="45719" cy="977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cxnSp>
            <p:nvCxnSpPr>
              <p:cNvPr id="28" name="Connecteur droit 27">
                <a:extLst>
                  <a:ext uri="{FF2B5EF4-FFF2-40B4-BE49-F238E27FC236}">
                    <a16:creationId xmlns:a16="http://schemas.microsoft.com/office/drawing/2014/main" id="{10D906D6-8FDB-4B96-B7FB-969F10E52177}"/>
                  </a:ext>
                </a:extLst>
              </p:cNvPr>
              <p:cNvCxnSpPr/>
              <p:nvPr/>
            </p:nvCxnSpPr>
            <p:spPr>
              <a:xfrm>
                <a:off x="55245" y="18415"/>
                <a:ext cx="0" cy="53975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er 585">
              <a:extLst>
                <a:ext uri="{FF2B5EF4-FFF2-40B4-BE49-F238E27FC236}">
                  <a16:creationId xmlns:a16="http://schemas.microsoft.com/office/drawing/2014/main" id="{3796BBE7-71B6-4E99-BCC6-DC81092DFA9E}"/>
                </a:ext>
              </a:extLst>
            </p:cNvPr>
            <p:cNvGrpSpPr/>
            <p:nvPr/>
          </p:nvGrpSpPr>
          <p:grpSpPr>
            <a:xfrm flipH="1">
              <a:off x="91440" y="718185"/>
              <a:ext cx="55245" cy="97790"/>
              <a:chOff x="0" y="0"/>
              <a:chExt cx="55245" cy="9779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9D2D2E9-C6C4-40DF-8801-9EF530799095}"/>
                  </a:ext>
                </a:extLst>
              </p:cNvPr>
              <p:cNvSpPr/>
              <p:nvPr/>
            </p:nvSpPr>
            <p:spPr>
              <a:xfrm>
                <a:off x="0" y="0"/>
                <a:ext cx="45719" cy="977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cxnSp>
            <p:nvCxnSpPr>
              <p:cNvPr id="26" name="Connecteur droit 25">
                <a:extLst>
                  <a:ext uri="{FF2B5EF4-FFF2-40B4-BE49-F238E27FC236}">
                    <a16:creationId xmlns:a16="http://schemas.microsoft.com/office/drawing/2014/main" id="{D3403DB0-A3DA-448B-AA82-F0B036E944F5}"/>
                  </a:ext>
                </a:extLst>
              </p:cNvPr>
              <p:cNvCxnSpPr/>
              <p:nvPr/>
            </p:nvCxnSpPr>
            <p:spPr>
              <a:xfrm>
                <a:off x="55245" y="18415"/>
                <a:ext cx="0" cy="53975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5772BBD8-9D0B-46C1-80F7-FB9853C87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Hydrolyse </a:t>
            </a:r>
            <a:r>
              <a:rPr lang="fr-FR"/>
              <a:t>du bromure </a:t>
            </a:r>
            <a:r>
              <a:rPr lang="fr-FR" dirty="0"/>
              <a:t>de </a:t>
            </a:r>
            <a:r>
              <a:rPr lang="fr-FR" dirty="0" err="1"/>
              <a:t>tertiobutyle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Espace réservé du contenu 5">
                <a:extLst>
                  <a:ext uri="{FF2B5EF4-FFF2-40B4-BE49-F238E27FC236}">
                    <a16:creationId xmlns:a16="http://schemas.microsoft.com/office/drawing/2014/main" id="{CB153A35-3556-469D-A464-33D8A1EA1E5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38767498"/>
                  </p:ext>
                </p:extLst>
              </p:nvPr>
            </p:nvGraphicFramePr>
            <p:xfrm>
              <a:off x="1066800" y="4554722"/>
              <a:ext cx="10058400" cy="113233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514600">
                      <a:extLst>
                        <a:ext uri="{9D8B030D-6E8A-4147-A177-3AD203B41FA5}">
                          <a16:colId xmlns:a16="http://schemas.microsoft.com/office/drawing/2014/main" val="3820152974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4208575062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1186434371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25486300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Eau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Acétone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fr-FR" b="1" i="0" smtClean="0"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p>
                                  <m:e>
                                    <m:r>
                                      <a:rPr lang="fr-FR" b="1" i="0" smtClean="0">
                                        <a:latin typeface="Cambria Math" panose="02040503050406030204" pitchFamily="18" charset="0"/>
                                      </a:rPr>
                                      <m:t>𝐁𝐮</m:t>
                                    </m:r>
                                  </m:e>
                                </m:sPre>
                                <m:r>
                                  <a:rPr lang="fr-FR" b="1" i="0" smtClean="0">
                                    <a:latin typeface="Cambria Math" panose="02040503050406030204" pitchFamily="18" charset="0"/>
                                  </a:rPr>
                                  <m:t>𝐂𝐥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9578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Mélange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30 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20 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1 </a:t>
                          </a:r>
                          <a:r>
                            <a:rPr lang="fr-FR" i="0" dirty="0" err="1"/>
                            <a:t>mL</a:t>
                          </a:r>
                          <a:endParaRPr lang="fr-FR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012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Mélange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25 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25 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1 </a:t>
                          </a:r>
                          <a:r>
                            <a:rPr lang="fr-FR" i="0" dirty="0" err="1"/>
                            <a:t>mL</a:t>
                          </a:r>
                          <a:endParaRPr lang="fr-FR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8362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Espace réservé du contenu 5">
                <a:extLst>
                  <a:ext uri="{FF2B5EF4-FFF2-40B4-BE49-F238E27FC236}">
                    <a16:creationId xmlns:a16="http://schemas.microsoft.com/office/drawing/2014/main" id="{CB153A35-3556-469D-A464-33D8A1EA1E5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38767498"/>
                  </p:ext>
                </p:extLst>
              </p:nvPr>
            </p:nvGraphicFramePr>
            <p:xfrm>
              <a:off x="1066800" y="4554722"/>
              <a:ext cx="10058400" cy="113233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514600">
                      <a:extLst>
                        <a:ext uri="{9D8B030D-6E8A-4147-A177-3AD203B41FA5}">
                          <a16:colId xmlns:a16="http://schemas.microsoft.com/office/drawing/2014/main" val="3820152974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4208575062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1186434371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2548630048"/>
                        </a:ext>
                      </a:extLst>
                    </a:gridCol>
                  </a:tblGrid>
                  <a:tr h="390652">
                    <a:tc>
                      <a:txBody>
                        <a:bodyPr/>
                        <a:lstStyle/>
                        <a:p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Eau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Acétone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971" t="-7813" r="-1214" b="-2140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578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Mélange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30 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20 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1 </a:t>
                          </a:r>
                          <a:r>
                            <a:rPr lang="fr-FR" i="0" dirty="0" err="1"/>
                            <a:t>mL</a:t>
                          </a:r>
                          <a:endParaRPr lang="fr-FR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012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Mélange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25 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25 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i="0" dirty="0"/>
                            <a:t>1 </a:t>
                          </a:r>
                          <a:r>
                            <a:rPr lang="fr-FR" i="0" dirty="0" err="1"/>
                            <a:t>mL</a:t>
                          </a:r>
                          <a:endParaRPr lang="fr-FR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83623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8E67D1B-F64E-48F4-9524-133FBFE6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6F8444-642E-4078-A46F-95E6EF80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6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E652D9F-252E-4F43-BA9B-C08107F31549}"/>
                  </a:ext>
                </a:extLst>
              </p:cNvPr>
              <p:cNvSpPr/>
              <p:nvPr/>
            </p:nvSpPr>
            <p:spPr>
              <a:xfrm>
                <a:off x="5227326" y="2517515"/>
                <a:ext cx="5928354" cy="5641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fr-FR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m:rPr>
                              <m:sty m:val="p"/>
                            </m:rPr>
                            <a:rPr lang="fr-FR" sz="2800" b="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fr-FR" sz="2800" b="0" i="0">
                              <a:latin typeface="Cambria Math" panose="02040503050406030204" pitchFamily="18" charset="0"/>
                            </a:rPr>
                            <m:t>Bu</m:t>
                          </m:r>
                        </m:e>
                      </m:sPre>
                      <m:r>
                        <m:rPr>
                          <m:sty m:val="p"/>
                        </m:rPr>
                        <a:rPr lang="fr-FR" sz="2800" b="0" i="0">
                          <a:latin typeface="Cambria Math" panose="02040503050406030204" pitchFamily="18" charset="0"/>
                        </a:rPr>
                        <m:t>Cl</m:t>
                      </m:r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O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</m:e>
                      </m:groupChr>
                      <m:sPre>
                        <m:sPrePr>
                          <m:ctrlPr>
                            <a:rPr lang="fr-FR" sz="280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m:rPr>
                              <m:sty m:val="p"/>
                            </m:rPr>
                            <a:rPr lang="fr-FR" sz="28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fr-FR" sz="2800">
                              <a:latin typeface="Cambria Math" panose="02040503050406030204" pitchFamily="18" charset="0"/>
                            </a:rPr>
                            <m:t>Bu</m:t>
                          </m:r>
                        </m:e>
                      </m:sPre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OH</m:t>
                      </m:r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Cl</m:t>
                          </m:r>
                        </m:e>
                        <m:sup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E652D9F-252E-4F43-BA9B-C08107F315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326" y="2517515"/>
                <a:ext cx="5928354" cy="5641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er 48">
            <a:extLst>
              <a:ext uri="{FF2B5EF4-FFF2-40B4-BE49-F238E27FC236}">
                <a16:creationId xmlns:a16="http://schemas.microsoft.com/office/drawing/2014/main" id="{89799814-5638-465F-936C-8E853FD9CE7F}"/>
              </a:ext>
            </a:extLst>
          </p:cNvPr>
          <p:cNvGrpSpPr/>
          <p:nvPr/>
        </p:nvGrpSpPr>
        <p:grpSpPr>
          <a:xfrm>
            <a:off x="376702" y="1890076"/>
            <a:ext cx="1441155" cy="2078466"/>
            <a:chOff x="0" y="0"/>
            <a:chExt cx="571500" cy="824230"/>
          </a:xfrm>
        </p:grpSpPr>
        <p:grpSp>
          <p:nvGrpSpPr>
            <p:cNvPr id="9" name="Grouper 31">
              <a:extLst>
                <a:ext uri="{FF2B5EF4-FFF2-40B4-BE49-F238E27FC236}">
                  <a16:creationId xmlns:a16="http://schemas.microsoft.com/office/drawing/2014/main" id="{56CFF341-D77A-4C91-AFB6-D0FC7EEBD897}"/>
                </a:ext>
              </a:extLst>
            </p:cNvPr>
            <p:cNvGrpSpPr/>
            <p:nvPr/>
          </p:nvGrpSpPr>
          <p:grpSpPr>
            <a:xfrm>
              <a:off x="0" y="24130"/>
              <a:ext cx="571500" cy="800100"/>
              <a:chOff x="0" y="0"/>
              <a:chExt cx="571500" cy="800100"/>
            </a:xfrm>
          </p:grpSpPr>
          <p:sp>
            <p:nvSpPr>
              <p:cNvPr id="11" name="Arrondir un rectangle avec un coin du même côté 29">
                <a:extLst>
                  <a:ext uri="{FF2B5EF4-FFF2-40B4-BE49-F238E27FC236}">
                    <a16:creationId xmlns:a16="http://schemas.microsoft.com/office/drawing/2014/main" id="{B480D7A2-DA70-4641-8D11-4409366DC854}"/>
                  </a:ext>
                </a:extLst>
              </p:cNvPr>
              <p:cNvSpPr/>
              <p:nvPr/>
            </p:nvSpPr>
            <p:spPr>
              <a:xfrm rot="10800000">
                <a:off x="0" y="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2" name="Arrondir un rectangle avec un coin du même côté 30">
                <a:extLst>
                  <a:ext uri="{FF2B5EF4-FFF2-40B4-BE49-F238E27FC236}">
                    <a16:creationId xmlns:a16="http://schemas.microsoft.com/office/drawing/2014/main" id="{DB38E24D-3F91-4D70-89D9-922A10CABECB}"/>
                  </a:ext>
                </a:extLst>
              </p:cNvPr>
              <p:cNvSpPr/>
              <p:nvPr/>
            </p:nvSpPr>
            <p:spPr>
              <a:xfrm rot="10800000">
                <a:off x="0" y="457200"/>
                <a:ext cx="571500" cy="3429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32E1BD8-7036-4174-B26C-54FDACEC8F16}"/>
                </a:ext>
              </a:extLst>
            </p:cNvPr>
            <p:cNvSpPr/>
            <p:nvPr/>
          </p:nvSpPr>
          <p:spPr>
            <a:xfrm flipV="1">
              <a:off x="0" y="0"/>
              <a:ext cx="571500" cy="45085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15399098-F238-41FA-B2F8-4650FE7F7F45}"/>
                  </a:ext>
                </a:extLst>
              </p:cNvPr>
              <p:cNvSpPr txBox="1"/>
              <p:nvPr/>
            </p:nvSpPr>
            <p:spPr>
              <a:xfrm>
                <a:off x="1991833" y="3725327"/>
                <a:ext cx="2410046" cy="39446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fr-FR" dirty="0"/>
                  <a:t>Eau + acétone +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m:rPr>
                            <m:sty m:val="p"/>
                          </m:rPr>
                          <a:rPr lang="fr-FR" b="0" i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fr-FR" b="0" i="0">
                            <a:latin typeface="Cambria Math" panose="02040503050406030204" pitchFamily="18" charset="0"/>
                          </a:rPr>
                          <m:t>Bu</m:t>
                        </m:r>
                      </m:e>
                    </m:sPre>
                    <m:r>
                      <m:rPr>
                        <m:sty m:val="p"/>
                      </m:rPr>
                      <a:rPr lang="fr-FR" b="0" i="0">
                        <a:latin typeface="Cambria Math" panose="02040503050406030204" pitchFamily="18" charset="0"/>
                      </a:rPr>
                      <m:t>Cl</m:t>
                    </m:r>
                  </m:oMath>
                </a14:m>
                <a:r>
                  <a:rPr lang="fr-FR" dirty="0"/>
                  <a:t> </a:t>
                </a:r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15399098-F238-41FA-B2F8-4650FE7F7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833" y="3725327"/>
                <a:ext cx="2410046" cy="394467"/>
              </a:xfrm>
              <a:prstGeom prst="rect">
                <a:avLst/>
              </a:prstGeom>
              <a:blipFill>
                <a:blip r:embed="rId4"/>
                <a:stretch>
                  <a:fillRect l="-2010" b="-191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D096BECE-C985-4E03-8755-67D945B5F0EC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1066800" y="3536195"/>
            <a:ext cx="925033" cy="386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A97371A-E238-454A-8EF4-613A5ED3374A}"/>
              </a:ext>
            </a:extLst>
          </p:cNvPr>
          <p:cNvSpPr/>
          <p:nvPr/>
        </p:nvSpPr>
        <p:spPr>
          <a:xfrm>
            <a:off x="1991833" y="2003767"/>
            <a:ext cx="1920948" cy="7731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Conductimètre</a:t>
            </a:r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2DB7D487-44A6-497C-8257-DF3AD8BA7465}"/>
              </a:ext>
            </a:extLst>
          </p:cNvPr>
          <p:cNvSpPr/>
          <p:nvPr/>
        </p:nvSpPr>
        <p:spPr>
          <a:xfrm>
            <a:off x="1549437" y="1425784"/>
            <a:ext cx="1392237" cy="1196914"/>
          </a:xfrm>
          <a:custGeom>
            <a:avLst/>
            <a:gdLst>
              <a:gd name="connsiteX0" fmla="*/ 1392237 w 1392237"/>
              <a:gd name="connsiteY0" fmla="*/ 573137 h 1196914"/>
              <a:gd name="connsiteX1" fmla="*/ 924405 w 1392237"/>
              <a:gd name="connsiteY1" fmla="*/ 119481 h 1196914"/>
              <a:gd name="connsiteX2" fmla="*/ 95065 w 1392237"/>
              <a:gd name="connsiteY2" fmla="*/ 91128 h 1196914"/>
              <a:gd name="connsiteX3" fmla="*/ 52535 w 1392237"/>
              <a:gd name="connsiteY3" fmla="*/ 1196914 h 1196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2237" h="1196914">
                <a:moveTo>
                  <a:pt x="1392237" y="573137"/>
                </a:moveTo>
                <a:cubicBezTo>
                  <a:pt x="1266418" y="386476"/>
                  <a:pt x="1140600" y="199816"/>
                  <a:pt x="924405" y="119481"/>
                </a:cubicBezTo>
                <a:cubicBezTo>
                  <a:pt x="708210" y="39146"/>
                  <a:pt x="240377" y="-88444"/>
                  <a:pt x="95065" y="91128"/>
                </a:cubicBezTo>
                <a:cubicBezTo>
                  <a:pt x="-50247" y="270700"/>
                  <a:pt x="1144" y="733807"/>
                  <a:pt x="52535" y="1196914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8200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512FE4-2D82-4BF9-960D-768DDB20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Hydrolyse du chlorure de tertiobutyle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Espace réservé du contenu 6">
                <a:extLst>
                  <a:ext uri="{FF2B5EF4-FFF2-40B4-BE49-F238E27FC236}">
                    <a16:creationId xmlns:a16="http://schemas.microsoft.com/office/drawing/2014/main" id="{7E858A25-E2FD-4BC0-9433-9D9EC7B6D9E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70115748"/>
                  </p:ext>
                </p:extLst>
              </p:nvPr>
            </p:nvGraphicFramePr>
            <p:xfrm>
              <a:off x="1210790" y="2166808"/>
              <a:ext cx="10058400" cy="1112520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1676400">
                      <a:extLst>
                        <a:ext uri="{9D8B030D-6E8A-4147-A177-3AD203B41FA5}">
                          <a16:colId xmlns:a16="http://schemas.microsoft.com/office/drawing/2014/main" val="3554826545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4099478478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46770687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3875914871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532503710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32590698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i="0" dirty="0"/>
                            <a:t>excès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0294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i="0" dirty="0"/>
                            <a:t>excès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94383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ε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i="0" dirty="0"/>
                            <a:t>excès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8255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Espace réservé du contenu 6">
                <a:extLst>
                  <a:ext uri="{FF2B5EF4-FFF2-40B4-BE49-F238E27FC236}">
                    <a16:creationId xmlns:a16="http://schemas.microsoft.com/office/drawing/2014/main" id="{7E858A25-E2FD-4BC0-9433-9D9EC7B6D9E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70115748"/>
                  </p:ext>
                </p:extLst>
              </p:nvPr>
            </p:nvGraphicFramePr>
            <p:xfrm>
              <a:off x="1210790" y="2166808"/>
              <a:ext cx="10058400" cy="1112520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1676400">
                      <a:extLst>
                        <a:ext uri="{9D8B030D-6E8A-4147-A177-3AD203B41FA5}">
                          <a16:colId xmlns:a16="http://schemas.microsoft.com/office/drawing/2014/main" val="3554826545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4099478478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46770687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3875914871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532503710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32590698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64" t="-8197" r="-501091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364" t="-8197" r="-401091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i="0" dirty="0"/>
                            <a:t>excès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727" t="-8197" r="-20072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727" t="-8197" r="-10072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0727" t="-8197" r="-727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0294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64" t="-108197" r="-501091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364" t="-108197" r="-401091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i="0" dirty="0"/>
                            <a:t>excès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727" t="-108197" r="-20072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727" t="-108197" r="-10072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0727" t="-108197" r="-727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94383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64" t="-208197" r="-501091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364" t="-208197" r="-401091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i="0" dirty="0"/>
                            <a:t>excès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727" t="-208197" r="-20072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727" t="-208197" r="-10072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0727" t="-208197" r="-727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82558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1C5CC16-46B1-48F7-9D22-DC3E538C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1070E15-6348-4524-9691-DF5F86A6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7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B5FD20D-5139-4D93-A55B-E5911A35C6BF}"/>
                  </a:ext>
                </a:extLst>
              </p:cNvPr>
              <p:cNvSpPr/>
              <p:nvPr/>
            </p:nvSpPr>
            <p:spPr>
              <a:xfrm>
                <a:off x="2417134" y="1602615"/>
                <a:ext cx="8619461" cy="5641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fr-FR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m:rPr>
                              <m:sty m:val="p"/>
                            </m:rPr>
                            <a:rPr lang="fr-FR" sz="2800" b="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fr-FR" sz="2800" b="0" i="0">
                              <a:latin typeface="Cambria Math" panose="02040503050406030204" pitchFamily="18" charset="0"/>
                            </a:rPr>
                            <m:t>Bu</m:t>
                          </m:r>
                        </m:e>
                      </m:sPre>
                      <m:r>
                        <m:rPr>
                          <m:sty m:val="p"/>
                        </m:rPr>
                        <a:rPr lang="fr-FR" sz="2800" b="0" i="0">
                          <a:latin typeface="Cambria Math" panose="02040503050406030204" pitchFamily="18" charset="0"/>
                        </a:rPr>
                        <m:t>Cl</m:t>
                      </m:r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    +    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</m:e>
                      </m:groupCh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Pre>
                        <m:sPrePr>
                          <m:ctrlPr>
                            <a:rPr lang="fr-FR" sz="280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m:rPr>
                              <m:sty m:val="p"/>
                            </m:rPr>
                            <a:rPr lang="fr-FR" sz="28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fr-FR" sz="2800">
                              <a:latin typeface="Cambria Math" panose="02040503050406030204" pitchFamily="18" charset="0"/>
                            </a:rPr>
                            <m:t>Bu</m:t>
                          </m:r>
                        </m:e>
                      </m:sPre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OH</m:t>
                      </m:r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     +</m:t>
                      </m:r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Cl</m:t>
                          </m:r>
                        </m:e>
                        <m:sup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     +</m:t>
                      </m:r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B5FD20D-5139-4D93-A55B-E5911A35C6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134" y="1602615"/>
                <a:ext cx="8619461" cy="5641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C96B2667-C7B0-4D47-BD21-114A281B345F}"/>
                  </a:ext>
                </a:extLst>
              </p:cNvPr>
              <p:cNvSpPr txBox="1"/>
              <p:nvPr/>
            </p:nvSpPr>
            <p:spPr>
              <a:xfrm>
                <a:off x="0" y="3745594"/>
                <a:ext cx="3735572" cy="1238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2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fr-FR" sz="2000" i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d>
                                <m:d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2000" i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fr-FR" sz="2000" i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2000" i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fr-FR" sz="20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fr-FR" sz="2000" dirty="0"/>
                                <m:t>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fr-FR" sz="2000" i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d>
                                <m:d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2000" i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2000" i="0">
                                          <a:latin typeface="Cambria Math" panose="02040503050406030204" pitchFamily="18" charset="0"/>
                                        </a:rPr>
                                        <m:t>λ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 i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p>
                                          <m:r>
                                            <a:rPr lang="fr-FR" sz="2000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fr-FR" sz="2000" i="0">
                                          <a:latin typeface="Cambria Math" panose="02040503050406030204" pitchFamily="18" charset="0"/>
                                        </a:rPr>
                                        <m:t>°</m:t>
                                      </m:r>
                                    </m:sup>
                                  </m:sSubSup>
                                  <m:r>
                                    <a:rPr lang="fr-FR" sz="20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2000" i="0">
                                          <a:latin typeface="Cambria Math" panose="02040503050406030204" pitchFamily="18" charset="0"/>
                                        </a:rPr>
                                        <m:t>λ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 i="0">
                                              <a:latin typeface="Cambria Math" panose="02040503050406030204" pitchFamily="18" charset="0"/>
                                            </a:rPr>
                                            <m:t>Cl</m:t>
                                          </m:r>
                                        </m:e>
                                        <m:sup>
                                          <m:r>
                                            <a:rPr lang="fr-FR" sz="2000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fr-FR" sz="2000" i="0">
                                          <a:latin typeface="Cambria Math" panose="02040503050406030204" pitchFamily="18" charset="0"/>
                                        </a:rPr>
                                        <m:t>°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fr-FR" sz="2000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2000" i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fr-FR" sz="20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fr-FR" sz="2000" dirty="0"/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2000" i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fr-FR" sz="2000" i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2000" i="0">
                                          <a:latin typeface="Cambria Math" panose="02040503050406030204" pitchFamily="18" charset="0"/>
                                        </a:rPr>
                                        <m:t>λ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 i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p>
                                          <m:r>
                                            <a:rPr lang="fr-FR" sz="2000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fr-FR" sz="2000" i="0">
                                          <a:latin typeface="Cambria Math" panose="02040503050406030204" pitchFamily="18" charset="0"/>
                                        </a:rPr>
                                        <m:t>°</m:t>
                                      </m:r>
                                    </m:sup>
                                  </m:sSubSup>
                                  <m:r>
                                    <a:rPr lang="fr-FR" sz="20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2000" i="0">
                                          <a:latin typeface="Cambria Math" panose="02040503050406030204" pitchFamily="18" charset="0"/>
                                        </a:rPr>
                                        <m:t>λ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 i="0">
                                              <a:latin typeface="Cambria Math" panose="02040503050406030204" pitchFamily="18" charset="0"/>
                                            </a:rPr>
                                            <m:t>Cl</m:t>
                                          </m:r>
                                        </m:e>
                                        <m:sup>
                                          <m:r>
                                            <a:rPr lang="fr-FR" sz="2000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fr-FR" sz="2000" i="0">
                                          <a:latin typeface="Cambria Math" panose="02040503050406030204" pitchFamily="18" charset="0"/>
                                        </a:rPr>
                                        <m:t>°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fr-FR" sz="20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2000" i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fr-FR" sz="20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C96B2667-C7B0-4D47-BD21-114A281B3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45594"/>
                <a:ext cx="3735572" cy="12389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FBADC8AA-5471-49F9-BFAA-01FDCC9E8476}"/>
                  </a:ext>
                </a:extLst>
              </p:cNvPr>
              <p:cNvSpPr txBox="1"/>
              <p:nvPr/>
            </p:nvSpPr>
            <p:spPr>
              <a:xfrm>
                <a:off x="262268" y="5302102"/>
                <a:ext cx="5613991" cy="542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Ordre 1 :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fr-FR" sz="20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fr-FR" sz="20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fr-FR" sz="20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dt</m:t>
                        </m:r>
                      </m:den>
                    </m:f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fr-FR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20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fr-FR" sz="20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/>
                  <a:t> donc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fr-FR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fr-FR" sz="20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fr-FR" sz="20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fr-FR" sz="20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fr-FR" sz="20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den>
                        </m:f>
                      </m:e>
                    </m:func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fr-FR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fr-FR" sz="2000" b="0" i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FBADC8AA-5471-49F9-BFAA-01FDCC9E8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8" y="5302102"/>
                <a:ext cx="5613991" cy="542969"/>
              </a:xfrm>
              <a:prstGeom prst="rect">
                <a:avLst/>
              </a:prstGeom>
              <a:blipFill>
                <a:blip r:embed="rId5"/>
                <a:stretch>
                  <a:fillRect l="-1086" b="-786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CFEF4097-10AE-47AE-A00B-AD92DA55C5C5}"/>
                  </a:ext>
                </a:extLst>
              </p:cNvPr>
              <p:cNvSpPr txBox="1"/>
              <p:nvPr/>
            </p:nvSpPr>
            <p:spPr>
              <a:xfrm>
                <a:off x="6620540" y="4097079"/>
                <a:ext cx="4648650" cy="1060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280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fr-FR" sz="28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80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2800" b="0" i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fr-FR" sz="2800" b="0" i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sub>
                                  </m:sSub>
                                  <m:r>
                                    <a:rPr lang="fr-FR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2800" b="0" i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fr-FR" sz="2800" b="0" i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2800" i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fr-FR" sz="2800" i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sub>
                                  </m:sSub>
                                  <m:r>
                                    <a:rPr lang="fr-FR" sz="2800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  <m:r>
                                    <a:rPr lang="fr-FR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fr-FR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  <m:r>
                            <a:rPr lang="fr-FR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fr-FR" sz="28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CFEF4097-10AE-47AE-A00B-AD92DA55C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540" y="4097079"/>
                <a:ext cx="4648650" cy="10604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4160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049CBF-3289-4F56-949D-2F03EAFD0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Influence de l’éluant en CCM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31EA6D-4C38-4C08-A736-BE1F7BC1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B85E852-D216-4E0A-B970-93B2E3B74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8</a:t>
            </a:fld>
            <a:endParaRPr lang="fr-FR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9629EC6B-D60B-46BD-B81A-A5AD672F344C}"/>
              </a:ext>
            </a:extLst>
          </p:cNvPr>
          <p:cNvGrpSpPr/>
          <p:nvPr/>
        </p:nvGrpSpPr>
        <p:grpSpPr>
          <a:xfrm>
            <a:off x="342167" y="2675099"/>
            <a:ext cx="1775321" cy="3260615"/>
            <a:chOff x="1854005" y="1723134"/>
            <a:chExt cx="2148139" cy="3945344"/>
          </a:xfrm>
        </p:grpSpPr>
        <p:sp>
          <p:nvSpPr>
            <p:cNvPr id="6" name="Arrondir un rectangle avec un coin du même côté 734">
              <a:extLst>
                <a:ext uri="{FF2B5EF4-FFF2-40B4-BE49-F238E27FC236}">
                  <a16:creationId xmlns:a16="http://schemas.microsoft.com/office/drawing/2014/main" id="{0A5FAD44-5BA1-4C3B-B153-25D53719927D}"/>
                </a:ext>
              </a:extLst>
            </p:cNvPr>
            <p:cNvSpPr/>
            <p:nvPr/>
          </p:nvSpPr>
          <p:spPr>
            <a:xfrm rot="10800000" flipH="1">
              <a:off x="1854005" y="2941582"/>
              <a:ext cx="2148139" cy="2726896"/>
            </a:xfrm>
            <a:custGeom>
              <a:avLst/>
              <a:gdLst>
                <a:gd name="connsiteX0" fmla="*/ 358030 w 2148139"/>
                <a:gd name="connsiteY0" fmla="*/ 0 h 2726896"/>
                <a:gd name="connsiteX1" fmla="*/ 1790109 w 2148139"/>
                <a:gd name="connsiteY1" fmla="*/ 0 h 2726896"/>
                <a:gd name="connsiteX2" fmla="*/ 2148139 w 2148139"/>
                <a:gd name="connsiteY2" fmla="*/ 358030 h 2726896"/>
                <a:gd name="connsiteX3" fmla="*/ 2148139 w 2148139"/>
                <a:gd name="connsiteY3" fmla="*/ 2726896 h 2726896"/>
                <a:gd name="connsiteX4" fmla="*/ 2148139 w 2148139"/>
                <a:gd name="connsiteY4" fmla="*/ 2726896 h 2726896"/>
                <a:gd name="connsiteX5" fmla="*/ 0 w 2148139"/>
                <a:gd name="connsiteY5" fmla="*/ 2726896 h 2726896"/>
                <a:gd name="connsiteX6" fmla="*/ 0 w 2148139"/>
                <a:gd name="connsiteY6" fmla="*/ 2726896 h 2726896"/>
                <a:gd name="connsiteX7" fmla="*/ 0 w 2148139"/>
                <a:gd name="connsiteY7" fmla="*/ 358030 h 2726896"/>
                <a:gd name="connsiteX8" fmla="*/ 358030 w 2148139"/>
                <a:gd name="connsiteY8" fmla="*/ 0 h 2726896"/>
                <a:gd name="connsiteX0" fmla="*/ 0 w 2239579"/>
                <a:gd name="connsiteY0" fmla="*/ 2726896 h 2818336"/>
                <a:gd name="connsiteX1" fmla="*/ 0 w 2239579"/>
                <a:gd name="connsiteY1" fmla="*/ 2726896 h 2818336"/>
                <a:gd name="connsiteX2" fmla="*/ 0 w 2239579"/>
                <a:gd name="connsiteY2" fmla="*/ 358030 h 2818336"/>
                <a:gd name="connsiteX3" fmla="*/ 358030 w 2239579"/>
                <a:gd name="connsiteY3" fmla="*/ 0 h 2818336"/>
                <a:gd name="connsiteX4" fmla="*/ 1790109 w 2239579"/>
                <a:gd name="connsiteY4" fmla="*/ 0 h 2818336"/>
                <a:gd name="connsiteX5" fmla="*/ 2148139 w 2239579"/>
                <a:gd name="connsiteY5" fmla="*/ 358030 h 2818336"/>
                <a:gd name="connsiteX6" fmla="*/ 2148139 w 2239579"/>
                <a:gd name="connsiteY6" fmla="*/ 2726896 h 2818336"/>
                <a:gd name="connsiteX7" fmla="*/ 2239579 w 2239579"/>
                <a:gd name="connsiteY7" fmla="*/ 2818336 h 2818336"/>
                <a:gd name="connsiteX0" fmla="*/ 0 w 2148139"/>
                <a:gd name="connsiteY0" fmla="*/ 2726896 h 2726896"/>
                <a:gd name="connsiteX1" fmla="*/ 0 w 2148139"/>
                <a:gd name="connsiteY1" fmla="*/ 2726896 h 2726896"/>
                <a:gd name="connsiteX2" fmla="*/ 0 w 2148139"/>
                <a:gd name="connsiteY2" fmla="*/ 358030 h 2726896"/>
                <a:gd name="connsiteX3" fmla="*/ 358030 w 2148139"/>
                <a:gd name="connsiteY3" fmla="*/ 0 h 2726896"/>
                <a:gd name="connsiteX4" fmla="*/ 1790109 w 2148139"/>
                <a:gd name="connsiteY4" fmla="*/ 0 h 2726896"/>
                <a:gd name="connsiteX5" fmla="*/ 2148139 w 2148139"/>
                <a:gd name="connsiteY5" fmla="*/ 358030 h 2726896"/>
                <a:gd name="connsiteX6" fmla="*/ 2148139 w 2148139"/>
                <a:gd name="connsiteY6" fmla="*/ 2726896 h 2726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8139" h="2726896">
                  <a:moveTo>
                    <a:pt x="0" y="2726896"/>
                  </a:moveTo>
                  <a:lnTo>
                    <a:pt x="0" y="2726896"/>
                  </a:lnTo>
                  <a:lnTo>
                    <a:pt x="0" y="358030"/>
                  </a:lnTo>
                  <a:cubicBezTo>
                    <a:pt x="0" y="160295"/>
                    <a:pt x="160295" y="0"/>
                    <a:pt x="358030" y="0"/>
                  </a:cubicBezTo>
                  <a:lnTo>
                    <a:pt x="1790109" y="0"/>
                  </a:lnTo>
                  <a:cubicBezTo>
                    <a:pt x="1987844" y="0"/>
                    <a:pt x="2148139" y="160295"/>
                    <a:pt x="2148139" y="358030"/>
                  </a:cubicBezTo>
                  <a:lnTo>
                    <a:pt x="2148139" y="272689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sp>
          <p:nvSpPr>
            <p:cNvPr id="7" name="Parallélogramme 6">
              <a:extLst>
                <a:ext uri="{FF2B5EF4-FFF2-40B4-BE49-F238E27FC236}">
                  <a16:creationId xmlns:a16="http://schemas.microsoft.com/office/drawing/2014/main" id="{2E9ABCC2-235B-4629-BDC3-DD649EBCB7BD}"/>
                </a:ext>
              </a:extLst>
            </p:cNvPr>
            <p:cNvSpPr/>
            <p:nvPr/>
          </p:nvSpPr>
          <p:spPr>
            <a:xfrm rot="21208233" flipH="1">
              <a:off x="1923078" y="1723134"/>
              <a:ext cx="96139" cy="3893402"/>
            </a:xfrm>
            <a:prstGeom prst="parallelogram">
              <a:avLst>
                <a:gd name="adj" fmla="val 77936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9277F481-1608-4BD4-86F2-0E270DC3DC77}"/>
                </a:ext>
              </a:extLst>
            </p:cNvPr>
            <p:cNvCxnSpPr>
              <a:cxnSpLocks/>
            </p:cNvCxnSpPr>
            <p:nvPr/>
          </p:nvCxnSpPr>
          <p:spPr>
            <a:xfrm>
              <a:off x="1854005" y="5130240"/>
              <a:ext cx="214813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D6EF07D9-A03C-4469-96DA-3E4AE76C4ECC}"/>
              </a:ext>
            </a:extLst>
          </p:cNvPr>
          <p:cNvGrpSpPr/>
          <p:nvPr/>
        </p:nvGrpSpPr>
        <p:grpSpPr>
          <a:xfrm>
            <a:off x="7821480" y="2188927"/>
            <a:ext cx="4157956" cy="3985442"/>
            <a:chOff x="7493903" y="2238546"/>
            <a:chExt cx="4157956" cy="398544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712892-CD7F-4E31-8534-6BC16B32C970}"/>
                </a:ext>
              </a:extLst>
            </p:cNvPr>
            <p:cNvSpPr/>
            <p:nvPr/>
          </p:nvSpPr>
          <p:spPr>
            <a:xfrm>
              <a:off x="8519111" y="2238546"/>
              <a:ext cx="2299954" cy="338031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713FCC5C-C842-4775-B62F-E8FF019436EB}"/>
                </a:ext>
              </a:extLst>
            </p:cNvPr>
            <p:cNvCxnSpPr/>
            <p:nvPr/>
          </p:nvCxnSpPr>
          <p:spPr>
            <a:xfrm>
              <a:off x="8519111" y="5198380"/>
              <a:ext cx="229995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3BD4779-EAF9-4186-9901-0168DEB699EE}"/>
                </a:ext>
              </a:extLst>
            </p:cNvPr>
            <p:cNvSpPr/>
            <p:nvPr/>
          </p:nvSpPr>
          <p:spPr>
            <a:xfrm>
              <a:off x="9272958" y="5165197"/>
              <a:ext cx="60067" cy="6006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41771A4F-A385-406E-B308-23866A73817A}"/>
                </a:ext>
              </a:extLst>
            </p:cNvPr>
            <p:cNvSpPr/>
            <p:nvPr/>
          </p:nvSpPr>
          <p:spPr>
            <a:xfrm>
              <a:off x="10086872" y="5160542"/>
              <a:ext cx="60067" cy="600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98BF4A4C-43BE-4615-9E82-3D8F25AF2790}"/>
                </a:ext>
              </a:extLst>
            </p:cNvPr>
            <p:cNvSpPr txBox="1"/>
            <p:nvPr/>
          </p:nvSpPr>
          <p:spPr>
            <a:xfrm>
              <a:off x="7493903" y="5854656"/>
              <a:ext cx="1839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accent2"/>
                  </a:solidFill>
                </a:rPr>
                <a:t>Alcool benzylique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22CA485F-8AA5-4A79-AA04-7DEE57BCE38F}"/>
                </a:ext>
              </a:extLst>
            </p:cNvPr>
            <p:cNvSpPr txBox="1"/>
            <p:nvPr/>
          </p:nvSpPr>
          <p:spPr>
            <a:xfrm>
              <a:off x="10160360" y="5854641"/>
              <a:ext cx="1491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accent5"/>
                  </a:solidFill>
                </a:rPr>
                <a:t>Benzaldéhyde</a:t>
              </a:r>
            </a:p>
          </p:txBody>
        </p:sp>
      </p:grpSp>
      <p:graphicFrame>
        <p:nvGraphicFramePr>
          <p:cNvPr id="23" name="Tableau 22">
            <a:extLst>
              <a:ext uri="{FF2B5EF4-FFF2-40B4-BE49-F238E27FC236}">
                <a16:creationId xmlns:a16="http://schemas.microsoft.com/office/drawing/2014/main" id="{F12E33FE-B1E3-428D-AEBC-8A3D11598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425191"/>
              </p:ext>
            </p:extLst>
          </p:nvPr>
        </p:nvGraphicFramePr>
        <p:xfrm>
          <a:off x="2917205" y="2664317"/>
          <a:ext cx="5455560" cy="148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8520">
                  <a:extLst>
                    <a:ext uri="{9D8B030D-6E8A-4147-A177-3AD203B41FA5}">
                      <a16:colId xmlns:a16="http://schemas.microsoft.com/office/drawing/2014/main" val="2014089278"/>
                    </a:ext>
                  </a:extLst>
                </a:gridCol>
                <a:gridCol w="1818520">
                  <a:extLst>
                    <a:ext uri="{9D8B030D-6E8A-4147-A177-3AD203B41FA5}">
                      <a16:colId xmlns:a16="http://schemas.microsoft.com/office/drawing/2014/main" val="2265833948"/>
                    </a:ext>
                  </a:extLst>
                </a:gridCol>
                <a:gridCol w="1818520">
                  <a:extLst>
                    <a:ext uri="{9D8B030D-6E8A-4147-A177-3AD203B41FA5}">
                      <a16:colId xmlns:a16="http://schemas.microsoft.com/office/drawing/2014/main" val="974223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Acétate d’éthyle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Cyclohexane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445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Éluant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025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Éluant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149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Éluant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164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797871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372</TotalTime>
  <Words>247</Words>
  <Application>Microsoft Office PowerPoint</Application>
  <PresentationFormat>Grand écran</PresentationFormat>
  <Paragraphs>133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Cambria Math</vt:lpstr>
      <vt:lpstr>Rétrospective</vt:lpstr>
      <vt:lpstr>Solvants</vt:lpstr>
      <vt:lpstr>Caractéristiques de solvants</vt:lpstr>
      <vt:lpstr>Caractéristiques de solvants</vt:lpstr>
      <vt:lpstr>Processus de dissolution</vt:lpstr>
      <vt:lpstr>Caractéristiques de solvants</vt:lpstr>
      <vt:lpstr>Hydrolyse du bromure de tertiobutyle</vt:lpstr>
      <vt:lpstr>Hydrolyse du chlorure de tertiobutyle</vt:lpstr>
      <vt:lpstr>Influence de l’éluant en CCM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63</cp:revision>
  <dcterms:created xsi:type="dcterms:W3CDTF">2019-04-06T14:18:31Z</dcterms:created>
  <dcterms:modified xsi:type="dcterms:W3CDTF">2019-06-16T10:47:31Z</dcterms:modified>
</cp:coreProperties>
</file>