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6"/>
  </p:notesMasterIdLst>
  <p:sldIdLst>
    <p:sldId id="256" r:id="rId2"/>
    <p:sldId id="275" r:id="rId3"/>
    <p:sldId id="276" r:id="rId4"/>
    <p:sldId id="268" r:id="rId5"/>
    <p:sldId id="273" r:id="rId6"/>
    <p:sldId id="282" r:id="rId7"/>
    <p:sldId id="274" r:id="rId8"/>
    <p:sldId id="264" r:id="rId9"/>
    <p:sldId id="265" r:id="rId10"/>
    <p:sldId id="277" r:id="rId11"/>
    <p:sldId id="279" r:id="rId12"/>
    <p:sldId id="280" r:id="rId13"/>
    <p:sldId id="281" r:id="rId14"/>
    <p:sldId id="28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2" autoAdjust="0"/>
    <p:restoredTop sz="94660"/>
  </p:normalViewPr>
  <p:slideViewPr>
    <p:cSldViewPr snapToGrid="0">
      <p:cViewPr varScale="1">
        <p:scale>
          <a:sx n="90" d="100"/>
          <a:sy n="90" d="100"/>
        </p:scale>
        <p:origin x="124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2F01C-BC14-4F81-87AE-D5D26E359E8E}" type="datetimeFigureOut">
              <a:rPr lang="fr-FR" smtClean="0"/>
              <a:t>15/06/2019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89472F-C389-4AF2-BA24-C1FF8F94A6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3886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B33F-87D8-4BFE-BCBF-731AD622E09E}" type="datetime1">
              <a:rPr lang="fr-FR" smtClean="0"/>
              <a:t>15/06/2019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752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FEB24-1155-4371-B688-DDAD01CF823D}" type="datetime1">
              <a:rPr lang="fr-FR" smtClean="0"/>
              <a:t>15/06/2019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6835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147B3-5A91-453A-92FD-677E850FA3A5}" type="datetime1">
              <a:rPr lang="fr-FR" smtClean="0"/>
              <a:t>15/06/2019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028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6843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460206"/>
            <a:ext cx="4937760" cy="44088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460205"/>
            <a:ext cx="4937760" cy="44088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0384B-D365-439B-B9FB-A10B3FA0B79A}" type="datetime1">
              <a:rPr lang="fr-FR" smtClean="0"/>
              <a:t>15/06/2019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803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7B8B-BEB2-49C1-8BB4-8D396D554AA6}" type="datetime1">
              <a:rPr lang="fr-FR" smtClean="0"/>
              <a:t>15/06/2019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1322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53237-6937-4077-8416-FFF866A41361}" type="datetime1">
              <a:rPr lang="fr-FR" smtClean="0"/>
              <a:t>15/06/2019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9822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CE37A-26D6-4DCD-AF35-3F127425D5BF}" type="datetime1">
              <a:rPr lang="fr-FR" smtClean="0"/>
              <a:t>15/06/2019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055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F45A67E-4DF6-4C8F-B8DA-2D1171F57B74}" type="datetime1">
              <a:rPr lang="fr-FR" smtClean="0"/>
              <a:t>15/06/2019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0199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4F725-0123-4CE3-85B9-619490EE40F6}" type="datetime1">
              <a:rPr lang="fr-FR" smtClean="0"/>
              <a:t>15/06/2019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025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CC754-28B9-41E4-AE10-BE433397311B}" type="datetime1">
              <a:rPr lang="fr-FR" smtClean="0"/>
              <a:t>15/06/2019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9337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81CE-1004-4FD8-A91E-F417EDBE9258}" type="datetime1">
              <a:rPr lang="fr-FR" smtClean="0"/>
              <a:t>15/06/2019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9712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172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28237"/>
            <a:ext cx="10058400" cy="444085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63DEDF1-3E42-46F1-803C-3F81A5B34212}" type="datetime1">
              <a:rPr lang="fr-FR" smtClean="0"/>
              <a:t>15/06/2019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88720" y="1369251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468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0.png"/><Relationship Id="rId4" Type="http://schemas.openxmlformats.org/officeDocument/2006/relationships/image" Target="../media/image1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5" Type="http://schemas.openxmlformats.org/officeDocument/2006/relationships/image" Target="../media/image170.png"/><Relationship Id="rId4" Type="http://schemas.openxmlformats.org/officeDocument/2006/relationships/image" Target="../media/image16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A20284-6E28-4815-81F6-68D3A0402E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Stéréochimie et molécules du vivant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CEC554-AF82-49BC-9FF3-978A8522E9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AGREGATION 2019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1437BC0-A1E8-4D84-AFC7-4F650B5D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108AC17-FBA1-49AF-9262-771D85784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3765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au 17">
            <a:extLst>
              <a:ext uri="{FF2B5EF4-FFF2-40B4-BE49-F238E27FC236}">
                <a16:creationId xmlns:a16="http://schemas.microsoft.com/office/drawing/2014/main" id="{B1B01D60-530A-42A6-8396-3FD4759A5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236564"/>
              </p:ext>
            </p:extLst>
          </p:nvPr>
        </p:nvGraphicFramePr>
        <p:xfrm>
          <a:off x="6275092" y="1466756"/>
          <a:ext cx="4281378" cy="4735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7126">
                  <a:extLst>
                    <a:ext uri="{9D8B030D-6E8A-4147-A177-3AD203B41FA5}">
                      <a16:colId xmlns:a16="http://schemas.microsoft.com/office/drawing/2014/main" val="996765087"/>
                    </a:ext>
                  </a:extLst>
                </a:gridCol>
                <a:gridCol w="1427126">
                  <a:extLst>
                    <a:ext uri="{9D8B030D-6E8A-4147-A177-3AD203B41FA5}">
                      <a16:colId xmlns:a16="http://schemas.microsoft.com/office/drawing/2014/main" val="2119107521"/>
                    </a:ext>
                  </a:extLst>
                </a:gridCol>
                <a:gridCol w="1427126">
                  <a:extLst>
                    <a:ext uri="{9D8B030D-6E8A-4147-A177-3AD203B41FA5}">
                      <a16:colId xmlns:a16="http://schemas.microsoft.com/office/drawing/2014/main" val="2045912847"/>
                    </a:ext>
                  </a:extLst>
                </a:gridCol>
              </a:tblGrid>
              <a:tr h="446996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Formule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Abondance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4210428"/>
                  </a:ext>
                </a:extLst>
              </a:tr>
              <a:tr h="1429346"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Alanine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8,3 %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2874551"/>
                  </a:ext>
                </a:extLst>
              </a:tr>
              <a:tr h="1429346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Valine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6,9 %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9660278"/>
                  </a:ext>
                </a:extLst>
              </a:tr>
              <a:tr h="1429346"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Thréonine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5,3 %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833751"/>
                  </a:ext>
                </a:extLst>
              </a:tr>
            </a:tbl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C35D3FC7-AC70-4D7B-86EA-E1DCF8A06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Acides aminés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53BD672-79F5-4FB1-9E49-CBD4552E8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167E085-BFC8-486A-B09F-7FB3C745E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2</a:t>
            </a:fld>
            <a:endParaRPr lang="fr-FR"/>
          </a:p>
        </p:txBody>
      </p:sp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02791F1F-F514-46A8-AF24-ADCBECA123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530" y="2570100"/>
            <a:ext cx="2735347" cy="2071404"/>
          </a:xfrm>
        </p:spPr>
      </p:pic>
      <p:pic>
        <p:nvPicPr>
          <p:cNvPr id="11" name="Graphique 10">
            <a:extLst>
              <a:ext uri="{FF2B5EF4-FFF2-40B4-BE49-F238E27FC236}">
                <a16:creationId xmlns:a16="http://schemas.microsoft.com/office/drawing/2014/main" id="{7B5EB4EC-1AB4-44A4-9D7F-87F4F6D00D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0245" y="1907686"/>
            <a:ext cx="1506120" cy="1324828"/>
          </a:xfrm>
          <a:prstGeom prst="rect">
            <a:avLst/>
          </a:prstGeom>
        </p:spPr>
      </p:pic>
      <p:pic>
        <p:nvPicPr>
          <p:cNvPr id="13" name="Graphique 12">
            <a:extLst>
              <a:ext uri="{FF2B5EF4-FFF2-40B4-BE49-F238E27FC236}">
                <a16:creationId xmlns:a16="http://schemas.microsoft.com/office/drawing/2014/main" id="{EDBA749B-AA5F-4FD4-87EC-490FD682B9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00245" y="4721077"/>
            <a:ext cx="1506120" cy="1575848"/>
          </a:xfrm>
          <a:prstGeom prst="rect">
            <a:avLst/>
          </a:prstGeom>
        </p:spPr>
      </p:pic>
      <p:pic>
        <p:nvPicPr>
          <p:cNvPr id="15" name="Graphique 14">
            <a:extLst>
              <a:ext uri="{FF2B5EF4-FFF2-40B4-BE49-F238E27FC236}">
                <a16:creationId xmlns:a16="http://schemas.microsoft.com/office/drawing/2014/main" id="{F25EBA10-852F-4220-8610-C06A29FD62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01090" y="3327649"/>
            <a:ext cx="1506120" cy="1520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885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00B528-B041-49BC-8B92-C40BE26E0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CCM de la carvone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C4373BE-E603-492C-95DF-4B16A23F9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26DD68D-D1B7-4B38-B63D-2DD5AE8CA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3</a:t>
            </a:fld>
            <a:endParaRPr lang="fr-FR"/>
          </a:p>
        </p:txBody>
      </p:sp>
      <p:sp>
        <p:nvSpPr>
          <p:cNvPr id="6" name="Arrondir un rectangle avec un coin du même côté 734">
            <a:extLst>
              <a:ext uri="{FF2B5EF4-FFF2-40B4-BE49-F238E27FC236}">
                <a16:creationId xmlns:a16="http://schemas.microsoft.com/office/drawing/2014/main" id="{BBD06ECA-D199-4FD9-81FD-761CB81F8BFB}"/>
              </a:ext>
            </a:extLst>
          </p:cNvPr>
          <p:cNvSpPr/>
          <p:nvPr/>
        </p:nvSpPr>
        <p:spPr>
          <a:xfrm rot="10800000" flipH="1">
            <a:off x="3299919" y="3019575"/>
            <a:ext cx="2148139" cy="2726896"/>
          </a:xfrm>
          <a:custGeom>
            <a:avLst/>
            <a:gdLst>
              <a:gd name="connsiteX0" fmla="*/ 358030 w 2148139"/>
              <a:gd name="connsiteY0" fmla="*/ 0 h 2726896"/>
              <a:gd name="connsiteX1" fmla="*/ 1790109 w 2148139"/>
              <a:gd name="connsiteY1" fmla="*/ 0 h 2726896"/>
              <a:gd name="connsiteX2" fmla="*/ 2148139 w 2148139"/>
              <a:gd name="connsiteY2" fmla="*/ 358030 h 2726896"/>
              <a:gd name="connsiteX3" fmla="*/ 2148139 w 2148139"/>
              <a:gd name="connsiteY3" fmla="*/ 2726896 h 2726896"/>
              <a:gd name="connsiteX4" fmla="*/ 2148139 w 2148139"/>
              <a:gd name="connsiteY4" fmla="*/ 2726896 h 2726896"/>
              <a:gd name="connsiteX5" fmla="*/ 0 w 2148139"/>
              <a:gd name="connsiteY5" fmla="*/ 2726896 h 2726896"/>
              <a:gd name="connsiteX6" fmla="*/ 0 w 2148139"/>
              <a:gd name="connsiteY6" fmla="*/ 2726896 h 2726896"/>
              <a:gd name="connsiteX7" fmla="*/ 0 w 2148139"/>
              <a:gd name="connsiteY7" fmla="*/ 358030 h 2726896"/>
              <a:gd name="connsiteX8" fmla="*/ 358030 w 2148139"/>
              <a:gd name="connsiteY8" fmla="*/ 0 h 2726896"/>
              <a:gd name="connsiteX0" fmla="*/ 0 w 2239579"/>
              <a:gd name="connsiteY0" fmla="*/ 2726896 h 2818336"/>
              <a:gd name="connsiteX1" fmla="*/ 0 w 2239579"/>
              <a:gd name="connsiteY1" fmla="*/ 2726896 h 2818336"/>
              <a:gd name="connsiteX2" fmla="*/ 0 w 2239579"/>
              <a:gd name="connsiteY2" fmla="*/ 358030 h 2818336"/>
              <a:gd name="connsiteX3" fmla="*/ 358030 w 2239579"/>
              <a:gd name="connsiteY3" fmla="*/ 0 h 2818336"/>
              <a:gd name="connsiteX4" fmla="*/ 1790109 w 2239579"/>
              <a:gd name="connsiteY4" fmla="*/ 0 h 2818336"/>
              <a:gd name="connsiteX5" fmla="*/ 2148139 w 2239579"/>
              <a:gd name="connsiteY5" fmla="*/ 358030 h 2818336"/>
              <a:gd name="connsiteX6" fmla="*/ 2148139 w 2239579"/>
              <a:gd name="connsiteY6" fmla="*/ 2726896 h 2818336"/>
              <a:gd name="connsiteX7" fmla="*/ 2239579 w 2239579"/>
              <a:gd name="connsiteY7" fmla="*/ 2818336 h 2818336"/>
              <a:gd name="connsiteX0" fmla="*/ 0 w 2148139"/>
              <a:gd name="connsiteY0" fmla="*/ 2726896 h 2726896"/>
              <a:gd name="connsiteX1" fmla="*/ 0 w 2148139"/>
              <a:gd name="connsiteY1" fmla="*/ 2726896 h 2726896"/>
              <a:gd name="connsiteX2" fmla="*/ 0 w 2148139"/>
              <a:gd name="connsiteY2" fmla="*/ 358030 h 2726896"/>
              <a:gd name="connsiteX3" fmla="*/ 358030 w 2148139"/>
              <a:gd name="connsiteY3" fmla="*/ 0 h 2726896"/>
              <a:gd name="connsiteX4" fmla="*/ 1790109 w 2148139"/>
              <a:gd name="connsiteY4" fmla="*/ 0 h 2726896"/>
              <a:gd name="connsiteX5" fmla="*/ 2148139 w 2148139"/>
              <a:gd name="connsiteY5" fmla="*/ 358030 h 2726896"/>
              <a:gd name="connsiteX6" fmla="*/ 2148139 w 2148139"/>
              <a:gd name="connsiteY6" fmla="*/ 2726896 h 2726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48139" h="2726896">
                <a:moveTo>
                  <a:pt x="0" y="2726896"/>
                </a:moveTo>
                <a:lnTo>
                  <a:pt x="0" y="2726896"/>
                </a:lnTo>
                <a:lnTo>
                  <a:pt x="0" y="358030"/>
                </a:lnTo>
                <a:cubicBezTo>
                  <a:pt x="0" y="160295"/>
                  <a:pt x="160295" y="0"/>
                  <a:pt x="358030" y="0"/>
                </a:cubicBezTo>
                <a:lnTo>
                  <a:pt x="1790109" y="0"/>
                </a:lnTo>
                <a:cubicBezTo>
                  <a:pt x="1987844" y="0"/>
                  <a:pt x="2148139" y="160295"/>
                  <a:pt x="2148139" y="358030"/>
                </a:cubicBezTo>
                <a:lnTo>
                  <a:pt x="2148139" y="2726896"/>
                </a:lnTo>
              </a:path>
            </a:pathLst>
          </a:custGeom>
          <a:noFill/>
          <a:ln w="127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  <p:sp>
        <p:nvSpPr>
          <p:cNvPr id="7" name="Parallélogramme 6">
            <a:extLst>
              <a:ext uri="{FF2B5EF4-FFF2-40B4-BE49-F238E27FC236}">
                <a16:creationId xmlns:a16="http://schemas.microsoft.com/office/drawing/2014/main" id="{3EB2DF32-3C3B-406F-B3F4-A8164082033E}"/>
              </a:ext>
            </a:extLst>
          </p:cNvPr>
          <p:cNvSpPr/>
          <p:nvPr/>
        </p:nvSpPr>
        <p:spPr>
          <a:xfrm rot="21208233" flipH="1">
            <a:off x="3368992" y="1801127"/>
            <a:ext cx="96139" cy="3893402"/>
          </a:xfrm>
          <a:prstGeom prst="parallelogram">
            <a:avLst>
              <a:gd name="adj" fmla="val 77936"/>
            </a:avLst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6FF2128C-DA56-4D19-8F2D-139990948AF4}"/>
              </a:ext>
            </a:extLst>
          </p:cNvPr>
          <p:cNvCxnSpPr>
            <a:cxnSpLocks/>
          </p:cNvCxnSpPr>
          <p:nvPr/>
        </p:nvCxnSpPr>
        <p:spPr>
          <a:xfrm>
            <a:off x="3299919" y="5208233"/>
            <a:ext cx="214813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ED0123FA-E8EF-43CB-A274-9F9E1E5D9A30}"/>
              </a:ext>
            </a:extLst>
          </p:cNvPr>
          <p:cNvSpPr txBox="1"/>
          <p:nvPr/>
        </p:nvSpPr>
        <p:spPr>
          <a:xfrm>
            <a:off x="709116" y="5042698"/>
            <a:ext cx="2357738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Eluant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Cyclohexane 4/5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Acétate d’éthyle 1/5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181865E0-99EE-458D-9DB5-207368AE0BDC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3066854" y="5504363"/>
            <a:ext cx="13742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0759749F-6113-4483-B23D-2C13C6281BAA}"/>
              </a:ext>
            </a:extLst>
          </p:cNvPr>
          <p:cNvSpPr txBox="1"/>
          <p:nvPr/>
        </p:nvSpPr>
        <p:spPr>
          <a:xfrm>
            <a:off x="1750939" y="2044600"/>
            <a:ext cx="84765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Plaque</a:t>
            </a: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11340BD4-3B52-4913-A751-16BF153285D0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2598595" y="2229266"/>
            <a:ext cx="6273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5F1A8B9-B2AF-42D5-83FF-5BE61975432C}"/>
              </a:ext>
            </a:extLst>
          </p:cNvPr>
          <p:cNvSpPr/>
          <p:nvPr/>
        </p:nvSpPr>
        <p:spPr>
          <a:xfrm>
            <a:off x="7845722" y="2366158"/>
            <a:ext cx="2299954" cy="33803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420D75A-78F4-485F-8C4B-17FD34C2A3B2}"/>
              </a:ext>
            </a:extLst>
          </p:cNvPr>
          <p:cNvCxnSpPr/>
          <p:nvPr/>
        </p:nvCxnSpPr>
        <p:spPr>
          <a:xfrm>
            <a:off x="7845722" y="5325992"/>
            <a:ext cx="229995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Ellipse 15">
            <a:extLst>
              <a:ext uri="{FF2B5EF4-FFF2-40B4-BE49-F238E27FC236}">
                <a16:creationId xmlns:a16="http://schemas.microsoft.com/office/drawing/2014/main" id="{550A0A2C-FE6D-4BB6-9E6F-004182407144}"/>
              </a:ext>
            </a:extLst>
          </p:cNvPr>
          <p:cNvSpPr/>
          <p:nvPr/>
        </p:nvSpPr>
        <p:spPr>
          <a:xfrm flipV="1">
            <a:off x="9439458" y="5244686"/>
            <a:ext cx="162612" cy="16261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0EF94BED-821B-4945-B129-BBC507BD2A06}"/>
              </a:ext>
            </a:extLst>
          </p:cNvPr>
          <p:cNvSpPr/>
          <p:nvPr/>
        </p:nvSpPr>
        <p:spPr>
          <a:xfrm flipV="1">
            <a:off x="8427683" y="5246776"/>
            <a:ext cx="162612" cy="16261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E6B5C4AF-A717-4229-885E-4247CF5C92CD}"/>
                  </a:ext>
                </a:extLst>
              </p:cNvPr>
              <p:cNvSpPr txBox="1"/>
              <p:nvPr/>
            </p:nvSpPr>
            <p:spPr>
              <a:xfrm>
                <a:off x="7903535" y="5325992"/>
                <a:ext cx="12333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fr-FR" dirty="0">
                    <a:solidFill>
                      <a:schemeClr val="accent5"/>
                    </a:solidFill>
                  </a:rPr>
                  <a:t>-carvone</a:t>
                </a:r>
                <a:endParaRPr lang="fr-FR" dirty="0"/>
              </a:p>
            </p:txBody>
          </p:sp>
        </mc:Choice>
        <mc:Fallback xmlns="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E6B5C4AF-A717-4229-885E-4247CF5C92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3535" y="5325992"/>
                <a:ext cx="1233377" cy="369332"/>
              </a:xfrm>
              <a:prstGeom prst="rect">
                <a:avLst/>
              </a:prstGeom>
              <a:blipFill>
                <a:blip r:embed="rId2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4F8974E5-9A2A-4393-9C47-340EE9139768}"/>
                  </a:ext>
                </a:extLst>
              </p:cNvPr>
              <p:cNvSpPr txBox="1"/>
              <p:nvPr/>
            </p:nvSpPr>
            <p:spPr>
              <a:xfrm>
                <a:off x="8985381" y="5317081"/>
                <a:ext cx="12333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fr-FR" dirty="0">
                    <a:solidFill>
                      <a:schemeClr val="accent1"/>
                    </a:solidFill>
                  </a:rPr>
                  <a:t>-carvone</a:t>
                </a:r>
              </a:p>
            </p:txBody>
          </p:sp>
        </mc:Choice>
        <mc:Fallback xmlns=""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4F8974E5-9A2A-4393-9C47-340EE91397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5381" y="5317081"/>
                <a:ext cx="1233377" cy="369332"/>
              </a:xfrm>
              <a:prstGeom prst="rect">
                <a:avLst/>
              </a:prstGeom>
              <a:blipFill>
                <a:blip r:embed="rId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8686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076056-E710-48CA-BFD7-20B3CB0C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	(+)-carvone 		  (-) carvone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5FA749F-D61B-4577-86C9-85024E14B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4</a:t>
            </a:fld>
            <a:endParaRPr lang="fr-FR"/>
          </a:p>
        </p:txBody>
      </p:sp>
      <p:pic>
        <p:nvPicPr>
          <p:cNvPr id="1026" name="Picture 2" descr="Image illustrative de lâarticle Carvone">
            <a:extLst>
              <a:ext uri="{FF2B5EF4-FFF2-40B4-BE49-F238E27FC236}">
                <a16:creationId xmlns:a16="http://schemas.microsoft.com/office/drawing/2014/main" id="{C1396826-742B-423F-B2BE-7CEF4D008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4803" y="1679713"/>
            <a:ext cx="2454763" cy="3916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illustrative de lâarticle Carvone">
            <a:extLst>
              <a:ext uri="{FF2B5EF4-FFF2-40B4-BE49-F238E27FC236}">
                <a16:creationId xmlns:a16="http://schemas.microsoft.com/office/drawing/2014/main" id="{1D090DF6-EC7E-481A-A899-B9227ED85B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253" y="1679713"/>
            <a:ext cx="2454762" cy="3916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pied de page 3">
            <a:extLst>
              <a:ext uri="{FF2B5EF4-FFF2-40B4-BE49-F238E27FC236}">
                <a16:creationId xmlns:a16="http://schemas.microsoft.com/office/drawing/2014/main" id="{B8AB1A38-5A2B-4AAE-B967-EA0E0EF0B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</a:p>
        </p:txBody>
      </p:sp>
    </p:spTree>
    <p:extLst>
      <p:ext uri="{BB962C8B-B14F-4D97-AF65-F5344CB8AC3E}">
        <p14:creationId xmlns:p14="http://schemas.microsoft.com/office/powerpoint/2010/main" val="3274524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7B5C54-3140-45FB-8729-81C59FCE8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Thréonine : deux C*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75A88EC-ED55-40C2-B884-D386EC350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5</a:t>
            </a:fld>
            <a:endParaRPr lang="fr-FR"/>
          </a:p>
        </p:txBody>
      </p:sp>
      <p:pic>
        <p:nvPicPr>
          <p:cNvPr id="2050" name="Picture 2" descr="RÃ©sultat de recherche d'images pour &quot;developed formula threonine&quot;">
            <a:extLst>
              <a:ext uri="{FF2B5EF4-FFF2-40B4-BE49-F238E27FC236}">
                <a16:creationId xmlns:a16="http://schemas.microsoft.com/office/drawing/2014/main" id="{40C646FF-3009-4D25-AC72-134319C6D7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4062" b="23168"/>
          <a:stretch/>
        </p:blipFill>
        <p:spPr bwMode="auto">
          <a:xfrm>
            <a:off x="3477867" y="2265333"/>
            <a:ext cx="5050698" cy="266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05602545-B9C0-493A-B6A5-C39006C8D30A}"/>
              </a:ext>
            </a:extLst>
          </p:cNvPr>
          <p:cNvSpPr/>
          <p:nvPr/>
        </p:nvSpPr>
        <p:spPr>
          <a:xfrm>
            <a:off x="4840357" y="3269974"/>
            <a:ext cx="447260" cy="596348"/>
          </a:xfrm>
          <a:prstGeom prst="roundRect">
            <a:avLst/>
          </a:prstGeom>
          <a:solidFill>
            <a:srgbClr val="1CADE4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6F8D2B34-6388-4C06-AA88-AD30DAC3D736}"/>
              </a:ext>
            </a:extLst>
          </p:cNvPr>
          <p:cNvSpPr/>
          <p:nvPr/>
        </p:nvSpPr>
        <p:spPr>
          <a:xfrm>
            <a:off x="6180879" y="3269974"/>
            <a:ext cx="447260" cy="596348"/>
          </a:xfrm>
          <a:prstGeom prst="roundRect">
            <a:avLst/>
          </a:prstGeom>
          <a:solidFill>
            <a:schemeClr val="accent4"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9856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444AD9-C9E9-4AA9-A492-962F900A5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Stéréoisomérie de configuration : la thréonine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9116D50-5147-45C5-9A6E-E21075DDC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6</a:t>
            </a:fld>
            <a:endParaRPr lang="fr-FR"/>
          </a:p>
        </p:txBody>
      </p:sp>
      <p:pic>
        <p:nvPicPr>
          <p:cNvPr id="1026" name="Picture 2" descr="L-Threonin - L-Threonine.svg">
            <a:extLst>
              <a:ext uri="{FF2B5EF4-FFF2-40B4-BE49-F238E27FC236}">
                <a16:creationId xmlns:a16="http://schemas.microsoft.com/office/drawing/2014/main" id="{7CFABF35-B178-449F-A92D-18691F7C6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360" y="1490868"/>
            <a:ext cx="35175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-Threonine.svg">
            <a:extLst>
              <a:ext uri="{FF2B5EF4-FFF2-40B4-BE49-F238E27FC236}">
                <a16:creationId xmlns:a16="http://schemas.microsoft.com/office/drawing/2014/main" id="{442F465D-CDF4-4283-89C6-9F351DC8FC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46"/>
          <a:stretch/>
        </p:blipFill>
        <p:spPr bwMode="auto">
          <a:xfrm>
            <a:off x="7202388" y="1313906"/>
            <a:ext cx="3776252" cy="2345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C4B1CEAC-05D4-402E-94D7-9AB6C7B23B54}"/>
              </a:ext>
            </a:extLst>
          </p:cNvPr>
          <p:cNvCxnSpPr>
            <a:cxnSpLocks/>
          </p:cNvCxnSpPr>
          <p:nvPr/>
        </p:nvCxnSpPr>
        <p:spPr>
          <a:xfrm>
            <a:off x="4989613" y="2307819"/>
            <a:ext cx="1967778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9533CAD1-E270-47CD-8668-24E6EB0FECE0}"/>
              </a:ext>
            </a:extLst>
          </p:cNvPr>
          <p:cNvSpPr txBox="1"/>
          <p:nvPr/>
        </p:nvSpPr>
        <p:spPr>
          <a:xfrm>
            <a:off x="5004549" y="2570868"/>
            <a:ext cx="19528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solidFill>
                  <a:schemeClr val="accent1">
                    <a:lumMod val="75000"/>
                  </a:schemeClr>
                </a:solidFill>
              </a:rPr>
              <a:t>Énantiomères</a:t>
            </a:r>
          </a:p>
        </p:txBody>
      </p:sp>
    </p:spTree>
    <p:extLst>
      <p:ext uri="{BB962C8B-B14F-4D97-AF65-F5344CB8AC3E}">
        <p14:creationId xmlns:p14="http://schemas.microsoft.com/office/powerpoint/2010/main" val="1694477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444AD9-C9E9-4AA9-A492-962F900A5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Stéréoisomérie de configuration : la thréonine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9116D50-5147-45C5-9A6E-E21075DDC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7</a:t>
            </a:fld>
            <a:endParaRPr lang="fr-FR"/>
          </a:p>
        </p:txBody>
      </p:sp>
      <p:pic>
        <p:nvPicPr>
          <p:cNvPr id="1026" name="Picture 2" descr="L-Threonin - L-Threonine.svg">
            <a:extLst>
              <a:ext uri="{FF2B5EF4-FFF2-40B4-BE49-F238E27FC236}">
                <a16:creationId xmlns:a16="http://schemas.microsoft.com/office/drawing/2014/main" id="{7CFABF35-B178-449F-A92D-18691F7C6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360" y="1490868"/>
            <a:ext cx="35175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-allo-Threonine.svg">
            <a:extLst>
              <a:ext uri="{FF2B5EF4-FFF2-40B4-BE49-F238E27FC236}">
                <a16:creationId xmlns:a16="http://schemas.microsoft.com/office/drawing/2014/main" id="{D4B08D1D-219E-4AAB-8C35-996BE88C0E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50"/>
          <a:stretch/>
        </p:blipFill>
        <p:spPr bwMode="auto">
          <a:xfrm>
            <a:off x="1083983" y="3692565"/>
            <a:ext cx="3776253" cy="2371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EBCF616C-830F-44D1-84A9-46AFEB2EE9A4}"/>
              </a:ext>
            </a:extLst>
          </p:cNvPr>
          <p:cNvCxnSpPr>
            <a:cxnSpLocks/>
          </p:cNvCxnSpPr>
          <p:nvPr/>
        </p:nvCxnSpPr>
        <p:spPr>
          <a:xfrm rot="16200000">
            <a:off x="1065729" y="3885435"/>
            <a:ext cx="1440000" cy="0"/>
          </a:xfrm>
          <a:prstGeom prst="straightConnector1">
            <a:avLst/>
          </a:prstGeom>
          <a:ln w="38100">
            <a:solidFill>
              <a:srgbClr val="FFC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B6E45467-A243-4918-953C-E43551AF6847}"/>
              </a:ext>
            </a:extLst>
          </p:cNvPr>
          <p:cNvSpPr txBox="1"/>
          <p:nvPr/>
        </p:nvSpPr>
        <p:spPr>
          <a:xfrm>
            <a:off x="4279291" y="3440884"/>
            <a:ext cx="25653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solidFill>
                  <a:srgbClr val="FFC000"/>
                </a:solidFill>
              </a:rPr>
              <a:t>Diastéréoisomères</a:t>
            </a:r>
          </a:p>
        </p:txBody>
      </p:sp>
    </p:spTree>
    <p:extLst>
      <p:ext uri="{BB962C8B-B14F-4D97-AF65-F5344CB8AC3E}">
        <p14:creationId xmlns:p14="http://schemas.microsoft.com/office/powerpoint/2010/main" val="952748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444AD9-C9E9-4AA9-A492-962F900A5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Stéréoisomérie de configuration : la thréonine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9116D50-5147-45C5-9A6E-E21075DDC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8</a:t>
            </a:fld>
            <a:endParaRPr lang="fr-FR"/>
          </a:p>
        </p:txBody>
      </p:sp>
      <p:pic>
        <p:nvPicPr>
          <p:cNvPr id="1026" name="Picture 2" descr="L-Threonin - L-Threonine.svg">
            <a:extLst>
              <a:ext uri="{FF2B5EF4-FFF2-40B4-BE49-F238E27FC236}">
                <a16:creationId xmlns:a16="http://schemas.microsoft.com/office/drawing/2014/main" id="{7CFABF35-B178-449F-A92D-18691F7C6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360" y="1490868"/>
            <a:ext cx="35175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-Threonine.svg">
            <a:extLst>
              <a:ext uri="{FF2B5EF4-FFF2-40B4-BE49-F238E27FC236}">
                <a16:creationId xmlns:a16="http://schemas.microsoft.com/office/drawing/2014/main" id="{442F465D-CDF4-4283-89C6-9F351DC8FC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46"/>
          <a:stretch/>
        </p:blipFill>
        <p:spPr bwMode="auto">
          <a:xfrm>
            <a:off x="7202388" y="1313906"/>
            <a:ext cx="3776252" cy="2345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-allo-Threonine.svg">
            <a:extLst>
              <a:ext uri="{FF2B5EF4-FFF2-40B4-BE49-F238E27FC236}">
                <a16:creationId xmlns:a16="http://schemas.microsoft.com/office/drawing/2014/main" id="{D4B08D1D-219E-4AAB-8C35-996BE88C0E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50"/>
          <a:stretch/>
        </p:blipFill>
        <p:spPr bwMode="auto">
          <a:xfrm>
            <a:off x="1083983" y="3692565"/>
            <a:ext cx="3776253" cy="2371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-allo-Threonine.svg">
            <a:extLst>
              <a:ext uri="{FF2B5EF4-FFF2-40B4-BE49-F238E27FC236}">
                <a16:creationId xmlns:a16="http://schemas.microsoft.com/office/drawing/2014/main" id="{BFAB572D-644C-4D75-BBB1-02736E0867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07"/>
          <a:stretch/>
        </p:blipFill>
        <p:spPr bwMode="auto">
          <a:xfrm>
            <a:off x="7183919" y="3650868"/>
            <a:ext cx="3794721" cy="2345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EBCF616C-830F-44D1-84A9-46AFEB2EE9A4}"/>
              </a:ext>
            </a:extLst>
          </p:cNvPr>
          <p:cNvCxnSpPr>
            <a:cxnSpLocks/>
          </p:cNvCxnSpPr>
          <p:nvPr/>
        </p:nvCxnSpPr>
        <p:spPr>
          <a:xfrm rot="16200000">
            <a:off x="1065729" y="3885435"/>
            <a:ext cx="1440000" cy="0"/>
          </a:xfrm>
          <a:prstGeom prst="straightConnector1">
            <a:avLst/>
          </a:prstGeom>
          <a:ln w="38100">
            <a:solidFill>
              <a:srgbClr val="FFC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7B7FCA17-E3DF-418F-909B-F446B82AAA9D}"/>
              </a:ext>
            </a:extLst>
          </p:cNvPr>
          <p:cNvCxnSpPr>
            <a:cxnSpLocks/>
          </p:cNvCxnSpPr>
          <p:nvPr/>
        </p:nvCxnSpPr>
        <p:spPr>
          <a:xfrm rot="16200000">
            <a:off x="9686270" y="3811572"/>
            <a:ext cx="1440000" cy="0"/>
          </a:xfrm>
          <a:prstGeom prst="straightConnector1">
            <a:avLst/>
          </a:prstGeom>
          <a:ln w="38100">
            <a:solidFill>
              <a:srgbClr val="FFC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34A35AE0-8538-46D0-BEF3-39F9CCF9E727}"/>
              </a:ext>
            </a:extLst>
          </p:cNvPr>
          <p:cNvCxnSpPr>
            <a:cxnSpLocks/>
          </p:cNvCxnSpPr>
          <p:nvPr/>
        </p:nvCxnSpPr>
        <p:spPr>
          <a:xfrm flipH="1" flipV="1">
            <a:off x="4399182" y="3105387"/>
            <a:ext cx="3319668" cy="1440000"/>
          </a:xfrm>
          <a:prstGeom prst="straightConnector1">
            <a:avLst/>
          </a:prstGeom>
          <a:ln w="38100">
            <a:solidFill>
              <a:srgbClr val="FFC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69BAB473-E5E1-43D2-A27F-300DE9C2C2D9}"/>
              </a:ext>
            </a:extLst>
          </p:cNvPr>
          <p:cNvCxnSpPr>
            <a:cxnSpLocks/>
          </p:cNvCxnSpPr>
          <p:nvPr/>
        </p:nvCxnSpPr>
        <p:spPr>
          <a:xfrm flipV="1">
            <a:off x="4380713" y="3091572"/>
            <a:ext cx="3319668" cy="1440000"/>
          </a:xfrm>
          <a:prstGeom prst="straightConnector1">
            <a:avLst/>
          </a:prstGeom>
          <a:ln w="38100">
            <a:solidFill>
              <a:srgbClr val="FFC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B6E45467-A243-4918-953C-E43551AF6847}"/>
              </a:ext>
            </a:extLst>
          </p:cNvPr>
          <p:cNvSpPr txBox="1"/>
          <p:nvPr/>
        </p:nvSpPr>
        <p:spPr>
          <a:xfrm>
            <a:off x="845377" y="3575867"/>
            <a:ext cx="9153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>
                <a:solidFill>
                  <a:srgbClr val="FFC000"/>
                </a:solidFill>
              </a:rPr>
              <a:t>Diast</a:t>
            </a:r>
            <a:r>
              <a:rPr lang="fr-FR" sz="2400" b="1" dirty="0">
                <a:solidFill>
                  <a:srgbClr val="FFC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8295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444AD9-C9E9-4AA9-A492-962F900A5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Stéréoisomérie de configuration : la thréonine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9116D50-5147-45C5-9A6E-E21075DDC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9</a:t>
            </a:fld>
            <a:endParaRPr lang="fr-FR"/>
          </a:p>
        </p:txBody>
      </p:sp>
      <p:pic>
        <p:nvPicPr>
          <p:cNvPr id="1026" name="Picture 2" descr="L-Threonin - L-Threonine.svg">
            <a:extLst>
              <a:ext uri="{FF2B5EF4-FFF2-40B4-BE49-F238E27FC236}">
                <a16:creationId xmlns:a16="http://schemas.microsoft.com/office/drawing/2014/main" id="{7CFABF35-B178-449F-A92D-18691F7C6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360" y="1490868"/>
            <a:ext cx="3517500" cy="21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-Threonine.svg">
            <a:extLst>
              <a:ext uri="{FF2B5EF4-FFF2-40B4-BE49-F238E27FC236}">
                <a16:creationId xmlns:a16="http://schemas.microsoft.com/office/drawing/2014/main" id="{442F465D-CDF4-4283-89C6-9F351DC8FC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46"/>
          <a:stretch/>
        </p:blipFill>
        <p:spPr bwMode="auto">
          <a:xfrm>
            <a:off x="7202388" y="1313906"/>
            <a:ext cx="3776252" cy="2345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-allo-Threonine.svg">
            <a:extLst>
              <a:ext uri="{FF2B5EF4-FFF2-40B4-BE49-F238E27FC236}">
                <a16:creationId xmlns:a16="http://schemas.microsoft.com/office/drawing/2014/main" id="{D4B08D1D-219E-4AAB-8C35-996BE88C0E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50"/>
          <a:stretch/>
        </p:blipFill>
        <p:spPr bwMode="auto">
          <a:xfrm>
            <a:off x="1083983" y="3692565"/>
            <a:ext cx="3776253" cy="2371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-allo-Threonine.svg">
            <a:extLst>
              <a:ext uri="{FF2B5EF4-FFF2-40B4-BE49-F238E27FC236}">
                <a16:creationId xmlns:a16="http://schemas.microsoft.com/office/drawing/2014/main" id="{BFAB572D-644C-4D75-BBB1-02736E0867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07"/>
          <a:stretch/>
        </p:blipFill>
        <p:spPr bwMode="auto">
          <a:xfrm>
            <a:off x="7183919" y="3650868"/>
            <a:ext cx="3794721" cy="2345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C4B1CEAC-05D4-402E-94D7-9AB6C7B23B54}"/>
              </a:ext>
            </a:extLst>
          </p:cNvPr>
          <p:cNvCxnSpPr>
            <a:cxnSpLocks/>
          </p:cNvCxnSpPr>
          <p:nvPr/>
        </p:nvCxnSpPr>
        <p:spPr>
          <a:xfrm>
            <a:off x="4989613" y="2307819"/>
            <a:ext cx="1967778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1218AD0D-E4DB-41F0-8420-F96231E76751}"/>
              </a:ext>
            </a:extLst>
          </p:cNvPr>
          <p:cNvCxnSpPr>
            <a:cxnSpLocks/>
          </p:cNvCxnSpPr>
          <p:nvPr/>
        </p:nvCxnSpPr>
        <p:spPr>
          <a:xfrm>
            <a:off x="4989613" y="4893543"/>
            <a:ext cx="1967778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9533CAD1-E270-47CD-8668-24E6EB0FECE0}"/>
              </a:ext>
            </a:extLst>
          </p:cNvPr>
          <p:cNvSpPr txBox="1"/>
          <p:nvPr/>
        </p:nvSpPr>
        <p:spPr>
          <a:xfrm>
            <a:off x="5464563" y="1737620"/>
            <a:ext cx="10041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>
                <a:solidFill>
                  <a:schemeClr val="accent1">
                    <a:lumMod val="75000"/>
                  </a:schemeClr>
                </a:solidFill>
              </a:rPr>
              <a:t>Énant</a:t>
            </a:r>
            <a:r>
              <a:rPr lang="fr-FR" sz="2400" b="1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EBCF616C-830F-44D1-84A9-46AFEB2EE9A4}"/>
              </a:ext>
            </a:extLst>
          </p:cNvPr>
          <p:cNvCxnSpPr>
            <a:cxnSpLocks/>
          </p:cNvCxnSpPr>
          <p:nvPr/>
        </p:nvCxnSpPr>
        <p:spPr>
          <a:xfrm rot="16200000">
            <a:off x="1065729" y="3885435"/>
            <a:ext cx="1440000" cy="0"/>
          </a:xfrm>
          <a:prstGeom prst="straightConnector1">
            <a:avLst/>
          </a:prstGeom>
          <a:ln w="38100">
            <a:solidFill>
              <a:srgbClr val="FFC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7B7FCA17-E3DF-418F-909B-F446B82AAA9D}"/>
              </a:ext>
            </a:extLst>
          </p:cNvPr>
          <p:cNvCxnSpPr>
            <a:cxnSpLocks/>
          </p:cNvCxnSpPr>
          <p:nvPr/>
        </p:nvCxnSpPr>
        <p:spPr>
          <a:xfrm rot="16200000">
            <a:off x="9686270" y="3811572"/>
            <a:ext cx="1440000" cy="0"/>
          </a:xfrm>
          <a:prstGeom prst="straightConnector1">
            <a:avLst/>
          </a:prstGeom>
          <a:ln w="38100">
            <a:solidFill>
              <a:srgbClr val="FFC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34A35AE0-8538-46D0-BEF3-39F9CCF9E727}"/>
              </a:ext>
            </a:extLst>
          </p:cNvPr>
          <p:cNvCxnSpPr>
            <a:cxnSpLocks/>
          </p:cNvCxnSpPr>
          <p:nvPr/>
        </p:nvCxnSpPr>
        <p:spPr>
          <a:xfrm flipH="1" flipV="1">
            <a:off x="4399182" y="3105387"/>
            <a:ext cx="3319668" cy="1440000"/>
          </a:xfrm>
          <a:prstGeom prst="straightConnector1">
            <a:avLst/>
          </a:prstGeom>
          <a:ln w="38100">
            <a:solidFill>
              <a:srgbClr val="FFC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69BAB473-E5E1-43D2-A27F-300DE9C2C2D9}"/>
              </a:ext>
            </a:extLst>
          </p:cNvPr>
          <p:cNvCxnSpPr>
            <a:cxnSpLocks/>
          </p:cNvCxnSpPr>
          <p:nvPr/>
        </p:nvCxnSpPr>
        <p:spPr>
          <a:xfrm flipV="1">
            <a:off x="4380713" y="3091572"/>
            <a:ext cx="3319668" cy="1440000"/>
          </a:xfrm>
          <a:prstGeom prst="straightConnector1">
            <a:avLst/>
          </a:prstGeom>
          <a:ln w="38100">
            <a:solidFill>
              <a:srgbClr val="FFC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B6E45467-A243-4918-953C-E43551AF6847}"/>
              </a:ext>
            </a:extLst>
          </p:cNvPr>
          <p:cNvSpPr txBox="1"/>
          <p:nvPr/>
        </p:nvSpPr>
        <p:spPr>
          <a:xfrm>
            <a:off x="845377" y="3575867"/>
            <a:ext cx="9153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>
                <a:solidFill>
                  <a:srgbClr val="FFC000"/>
                </a:solidFill>
              </a:rPr>
              <a:t>Diast</a:t>
            </a:r>
            <a:r>
              <a:rPr lang="fr-FR" sz="2400" b="1" dirty="0">
                <a:solidFill>
                  <a:srgbClr val="FFC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14527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2AD3C6-F985-4799-9A84-AEA244792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Acide maléique et acide fumarique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B4967F8-1B50-4B6A-A580-4AC05C18E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9C5B7D2-D8F2-444A-9E74-E554F604A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10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0BF4EF9-1902-4A7B-B859-5AE5D70155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5568" y="2071761"/>
            <a:ext cx="3603334" cy="2053900"/>
          </a:xfrm>
          <a:prstGeom prst="rect">
            <a:avLst/>
          </a:prstGeom>
        </p:spPr>
      </p:pic>
      <p:pic>
        <p:nvPicPr>
          <p:cNvPr id="13" name="Espace réservé du contenu 12">
            <a:extLst>
              <a:ext uri="{FF2B5EF4-FFF2-40B4-BE49-F238E27FC236}">
                <a16:creationId xmlns:a16="http://schemas.microsoft.com/office/drawing/2014/main" id="{019E807C-BDDE-4D24-9469-822AB213CB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063" y="2301635"/>
            <a:ext cx="3324891" cy="1724787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63A6124A-A908-4E67-A457-BEDC5B6B2953}"/>
                  </a:ext>
                </a:extLst>
              </p:cNvPr>
              <p:cNvSpPr txBox="1"/>
              <p:nvPr/>
            </p:nvSpPr>
            <p:spPr>
              <a:xfrm>
                <a:off x="2183219" y="4430233"/>
                <a:ext cx="3196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fus</m:t>
                          </m:r>
                        </m:sub>
                      </m:sSub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=131 </m:t>
                      </m:r>
                      <m:r>
                        <a:rPr lang="fr-FR" sz="2800" b="0" i="0" smtClean="0">
                          <a:latin typeface="Cambria Math" panose="02040503050406030204" pitchFamily="18" charset="0"/>
                        </a:rPr>
                        <m:t>°</m:t>
                      </m:r>
                      <m:r>
                        <m:rPr>
                          <m:sty m:val="p"/>
                        </m:rPr>
                        <a:rPr lang="fr-FR" sz="2800" b="0" i="0" smtClean="0">
                          <a:latin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lang="fr-FR" sz="2800" dirty="0"/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63A6124A-A908-4E67-A457-BEDC5B6B2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219" y="4430233"/>
                <a:ext cx="319685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D9075D08-BC9A-4D80-AD4C-F337EFF75AF7}"/>
                  </a:ext>
                </a:extLst>
              </p:cNvPr>
              <p:cNvSpPr txBox="1"/>
              <p:nvPr/>
            </p:nvSpPr>
            <p:spPr>
              <a:xfrm>
                <a:off x="6811928" y="4430233"/>
                <a:ext cx="3196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fus</m:t>
                          </m:r>
                        </m:sub>
                      </m:sSub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=287 </m:t>
                      </m:r>
                      <m:r>
                        <a:rPr lang="fr-FR" sz="2800" b="0" i="0" smtClean="0">
                          <a:latin typeface="Cambria Math" panose="02040503050406030204" pitchFamily="18" charset="0"/>
                        </a:rPr>
                        <m:t>°</m:t>
                      </m:r>
                      <m:r>
                        <m:rPr>
                          <m:sty m:val="p"/>
                        </m:rPr>
                        <a:rPr lang="fr-FR" sz="2800" b="0" i="0" smtClean="0">
                          <a:latin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lang="fr-FR" sz="2800" dirty="0"/>
              </a:p>
            </p:txBody>
          </p:sp>
        </mc:Choice>
        <mc:Fallback xmlns="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D9075D08-BC9A-4D80-AD4C-F337EFF75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1928" y="4430233"/>
                <a:ext cx="319685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570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CF208B-5482-42DD-9092-EE790001E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Hydrolyse de l’amidon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75196BD-EA0B-4BCB-BA2E-44E63EE96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4FF5B96-76B6-426C-86D8-7DEF56E31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11</a:t>
            </a:fld>
            <a:endParaRPr lang="fr-FR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4CF8E37F-520D-4A6D-8128-5785C8A9B124}"/>
              </a:ext>
            </a:extLst>
          </p:cNvPr>
          <p:cNvGrpSpPr/>
          <p:nvPr/>
        </p:nvGrpSpPr>
        <p:grpSpPr>
          <a:xfrm>
            <a:off x="7200068" y="2660879"/>
            <a:ext cx="3010732" cy="3710998"/>
            <a:chOff x="4611387" y="3019007"/>
            <a:chExt cx="3010732" cy="3710998"/>
          </a:xfrm>
        </p:grpSpPr>
        <p:pic>
          <p:nvPicPr>
            <p:cNvPr id="25" name="Image 24">
              <a:extLst>
                <a:ext uri="{FF2B5EF4-FFF2-40B4-BE49-F238E27FC236}">
                  <a16:creationId xmlns:a16="http://schemas.microsoft.com/office/drawing/2014/main" id="{808DE6C1-7F88-4A44-825B-FD9F6D3F32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608"/>
            <a:stretch/>
          </p:blipFill>
          <p:spPr>
            <a:xfrm>
              <a:off x="4611387" y="3019007"/>
              <a:ext cx="3010732" cy="290209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ZoneTexte 4">
                  <a:extLst>
                    <a:ext uri="{FF2B5EF4-FFF2-40B4-BE49-F238E27FC236}">
                      <a16:creationId xmlns:a16="http://schemas.microsoft.com/office/drawing/2014/main" id="{EBD7037F-910E-44EB-940E-72DFA36739CF}"/>
                    </a:ext>
                  </a:extLst>
                </p:cNvPr>
                <p:cNvSpPr txBox="1"/>
                <p:nvPr/>
              </p:nvSpPr>
              <p:spPr>
                <a:xfrm>
                  <a:off x="5059892" y="6206785"/>
                  <a:ext cx="2113722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fr-F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  <m:r>
                          <a:rPr lang="fr-FR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=95 °</m:t>
                        </m:r>
                        <m:r>
                          <a:rPr lang="fr-FR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oMath>
                    </m:oMathPara>
                  </a14:m>
                  <a:endParaRPr lang="fr-FR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ZoneTexte 4">
                  <a:extLst>
                    <a:ext uri="{FF2B5EF4-FFF2-40B4-BE49-F238E27FC236}">
                      <a16:creationId xmlns:a16="http://schemas.microsoft.com/office/drawing/2014/main" id="{EBD7037F-910E-44EB-940E-72DFA36739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9892" y="6206785"/>
                  <a:ext cx="2113722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e 6">
            <a:extLst>
              <a:ext uri="{FF2B5EF4-FFF2-40B4-BE49-F238E27FC236}">
                <a16:creationId xmlns:a16="http://schemas.microsoft.com/office/drawing/2014/main" id="{8DB01B03-2441-40AE-A0CA-E30BBF1255D6}"/>
              </a:ext>
            </a:extLst>
          </p:cNvPr>
          <p:cNvGrpSpPr/>
          <p:nvPr/>
        </p:nvGrpSpPr>
        <p:grpSpPr>
          <a:xfrm>
            <a:off x="1981200" y="2669364"/>
            <a:ext cx="3010732" cy="3710998"/>
            <a:chOff x="8373810" y="3019007"/>
            <a:chExt cx="3010732" cy="3710998"/>
          </a:xfrm>
        </p:grpSpPr>
        <p:pic>
          <p:nvPicPr>
            <p:cNvPr id="23" name="Image 22">
              <a:extLst>
                <a:ext uri="{FF2B5EF4-FFF2-40B4-BE49-F238E27FC236}">
                  <a16:creationId xmlns:a16="http://schemas.microsoft.com/office/drawing/2014/main" id="{A1E76A74-80F0-42B5-A27F-32DD827865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608"/>
            <a:stretch/>
          </p:blipFill>
          <p:spPr>
            <a:xfrm>
              <a:off x="8373810" y="3019007"/>
              <a:ext cx="3010732" cy="290209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ZoneTexte 7">
                  <a:extLst>
                    <a:ext uri="{FF2B5EF4-FFF2-40B4-BE49-F238E27FC236}">
                      <a16:creationId xmlns:a16="http://schemas.microsoft.com/office/drawing/2014/main" id="{0C5C9C33-3C6E-47D2-8DA4-35C321D48161}"/>
                    </a:ext>
                  </a:extLst>
                </p:cNvPr>
                <p:cNvSpPr txBox="1"/>
                <p:nvPr/>
              </p:nvSpPr>
              <p:spPr>
                <a:xfrm>
                  <a:off x="8995628" y="6206785"/>
                  <a:ext cx="1935242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fr-F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  <m:r>
                          <a:rPr lang="fr-FR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=0 °</m:t>
                        </m:r>
                        <m:r>
                          <a:rPr lang="fr-FR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oMath>
                    </m:oMathPara>
                  </a14:m>
                  <a:endParaRPr lang="fr-FR" sz="2800" dirty="0"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" name="ZoneTexte 7">
                  <a:extLst>
                    <a:ext uri="{FF2B5EF4-FFF2-40B4-BE49-F238E27FC236}">
                      <a16:creationId xmlns:a16="http://schemas.microsoft.com/office/drawing/2014/main" id="{0C5C9C33-3C6E-47D2-8DA4-35C321D481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5628" y="6206785"/>
                  <a:ext cx="1935242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e 7">
            <a:extLst>
              <a:ext uri="{FF2B5EF4-FFF2-40B4-BE49-F238E27FC236}">
                <a16:creationId xmlns:a16="http://schemas.microsoft.com/office/drawing/2014/main" id="{120639F5-37CC-4FBE-AE9F-DD46489E1C5D}"/>
              </a:ext>
            </a:extLst>
          </p:cNvPr>
          <p:cNvGrpSpPr/>
          <p:nvPr/>
        </p:nvGrpSpPr>
        <p:grpSpPr>
          <a:xfrm>
            <a:off x="4590634" y="2660879"/>
            <a:ext cx="3010732" cy="3709545"/>
            <a:chOff x="848964" y="3019007"/>
            <a:chExt cx="3010732" cy="3709545"/>
          </a:xfrm>
        </p:grpSpPr>
        <p:pic>
          <p:nvPicPr>
            <p:cNvPr id="19" name="Image 18">
              <a:extLst>
                <a:ext uri="{FF2B5EF4-FFF2-40B4-BE49-F238E27FC236}">
                  <a16:creationId xmlns:a16="http://schemas.microsoft.com/office/drawing/2014/main" id="{1411C96B-6EF2-4BF5-AAD0-A63B8DAB4F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608"/>
            <a:stretch/>
          </p:blipFill>
          <p:spPr>
            <a:xfrm>
              <a:off x="848964" y="3019007"/>
              <a:ext cx="3010732" cy="290209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ZoneTexte 10">
                  <a:extLst>
                    <a:ext uri="{FF2B5EF4-FFF2-40B4-BE49-F238E27FC236}">
                      <a16:creationId xmlns:a16="http://schemas.microsoft.com/office/drawing/2014/main" id="{55E65C4A-C27D-469F-8692-830552E53DCC}"/>
                    </a:ext>
                  </a:extLst>
                </p:cNvPr>
                <p:cNvSpPr txBox="1"/>
                <p:nvPr/>
              </p:nvSpPr>
              <p:spPr>
                <a:xfrm>
                  <a:off x="1450726" y="6215270"/>
                  <a:ext cx="1802040" cy="513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fr-F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  <m:r>
                          <a:rPr lang="fr-FR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=37</m:t>
                        </m:r>
                        <m:r>
                          <a:rPr lang="fr-FR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°</m:t>
                        </m:r>
                        <m:r>
                          <a:rPr lang="fr-FR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oMath>
                    </m:oMathPara>
                  </a14:m>
                  <a:endParaRPr lang="fr-FR" sz="28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" name="ZoneTexte 10">
                  <a:extLst>
                    <a:ext uri="{FF2B5EF4-FFF2-40B4-BE49-F238E27FC236}">
                      <a16:creationId xmlns:a16="http://schemas.microsoft.com/office/drawing/2014/main" id="{55E65C4A-C27D-469F-8692-830552E53D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0726" y="6215270"/>
                  <a:ext cx="1802040" cy="51328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75AB8FC-43FD-4E2F-BD7B-5F066D74C328}"/>
                </a:ext>
              </a:extLst>
            </p:cNvPr>
            <p:cNvSpPr/>
            <p:nvPr/>
          </p:nvSpPr>
          <p:spPr>
            <a:xfrm>
              <a:off x="2166604" y="5113422"/>
              <a:ext cx="384397" cy="55621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DD76E67E-2851-417F-A5D5-2B402C190941}"/>
                </a:ext>
              </a:extLst>
            </p:cNvPr>
            <p:cNvSpPr/>
            <p:nvPr/>
          </p:nvSpPr>
          <p:spPr>
            <a:xfrm>
              <a:off x="2166604" y="5503259"/>
              <a:ext cx="384397" cy="350678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fr-F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2A60682-E06B-4CFB-A889-15ECE12E7860}"/>
              </a:ext>
            </a:extLst>
          </p:cNvPr>
          <p:cNvSpPr/>
          <p:nvPr/>
        </p:nvSpPr>
        <p:spPr>
          <a:xfrm>
            <a:off x="3296771" y="4765036"/>
            <a:ext cx="377248" cy="55621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17D9ADFB-E616-4BA4-BD24-0D63C909C2D7}"/>
              </a:ext>
            </a:extLst>
          </p:cNvPr>
          <p:cNvSpPr/>
          <p:nvPr/>
        </p:nvSpPr>
        <p:spPr>
          <a:xfrm>
            <a:off x="3296771" y="5120368"/>
            <a:ext cx="377248" cy="377982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E6455E-AC47-4C7B-8F05-E55C6FCC28AE}"/>
              </a:ext>
            </a:extLst>
          </p:cNvPr>
          <p:cNvSpPr/>
          <p:nvPr/>
        </p:nvSpPr>
        <p:spPr>
          <a:xfrm>
            <a:off x="8520515" y="4765036"/>
            <a:ext cx="369837" cy="55621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EE099E98-8F33-4261-8355-F42E14D672D8}"/>
              </a:ext>
            </a:extLst>
          </p:cNvPr>
          <p:cNvSpPr/>
          <p:nvPr/>
        </p:nvSpPr>
        <p:spPr>
          <a:xfrm>
            <a:off x="8520515" y="5158170"/>
            <a:ext cx="369837" cy="326155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FE2F6EFE-0E85-46FD-B1A8-B812D406B66B}"/>
                  </a:ext>
                </a:extLst>
              </p:cNvPr>
              <p:cNvSpPr txBox="1"/>
              <p:nvPr/>
            </p:nvSpPr>
            <p:spPr>
              <a:xfrm>
                <a:off x="2296633" y="1502735"/>
                <a:ext cx="746566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0" i="0" smtClean="0">
                          <a:latin typeface="Cambria Math" panose="02040503050406030204" pitchFamily="18" charset="0"/>
                        </a:rPr>
                        <m:t>2 </m:t>
                      </m:r>
                      <m:sSub>
                        <m:sSub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2800" b="0" i="0" smtClean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fr-FR" sz="2800" b="0" i="0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2800" b="0" i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fr-FR" sz="2800" b="0" i="0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2800" b="0" i="0" smtClean="0">
                                      <a:latin typeface="Cambria Math" panose="02040503050406030204" pitchFamily="18" charset="0"/>
                                    </a:rPr>
                                    <m:t>O</m:t>
                                  </m:r>
                                </m:e>
                                <m:sub>
                                  <m:r>
                                    <a:rPr lang="fr-FR" sz="2800" b="0" i="0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fr-FR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fr-FR" sz="2800" b="0" i="0" smtClean="0">
                          <a:latin typeface="Cambria Math" panose="02040503050406030204" pitchFamily="18" charset="0"/>
                        </a:rPr>
                        <m:t>n</m:t>
                      </m:r>
                      <m:sSub>
                        <m:sSub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fr-FR" sz="2800" b="0" i="0" smtClean="0">
                          <a:latin typeface="Cambria Math" panose="02040503050406030204" pitchFamily="18" charset="0"/>
                        </a:rPr>
                        <m:t>O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                  </m:t>
                          </m:r>
                        </m:e>
                      </m:groupChr>
                      <m:r>
                        <m:rPr>
                          <m:sty m:val="p"/>
                        </m:rPr>
                        <a:rPr lang="fr-FR" sz="2800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fr-FR" sz="2800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fr-FR" sz="2800" dirty="0"/>
              </a:p>
            </p:txBody>
          </p:sp>
        </mc:Choice>
        <mc:Fallback xmlns=""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FE2F6EFE-0E85-46FD-B1A8-B812D406B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6633" y="1502735"/>
                <a:ext cx="7465662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ZoneTexte 27">
            <a:extLst>
              <a:ext uri="{FF2B5EF4-FFF2-40B4-BE49-F238E27FC236}">
                <a16:creationId xmlns:a16="http://schemas.microsoft.com/office/drawing/2014/main" id="{7AA620B7-80FA-47BC-9214-F348849BE8D3}"/>
              </a:ext>
            </a:extLst>
          </p:cNvPr>
          <p:cNvSpPr txBox="1"/>
          <p:nvPr/>
        </p:nvSpPr>
        <p:spPr>
          <a:xfrm>
            <a:off x="3485395" y="2025955"/>
            <a:ext cx="942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1"/>
                </a:solidFill>
              </a:rPr>
              <a:t>amidon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E68DB0F-8B42-466E-A83B-AE636729E7B7}"/>
              </a:ext>
            </a:extLst>
          </p:cNvPr>
          <p:cNvSpPr txBox="1"/>
          <p:nvPr/>
        </p:nvSpPr>
        <p:spPr>
          <a:xfrm>
            <a:off x="7947599" y="2023316"/>
            <a:ext cx="942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1"/>
                </a:solidFill>
              </a:rPr>
              <a:t>maltose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6E04AD46-48AF-4748-9385-02852CB1814C}"/>
              </a:ext>
            </a:extLst>
          </p:cNvPr>
          <p:cNvSpPr txBox="1"/>
          <p:nvPr/>
        </p:nvSpPr>
        <p:spPr>
          <a:xfrm>
            <a:off x="326065" y="4858476"/>
            <a:ext cx="2622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Test à l’eau iodée :</a:t>
            </a:r>
          </a:p>
        </p:txBody>
      </p:sp>
    </p:spTree>
    <p:extLst>
      <p:ext uri="{BB962C8B-B14F-4D97-AF65-F5344CB8AC3E}">
        <p14:creationId xmlns:p14="http://schemas.microsoft.com/office/powerpoint/2010/main" val="3033766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2C32D015-A5E3-410D-9D9D-95B6E4C6C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1B48201-22D5-4432-8AFC-7AB01F353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12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9840595-917E-4023-9CBD-C20D318832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6522" y="0"/>
            <a:ext cx="3593783" cy="6265545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5E76F2E6-7E66-4700-98B7-629AD5F45B2B}"/>
              </a:ext>
            </a:extLst>
          </p:cNvPr>
          <p:cNvSpPr txBox="1">
            <a:spLocks/>
          </p:cNvSpPr>
          <p:nvPr/>
        </p:nvSpPr>
        <p:spPr>
          <a:xfrm>
            <a:off x="849186" y="1796427"/>
            <a:ext cx="4516711" cy="10172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Structure des protéines</a:t>
            </a:r>
          </a:p>
        </p:txBody>
      </p:sp>
    </p:spTree>
    <p:extLst>
      <p:ext uri="{BB962C8B-B14F-4D97-AF65-F5344CB8AC3E}">
        <p14:creationId xmlns:p14="http://schemas.microsoft.com/office/powerpoint/2010/main" val="1495713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EA54A7-8962-4AAE-A1EF-211C23857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Maladie de la « vache folle »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C73E87F7-FE2B-462C-82CA-4BB86AA680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9169" b="1273"/>
          <a:stretch/>
        </p:blipFill>
        <p:spPr>
          <a:xfrm>
            <a:off x="1743504" y="1474385"/>
            <a:ext cx="3885362" cy="3976578"/>
          </a:xfrm>
          <a:prstGeom prst="rect">
            <a:avLst/>
          </a:prstGeo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B9124F8-0EB8-404D-A234-E4A7299B8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F958E88-3FEC-444C-914B-05B1A3DD1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13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DD9F8E5-EC08-4043-A95E-7505091900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153" b="3806"/>
          <a:stretch/>
        </p:blipFill>
        <p:spPr>
          <a:xfrm>
            <a:off x="6094478" y="1474385"/>
            <a:ext cx="4829021" cy="4217581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0F90D3A4-7210-4BC4-A128-EA39B4603691}"/>
              </a:ext>
            </a:extLst>
          </p:cNvPr>
          <p:cNvSpPr txBox="1"/>
          <p:nvPr/>
        </p:nvSpPr>
        <p:spPr>
          <a:xfrm>
            <a:off x="2290646" y="5571459"/>
            <a:ext cx="27786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Conformation « repliée » : cerveau sain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C857E9C-3B9B-48E7-B183-E369666CAB81}"/>
              </a:ext>
            </a:extLst>
          </p:cNvPr>
          <p:cNvSpPr txBox="1"/>
          <p:nvPr/>
        </p:nvSpPr>
        <p:spPr>
          <a:xfrm>
            <a:off x="7162198" y="5571459"/>
            <a:ext cx="27786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Conformation « allongée » : cerveau malade</a:t>
            </a:r>
          </a:p>
        </p:txBody>
      </p:sp>
    </p:spTree>
    <p:extLst>
      <p:ext uri="{BB962C8B-B14F-4D97-AF65-F5344CB8AC3E}">
        <p14:creationId xmlns:p14="http://schemas.microsoft.com/office/powerpoint/2010/main" val="694734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667CB66-4E7D-4924-83E3-FD851B0B3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14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6DCE9AC-6698-4241-B5B8-9A2588B3342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15382" r="47582" b="2754"/>
          <a:stretch/>
        </p:blipFill>
        <p:spPr>
          <a:xfrm rot="16200000">
            <a:off x="3230216" y="-1432931"/>
            <a:ext cx="6147353" cy="9079396"/>
          </a:xfrm>
          <a:prstGeom prst="rect">
            <a:avLst/>
          </a:prstGeom>
        </p:spPr>
      </p:pic>
      <p:sp>
        <p:nvSpPr>
          <p:cNvPr id="5" name="Titre 2">
            <a:extLst>
              <a:ext uri="{FF2B5EF4-FFF2-40B4-BE49-F238E27FC236}">
                <a16:creationId xmlns:a16="http://schemas.microsoft.com/office/drawing/2014/main" id="{2C2D544A-041B-430D-9A03-FF8C4860E889}"/>
              </a:ext>
            </a:extLst>
          </p:cNvPr>
          <p:cNvSpPr txBox="1">
            <a:spLocks/>
          </p:cNvSpPr>
          <p:nvPr/>
        </p:nvSpPr>
        <p:spPr>
          <a:xfrm>
            <a:off x="101050" y="4620065"/>
            <a:ext cx="5077237" cy="91293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Relations d’isomérie</a:t>
            </a:r>
          </a:p>
        </p:txBody>
      </p:sp>
    </p:spTree>
    <p:extLst>
      <p:ext uri="{BB962C8B-B14F-4D97-AF65-F5344CB8AC3E}">
        <p14:creationId xmlns:p14="http://schemas.microsoft.com/office/powerpoint/2010/main" val="733679340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Rétrospectiv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304</TotalTime>
  <Words>169</Words>
  <Application>Microsoft Office PowerPoint</Application>
  <PresentationFormat>Grand écran</PresentationFormat>
  <Paragraphs>68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Times New Roman</vt:lpstr>
      <vt:lpstr>Rétrospective</vt:lpstr>
      <vt:lpstr>Stéréochimie et molécules du vivant</vt:lpstr>
      <vt:lpstr>Acides aminés</vt:lpstr>
      <vt:lpstr>CCM de la carvone</vt:lpstr>
      <vt:lpstr> (+)-carvone     (-) carvone</vt:lpstr>
      <vt:lpstr>Thréonine : deux C*</vt:lpstr>
      <vt:lpstr>Stéréoisomérie de configuration : la thréonine</vt:lpstr>
      <vt:lpstr>Stéréoisomérie de configuration : la thréonine</vt:lpstr>
      <vt:lpstr>Stéréoisomérie de configuration : la thréonine</vt:lpstr>
      <vt:lpstr>Stéréoisomérie de configuration : la thréonine</vt:lpstr>
      <vt:lpstr>Acide maléique et acide fumarique</vt:lpstr>
      <vt:lpstr>Hydrolyse de l’amidon</vt:lpstr>
      <vt:lpstr>Présentation PowerPoint</vt:lpstr>
      <vt:lpstr>Maladie de la « vache folle »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Chimie durable</dc:title>
  <dc:creator>Hugo Roussille</dc:creator>
  <cp:lastModifiedBy>Hugo Roussille</cp:lastModifiedBy>
  <cp:revision>52</cp:revision>
  <dcterms:created xsi:type="dcterms:W3CDTF">2019-04-06T14:18:31Z</dcterms:created>
  <dcterms:modified xsi:type="dcterms:W3CDTF">2019-06-15T13:25:00Z</dcterms:modified>
</cp:coreProperties>
</file>