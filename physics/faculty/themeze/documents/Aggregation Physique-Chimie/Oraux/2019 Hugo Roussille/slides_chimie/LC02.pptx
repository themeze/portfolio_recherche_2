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2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272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7E327774-1B84-44F5-A0C2-062F40310B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1906A9B-7BC2-4B4C-BB9F-3C9AE010EF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7ED77-0E8C-446C-A7EC-B7ABA3D4DBE4}" type="datetimeFigureOut">
              <a:rPr lang="fr-FR" smtClean="0"/>
              <a:t>25/06/2019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403B69B-1C3B-4EBB-A006-39C4B56F0A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8A376E2-A7A1-4B59-91FF-523291D19E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A6E33-7273-4D80-A6AD-737C4BE368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13935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15FDF-D88B-42B9-B882-66C7E5903E07}" type="datetimeFigureOut">
              <a:rPr lang="fr-FR" smtClean="0"/>
              <a:t>25/06/2019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BCE72E-88D3-456B-B685-1D27B081DB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2215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26D04-5EE1-457C-9885-BF9C9D47C0A9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995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4254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57745"/>
            <a:ext cx="10058400" cy="4511349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39DD521-5AA6-4895-8AAE-16A9209CF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CCBFA-D7B9-45DB-A2C2-5DA69A3D7220}" type="datetime1">
              <a:rPr lang="fr-FR" smtClean="0"/>
              <a:t>25/06/2019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E8EA220-647E-4668-847D-891D4AD77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53AC372-4AA6-4E92-9A40-7EC44AC4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963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E7B07-1508-42AA-B295-75C6F6B3C15E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48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4F801-1EF9-4B4F-8545-43AB7FE5A89A}" type="datetime1">
              <a:rPr lang="fr-FR" smtClean="0"/>
              <a:t>25/06/2019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63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5E6A-06D6-48E7-AC30-AD148672355E}" type="datetime1">
              <a:rPr lang="fr-FR" smtClean="0"/>
              <a:t>25/06/2019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38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0291-E6BA-4AB2-83BF-4F0C6F2FE1A7}" type="datetime1">
              <a:rPr lang="fr-FR" smtClean="0"/>
              <a:t>25/06/2019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8378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8B4FB-B029-4733-B236-1403F11307EA}" type="datetime1">
              <a:rPr lang="fr-FR" smtClean="0"/>
              <a:t>25/06/2019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8017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AF68A57-0FB6-4DC1-AFBF-98CB3B0B9C99}" type="datetime1">
              <a:rPr lang="fr-FR" smtClean="0"/>
              <a:t>25/06/2019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642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75B22-A210-46AC-92E1-9EC6742411DB}" type="datetime1">
              <a:rPr lang="fr-FR" smtClean="0"/>
              <a:t>25/06/2019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3601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39-C1FD-4699-82E3-433F4443EE20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6080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D33C8-A2CD-4D38-8D63-AFDAAB18F1AF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986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154989"/>
            <a:ext cx="10058400" cy="9533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342107"/>
            <a:ext cx="10058400" cy="452698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F20FEC9-6DAC-4F66-B242-8520EDA7BD0A}" type="datetime1">
              <a:rPr lang="fr-FR" smtClean="0"/>
              <a:t>25/06/2019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37AFEE4-4C3C-4D7F-ACF3-52DE8213F04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22523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29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B8848B-C8B5-44A3-9CE2-2FBAFC7D3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760" y="1850064"/>
            <a:ext cx="11064240" cy="2290749"/>
          </a:xfrm>
        </p:spPr>
        <p:txBody>
          <a:bodyPr/>
          <a:lstStyle/>
          <a:p>
            <a:r>
              <a:rPr lang="fr-FR" dirty="0"/>
              <a:t>Séparations, purifications, contrôles de pureté́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0645822-C6CB-4EB1-8093-88439FA32E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Agrégation 2019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5471B82-DF51-4C7A-8BA8-A586C0CC2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1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0C2C4084-87AC-4A11-B85B-DF4179C7E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</p:spTree>
    <p:extLst>
      <p:ext uri="{BB962C8B-B14F-4D97-AF65-F5344CB8AC3E}">
        <p14:creationId xmlns:p14="http://schemas.microsoft.com/office/powerpoint/2010/main" val="3983013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2096D9-40AE-4982-A138-FFF7740D4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Réaction de </a:t>
            </a:r>
            <a:r>
              <a:rPr lang="fr-FR" dirty="0" err="1"/>
              <a:t>Canizzaro</a:t>
            </a:r>
            <a:endParaRPr lang="fr-FR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88536BF8-2E1F-49F1-A158-8C2F241196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1299" y="2291993"/>
            <a:ext cx="6949726" cy="1486758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983E47D-220D-4164-A6AE-47910CBD8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A37AFEE4-4C3C-4D7F-ACF3-52DE8213F040}" type="slidenum">
              <a:rPr lang="fr-FR" smtClean="0"/>
              <a:t>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8701CF-4F47-43A1-92E6-0B883D575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5A4FD50-20CD-40F7-A6B6-B7F609987AC2}"/>
              </a:ext>
            </a:extLst>
          </p:cNvPr>
          <p:cNvSpPr txBox="1"/>
          <p:nvPr/>
        </p:nvSpPr>
        <p:spPr>
          <a:xfrm>
            <a:off x="2651299" y="3784184"/>
            <a:ext cx="1488558" cy="36933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Benzaldéhyde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15CAE25-FDDA-43AD-856E-F6ED7663F207}"/>
              </a:ext>
            </a:extLst>
          </p:cNvPr>
          <p:cNvSpPr txBox="1"/>
          <p:nvPr/>
        </p:nvSpPr>
        <p:spPr>
          <a:xfrm>
            <a:off x="4637603" y="3796971"/>
            <a:ext cx="1635605" cy="36933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Ions hydroxyde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31BF994-0887-4D20-98E1-1D7B0207BE86}"/>
              </a:ext>
            </a:extLst>
          </p:cNvPr>
          <p:cNvSpPr txBox="1"/>
          <p:nvPr/>
        </p:nvSpPr>
        <p:spPr>
          <a:xfrm>
            <a:off x="6770954" y="3789617"/>
            <a:ext cx="1488558" cy="36933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Ions benzoate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55823E7-9789-4175-8686-94BDC28B15EA}"/>
              </a:ext>
            </a:extLst>
          </p:cNvPr>
          <p:cNvSpPr txBox="1"/>
          <p:nvPr/>
        </p:nvSpPr>
        <p:spPr>
          <a:xfrm>
            <a:off x="8619992" y="3778751"/>
            <a:ext cx="1841417" cy="36933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Alcool be</a:t>
            </a:r>
            <a:r>
              <a:rPr lang="fr-FR" dirty="0"/>
              <a:t>nzylique</a:t>
            </a:r>
            <a:endParaRPr lang="fr-FR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7738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296D0A-7D5A-4AA6-B8B0-533A8C4AE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Réaction de </a:t>
            </a:r>
            <a:r>
              <a:rPr lang="fr-FR" dirty="0" err="1"/>
              <a:t>Canizzaro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1A48637-737B-45AD-BC37-3794370B4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AE30A17-D0B4-4099-9FB9-07B201DCD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3</a:t>
            </a:fld>
            <a:endParaRPr lang="fr-FR"/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008B051F-6DA7-4131-8E87-C1EA8E3900DB}"/>
              </a:ext>
            </a:extLst>
          </p:cNvPr>
          <p:cNvGrpSpPr/>
          <p:nvPr/>
        </p:nvGrpSpPr>
        <p:grpSpPr>
          <a:xfrm>
            <a:off x="3934045" y="1978443"/>
            <a:ext cx="6030877" cy="4240258"/>
            <a:chOff x="5181600" y="1927458"/>
            <a:chExt cx="6030877" cy="4240258"/>
          </a:xfrm>
        </p:grpSpPr>
        <p:grpSp>
          <p:nvGrpSpPr>
            <p:cNvPr id="68" name="Groupe 67">
              <a:extLst>
                <a:ext uri="{FF2B5EF4-FFF2-40B4-BE49-F238E27FC236}">
                  <a16:creationId xmlns:a16="http://schemas.microsoft.com/office/drawing/2014/main" id="{A793E706-F7E3-4937-B00D-58A85894C75B}"/>
                </a:ext>
              </a:extLst>
            </p:cNvPr>
            <p:cNvGrpSpPr/>
            <p:nvPr/>
          </p:nvGrpSpPr>
          <p:grpSpPr>
            <a:xfrm>
              <a:off x="5181600" y="1927458"/>
              <a:ext cx="1494155" cy="4240258"/>
              <a:chOff x="5181600" y="1927458"/>
              <a:chExt cx="1494155" cy="4240258"/>
            </a:xfrm>
          </p:grpSpPr>
          <p:grpSp>
            <p:nvGrpSpPr>
              <p:cNvPr id="6" name="Grouper 936">
                <a:extLst>
                  <a:ext uri="{FF2B5EF4-FFF2-40B4-BE49-F238E27FC236}">
                    <a16:creationId xmlns:a16="http://schemas.microsoft.com/office/drawing/2014/main" id="{6CF3BB54-B679-4E25-ADD6-A0D053A6CEC9}"/>
                  </a:ext>
                </a:extLst>
              </p:cNvPr>
              <p:cNvGrpSpPr/>
              <p:nvPr/>
            </p:nvGrpSpPr>
            <p:grpSpPr>
              <a:xfrm>
                <a:off x="5531818" y="1927458"/>
                <a:ext cx="788809" cy="1875467"/>
                <a:chOff x="0" y="0"/>
                <a:chExt cx="612140" cy="1455420"/>
              </a:xfrm>
            </p:grpSpPr>
            <p:sp>
              <p:nvSpPr>
                <p:cNvPr id="7" name="Rectangle à coins arrondis 943">
                  <a:extLst>
                    <a:ext uri="{FF2B5EF4-FFF2-40B4-BE49-F238E27FC236}">
                      <a16:creationId xmlns:a16="http://schemas.microsoft.com/office/drawing/2014/main" id="{E6242BC9-41A0-4935-BFA1-5D421C03F6A2}"/>
                    </a:ext>
                  </a:extLst>
                </p:cNvPr>
                <p:cNvSpPr/>
                <p:nvPr/>
              </p:nvSpPr>
              <p:spPr>
                <a:xfrm>
                  <a:off x="136525" y="134620"/>
                  <a:ext cx="337185" cy="1176020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6AE5F0DE-B434-49CC-9EA0-BA54D774C9A3}"/>
                    </a:ext>
                  </a:extLst>
                </p:cNvPr>
                <p:cNvSpPr/>
                <p:nvPr/>
              </p:nvSpPr>
              <p:spPr>
                <a:xfrm>
                  <a:off x="242570" y="33020"/>
                  <a:ext cx="130175" cy="13696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FCFD7415-62D6-434D-9171-4E99BBB6F730}"/>
                    </a:ext>
                  </a:extLst>
                </p:cNvPr>
                <p:cNvSpPr/>
                <p:nvPr/>
              </p:nvSpPr>
              <p:spPr>
                <a:xfrm>
                  <a:off x="218440" y="0"/>
                  <a:ext cx="169545" cy="4508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D509934-C564-4E0A-BF2C-20F6250F26EB}"/>
                    </a:ext>
                  </a:extLst>
                </p:cNvPr>
                <p:cNvSpPr/>
                <p:nvPr/>
              </p:nvSpPr>
              <p:spPr>
                <a:xfrm>
                  <a:off x="245745" y="1397635"/>
                  <a:ext cx="124481" cy="57785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1" name="Arc plein 10">
                  <a:extLst>
                    <a:ext uri="{FF2B5EF4-FFF2-40B4-BE49-F238E27FC236}">
                      <a16:creationId xmlns:a16="http://schemas.microsoft.com/office/drawing/2014/main" id="{935EE304-70AB-46CA-B350-692E49314971}"/>
                    </a:ext>
                  </a:extLst>
                </p:cNvPr>
                <p:cNvSpPr/>
                <p:nvPr/>
              </p:nvSpPr>
              <p:spPr>
                <a:xfrm rot="5400000">
                  <a:off x="325755" y="233045"/>
                  <a:ext cx="297180" cy="275590"/>
                </a:xfrm>
                <a:prstGeom prst="blockArc">
                  <a:avLst>
                    <a:gd name="adj1" fmla="val 10800000"/>
                    <a:gd name="adj2" fmla="val 16383978"/>
                    <a:gd name="adj3" fmla="val 20665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cxnSp>
              <p:nvCxnSpPr>
                <p:cNvPr id="12" name="Connecteur droit avec flèche 11">
                  <a:extLst>
                    <a:ext uri="{FF2B5EF4-FFF2-40B4-BE49-F238E27FC236}">
                      <a16:creationId xmlns:a16="http://schemas.microsoft.com/office/drawing/2014/main" id="{52B1C361-1097-4554-A707-EE9B28C3894A}"/>
                    </a:ext>
                  </a:extLst>
                </p:cNvPr>
                <p:cNvCxnSpPr/>
                <p:nvPr/>
              </p:nvCxnSpPr>
              <p:spPr>
                <a:xfrm>
                  <a:off x="584200" y="340360"/>
                  <a:ext cx="0" cy="179070"/>
                </a:xfrm>
                <a:prstGeom prst="straightConnector1">
                  <a:avLst/>
                </a:prstGeom>
                <a:ln w="12700" cmpd="sng">
                  <a:solidFill>
                    <a:schemeClr val="tx1"/>
                  </a:solidFill>
                  <a:headEnd type="none"/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Arc plein 12">
                  <a:extLst>
                    <a:ext uri="{FF2B5EF4-FFF2-40B4-BE49-F238E27FC236}">
                      <a16:creationId xmlns:a16="http://schemas.microsoft.com/office/drawing/2014/main" id="{4D296C98-B921-4FF2-B6FE-43F9CC7B2C22}"/>
                    </a:ext>
                  </a:extLst>
                </p:cNvPr>
                <p:cNvSpPr/>
                <p:nvPr/>
              </p:nvSpPr>
              <p:spPr>
                <a:xfrm rot="16200000" flipH="1">
                  <a:off x="-10795" y="1127125"/>
                  <a:ext cx="297180" cy="275590"/>
                </a:xfrm>
                <a:prstGeom prst="blockArc">
                  <a:avLst>
                    <a:gd name="adj1" fmla="val 10800000"/>
                    <a:gd name="adj2" fmla="val 16383978"/>
                    <a:gd name="adj3" fmla="val 20665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cxnSp>
              <p:nvCxnSpPr>
                <p:cNvPr id="14" name="Connecteur droit avec flèche 13">
                  <a:extLst>
                    <a:ext uri="{FF2B5EF4-FFF2-40B4-BE49-F238E27FC236}">
                      <a16:creationId xmlns:a16="http://schemas.microsoft.com/office/drawing/2014/main" id="{0C6F542F-7AB8-43E3-BC71-975A05B9B8C0}"/>
                    </a:ext>
                  </a:extLst>
                </p:cNvPr>
                <p:cNvCxnSpPr/>
                <p:nvPr/>
              </p:nvCxnSpPr>
              <p:spPr>
                <a:xfrm flipH="1" flipV="1">
                  <a:off x="27940" y="1240790"/>
                  <a:ext cx="0" cy="179070"/>
                </a:xfrm>
                <a:prstGeom prst="straightConnector1">
                  <a:avLst/>
                </a:prstGeom>
                <a:ln w="12700" cmpd="sng">
                  <a:solidFill>
                    <a:schemeClr val="tx1"/>
                  </a:solidFill>
                  <a:headEnd type="none"/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ouper 951">
                <a:extLst>
                  <a:ext uri="{FF2B5EF4-FFF2-40B4-BE49-F238E27FC236}">
                    <a16:creationId xmlns:a16="http://schemas.microsoft.com/office/drawing/2014/main" id="{49998244-B401-4562-BB77-2657A93FCDEA}"/>
                  </a:ext>
                </a:extLst>
              </p:cNvPr>
              <p:cNvGrpSpPr/>
              <p:nvPr/>
            </p:nvGrpSpPr>
            <p:grpSpPr>
              <a:xfrm>
                <a:off x="5181600" y="3877388"/>
                <a:ext cx="1472880" cy="1252766"/>
                <a:chOff x="0" y="0"/>
                <a:chExt cx="1143000" cy="972185"/>
              </a:xfrm>
            </p:grpSpPr>
            <p:grpSp>
              <p:nvGrpSpPr>
                <p:cNvPr id="16" name="Grouper 952">
                  <a:extLst>
                    <a:ext uri="{FF2B5EF4-FFF2-40B4-BE49-F238E27FC236}">
                      <a16:creationId xmlns:a16="http://schemas.microsoft.com/office/drawing/2014/main" id="{F53C8388-8FBE-4FA9-B8AF-6457998DE89A}"/>
                    </a:ext>
                  </a:extLst>
                </p:cNvPr>
                <p:cNvGrpSpPr/>
                <p:nvPr/>
              </p:nvGrpSpPr>
              <p:grpSpPr>
                <a:xfrm>
                  <a:off x="0" y="226695"/>
                  <a:ext cx="1143000" cy="745490"/>
                  <a:chOff x="0" y="0"/>
                  <a:chExt cx="1143000" cy="745490"/>
                </a:xfrm>
              </p:grpSpPr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DE34A1F7-66A6-4642-A297-9608B95C9BD2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0" cy="745490"/>
                  </a:xfrm>
                  <a:prstGeom prst="rect">
                    <a:avLst/>
                  </a:prstGeom>
                  <a:solidFill>
                    <a:srgbClr val="BFBFBF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9" name="Ellipse 18">
                    <a:extLst>
                      <a:ext uri="{FF2B5EF4-FFF2-40B4-BE49-F238E27FC236}">
                        <a16:creationId xmlns:a16="http://schemas.microsoft.com/office/drawing/2014/main" id="{83A5545C-38B0-4E9F-9C43-F2ABFC6B409D}"/>
                      </a:ext>
                    </a:extLst>
                  </p:cNvPr>
                  <p:cNvSpPr/>
                  <p:nvPr/>
                </p:nvSpPr>
                <p:spPr>
                  <a:xfrm>
                    <a:off x="114300" y="496570"/>
                    <a:ext cx="114300" cy="135255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17" name="Corde 16">
                  <a:extLst>
                    <a:ext uri="{FF2B5EF4-FFF2-40B4-BE49-F238E27FC236}">
                      <a16:creationId xmlns:a16="http://schemas.microsoft.com/office/drawing/2014/main" id="{9C88A8FB-6F0C-439E-B377-EFF94EDDFA6E}"/>
                    </a:ext>
                  </a:extLst>
                </p:cNvPr>
                <p:cNvSpPr/>
                <p:nvPr/>
              </p:nvSpPr>
              <p:spPr>
                <a:xfrm rot="17567007">
                  <a:off x="227330" y="4445"/>
                  <a:ext cx="706120" cy="697230"/>
                </a:xfrm>
                <a:prstGeom prst="chord">
                  <a:avLst>
                    <a:gd name="adj1" fmla="val 2700000"/>
                    <a:gd name="adj2" fmla="val 16236166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20" name="Grouper 1156">
                <a:extLst>
                  <a:ext uri="{FF2B5EF4-FFF2-40B4-BE49-F238E27FC236}">
                    <a16:creationId xmlns:a16="http://schemas.microsoft.com/office/drawing/2014/main" id="{EF82BC80-E570-4BCB-8E89-D011E6CE2453}"/>
                  </a:ext>
                </a:extLst>
              </p:cNvPr>
              <p:cNvGrpSpPr/>
              <p:nvPr/>
            </p:nvGrpSpPr>
            <p:grpSpPr>
              <a:xfrm>
                <a:off x="5184873" y="5117061"/>
                <a:ext cx="1490882" cy="1050655"/>
                <a:chOff x="0" y="0"/>
                <a:chExt cx="1156970" cy="815340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69B2DCF1-7A7D-4B84-8448-FD6FCA0489A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0" cy="100330"/>
                </a:xfrm>
                <a:prstGeom prst="rect">
                  <a:avLst/>
                </a:prstGeom>
                <a:solidFill>
                  <a:srgbClr val="BFBFBF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31CB7321-F543-4C7F-9A36-F64C76E6D071}"/>
                    </a:ext>
                  </a:extLst>
                </p:cNvPr>
                <p:cNvSpPr/>
                <p:nvPr/>
              </p:nvSpPr>
              <p:spPr>
                <a:xfrm>
                  <a:off x="13970" y="715010"/>
                  <a:ext cx="1143000" cy="100330"/>
                </a:xfrm>
                <a:prstGeom prst="rect">
                  <a:avLst/>
                </a:prstGeom>
                <a:solidFill>
                  <a:srgbClr val="BFBFBF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cxnSp>
              <p:nvCxnSpPr>
                <p:cNvPr id="23" name="Connecteur droit 22">
                  <a:extLst>
                    <a:ext uri="{FF2B5EF4-FFF2-40B4-BE49-F238E27FC236}">
                      <a16:creationId xmlns:a16="http://schemas.microsoft.com/office/drawing/2014/main" id="{70F8158B-9CC4-46D2-8EE9-0C097077A7D8}"/>
                    </a:ext>
                  </a:extLst>
                </p:cNvPr>
                <p:cNvCxnSpPr/>
                <p:nvPr/>
              </p:nvCxnSpPr>
              <p:spPr>
                <a:xfrm>
                  <a:off x="113665" y="100330"/>
                  <a:ext cx="924227" cy="304800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Connecteur droit 23">
                  <a:extLst>
                    <a:ext uri="{FF2B5EF4-FFF2-40B4-BE49-F238E27FC236}">
                      <a16:creationId xmlns:a16="http://schemas.microsoft.com/office/drawing/2014/main" id="{BC81C8F3-24FE-460F-9881-12510607462C}"/>
                    </a:ext>
                  </a:extLst>
                </p:cNvPr>
                <p:cNvCxnSpPr/>
                <p:nvPr/>
              </p:nvCxnSpPr>
              <p:spPr>
                <a:xfrm flipH="1">
                  <a:off x="113665" y="100330"/>
                  <a:ext cx="924862" cy="304800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Connecteur droit 24">
                  <a:extLst>
                    <a:ext uri="{FF2B5EF4-FFF2-40B4-BE49-F238E27FC236}">
                      <a16:creationId xmlns:a16="http://schemas.microsoft.com/office/drawing/2014/main" id="{657E6BEB-0029-4048-9724-A804913EE1CE}"/>
                    </a:ext>
                  </a:extLst>
                </p:cNvPr>
                <p:cNvCxnSpPr/>
                <p:nvPr/>
              </p:nvCxnSpPr>
              <p:spPr>
                <a:xfrm>
                  <a:off x="113665" y="405130"/>
                  <a:ext cx="924227" cy="304800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Connecteur droit 25">
                  <a:extLst>
                    <a:ext uri="{FF2B5EF4-FFF2-40B4-BE49-F238E27FC236}">
                      <a16:creationId xmlns:a16="http://schemas.microsoft.com/office/drawing/2014/main" id="{3826A425-3539-4F20-B6F2-1B6C53528378}"/>
                    </a:ext>
                  </a:extLst>
                </p:cNvPr>
                <p:cNvCxnSpPr/>
                <p:nvPr/>
              </p:nvCxnSpPr>
              <p:spPr>
                <a:xfrm flipH="1">
                  <a:off x="113665" y="405130"/>
                  <a:ext cx="924560" cy="304800"/>
                </a:xfrm>
                <a:prstGeom prst="line">
                  <a:avLst/>
                </a:prstGeom>
                <a:ln w="12700" cmpd="sng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Grouper 1287">
                <a:extLst>
                  <a:ext uri="{FF2B5EF4-FFF2-40B4-BE49-F238E27FC236}">
                    <a16:creationId xmlns:a16="http://schemas.microsoft.com/office/drawing/2014/main" id="{11318687-335D-4131-92CA-FA9F1B16623F}"/>
                  </a:ext>
                </a:extLst>
              </p:cNvPr>
              <p:cNvGrpSpPr/>
              <p:nvPr/>
            </p:nvGrpSpPr>
            <p:grpSpPr>
              <a:xfrm>
                <a:off x="5387803" y="3642545"/>
                <a:ext cx="985193" cy="1138209"/>
                <a:chOff x="0" y="0"/>
                <a:chExt cx="764540" cy="883285"/>
              </a:xfrm>
            </p:grpSpPr>
            <p:grpSp>
              <p:nvGrpSpPr>
                <p:cNvPr id="28" name="Grouper 1286">
                  <a:extLst>
                    <a:ext uri="{FF2B5EF4-FFF2-40B4-BE49-F238E27FC236}">
                      <a16:creationId xmlns:a16="http://schemas.microsoft.com/office/drawing/2014/main" id="{E1DF5732-1C11-4A0D-9959-7C89E2D0884F}"/>
                    </a:ext>
                  </a:extLst>
                </p:cNvPr>
                <p:cNvGrpSpPr/>
                <p:nvPr/>
              </p:nvGrpSpPr>
              <p:grpSpPr>
                <a:xfrm>
                  <a:off x="71120" y="0"/>
                  <a:ext cx="693420" cy="883285"/>
                  <a:chOff x="0" y="0"/>
                  <a:chExt cx="693420" cy="883285"/>
                </a:xfrm>
              </p:grpSpPr>
              <p:grpSp>
                <p:nvGrpSpPr>
                  <p:cNvPr id="33" name="Grouper 1231">
                    <a:extLst>
                      <a:ext uri="{FF2B5EF4-FFF2-40B4-BE49-F238E27FC236}">
                        <a16:creationId xmlns:a16="http://schemas.microsoft.com/office/drawing/2014/main" id="{6665CA0A-3543-45BC-A90B-B352D314AA82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0"/>
                    <a:ext cx="693420" cy="883285"/>
                    <a:chOff x="0" y="0"/>
                    <a:chExt cx="693420" cy="883285"/>
                  </a:xfrm>
                </p:grpSpPr>
                <p:sp>
                  <p:nvSpPr>
                    <p:cNvPr id="61" name="Rectangle 60">
                      <a:extLst>
                        <a:ext uri="{FF2B5EF4-FFF2-40B4-BE49-F238E27FC236}">
                          <a16:creationId xmlns:a16="http://schemas.microsoft.com/office/drawing/2014/main" id="{CD1B9F2F-F6A5-43F7-BD9C-83E9C296FEED}"/>
                        </a:ext>
                      </a:extLst>
                    </p:cNvPr>
                    <p:cNvSpPr/>
                    <p:nvPr/>
                  </p:nvSpPr>
                  <p:spPr>
                    <a:xfrm rot="19775393">
                      <a:off x="28575" y="148590"/>
                      <a:ext cx="152400" cy="254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C6F2237E-CCDC-416E-9325-AC7900FF60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2415" y="12700"/>
                      <a:ext cx="152400" cy="254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3" name="Ellipse 62">
                      <a:extLst>
                        <a:ext uri="{FF2B5EF4-FFF2-40B4-BE49-F238E27FC236}">
                          <a16:creationId xmlns:a16="http://schemas.microsoft.com/office/drawing/2014/main" id="{FA7A4EF2-8890-4C47-ABD6-4CDF86FD12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189865"/>
                      <a:ext cx="693420" cy="693420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05F3EDBB-50CC-4671-91A5-17DFEBCE48F6}"/>
                        </a:ext>
                      </a:extLst>
                    </p:cNvPr>
                    <p:cNvSpPr/>
                    <p:nvPr/>
                  </p:nvSpPr>
                  <p:spPr>
                    <a:xfrm rot="19775393">
                      <a:off x="38735" y="136525"/>
                      <a:ext cx="134620" cy="2870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639A2C37-E4EC-42B9-83C8-78F9DD4C9B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0035" y="0"/>
                      <a:ext cx="134620" cy="2870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34" name="Grouper 1285">
                    <a:extLst>
                      <a:ext uri="{FF2B5EF4-FFF2-40B4-BE49-F238E27FC236}">
                        <a16:creationId xmlns:a16="http://schemas.microsoft.com/office/drawing/2014/main" id="{2F9760CE-71EB-42DA-BF7A-B6DE2CF38EBE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189230"/>
                    <a:ext cx="693420" cy="693420"/>
                    <a:chOff x="0" y="0"/>
                    <a:chExt cx="693420" cy="693420"/>
                  </a:xfrm>
                </p:grpSpPr>
                <p:sp>
                  <p:nvSpPr>
                    <p:cNvPr id="35" name="Corde 34">
                      <a:extLst>
                        <a:ext uri="{FF2B5EF4-FFF2-40B4-BE49-F238E27FC236}">
                          <a16:creationId xmlns:a16="http://schemas.microsoft.com/office/drawing/2014/main" id="{770DA12E-07E3-44B8-8C5B-21B5BFAB4922}"/>
                        </a:ext>
                      </a:extLst>
                    </p:cNvPr>
                    <p:cNvSpPr/>
                    <p:nvPr/>
                  </p:nvSpPr>
                  <p:spPr>
                    <a:xfrm rot="17560116">
                      <a:off x="0" y="0"/>
                      <a:ext cx="693420" cy="693420"/>
                    </a:xfrm>
                    <a:prstGeom prst="chord">
                      <a:avLst>
                        <a:gd name="adj1" fmla="val 4447445"/>
                        <a:gd name="adj2" fmla="val 14321630"/>
                      </a:avLst>
                    </a:pr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fr-FR"/>
                    </a:p>
                  </p:txBody>
                </p:sp>
                <p:grpSp>
                  <p:nvGrpSpPr>
                    <p:cNvPr id="36" name="Grouper 1119">
                      <a:extLst>
                        <a:ext uri="{FF2B5EF4-FFF2-40B4-BE49-F238E27FC236}">
                          <a16:creationId xmlns:a16="http://schemas.microsoft.com/office/drawing/2014/main" id="{6DA652B0-993D-456B-B4D8-479EB7B370D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0495" y="434341"/>
                      <a:ext cx="410210" cy="220343"/>
                      <a:chOff x="0" y="1"/>
                      <a:chExt cx="410210" cy="220343"/>
                    </a:xfrm>
                  </p:grpSpPr>
                  <p:grpSp>
                    <p:nvGrpSpPr>
                      <p:cNvPr id="37" name="Grouper 1121">
                        <a:extLst>
                          <a:ext uri="{FF2B5EF4-FFF2-40B4-BE49-F238E27FC236}">
                            <a16:creationId xmlns:a16="http://schemas.microsoft.com/office/drawing/2014/main" id="{C12D3D45-B6E8-4938-89D9-A5A972347AF1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274322" y="1"/>
                        <a:ext cx="135888" cy="203840"/>
                        <a:chOff x="0" y="134620"/>
                        <a:chExt cx="291465" cy="530225"/>
                      </a:xfrm>
                    </p:grpSpPr>
                    <p:sp>
                      <p:nvSpPr>
                        <p:cNvPr id="54" name="Ellipse 53">
                          <a:extLst>
                            <a:ext uri="{FF2B5EF4-FFF2-40B4-BE49-F238E27FC236}">
                              <a16:creationId xmlns:a16="http://schemas.microsoft.com/office/drawing/2014/main" id="{E2BDD324-8831-4089-904B-F5C2A560D0B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357505"/>
                          <a:ext cx="60325" cy="6794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5" name="Ellipse 54">
                          <a:extLst>
                            <a:ext uri="{FF2B5EF4-FFF2-40B4-BE49-F238E27FC236}">
                              <a16:creationId xmlns:a16="http://schemas.microsoft.com/office/drawing/2014/main" id="{E4C1B157-1EA7-45A2-8DD5-5C00611D5BE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5885" y="400685"/>
                          <a:ext cx="75565" cy="88900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6" name="Ellipse 55">
                          <a:extLst>
                            <a:ext uri="{FF2B5EF4-FFF2-40B4-BE49-F238E27FC236}">
                              <a16:creationId xmlns:a16="http://schemas.microsoft.com/office/drawing/2014/main" id="{48C8534C-6FB4-42B2-AE96-0786B202FCC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67640" y="238760"/>
                          <a:ext cx="76200" cy="90170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7" name="Ellipse 56">
                          <a:extLst>
                            <a:ext uri="{FF2B5EF4-FFF2-40B4-BE49-F238E27FC236}">
                              <a16:creationId xmlns:a16="http://schemas.microsoft.com/office/drawing/2014/main" id="{C1CC73AC-686A-4E8B-9A96-39E4446CA8A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76530"/>
                          <a:ext cx="88265" cy="97155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8" name="Ellipse 57">
                          <a:extLst>
                            <a:ext uri="{FF2B5EF4-FFF2-40B4-BE49-F238E27FC236}">
                              <a16:creationId xmlns:a16="http://schemas.microsoft.com/office/drawing/2014/main" id="{3B8871CE-534A-4210-92D2-EACE50438C8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2400" y="134620"/>
                          <a:ext cx="60325" cy="67945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9" name="Ellipse 58">
                          <a:extLst>
                            <a:ext uri="{FF2B5EF4-FFF2-40B4-BE49-F238E27FC236}">
                              <a16:creationId xmlns:a16="http://schemas.microsoft.com/office/drawing/2014/main" id="{5259FC36-C4A3-4106-AA0C-267CFEFFDA3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1140" y="439420"/>
                          <a:ext cx="60325" cy="67945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60" name="Ellipse 59">
                          <a:extLst>
                            <a:ext uri="{FF2B5EF4-FFF2-40B4-BE49-F238E27FC236}">
                              <a16:creationId xmlns:a16="http://schemas.microsoft.com/office/drawing/2014/main" id="{486FACA3-E32D-4F53-BD76-8FB969C7DBC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315" y="596900"/>
                          <a:ext cx="60325" cy="67945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</p:grpSp>
                  <p:grpSp>
                    <p:nvGrpSpPr>
                      <p:cNvPr id="38" name="Grouper 1129">
                        <a:extLst>
                          <a:ext uri="{FF2B5EF4-FFF2-40B4-BE49-F238E27FC236}">
                            <a16:creationId xmlns:a16="http://schemas.microsoft.com/office/drawing/2014/main" id="{FF65879D-B66D-4BE0-9905-49C2A33394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636"/>
                        <a:ext cx="135888" cy="203840"/>
                        <a:chOff x="0" y="134620"/>
                        <a:chExt cx="291465" cy="530225"/>
                      </a:xfrm>
                    </p:grpSpPr>
                    <p:sp>
                      <p:nvSpPr>
                        <p:cNvPr id="47" name="Ellipse 46">
                          <a:extLst>
                            <a:ext uri="{FF2B5EF4-FFF2-40B4-BE49-F238E27FC236}">
                              <a16:creationId xmlns:a16="http://schemas.microsoft.com/office/drawing/2014/main" id="{B97CA35C-7A6E-40FC-8339-38E3A7744A0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357505"/>
                          <a:ext cx="60325" cy="6794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48" name="Ellipse 47">
                          <a:extLst>
                            <a:ext uri="{FF2B5EF4-FFF2-40B4-BE49-F238E27FC236}">
                              <a16:creationId xmlns:a16="http://schemas.microsoft.com/office/drawing/2014/main" id="{1918922D-FC3B-4DCD-8710-57536D9F4E3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5885" y="400685"/>
                          <a:ext cx="75565" cy="88900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49" name="Ellipse 48">
                          <a:extLst>
                            <a:ext uri="{FF2B5EF4-FFF2-40B4-BE49-F238E27FC236}">
                              <a16:creationId xmlns:a16="http://schemas.microsoft.com/office/drawing/2014/main" id="{2F3CFBB8-40B2-4E10-B063-A304C335A72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67640" y="238760"/>
                          <a:ext cx="76200" cy="90170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0" name="Ellipse 49">
                          <a:extLst>
                            <a:ext uri="{FF2B5EF4-FFF2-40B4-BE49-F238E27FC236}">
                              <a16:creationId xmlns:a16="http://schemas.microsoft.com/office/drawing/2014/main" id="{1CAFA6D4-D2CE-47E6-A4C5-121548D60DC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76530"/>
                          <a:ext cx="88265" cy="97155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1" name="Ellipse 50">
                          <a:extLst>
                            <a:ext uri="{FF2B5EF4-FFF2-40B4-BE49-F238E27FC236}">
                              <a16:creationId xmlns:a16="http://schemas.microsoft.com/office/drawing/2014/main" id="{38E944C2-3497-4745-A491-8A035D9DE11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2400" y="134620"/>
                          <a:ext cx="60325" cy="67945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2" name="Ellipse 51">
                          <a:extLst>
                            <a:ext uri="{FF2B5EF4-FFF2-40B4-BE49-F238E27FC236}">
                              <a16:creationId xmlns:a16="http://schemas.microsoft.com/office/drawing/2014/main" id="{B70BF89B-DE36-4F16-A6A3-8E00A26F817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1140" y="439420"/>
                          <a:ext cx="60325" cy="67945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53" name="Ellipse 52">
                          <a:extLst>
                            <a:ext uri="{FF2B5EF4-FFF2-40B4-BE49-F238E27FC236}">
                              <a16:creationId xmlns:a16="http://schemas.microsoft.com/office/drawing/2014/main" id="{F02846EB-8919-46F6-800E-DEE831350CD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315" y="596900"/>
                          <a:ext cx="60325" cy="67945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</p:grpSp>
                  <p:grpSp>
                    <p:nvGrpSpPr>
                      <p:cNvPr id="39" name="Grouper 1137">
                        <a:extLst>
                          <a:ext uri="{FF2B5EF4-FFF2-40B4-BE49-F238E27FC236}">
                            <a16:creationId xmlns:a16="http://schemas.microsoft.com/office/drawing/2014/main" id="{BB127F13-AD68-48AF-B5A2-21C1FED609DD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V="1">
                        <a:off x="139065" y="16504"/>
                        <a:ext cx="135888" cy="203840"/>
                        <a:chOff x="0" y="134620"/>
                        <a:chExt cx="291465" cy="530225"/>
                      </a:xfrm>
                    </p:grpSpPr>
                    <p:sp>
                      <p:nvSpPr>
                        <p:cNvPr id="40" name="Ellipse 39">
                          <a:extLst>
                            <a:ext uri="{FF2B5EF4-FFF2-40B4-BE49-F238E27FC236}">
                              <a16:creationId xmlns:a16="http://schemas.microsoft.com/office/drawing/2014/main" id="{557B7A39-118C-4E95-B9B0-8F21728BCB9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357505"/>
                          <a:ext cx="60325" cy="6794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41" name="Ellipse 40">
                          <a:extLst>
                            <a:ext uri="{FF2B5EF4-FFF2-40B4-BE49-F238E27FC236}">
                              <a16:creationId xmlns:a16="http://schemas.microsoft.com/office/drawing/2014/main" id="{A39C5A41-7833-46F5-BD22-04AE0539884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5885" y="400685"/>
                          <a:ext cx="75565" cy="88900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42" name="Ellipse 41">
                          <a:extLst>
                            <a:ext uri="{FF2B5EF4-FFF2-40B4-BE49-F238E27FC236}">
                              <a16:creationId xmlns:a16="http://schemas.microsoft.com/office/drawing/2014/main" id="{01707B3F-914C-44C9-902C-61C50E55417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67640" y="238760"/>
                          <a:ext cx="76200" cy="90170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43" name="Ellipse 42">
                          <a:extLst>
                            <a:ext uri="{FF2B5EF4-FFF2-40B4-BE49-F238E27FC236}">
                              <a16:creationId xmlns:a16="http://schemas.microsoft.com/office/drawing/2014/main" id="{6FCB088C-6941-4E2F-80A0-0C10321217E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76530"/>
                          <a:ext cx="88265" cy="97155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44" name="Ellipse 43">
                          <a:extLst>
                            <a:ext uri="{FF2B5EF4-FFF2-40B4-BE49-F238E27FC236}">
                              <a16:creationId xmlns:a16="http://schemas.microsoft.com/office/drawing/2014/main" id="{6567CF4D-BC79-449F-A46C-30E1F51CDD5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2400" y="134620"/>
                          <a:ext cx="60325" cy="67945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45" name="Ellipse 44">
                          <a:extLst>
                            <a:ext uri="{FF2B5EF4-FFF2-40B4-BE49-F238E27FC236}">
                              <a16:creationId xmlns:a16="http://schemas.microsoft.com/office/drawing/2014/main" id="{B6548D6E-BA76-4F7B-A51E-E1E60A2DBF0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1140" y="439420"/>
                          <a:ext cx="60325" cy="67945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46" name="Ellipse 45">
                          <a:extLst>
                            <a:ext uri="{FF2B5EF4-FFF2-40B4-BE49-F238E27FC236}">
                              <a16:creationId xmlns:a16="http://schemas.microsoft.com/office/drawing/2014/main" id="{778C917D-8F5B-4A3E-8573-9692A0FDE02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315" y="596900"/>
                          <a:ext cx="60325" cy="67945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 cmpd="sng">
                          <a:solidFill>
                            <a:schemeClr val="tx1"/>
                          </a:solidFill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ot="0" spcFirstLastPara="0" vert="horz" wrap="square" lIns="91440" tIns="45720" rIns="91440" bIns="45720" numCol="1" spcCol="0" rtlCol="0" fromWordArt="0" anchor="ctr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endParaRPr lang="fr-FR"/>
                        </a:p>
                      </p:txBody>
                    </p:sp>
                  </p:grpSp>
                </p:grpSp>
              </p:grpSp>
            </p:grpSp>
            <p:sp>
              <p:nvSpPr>
                <p:cNvPr id="29" name="Ellipse 28">
                  <a:extLst>
                    <a:ext uri="{FF2B5EF4-FFF2-40B4-BE49-F238E27FC236}">
                      <a16:creationId xmlns:a16="http://schemas.microsoft.com/office/drawing/2014/main" id="{8FF50372-FE93-435E-AFD0-33B4E1FF06F7}"/>
                    </a:ext>
                  </a:extLst>
                </p:cNvPr>
                <p:cNvSpPr/>
                <p:nvPr/>
              </p:nvSpPr>
              <p:spPr>
                <a:xfrm>
                  <a:off x="338455" y="800100"/>
                  <a:ext cx="146050" cy="7556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grpSp>
              <p:nvGrpSpPr>
                <p:cNvPr id="30" name="Grouper 1282">
                  <a:extLst>
                    <a:ext uri="{FF2B5EF4-FFF2-40B4-BE49-F238E27FC236}">
                      <a16:creationId xmlns:a16="http://schemas.microsoft.com/office/drawing/2014/main" id="{57CC1F13-E10C-437C-814F-8D53EFD8BCD6}"/>
                    </a:ext>
                  </a:extLst>
                </p:cNvPr>
                <p:cNvGrpSpPr/>
                <p:nvPr/>
              </p:nvGrpSpPr>
              <p:grpSpPr>
                <a:xfrm rot="19859595">
                  <a:off x="0" y="89535"/>
                  <a:ext cx="219710" cy="161925"/>
                  <a:chOff x="0" y="0"/>
                  <a:chExt cx="219710" cy="161925"/>
                </a:xfrm>
                <a:solidFill>
                  <a:schemeClr val="bg1">
                    <a:lumMod val="85000"/>
                  </a:schemeClr>
                </a:solidFill>
              </p:grpSpPr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D8BBBF18-1B5E-40BE-B41E-7F40EDA0A08A}"/>
                      </a:ext>
                    </a:extLst>
                  </p:cNvPr>
                  <p:cNvSpPr/>
                  <p:nvPr/>
                </p:nvSpPr>
                <p:spPr>
                  <a:xfrm>
                    <a:off x="45720" y="45720"/>
                    <a:ext cx="134620" cy="11620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286608FC-0897-4F05-85F8-43CC87D2E90D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19710" cy="450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</p:grpSp>
        </p:grp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BB0EF9C3-7F14-4AF7-91E8-78DA898E2166}"/>
                </a:ext>
              </a:extLst>
            </p:cNvPr>
            <p:cNvSpPr txBox="1"/>
            <p:nvPr/>
          </p:nvSpPr>
          <p:spPr>
            <a:xfrm>
              <a:off x="8035136" y="2366049"/>
              <a:ext cx="3177341" cy="147732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/>
                <a:t>10 g de  KOH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/>
                <a:t>10 </a:t>
              </a:r>
              <a:r>
                <a:rPr lang="fr-FR" dirty="0" err="1"/>
                <a:t>mL</a:t>
              </a:r>
              <a:r>
                <a:rPr lang="fr-FR" dirty="0"/>
                <a:t> d’eau distillée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/>
                <a:t>10 </a:t>
              </a:r>
              <a:r>
                <a:rPr lang="fr-FR" dirty="0" err="1"/>
                <a:t>mL</a:t>
              </a:r>
              <a:r>
                <a:rPr lang="fr-FR" dirty="0"/>
                <a:t> de benzaldéhyde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/>
                <a:t>Chauffer à reflux pendant 1h puis ajouter de l’eau distillée</a:t>
              </a:r>
            </a:p>
          </p:txBody>
        </p:sp>
        <p:cxnSp>
          <p:nvCxnSpPr>
            <p:cNvPr id="71" name="Connecteur droit avec flèche 70">
              <a:extLst>
                <a:ext uri="{FF2B5EF4-FFF2-40B4-BE49-F238E27FC236}">
                  <a16:creationId xmlns:a16="http://schemas.microsoft.com/office/drawing/2014/main" id="{41BE0AB4-C38B-4609-8996-39F1C4854722}"/>
                </a:ext>
              </a:extLst>
            </p:cNvPr>
            <p:cNvCxnSpPr>
              <a:stCxn id="69" idx="1"/>
            </p:cNvCxnSpPr>
            <p:nvPr/>
          </p:nvCxnSpPr>
          <p:spPr>
            <a:xfrm flipH="1">
              <a:off x="6096000" y="3104713"/>
              <a:ext cx="1939136" cy="10647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098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550B81-06E3-4A43-8400-665ED8EB1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Extraction liquide-liquide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800F78B-62CC-42DE-B6B0-86805A75A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D8DF82B-F16E-49AD-8B85-BB10A896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4</a:t>
            </a:fld>
            <a:endParaRPr lang="fr-FR"/>
          </a:p>
        </p:txBody>
      </p:sp>
      <p:grpSp>
        <p:nvGrpSpPr>
          <p:cNvPr id="8" name="Grouper 142">
            <a:extLst>
              <a:ext uri="{FF2B5EF4-FFF2-40B4-BE49-F238E27FC236}">
                <a16:creationId xmlns:a16="http://schemas.microsoft.com/office/drawing/2014/main" id="{99C86181-9634-4648-88E7-515ECF9F16A7}"/>
              </a:ext>
            </a:extLst>
          </p:cNvPr>
          <p:cNvGrpSpPr/>
          <p:nvPr/>
        </p:nvGrpSpPr>
        <p:grpSpPr>
          <a:xfrm>
            <a:off x="2240777" y="3671442"/>
            <a:ext cx="1445408" cy="1825425"/>
            <a:chOff x="0" y="0"/>
            <a:chExt cx="693420" cy="883285"/>
          </a:xfrm>
        </p:grpSpPr>
        <p:grpSp>
          <p:nvGrpSpPr>
            <p:cNvPr id="9" name="Grouper 93">
              <a:extLst>
                <a:ext uri="{FF2B5EF4-FFF2-40B4-BE49-F238E27FC236}">
                  <a16:creationId xmlns:a16="http://schemas.microsoft.com/office/drawing/2014/main" id="{F720DFBE-640B-4331-B8AA-6ACD71266D8C}"/>
                </a:ext>
              </a:extLst>
            </p:cNvPr>
            <p:cNvGrpSpPr/>
            <p:nvPr/>
          </p:nvGrpSpPr>
          <p:grpSpPr>
            <a:xfrm>
              <a:off x="0" y="0"/>
              <a:ext cx="693420" cy="883285"/>
              <a:chOff x="0" y="0"/>
              <a:chExt cx="693420" cy="88328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22CB66E-939D-4ACE-B6F5-653DD39E1407}"/>
                  </a:ext>
                </a:extLst>
              </p:cNvPr>
              <p:cNvSpPr/>
              <p:nvPr/>
            </p:nvSpPr>
            <p:spPr>
              <a:xfrm>
                <a:off x="272415" y="12700"/>
                <a:ext cx="152400" cy="254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953A649C-94EC-44AE-857A-22EC72581958}"/>
                  </a:ext>
                </a:extLst>
              </p:cNvPr>
              <p:cNvSpPr/>
              <p:nvPr/>
            </p:nvSpPr>
            <p:spPr>
              <a:xfrm>
                <a:off x="0" y="189865"/>
                <a:ext cx="693420" cy="69342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AB9CD7B-78C9-4D32-B436-384A767DCD76}"/>
                  </a:ext>
                </a:extLst>
              </p:cNvPr>
              <p:cNvSpPr/>
              <p:nvPr/>
            </p:nvSpPr>
            <p:spPr>
              <a:xfrm>
                <a:off x="280035" y="0"/>
                <a:ext cx="134620" cy="2870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10" name="Corde 9">
              <a:extLst>
                <a:ext uri="{FF2B5EF4-FFF2-40B4-BE49-F238E27FC236}">
                  <a16:creationId xmlns:a16="http://schemas.microsoft.com/office/drawing/2014/main" id="{26B25405-2115-48C2-AA95-9BFB0C82F361}"/>
                </a:ext>
              </a:extLst>
            </p:cNvPr>
            <p:cNvSpPr/>
            <p:nvPr/>
          </p:nvSpPr>
          <p:spPr>
            <a:xfrm rot="17560116">
              <a:off x="0" y="189865"/>
              <a:ext cx="693420" cy="693420"/>
            </a:xfrm>
            <a:prstGeom prst="chord">
              <a:avLst>
                <a:gd name="adj1" fmla="val 4447445"/>
                <a:gd name="adj2" fmla="val 14321630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DBE01610-6BD1-49D8-85EE-B055AD3AA39C}"/>
              </a:ext>
            </a:extLst>
          </p:cNvPr>
          <p:cNvSpPr txBox="1"/>
          <p:nvPr/>
        </p:nvSpPr>
        <p:spPr>
          <a:xfrm>
            <a:off x="1236204" y="1880316"/>
            <a:ext cx="3820632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Ions benzoate : solubles dans l’eau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Alcool benzylique : mieux soluble dans le </a:t>
            </a:r>
            <a:r>
              <a:rPr lang="fr-FR" dirty="0" err="1"/>
              <a:t>diéthyléther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Solvant : eau</a:t>
            </a:r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7F5E01FE-C922-4B49-911C-8DF94C9F27F9}"/>
              </a:ext>
            </a:extLst>
          </p:cNvPr>
          <p:cNvSpPr/>
          <p:nvPr/>
        </p:nvSpPr>
        <p:spPr>
          <a:xfrm>
            <a:off x="1694252" y="3083442"/>
            <a:ext cx="878827" cy="1885507"/>
          </a:xfrm>
          <a:custGeom>
            <a:avLst/>
            <a:gdLst>
              <a:gd name="connsiteX0" fmla="*/ 6957 w 878827"/>
              <a:gd name="connsiteY0" fmla="*/ 0 h 1885507"/>
              <a:gd name="connsiteX1" fmla="*/ 127460 w 878827"/>
              <a:gd name="connsiteY1" fmla="*/ 595423 h 1885507"/>
              <a:gd name="connsiteX2" fmla="*/ 878827 w 878827"/>
              <a:gd name="connsiteY2" fmla="*/ 1885507 h 188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8827" h="1885507">
                <a:moveTo>
                  <a:pt x="6957" y="0"/>
                </a:moveTo>
                <a:cubicBezTo>
                  <a:pt x="-5448" y="140586"/>
                  <a:pt x="-17852" y="281172"/>
                  <a:pt x="127460" y="595423"/>
                </a:cubicBezTo>
                <a:cubicBezTo>
                  <a:pt x="272772" y="909674"/>
                  <a:pt x="575799" y="1397590"/>
                  <a:pt x="878827" y="1885507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Espace réservé du contenu 16">
            <a:extLst>
              <a:ext uri="{FF2B5EF4-FFF2-40B4-BE49-F238E27FC236}">
                <a16:creationId xmlns:a16="http://schemas.microsoft.com/office/drawing/2014/main" id="{936DB8D8-D64A-4BEB-BF3E-5A8FA62F52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014" y="1415604"/>
            <a:ext cx="3689813" cy="4511675"/>
          </a:xfrm>
        </p:spPr>
      </p:pic>
    </p:spTree>
    <p:extLst>
      <p:ext uri="{BB962C8B-B14F-4D97-AF65-F5344CB8AC3E}">
        <p14:creationId xmlns:p14="http://schemas.microsoft.com/office/powerpoint/2010/main" val="1735795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E18822-0506-4C87-8FF8-78E9BEA84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Séparation solide-liquide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753EC8D-5A21-4F85-8FB3-983502FCB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8CCB5C2-F330-45CB-9E27-700C1DB76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5</a:t>
            </a:fld>
            <a:endParaRPr lang="fr-FR"/>
          </a:p>
        </p:txBody>
      </p:sp>
      <p:pic>
        <p:nvPicPr>
          <p:cNvPr id="50" name="Image 49">
            <a:extLst>
              <a:ext uri="{FF2B5EF4-FFF2-40B4-BE49-F238E27FC236}">
                <a16:creationId xmlns:a16="http://schemas.microsoft.com/office/drawing/2014/main" id="{C5A276DF-802D-43DA-95E3-0F19F32AB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765" y="1944800"/>
            <a:ext cx="3012468" cy="408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308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D35574-1D8D-4A1D-A011-55B55321B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Méthodes de séparation</a:t>
            </a:r>
          </a:p>
        </p:txBody>
      </p:sp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F7CC6418-FAC6-4A78-B071-BC0069E900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1684387"/>
              </p:ext>
            </p:extLst>
          </p:nvPr>
        </p:nvGraphicFramePr>
        <p:xfrm>
          <a:off x="1097280" y="2278085"/>
          <a:ext cx="10058400" cy="17481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3663065017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88309038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313914853"/>
                    </a:ext>
                  </a:extLst>
                </a:gridCol>
              </a:tblGrid>
              <a:tr h="64126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Type de produit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Liquide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Solide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588579"/>
                  </a:ext>
                </a:extLst>
              </a:tr>
              <a:tr h="110684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Méthodes de séparation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Extraction liquide-liquide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Évaporateur rotatif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Précipitation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Essorage Buchner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5639014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CABA90D-42C0-4D84-B8E2-E4A972503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D7FE62F-130E-4221-A577-314B1C282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326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5E94B7-52B3-4B6B-9B5F-80242B28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Chromatographie sur couche mince (CCM)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992F8EA-0A70-49F6-BA4D-2C57896E7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F43513-8FEA-409B-B20A-1BC24DD3C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7</a:t>
            </a:fld>
            <a:endParaRPr lang="fr-FR"/>
          </a:p>
        </p:txBody>
      </p:sp>
      <p:sp>
        <p:nvSpPr>
          <p:cNvPr id="6" name="Arrondir un rectangle avec un coin du même côté 734">
            <a:extLst>
              <a:ext uri="{FF2B5EF4-FFF2-40B4-BE49-F238E27FC236}">
                <a16:creationId xmlns:a16="http://schemas.microsoft.com/office/drawing/2014/main" id="{595F3CA5-9DCA-46F5-9521-C54584C612C5}"/>
              </a:ext>
            </a:extLst>
          </p:cNvPr>
          <p:cNvSpPr/>
          <p:nvPr/>
        </p:nvSpPr>
        <p:spPr>
          <a:xfrm rot="10800000" flipH="1">
            <a:off x="2636916" y="3025115"/>
            <a:ext cx="2148139" cy="2726896"/>
          </a:xfrm>
          <a:custGeom>
            <a:avLst/>
            <a:gdLst>
              <a:gd name="connsiteX0" fmla="*/ 358030 w 2148139"/>
              <a:gd name="connsiteY0" fmla="*/ 0 h 2726896"/>
              <a:gd name="connsiteX1" fmla="*/ 1790109 w 2148139"/>
              <a:gd name="connsiteY1" fmla="*/ 0 h 2726896"/>
              <a:gd name="connsiteX2" fmla="*/ 2148139 w 2148139"/>
              <a:gd name="connsiteY2" fmla="*/ 358030 h 2726896"/>
              <a:gd name="connsiteX3" fmla="*/ 2148139 w 2148139"/>
              <a:gd name="connsiteY3" fmla="*/ 2726896 h 2726896"/>
              <a:gd name="connsiteX4" fmla="*/ 2148139 w 2148139"/>
              <a:gd name="connsiteY4" fmla="*/ 2726896 h 2726896"/>
              <a:gd name="connsiteX5" fmla="*/ 0 w 2148139"/>
              <a:gd name="connsiteY5" fmla="*/ 2726896 h 2726896"/>
              <a:gd name="connsiteX6" fmla="*/ 0 w 2148139"/>
              <a:gd name="connsiteY6" fmla="*/ 2726896 h 2726896"/>
              <a:gd name="connsiteX7" fmla="*/ 0 w 2148139"/>
              <a:gd name="connsiteY7" fmla="*/ 358030 h 2726896"/>
              <a:gd name="connsiteX8" fmla="*/ 358030 w 2148139"/>
              <a:gd name="connsiteY8" fmla="*/ 0 h 2726896"/>
              <a:gd name="connsiteX0" fmla="*/ 0 w 2239579"/>
              <a:gd name="connsiteY0" fmla="*/ 2726896 h 2818336"/>
              <a:gd name="connsiteX1" fmla="*/ 0 w 2239579"/>
              <a:gd name="connsiteY1" fmla="*/ 2726896 h 2818336"/>
              <a:gd name="connsiteX2" fmla="*/ 0 w 2239579"/>
              <a:gd name="connsiteY2" fmla="*/ 358030 h 2818336"/>
              <a:gd name="connsiteX3" fmla="*/ 358030 w 2239579"/>
              <a:gd name="connsiteY3" fmla="*/ 0 h 2818336"/>
              <a:gd name="connsiteX4" fmla="*/ 1790109 w 2239579"/>
              <a:gd name="connsiteY4" fmla="*/ 0 h 2818336"/>
              <a:gd name="connsiteX5" fmla="*/ 2148139 w 2239579"/>
              <a:gd name="connsiteY5" fmla="*/ 358030 h 2818336"/>
              <a:gd name="connsiteX6" fmla="*/ 2148139 w 2239579"/>
              <a:gd name="connsiteY6" fmla="*/ 2726896 h 2818336"/>
              <a:gd name="connsiteX7" fmla="*/ 2239579 w 2239579"/>
              <a:gd name="connsiteY7" fmla="*/ 2818336 h 2818336"/>
              <a:gd name="connsiteX0" fmla="*/ 0 w 2148139"/>
              <a:gd name="connsiteY0" fmla="*/ 2726896 h 2726896"/>
              <a:gd name="connsiteX1" fmla="*/ 0 w 2148139"/>
              <a:gd name="connsiteY1" fmla="*/ 2726896 h 2726896"/>
              <a:gd name="connsiteX2" fmla="*/ 0 w 2148139"/>
              <a:gd name="connsiteY2" fmla="*/ 358030 h 2726896"/>
              <a:gd name="connsiteX3" fmla="*/ 358030 w 2148139"/>
              <a:gd name="connsiteY3" fmla="*/ 0 h 2726896"/>
              <a:gd name="connsiteX4" fmla="*/ 1790109 w 2148139"/>
              <a:gd name="connsiteY4" fmla="*/ 0 h 2726896"/>
              <a:gd name="connsiteX5" fmla="*/ 2148139 w 2148139"/>
              <a:gd name="connsiteY5" fmla="*/ 358030 h 2726896"/>
              <a:gd name="connsiteX6" fmla="*/ 2148139 w 2148139"/>
              <a:gd name="connsiteY6" fmla="*/ 2726896 h 2726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48139" h="2726896">
                <a:moveTo>
                  <a:pt x="0" y="2726896"/>
                </a:moveTo>
                <a:lnTo>
                  <a:pt x="0" y="2726896"/>
                </a:lnTo>
                <a:lnTo>
                  <a:pt x="0" y="358030"/>
                </a:lnTo>
                <a:cubicBezTo>
                  <a:pt x="0" y="160295"/>
                  <a:pt x="160295" y="0"/>
                  <a:pt x="358030" y="0"/>
                </a:cubicBezTo>
                <a:lnTo>
                  <a:pt x="1790109" y="0"/>
                </a:lnTo>
                <a:cubicBezTo>
                  <a:pt x="1987844" y="0"/>
                  <a:pt x="2148139" y="160295"/>
                  <a:pt x="2148139" y="358030"/>
                </a:cubicBezTo>
                <a:lnTo>
                  <a:pt x="2148139" y="2726896"/>
                </a:lnTo>
              </a:path>
            </a:pathLst>
          </a:custGeom>
          <a:noFill/>
          <a:ln w="127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7" name="Parallélogramme 6">
            <a:extLst>
              <a:ext uri="{FF2B5EF4-FFF2-40B4-BE49-F238E27FC236}">
                <a16:creationId xmlns:a16="http://schemas.microsoft.com/office/drawing/2014/main" id="{ED5328D1-28F2-4B17-8A3B-BFD930982E6D}"/>
              </a:ext>
            </a:extLst>
          </p:cNvPr>
          <p:cNvSpPr/>
          <p:nvPr/>
        </p:nvSpPr>
        <p:spPr>
          <a:xfrm rot="21208233" flipH="1">
            <a:off x="2705989" y="1806667"/>
            <a:ext cx="96139" cy="3893402"/>
          </a:xfrm>
          <a:prstGeom prst="parallelogram">
            <a:avLst>
              <a:gd name="adj" fmla="val 77936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8A06F94-05A7-469C-B735-F4ADBF983B8A}"/>
              </a:ext>
            </a:extLst>
          </p:cNvPr>
          <p:cNvCxnSpPr>
            <a:cxnSpLocks/>
          </p:cNvCxnSpPr>
          <p:nvPr/>
        </p:nvCxnSpPr>
        <p:spPr>
          <a:xfrm>
            <a:off x="2636916" y="5213773"/>
            <a:ext cx="214813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02ACDCDB-5802-41E6-9AF9-0BA8DF3EC17D}"/>
              </a:ext>
            </a:extLst>
          </p:cNvPr>
          <p:cNvSpPr txBox="1"/>
          <p:nvPr/>
        </p:nvSpPr>
        <p:spPr>
          <a:xfrm>
            <a:off x="392713" y="4849764"/>
            <a:ext cx="2035909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Eluant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Cyclohexane 5/6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Éthanoate d’éthyle 1/6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29CFA4C7-6EFD-4F21-8F53-90DEF98B44C0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428622" y="5449929"/>
            <a:ext cx="1512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882E0C71-BE4D-4B9F-B4DC-0BB0291ABD4D}"/>
              </a:ext>
            </a:extLst>
          </p:cNvPr>
          <p:cNvSpPr txBox="1"/>
          <p:nvPr/>
        </p:nvSpPr>
        <p:spPr>
          <a:xfrm>
            <a:off x="1087936" y="2050140"/>
            <a:ext cx="84765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Plaque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F8AB8E47-3C1C-42FA-AB17-16DE07AB2340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935592" y="2234806"/>
            <a:ext cx="6273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AA34812-AFCF-4D73-974F-29EBE0FC98B6}"/>
              </a:ext>
            </a:extLst>
          </p:cNvPr>
          <p:cNvSpPr/>
          <p:nvPr/>
        </p:nvSpPr>
        <p:spPr>
          <a:xfrm>
            <a:off x="8618654" y="1496535"/>
            <a:ext cx="3009458" cy="45535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437BE6E8-476D-496A-9E0B-349F65457FB4}"/>
              </a:ext>
            </a:extLst>
          </p:cNvPr>
          <p:cNvGrpSpPr/>
          <p:nvPr/>
        </p:nvGrpSpPr>
        <p:grpSpPr>
          <a:xfrm>
            <a:off x="8618654" y="5525944"/>
            <a:ext cx="3009458" cy="97558"/>
            <a:chOff x="7959437" y="5580834"/>
            <a:chExt cx="3009458" cy="97558"/>
          </a:xfrm>
        </p:grpSpPr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9CD85BC6-1665-493A-AFAB-3AFB0127EB65}"/>
                </a:ext>
              </a:extLst>
            </p:cNvPr>
            <p:cNvCxnSpPr>
              <a:cxnSpLocks/>
            </p:cNvCxnSpPr>
            <p:nvPr/>
          </p:nvCxnSpPr>
          <p:spPr>
            <a:xfrm>
              <a:off x="7959437" y="5629613"/>
              <a:ext cx="300945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CB570211-3A34-4BC4-BF99-ABBE6D657533}"/>
                </a:ext>
              </a:extLst>
            </p:cNvPr>
            <p:cNvGrpSpPr/>
            <p:nvPr/>
          </p:nvGrpSpPr>
          <p:grpSpPr>
            <a:xfrm>
              <a:off x="8441215" y="5580834"/>
              <a:ext cx="2045901" cy="97558"/>
              <a:chOff x="8653725" y="5588282"/>
              <a:chExt cx="1765727" cy="84198"/>
            </a:xfrm>
          </p:grpSpPr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8FE41B0D-F408-44EE-92E8-DC004E970BEF}"/>
                  </a:ext>
                </a:extLst>
              </p:cNvPr>
              <p:cNvSpPr/>
              <p:nvPr/>
            </p:nvSpPr>
            <p:spPr>
              <a:xfrm>
                <a:off x="8653725" y="5589155"/>
                <a:ext cx="78597" cy="8091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9B567A9C-194C-4695-B215-E9C4DFFCB803}"/>
                  </a:ext>
                </a:extLst>
              </p:cNvPr>
              <p:cNvSpPr/>
              <p:nvPr/>
            </p:nvSpPr>
            <p:spPr>
              <a:xfrm>
                <a:off x="9076415" y="5591565"/>
                <a:ext cx="78597" cy="8091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3" name="Ellipse 22">
                <a:extLst>
                  <a:ext uri="{FF2B5EF4-FFF2-40B4-BE49-F238E27FC236}">
                    <a16:creationId xmlns:a16="http://schemas.microsoft.com/office/drawing/2014/main" id="{2ACC9108-2EBE-4DD5-AE22-B4246DC22105}"/>
                  </a:ext>
                </a:extLst>
              </p:cNvPr>
              <p:cNvSpPr/>
              <p:nvPr/>
            </p:nvSpPr>
            <p:spPr>
              <a:xfrm>
                <a:off x="9497895" y="5588284"/>
                <a:ext cx="78597" cy="8091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9E8420C8-8E82-456F-B017-C9E897C94351}"/>
                  </a:ext>
                </a:extLst>
              </p:cNvPr>
              <p:cNvSpPr/>
              <p:nvPr/>
            </p:nvSpPr>
            <p:spPr>
              <a:xfrm>
                <a:off x="9919375" y="5588282"/>
                <a:ext cx="78597" cy="8091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4B4200F8-7F7C-475D-9BF4-802E11949632}"/>
                  </a:ext>
                </a:extLst>
              </p:cNvPr>
              <p:cNvSpPr/>
              <p:nvPr/>
            </p:nvSpPr>
            <p:spPr>
              <a:xfrm>
                <a:off x="10340855" y="5588282"/>
                <a:ext cx="78597" cy="8091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sp>
        <p:nvSpPr>
          <p:cNvPr id="27" name="ZoneTexte 26">
            <a:extLst>
              <a:ext uri="{FF2B5EF4-FFF2-40B4-BE49-F238E27FC236}">
                <a16:creationId xmlns:a16="http://schemas.microsoft.com/office/drawing/2014/main" id="{92EA2B84-145C-4821-BBDF-70DB1CF50C2A}"/>
              </a:ext>
            </a:extLst>
          </p:cNvPr>
          <p:cNvSpPr txBox="1"/>
          <p:nvPr/>
        </p:nvSpPr>
        <p:spPr>
          <a:xfrm flipH="1">
            <a:off x="6262221" y="2589029"/>
            <a:ext cx="23032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Benzaldéhyde</a:t>
            </a:r>
          </a:p>
          <a:p>
            <a:pPr marL="342900" indent="-342900">
              <a:buAutoNum type="arabicParenR"/>
            </a:pPr>
            <a:r>
              <a:rPr lang="fr-FR" dirty="0"/>
              <a:t>Phase organique</a:t>
            </a:r>
          </a:p>
          <a:p>
            <a:pPr marL="342900" indent="-342900">
              <a:buAutoNum type="arabicParenR"/>
            </a:pPr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Alcool benzylique</a:t>
            </a:r>
          </a:p>
          <a:p>
            <a:pPr marL="342900" indent="-342900">
              <a:buAutoNum type="arabicParenR"/>
            </a:pPr>
            <a:r>
              <a:rPr lang="fr-FR" dirty="0"/>
              <a:t>Acide benzoïque</a:t>
            </a:r>
          </a:p>
          <a:p>
            <a:pPr marL="342900" indent="-342900">
              <a:buAutoNum type="arabicParenR"/>
            </a:pPr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Solide extrait de la phase aqueuse</a:t>
            </a:r>
          </a:p>
          <a:p>
            <a:pPr marL="342900" indent="-342900">
              <a:buAutoNum type="arabicParenR"/>
            </a:pPr>
            <a:endParaRPr lang="fr-FR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692F0D1-7B86-4922-97BF-D31F909C06DE}"/>
              </a:ext>
            </a:extLst>
          </p:cNvPr>
          <p:cNvSpPr txBox="1"/>
          <p:nvPr/>
        </p:nvSpPr>
        <p:spPr>
          <a:xfrm>
            <a:off x="8996758" y="4980365"/>
            <a:ext cx="298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F72844CA-0195-4862-B65D-81750BD442F5}"/>
              </a:ext>
            </a:extLst>
          </p:cNvPr>
          <p:cNvSpPr txBox="1"/>
          <p:nvPr/>
        </p:nvSpPr>
        <p:spPr>
          <a:xfrm>
            <a:off x="9486518" y="4980365"/>
            <a:ext cx="298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C251F7C4-3B3C-4FA3-92CA-C5A802EEA7D8}"/>
              </a:ext>
            </a:extLst>
          </p:cNvPr>
          <p:cNvSpPr txBox="1"/>
          <p:nvPr/>
        </p:nvSpPr>
        <p:spPr>
          <a:xfrm>
            <a:off x="9972869" y="4982807"/>
            <a:ext cx="298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E60B4A42-4C8D-4F6C-96F5-601A5CF2C293}"/>
              </a:ext>
            </a:extLst>
          </p:cNvPr>
          <p:cNvSpPr txBox="1"/>
          <p:nvPr/>
        </p:nvSpPr>
        <p:spPr>
          <a:xfrm>
            <a:off x="10459220" y="4992133"/>
            <a:ext cx="298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2220FD6-029C-4A92-8F35-55AB553318A0}"/>
              </a:ext>
            </a:extLst>
          </p:cNvPr>
          <p:cNvSpPr txBox="1"/>
          <p:nvPr/>
        </p:nvSpPr>
        <p:spPr>
          <a:xfrm>
            <a:off x="10914068" y="4980365"/>
            <a:ext cx="298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</a:t>
            </a:r>
            <a:endParaRPr lang="fr-FR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2308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2216C1-709C-4730-BC4D-7B4F4F515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Banc </a:t>
            </a:r>
            <a:r>
              <a:rPr lang="fr-FR" dirty="0" err="1"/>
              <a:t>Kofler</a:t>
            </a:r>
            <a:endParaRPr lang="fr-FR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9C349BD0-A386-49B5-B681-052271E4E5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963" y="1790700"/>
            <a:ext cx="8788400" cy="3644900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7903EF3-87B6-4F25-9441-4517C7B07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BA39B95-B33A-4EAF-80DF-6A8FC1319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8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5CD585E-E293-45CD-BBCE-23A5D6D1B813}"/>
              </a:ext>
            </a:extLst>
          </p:cNvPr>
          <p:cNvSpPr txBox="1"/>
          <p:nvPr/>
        </p:nvSpPr>
        <p:spPr>
          <a:xfrm>
            <a:off x="1097280" y="1422400"/>
            <a:ext cx="2573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</a:t>
            </a:r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mesure de température de fusion</a:t>
            </a:r>
          </a:p>
        </p:txBody>
      </p:sp>
    </p:spTree>
    <p:extLst>
      <p:ext uri="{BB962C8B-B14F-4D97-AF65-F5344CB8AC3E}">
        <p14:creationId xmlns:p14="http://schemas.microsoft.com/office/powerpoint/2010/main" val="2995647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CC1D8D-9296-4209-8D4F-14966F753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Réfractomètre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20B8D336-2196-4C2B-8F55-4E822F429D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328" y="1235640"/>
            <a:ext cx="6655142" cy="2902099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F5FCB87-1209-40BD-8912-DFC0ED291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F18148-E29C-4BF2-80BA-E8B8DD31D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9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D90A56C-A213-4D4B-A2C7-ADEF4F743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906" y="4293656"/>
            <a:ext cx="7563239" cy="185429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4960D16F-E3E4-4BEB-803B-34CE02D2955A}"/>
              </a:ext>
            </a:extLst>
          </p:cNvPr>
          <p:cNvSpPr txBox="1"/>
          <p:nvPr/>
        </p:nvSpPr>
        <p:spPr>
          <a:xfrm>
            <a:off x="1097280" y="1422400"/>
            <a:ext cx="2573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</a:t>
            </a:r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mesure d’indice de réfraction</a:t>
            </a:r>
          </a:p>
        </p:txBody>
      </p:sp>
    </p:spTree>
    <p:extLst>
      <p:ext uri="{BB962C8B-B14F-4D97-AF65-F5344CB8AC3E}">
        <p14:creationId xmlns:p14="http://schemas.microsoft.com/office/powerpoint/2010/main" val="1501504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D35574-1D8D-4A1D-A011-55B55321B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Méthodes de séparation</a:t>
            </a:r>
          </a:p>
        </p:txBody>
      </p:sp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F7CC6418-FAC6-4A78-B071-BC0069E900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8252437"/>
              </p:ext>
            </p:extLst>
          </p:nvPr>
        </p:nvGraphicFramePr>
        <p:xfrm>
          <a:off x="1097280" y="2278085"/>
          <a:ext cx="10058400" cy="28549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3663065017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88309038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313914853"/>
                    </a:ext>
                  </a:extLst>
                </a:gridCol>
              </a:tblGrid>
              <a:tr h="64126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Type de produit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Liquide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Solide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588579"/>
                  </a:ext>
                </a:extLst>
              </a:tr>
              <a:tr h="110684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Méthodes de séparation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Extraction liquide-liquide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Évaporateur rotatif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Précipitation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Essorage Buchner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639014"/>
                  </a:ext>
                </a:extLst>
              </a:tr>
              <a:tr h="110684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Contrôle de pureté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CCM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Réfractomètre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CCM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Température de fusion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555666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CABA90D-42C0-4D84-B8E2-E4A972503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D7FE62F-130E-4221-A577-314B1C282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5892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2216C1-709C-4730-BC4D-7B4F4F515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Recristallisation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7903EF3-87B6-4F25-9441-4517C7B07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BA39B95-B33A-4EAF-80DF-6A8FC1319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11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5CD585E-E293-45CD-BBCE-23A5D6D1B813}"/>
              </a:ext>
            </a:extLst>
          </p:cNvPr>
          <p:cNvSpPr txBox="1"/>
          <p:nvPr/>
        </p:nvSpPr>
        <p:spPr>
          <a:xfrm>
            <a:off x="1097280" y="1422400"/>
            <a:ext cx="2573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</a:t>
            </a:r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purification d’un produit solide</a:t>
            </a:r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63697352-E2D9-4F7C-A793-6F2346C5BA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958" y="1313044"/>
            <a:ext cx="5663044" cy="4962843"/>
          </a:xfrm>
        </p:spPr>
      </p:pic>
    </p:spTree>
    <p:extLst>
      <p:ext uri="{BB962C8B-B14F-4D97-AF65-F5344CB8AC3E}">
        <p14:creationId xmlns:p14="http://schemas.microsoft.com/office/powerpoint/2010/main" val="1897623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2216C1-709C-4730-BC4D-7B4F4F515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Distillation fractionnée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7903EF3-87B6-4F25-9441-4517C7B07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BA39B95-B33A-4EAF-80DF-6A8FC1319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AFEE4-4C3C-4D7F-ACF3-52DE8213F040}" type="slidenum">
              <a:rPr lang="fr-FR" smtClean="0"/>
              <a:t>12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5CD585E-E293-45CD-BBCE-23A5D6D1B813}"/>
              </a:ext>
            </a:extLst>
          </p:cNvPr>
          <p:cNvSpPr txBox="1"/>
          <p:nvPr/>
        </p:nvSpPr>
        <p:spPr>
          <a:xfrm>
            <a:off x="1097280" y="1422400"/>
            <a:ext cx="2573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</a:t>
            </a:r>
            <a:r>
              <a:rPr lang="fr-F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purification d’un produit liquide</a:t>
            </a:r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21D64D3C-BC69-43C6-8180-5BB8139650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185" y="1313044"/>
            <a:ext cx="6136348" cy="4962843"/>
          </a:xfrm>
        </p:spPr>
      </p:pic>
    </p:spTree>
    <p:extLst>
      <p:ext uri="{BB962C8B-B14F-4D97-AF65-F5344CB8AC3E}">
        <p14:creationId xmlns:p14="http://schemas.microsoft.com/office/powerpoint/2010/main" val="2732650576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166</TotalTime>
  <Words>210</Words>
  <Application>Microsoft Office PowerPoint</Application>
  <PresentationFormat>Grand écran</PresentationFormat>
  <Paragraphs>87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Rétrospective</vt:lpstr>
      <vt:lpstr>Séparations, purifications, contrôles de pureté́</vt:lpstr>
      <vt:lpstr>Réaction de Canizzaro</vt:lpstr>
      <vt:lpstr>Réaction de Canizzaro</vt:lpstr>
      <vt:lpstr>Extraction liquide-liquide</vt:lpstr>
      <vt:lpstr>Séparation solide-liquide</vt:lpstr>
      <vt:lpstr>Méthodes de séparation</vt:lpstr>
      <vt:lpstr>Chromatographie sur couche mince (CCM)</vt:lpstr>
      <vt:lpstr>Banc Kofler</vt:lpstr>
      <vt:lpstr>Réfractomètre</vt:lpstr>
      <vt:lpstr>Méthodes de séparation</vt:lpstr>
      <vt:lpstr>Recristallisation</vt:lpstr>
      <vt:lpstr>Distillation fractionnée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Séparations, purifications, contrôles de pureté́</dc:title>
  <dc:creator>Hugo Roussille</dc:creator>
  <cp:lastModifiedBy>Hugo Roussille</cp:lastModifiedBy>
  <cp:revision>27</cp:revision>
  <dcterms:created xsi:type="dcterms:W3CDTF">2019-04-13T10:12:36Z</dcterms:created>
  <dcterms:modified xsi:type="dcterms:W3CDTF">2019-06-25T20:33:48Z</dcterms:modified>
</cp:coreProperties>
</file>