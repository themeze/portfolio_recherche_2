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6" r:id="rId3"/>
    <p:sldId id="269" r:id="rId4"/>
    <p:sldId id="265" r:id="rId5"/>
    <p:sldId id="258" r:id="rId6"/>
    <p:sldId id="268" r:id="rId7"/>
    <p:sldId id="267" r:id="rId8"/>
    <p:sldId id="259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2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7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E327774-1B84-44F5-A0C2-062F40310B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906A9B-7BC2-4B4C-BB9F-3C9AE010EF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7ED77-0E8C-446C-A7EC-B7ABA3D4DBE4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03B69B-1C3B-4EBB-A006-39C4B56F0A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A376E2-A7A1-4B59-91FF-523291D19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A6E33-7273-4D80-A6AD-737C4BE368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393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5FDF-D88B-42B9-B882-66C7E5903E07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CE72E-88D3-456B-B685-1D27B081DB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21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26D04-5EE1-457C-9885-BF9C9D47C0A9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99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254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57745"/>
            <a:ext cx="10058400" cy="451134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39DD521-5AA6-4895-8AAE-16A9209C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CBFA-D7B9-45DB-A2C2-5DA69A3D7220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8EA220-647E-4668-847D-891D4AD7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3AC372-4AA6-4E92-9A40-7EC44AC4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6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E7B07-1508-42AA-B295-75C6F6B3C15E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8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4F801-1EF9-4B4F-8545-43AB7FE5A89A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63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E6A-06D6-48E7-AC30-AD148672355E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8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0291-E6BA-4AB2-83BF-4F0C6F2FE1A7}" type="datetime1">
              <a:rPr lang="fr-FR" smtClean="0"/>
              <a:t>25/06/2019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7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8B4FB-B029-4733-B236-1403F11307EA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01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F68A57-0FB6-4DC1-AFBF-98CB3B0B9C99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42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5B22-A210-46AC-92E1-9EC6742411DB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60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39-C1FD-4699-82E3-433F4443EE20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08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D33C8-A2CD-4D38-8D63-AFDAAB18F1AF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6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154989"/>
            <a:ext cx="10058400" cy="9533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42107"/>
            <a:ext cx="10058400" cy="45269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20FEC9-6DAC-4F66-B242-8520EDA7BD0A}" type="datetime1">
              <a:rPr lang="fr-FR" smtClean="0"/>
              <a:t>25/06/2019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22523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29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B8848B-C8B5-44A3-9CE2-2FBAFC7D3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760" y="1850064"/>
            <a:ext cx="11064240" cy="2290749"/>
          </a:xfrm>
        </p:spPr>
        <p:txBody>
          <a:bodyPr/>
          <a:lstStyle/>
          <a:p>
            <a:r>
              <a:rPr lang="fr-FR" dirty="0"/>
              <a:t>Synthèses inorganiques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645822-C6CB-4EB1-8093-88439FA32E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Agrégation 2019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471B82-DF51-4C7A-8BA8-A586C0CC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C2C4084-87AC-4A11-B85B-DF4179C7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398301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096D9-40AE-4982-A138-FFF7740D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Électrosynthèse de l’eau de Javel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8701CF-4F47-43A1-92E6-0B883D57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83E47D-220D-4164-A6AE-47910CBD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2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922767D-63E0-49F8-8D0C-717AC65F818C}"/>
              </a:ext>
            </a:extLst>
          </p:cNvPr>
          <p:cNvGrpSpPr/>
          <p:nvPr/>
        </p:nvGrpSpPr>
        <p:grpSpPr>
          <a:xfrm>
            <a:off x="49703" y="1737360"/>
            <a:ext cx="12092594" cy="4046198"/>
            <a:chOff x="64266" y="1123363"/>
            <a:chExt cx="12092594" cy="4046198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FFCD7857-F979-4EC2-BB38-BEA78E25BC9B}"/>
                </a:ext>
              </a:extLst>
            </p:cNvPr>
            <p:cNvGrpSpPr/>
            <p:nvPr/>
          </p:nvGrpSpPr>
          <p:grpSpPr>
            <a:xfrm>
              <a:off x="2013815" y="1123363"/>
              <a:ext cx="8225329" cy="4046198"/>
              <a:chOff x="466977" y="1236775"/>
              <a:chExt cx="8225329" cy="4046198"/>
            </a:xfrm>
          </p:grpSpPr>
          <p:grpSp>
            <p:nvGrpSpPr>
              <p:cNvPr id="14" name="Grouper 68">
                <a:extLst>
                  <a:ext uri="{FF2B5EF4-FFF2-40B4-BE49-F238E27FC236}">
                    <a16:creationId xmlns:a16="http://schemas.microsoft.com/office/drawing/2014/main" id="{40352CAA-B71B-4830-B4EA-649F52741662}"/>
                  </a:ext>
                </a:extLst>
              </p:cNvPr>
              <p:cNvGrpSpPr/>
              <p:nvPr/>
            </p:nvGrpSpPr>
            <p:grpSpPr>
              <a:xfrm>
                <a:off x="3248121" y="1236775"/>
                <a:ext cx="2504978" cy="4046198"/>
                <a:chOff x="0" y="0"/>
                <a:chExt cx="1605915" cy="2593975"/>
              </a:xfrm>
            </p:grpSpPr>
            <p:grpSp>
              <p:nvGrpSpPr>
                <p:cNvPr id="15" name="Grouper 69">
                  <a:extLst>
                    <a:ext uri="{FF2B5EF4-FFF2-40B4-BE49-F238E27FC236}">
                      <a16:creationId xmlns:a16="http://schemas.microsoft.com/office/drawing/2014/main" id="{96081743-5FB9-4DAD-8C23-CA747114F3B8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605915" cy="2593975"/>
                  <a:chOff x="0" y="0"/>
                  <a:chExt cx="1605915" cy="2593975"/>
                </a:xfrm>
                <a:extLst>
                  <a:ext uri="{0CCBE362-F206-4b92-989A-16890622DB6E}">
                    <ma14:wrappingTextBoxFlag xmlns="" xmlns:ma14="http://schemas.microsoft.com/office/mac/drawingml/2011/main" val="1"/>
                  </a:ext>
                </a:extLst>
              </p:grpSpPr>
              <p:grpSp>
                <p:nvGrpSpPr>
                  <p:cNvPr id="17" name="Grouper 71">
                    <a:extLst>
                      <a:ext uri="{FF2B5EF4-FFF2-40B4-BE49-F238E27FC236}">
                        <a16:creationId xmlns:a16="http://schemas.microsoft.com/office/drawing/2014/main" id="{26D3EDCE-3D75-48BB-BCD5-7E23FCC76165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530350"/>
                    <a:ext cx="1605915" cy="692150"/>
                    <a:chOff x="0" y="0"/>
                    <a:chExt cx="1605915" cy="824230"/>
                  </a:xfrm>
                </p:grpSpPr>
                <p:grpSp>
                  <p:nvGrpSpPr>
                    <p:cNvPr id="69" name="Grouper 123">
                      <a:extLst>
                        <a:ext uri="{FF2B5EF4-FFF2-40B4-BE49-F238E27FC236}">
                          <a16:creationId xmlns:a16="http://schemas.microsoft.com/office/drawing/2014/main" id="{51F5C2B4-3BA6-474B-8106-53558EE405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605915" cy="824230"/>
                      <a:chOff x="0" y="0"/>
                      <a:chExt cx="571500" cy="824230"/>
                    </a:xfrm>
                  </p:grpSpPr>
                  <p:grpSp>
                    <p:nvGrpSpPr>
                      <p:cNvPr id="71" name="Grouper 125">
                        <a:extLst>
                          <a:ext uri="{FF2B5EF4-FFF2-40B4-BE49-F238E27FC236}">
                            <a16:creationId xmlns:a16="http://schemas.microsoft.com/office/drawing/2014/main" id="{1209F394-A69E-424B-B28C-1CEA7BD5D8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24130"/>
                        <a:ext cx="571500" cy="800100"/>
                        <a:chOff x="0" y="0"/>
                        <a:chExt cx="571500" cy="800100"/>
                      </a:xfrm>
                    </p:grpSpPr>
                    <p:sp>
                      <p:nvSpPr>
                        <p:cNvPr id="73" name="Arrondir un rectangle avec un coin du même côté 127">
                          <a:extLst>
                            <a:ext uri="{FF2B5EF4-FFF2-40B4-BE49-F238E27FC236}">
                              <a16:creationId xmlns:a16="http://schemas.microsoft.com/office/drawing/2014/main" id="{9CC54105-DBD7-485D-919A-9D6E2E4634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0" y="0"/>
                          <a:ext cx="571500" cy="800100"/>
                        </a:xfrm>
                        <a:prstGeom prst="round2Same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74" name="Arrondir un rectangle avec un coin du même côté 128">
                          <a:extLst>
                            <a:ext uri="{FF2B5EF4-FFF2-40B4-BE49-F238E27FC236}">
                              <a16:creationId xmlns:a16="http://schemas.microsoft.com/office/drawing/2014/main" id="{E8455875-8ED2-4FDE-A812-0DA55E45EB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0" y="206375"/>
                          <a:ext cx="571500" cy="593725"/>
                        </a:xfrm>
                        <a:prstGeom prst="round2Same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72" name="Rectangle 71">
                        <a:extLst>
                          <a:ext uri="{FF2B5EF4-FFF2-40B4-BE49-F238E27FC236}">
                            <a16:creationId xmlns:a16="http://schemas.microsoft.com/office/drawing/2014/main" id="{D6B2A792-3C1D-410D-83CC-EE9AFA5BC57A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0" y="0"/>
                        <a:ext cx="571500" cy="4508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bg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7C10C6FF-F8AC-4D17-BBC9-6D32B3AE86E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97840" y="205740"/>
                      <a:ext cx="629920" cy="5778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bg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8" name="Grouper 72">
                    <a:extLst>
                      <a:ext uri="{FF2B5EF4-FFF2-40B4-BE49-F238E27FC236}">
                        <a16:creationId xmlns:a16="http://schemas.microsoft.com/office/drawing/2014/main" id="{AA0FFDEF-FE93-4E25-9F69-1CD2B544BD9A}"/>
                      </a:ext>
                    </a:extLst>
                  </p:cNvPr>
                  <p:cNvGrpSpPr/>
                  <p:nvPr/>
                </p:nvGrpSpPr>
                <p:grpSpPr>
                  <a:xfrm>
                    <a:off x="464820" y="1050290"/>
                    <a:ext cx="676275" cy="1157605"/>
                    <a:chOff x="-115156" y="-5080"/>
                    <a:chExt cx="2760759" cy="1157605"/>
                  </a:xfrm>
                </p:grpSpPr>
                <p:sp>
                  <p:nvSpPr>
                    <p:cNvPr id="62" name="Arrondir un rectangle avec un coin du même côté 116">
                      <a:extLst>
                        <a:ext uri="{FF2B5EF4-FFF2-40B4-BE49-F238E27FC236}">
                          <a16:creationId xmlns:a16="http://schemas.microsoft.com/office/drawing/2014/main" id="{DD037935-193F-457E-9A74-2D1C6015ED66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0" y="352425"/>
                      <a:ext cx="2573020" cy="800100"/>
                    </a:xfrm>
                    <a:prstGeom prst="round2Same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3" name="Arrondir un rectangle avec un coin du même côté 117">
                      <a:extLst>
                        <a:ext uri="{FF2B5EF4-FFF2-40B4-BE49-F238E27FC236}">
                          <a16:creationId xmlns:a16="http://schemas.microsoft.com/office/drawing/2014/main" id="{CE6B6CCB-93D9-40A9-B2B9-0F46261D492E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0" y="544195"/>
                      <a:ext cx="2573020" cy="607695"/>
                    </a:xfrm>
                    <a:prstGeom prst="round2Same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F3B4FAE3-C823-49C7-981F-0F9C65BC226E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0" y="328295"/>
                      <a:ext cx="2573020" cy="4508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chemeClr val="bg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5" name="Parallélogramme 64">
                      <a:extLst>
                        <a:ext uri="{FF2B5EF4-FFF2-40B4-BE49-F238E27FC236}">
                          <a16:creationId xmlns:a16="http://schemas.microsoft.com/office/drawing/2014/main" id="{CCB23121-7617-4EA9-B289-2D44CC43E92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115156" y="-5080"/>
                      <a:ext cx="733430" cy="1142365"/>
                    </a:xfrm>
                    <a:prstGeom prst="parallelogram">
                      <a:avLst>
                        <a:gd name="adj" fmla="val 77936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6" name="Parallélogramme 65">
                      <a:extLst>
                        <a:ext uri="{FF2B5EF4-FFF2-40B4-BE49-F238E27FC236}">
                          <a16:creationId xmlns:a16="http://schemas.microsoft.com/office/drawing/2014/main" id="{CDD2A60A-E059-4565-A8E3-9D63509BF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7908" y="-5080"/>
                      <a:ext cx="637695" cy="1142365"/>
                    </a:xfrm>
                    <a:prstGeom prst="parallelogram">
                      <a:avLst>
                        <a:gd name="adj" fmla="val 72609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67" name="Connecteur droit 66">
                      <a:extLst>
                        <a:ext uri="{FF2B5EF4-FFF2-40B4-BE49-F238E27FC236}">
                          <a16:creationId xmlns:a16="http://schemas.microsoft.com/office/drawing/2014/main" id="{AF411BC3-A86B-4A5F-9DAF-9A687CA882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196465" y="543560"/>
                      <a:ext cx="376555" cy="1270"/>
                    </a:xfrm>
                    <a:prstGeom prst="line">
                      <a:avLst/>
                    </a:prstGeom>
                    <a:ln w="9525" cmpd="sng"/>
                    <a:effectLst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Connecteur droit 67">
                      <a:extLst>
                        <a:ext uri="{FF2B5EF4-FFF2-40B4-BE49-F238E27FC236}">
                          <a16:creationId xmlns:a16="http://schemas.microsoft.com/office/drawing/2014/main" id="{841FF250-B55F-4D70-BF44-D2DD43333DF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0" y="544830"/>
                      <a:ext cx="376555" cy="1270"/>
                    </a:xfrm>
                    <a:prstGeom prst="line">
                      <a:avLst/>
                    </a:prstGeom>
                    <a:ln w="9525" cmpd="sng"/>
                    <a:effectLst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" name="Grouper 73">
                    <a:extLst>
                      <a:ext uri="{FF2B5EF4-FFF2-40B4-BE49-F238E27FC236}">
                        <a16:creationId xmlns:a16="http://schemas.microsoft.com/office/drawing/2014/main" id="{7E0F2A28-B6AC-4B1A-9BE8-2703C34063FF}"/>
                      </a:ext>
                    </a:extLst>
                  </p:cNvPr>
                  <p:cNvGrpSpPr/>
                  <p:nvPr/>
                </p:nvGrpSpPr>
                <p:grpSpPr>
                  <a:xfrm>
                    <a:off x="236220" y="2230120"/>
                    <a:ext cx="1143000" cy="363855"/>
                    <a:chOff x="0" y="0"/>
                    <a:chExt cx="1143000" cy="363855"/>
                  </a:xfrm>
                </p:grpSpPr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FA13F0A6-14B0-4342-B4A3-B9CC0481E5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1143000" cy="363855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1" name="Ellipse 60">
                      <a:extLst>
                        <a:ext uri="{FF2B5EF4-FFF2-40B4-BE49-F238E27FC236}">
                          <a16:creationId xmlns:a16="http://schemas.microsoft.com/office/drawing/2014/main" id="{4DB04C9A-91AD-4490-86DD-2F28CC511E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300" y="114300"/>
                      <a:ext cx="114300" cy="13525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20" name="Grouper 74">
                    <a:extLst>
                      <a:ext uri="{FF2B5EF4-FFF2-40B4-BE49-F238E27FC236}">
                        <a16:creationId xmlns:a16="http://schemas.microsoft.com/office/drawing/2014/main" id="{F0965761-2E00-451E-BDCE-F9D0E5B81296}"/>
                      </a:ext>
                    </a:extLst>
                  </p:cNvPr>
                  <p:cNvGrpSpPr/>
                  <p:nvPr/>
                </p:nvGrpSpPr>
                <p:grpSpPr>
                  <a:xfrm>
                    <a:off x="136525" y="0"/>
                    <a:ext cx="1342390" cy="1050290"/>
                    <a:chOff x="0" y="0"/>
                    <a:chExt cx="1342390" cy="1050290"/>
                  </a:xfrm>
                </p:grpSpPr>
                <p:grpSp>
                  <p:nvGrpSpPr>
                    <p:cNvPr id="47" name="Grouper 101">
                      <a:extLst>
                        <a:ext uri="{FF2B5EF4-FFF2-40B4-BE49-F238E27FC236}">
                          <a16:creationId xmlns:a16="http://schemas.microsoft.com/office/drawing/2014/main" id="{F9EC72F1-04D7-42DD-8621-F5DECD18A5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915" y="0"/>
                      <a:ext cx="1230630" cy="741680"/>
                      <a:chOff x="0" y="0"/>
                      <a:chExt cx="1230630" cy="741680"/>
                    </a:xfrm>
                  </p:grpSpPr>
                  <p:sp>
                    <p:nvSpPr>
                      <p:cNvPr id="56" name="Ellipse 55">
                        <a:extLst>
                          <a:ext uri="{FF2B5EF4-FFF2-40B4-BE49-F238E27FC236}">
                            <a16:creationId xmlns:a16="http://schemas.microsoft.com/office/drawing/2014/main" id="{4DD5C452-7FFE-452B-9491-34AE14CF28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4000" y="121920"/>
                        <a:ext cx="680720" cy="619760"/>
                      </a:xfrm>
                      <a:prstGeom prst="ellipse">
                        <a:avLst/>
                      </a:prstGeom>
                      <a:noFill/>
                      <a:ln w="1905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57" name="Zone de texte 941">
                        <a:extLst>
                          <a:ext uri="{FF2B5EF4-FFF2-40B4-BE49-F238E27FC236}">
                            <a16:creationId xmlns:a16="http://schemas.microsoft.com/office/drawing/2014/main" id="{EDE1631E-2625-49E1-AC75-A37414A156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34720" y="12700"/>
                        <a:ext cx="295910" cy="385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spcAft>
                            <a:spcPts val="0"/>
                          </a:spcAft>
                        </a:pPr>
                        <a:r>
                          <a:rPr lang="fr-FR" sz="2400" dirty="0">
                            <a:solidFill>
                              <a:srgbClr val="C00000"/>
                            </a:solidFill>
                            <a:effectLst/>
                            <a:ea typeface="ＭＳ 明朝"/>
                            <a:cs typeface="Times New Roman"/>
                          </a:rPr>
                          <a:t>+</a:t>
                        </a:r>
                        <a:r>
                          <a:rPr lang="fr-FR" sz="2400" dirty="0">
                            <a:effectLst/>
                            <a:ea typeface="ＭＳ 明朝"/>
                            <a:cs typeface="Times New Roman"/>
                          </a:rPr>
                          <a:t>   </a:t>
                        </a:r>
                        <a:endParaRPr lang="fr-FR" dirty="0">
                          <a:effectLst/>
                          <a:ea typeface="ＭＳ 明朝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8" name="Zone de texte 942">
                        <a:extLst>
                          <a:ext uri="{FF2B5EF4-FFF2-40B4-BE49-F238E27FC236}">
                            <a16:creationId xmlns:a16="http://schemas.microsoft.com/office/drawing/2014/main" id="{751399F5-7817-408F-887F-80309B0DEBC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0"/>
                        <a:ext cx="306070" cy="376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spcAft>
                            <a:spcPts val="0"/>
                          </a:spcAft>
                        </a:pPr>
                        <a:r>
                          <a:rPr lang="fr-FR" sz="2400" dirty="0">
                            <a:solidFill>
                              <a:schemeClr val="accent1"/>
                            </a:solidFill>
                            <a:effectLst/>
                            <a:ea typeface="ＭＳ 明朝"/>
                            <a:cs typeface="Times New Roman"/>
                          </a:rPr>
                          <a:t>-</a:t>
                        </a:r>
                        <a:r>
                          <a:rPr lang="fr-FR" sz="1800" dirty="0">
                            <a:effectLst/>
                            <a:ea typeface="ＭＳ 明朝"/>
                            <a:cs typeface="Times New Roman"/>
                          </a:rPr>
                          <a:t>   </a:t>
                        </a:r>
                        <a:endParaRPr lang="fr-FR" sz="1200" dirty="0">
                          <a:effectLst/>
                          <a:ea typeface="ＭＳ 明朝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59" name="Zone de texte 900">
                        <a:extLst>
                          <a:ext uri="{FF2B5EF4-FFF2-40B4-BE49-F238E27FC236}">
                            <a16:creationId xmlns:a16="http://schemas.microsoft.com/office/drawing/2014/main" id="{5B87DF95-433A-493D-9AD7-C56AA5757C8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5290" y="207010"/>
                        <a:ext cx="371475" cy="410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spcAft>
                            <a:spcPts val="0"/>
                          </a:spcAft>
                        </a:pPr>
                        <a:r>
                          <a:rPr lang="fr-FR" sz="3200" dirty="0">
                            <a:effectLst/>
                            <a:ea typeface="ＭＳ 明朝"/>
                            <a:cs typeface="Times New Roman"/>
                          </a:rPr>
                          <a:t>G</a:t>
                        </a:r>
                        <a:endParaRPr lang="fr-FR" dirty="0">
                          <a:effectLst/>
                          <a:ea typeface="ＭＳ 明朝"/>
                          <a:cs typeface="Times New Roman"/>
                        </a:endParaRPr>
                      </a:p>
                    </p:txBody>
                  </p:sp>
                </p:grpSp>
                <p:grpSp>
                  <p:nvGrpSpPr>
                    <p:cNvPr id="48" name="Grouper 102">
                      <a:extLst>
                        <a:ext uri="{FF2B5EF4-FFF2-40B4-BE49-F238E27FC236}">
                          <a16:creationId xmlns:a16="http://schemas.microsoft.com/office/drawing/2014/main" id="{CD10D8B0-3F3A-428B-ADFB-7CD43137C7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467995"/>
                      <a:ext cx="337820" cy="582295"/>
                      <a:chOff x="0" y="0"/>
                      <a:chExt cx="337820" cy="582295"/>
                    </a:xfrm>
                  </p:grpSpPr>
                  <p:cxnSp>
                    <p:nvCxnSpPr>
                      <p:cNvPr id="53" name="Connecteur droit 52">
                        <a:extLst>
                          <a:ext uri="{FF2B5EF4-FFF2-40B4-BE49-F238E27FC236}">
                            <a16:creationId xmlns:a16="http://schemas.microsoft.com/office/drawing/2014/main" id="{6CED5B28-251A-4695-9AC4-75ABE8322B8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0" y="582295"/>
                        <a:ext cx="328295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Connecteur droit 53">
                        <a:extLst>
                          <a:ext uri="{FF2B5EF4-FFF2-40B4-BE49-F238E27FC236}">
                            <a16:creationId xmlns:a16="http://schemas.microsoft.com/office/drawing/2014/main" id="{AB459293-BB0A-4D9C-A290-FC7447FE24C8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0" y="0"/>
                        <a:ext cx="0" cy="582295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Connecteur droit 54">
                        <a:extLst>
                          <a:ext uri="{FF2B5EF4-FFF2-40B4-BE49-F238E27FC236}">
                            <a16:creationId xmlns:a16="http://schemas.microsoft.com/office/drawing/2014/main" id="{4BF11C18-05F0-4FDB-AE77-4D013016F528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0" y="0"/>
                        <a:ext cx="337820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49" name="Grouper 103">
                      <a:extLst>
                        <a:ext uri="{FF2B5EF4-FFF2-40B4-BE49-F238E27FC236}">
                          <a16:creationId xmlns:a16="http://schemas.microsoft.com/office/drawing/2014/main" id="{2D2B29B8-AE04-4246-8062-EFF0E8D66284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1004570" y="467995"/>
                      <a:ext cx="337820" cy="582295"/>
                      <a:chOff x="0" y="0"/>
                      <a:chExt cx="337820" cy="582295"/>
                    </a:xfrm>
                  </p:grpSpPr>
                  <p:cxnSp>
                    <p:nvCxnSpPr>
                      <p:cNvPr id="50" name="Connecteur droit 49">
                        <a:extLst>
                          <a:ext uri="{FF2B5EF4-FFF2-40B4-BE49-F238E27FC236}">
                            <a16:creationId xmlns:a16="http://schemas.microsoft.com/office/drawing/2014/main" id="{E8789211-76BC-4FBE-BE96-041CB645CE6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0" y="582295"/>
                        <a:ext cx="328295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Connecteur droit 50">
                        <a:extLst>
                          <a:ext uri="{FF2B5EF4-FFF2-40B4-BE49-F238E27FC236}">
                            <a16:creationId xmlns:a16="http://schemas.microsoft.com/office/drawing/2014/main" id="{63CD0D8C-676C-481E-B9A5-F97E8CAD6156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0" y="0"/>
                        <a:ext cx="0" cy="582295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Connecteur droit 51">
                        <a:extLst>
                          <a:ext uri="{FF2B5EF4-FFF2-40B4-BE49-F238E27FC236}">
                            <a16:creationId xmlns:a16="http://schemas.microsoft.com/office/drawing/2014/main" id="{F7E8CC27-81C6-4C78-8D6B-BC5E2B57CF7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0" y="0"/>
                        <a:ext cx="337820" cy="0"/>
                      </a:xfrm>
                      <a:prstGeom prst="line">
                        <a:avLst/>
                      </a:prstGeom>
                      <a:ln w="1270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21" name="Grouper 75">
                    <a:extLst>
                      <a:ext uri="{FF2B5EF4-FFF2-40B4-BE49-F238E27FC236}">
                        <a16:creationId xmlns:a16="http://schemas.microsoft.com/office/drawing/2014/main" id="{D5E24073-AF22-4C5B-AC88-760F8428CAAD}"/>
                      </a:ext>
                    </a:extLst>
                  </p:cNvPr>
                  <p:cNvGrpSpPr/>
                  <p:nvPr/>
                </p:nvGrpSpPr>
                <p:grpSpPr>
                  <a:xfrm>
                    <a:off x="122555" y="1795145"/>
                    <a:ext cx="304484" cy="343534"/>
                    <a:chOff x="0" y="0"/>
                    <a:chExt cx="405553" cy="454660"/>
                  </a:xfrm>
                </p:grpSpPr>
                <p:grpSp>
                  <p:nvGrpSpPr>
                    <p:cNvPr id="35" name="Grouper 89">
                      <a:extLst>
                        <a:ext uri="{FF2B5EF4-FFF2-40B4-BE49-F238E27FC236}">
                          <a16:creationId xmlns:a16="http://schemas.microsoft.com/office/drawing/2014/main" id="{1ED1AEE1-B7CF-4F0E-9454-7B87B28C2B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45" name="Connecteur droit 44">
                        <a:extLst>
                          <a:ext uri="{FF2B5EF4-FFF2-40B4-BE49-F238E27FC236}">
                            <a16:creationId xmlns:a16="http://schemas.microsoft.com/office/drawing/2014/main" id="{52DB56DC-F90B-45D1-B22E-CAE16CF14DD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Connecteur droit 45">
                        <a:extLst>
                          <a:ext uri="{FF2B5EF4-FFF2-40B4-BE49-F238E27FC236}">
                            <a16:creationId xmlns:a16="http://schemas.microsoft.com/office/drawing/2014/main" id="{CD4FCA04-C73F-403C-9F6E-DD1754BA8E1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6" name="Grouper 90">
                      <a:extLst>
                        <a:ext uri="{FF2B5EF4-FFF2-40B4-BE49-F238E27FC236}">
                          <a16:creationId xmlns:a16="http://schemas.microsoft.com/office/drawing/2014/main" id="{263D8CAB-9A0C-4705-AB09-C581280920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400" y="1524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43" name="Connecteur droit 42">
                        <a:extLst>
                          <a:ext uri="{FF2B5EF4-FFF2-40B4-BE49-F238E27FC236}">
                            <a16:creationId xmlns:a16="http://schemas.microsoft.com/office/drawing/2014/main" id="{D312452A-8444-4E4F-97E0-069D38E44D3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" name="Connecteur droit 43">
                        <a:extLst>
                          <a:ext uri="{FF2B5EF4-FFF2-40B4-BE49-F238E27FC236}">
                            <a16:creationId xmlns:a16="http://schemas.microsoft.com/office/drawing/2014/main" id="{03279640-78F8-45D4-95D1-3764663213E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7" name="Grouper 91">
                      <a:extLst>
                        <a:ext uri="{FF2B5EF4-FFF2-40B4-BE49-F238E27FC236}">
                          <a16:creationId xmlns:a16="http://schemas.microsoft.com/office/drawing/2014/main" id="{150A1D0A-A1C0-4009-86A9-EFC3111990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0" y="3048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41" name="Connecteur droit 40">
                        <a:extLst>
                          <a:ext uri="{FF2B5EF4-FFF2-40B4-BE49-F238E27FC236}">
                            <a16:creationId xmlns:a16="http://schemas.microsoft.com/office/drawing/2014/main" id="{7CFA150A-4557-4613-92EF-76CEC0F96008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Connecteur droit 41">
                        <a:extLst>
                          <a:ext uri="{FF2B5EF4-FFF2-40B4-BE49-F238E27FC236}">
                            <a16:creationId xmlns:a16="http://schemas.microsoft.com/office/drawing/2014/main" id="{A8CB4CBF-10D5-4875-89BD-C50B9FC4F17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8" name="Grouper 92">
                      <a:extLst>
                        <a:ext uri="{FF2B5EF4-FFF2-40B4-BE49-F238E27FC236}">
                          <a16:creationId xmlns:a16="http://schemas.microsoft.com/office/drawing/2014/main" id="{940CB44A-AA17-4F31-80D5-E996884FF4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9464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39" name="Connecteur droit 38">
                        <a:extLst>
                          <a:ext uri="{FF2B5EF4-FFF2-40B4-BE49-F238E27FC236}">
                            <a16:creationId xmlns:a16="http://schemas.microsoft.com/office/drawing/2014/main" id="{F54EAE8D-B716-4952-A52C-A45018C6970D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Connecteur droit 39">
                        <a:extLst>
                          <a:ext uri="{FF2B5EF4-FFF2-40B4-BE49-F238E27FC236}">
                            <a16:creationId xmlns:a16="http://schemas.microsoft.com/office/drawing/2014/main" id="{3E406D1E-88FB-4E78-BBBE-8976DB2A926D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22" name="Grouper 76">
                    <a:extLst>
                      <a:ext uri="{FF2B5EF4-FFF2-40B4-BE49-F238E27FC236}">
                        <a16:creationId xmlns:a16="http://schemas.microsoft.com/office/drawing/2014/main" id="{4D53651E-F881-40BB-9801-2D3A6DF799B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1228088" y="1795145"/>
                    <a:ext cx="304484" cy="343534"/>
                    <a:chOff x="0" y="0"/>
                    <a:chExt cx="405553" cy="454660"/>
                  </a:xfrm>
                </p:grpSpPr>
                <p:grpSp>
                  <p:nvGrpSpPr>
                    <p:cNvPr id="23" name="Grouper 77">
                      <a:extLst>
                        <a:ext uri="{FF2B5EF4-FFF2-40B4-BE49-F238E27FC236}">
                          <a16:creationId xmlns:a16="http://schemas.microsoft.com/office/drawing/2014/main" id="{01DE92F4-9AD9-43CF-BAB2-952257B0D0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33" name="Connecteur droit 32">
                        <a:extLst>
                          <a:ext uri="{FF2B5EF4-FFF2-40B4-BE49-F238E27FC236}">
                            <a16:creationId xmlns:a16="http://schemas.microsoft.com/office/drawing/2014/main" id="{02A2D758-AF88-43F2-9D90-C06EB07E611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" name="Connecteur droit 33">
                        <a:extLst>
                          <a:ext uri="{FF2B5EF4-FFF2-40B4-BE49-F238E27FC236}">
                            <a16:creationId xmlns:a16="http://schemas.microsoft.com/office/drawing/2014/main" id="{7EFB4E84-7B79-441F-8972-96211A1EFB1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4" name="Grouper 78">
                      <a:extLst>
                        <a:ext uri="{FF2B5EF4-FFF2-40B4-BE49-F238E27FC236}">
                          <a16:creationId xmlns:a16="http://schemas.microsoft.com/office/drawing/2014/main" id="{A7B59A61-9DBD-4011-809E-FDED1C558C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400" y="1524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31" name="Connecteur droit 30">
                        <a:extLst>
                          <a:ext uri="{FF2B5EF4-FFF2-40B4-BE49-F238E27FC236}">
                            <a16:creationId xmlns:a16="http://schemas.microsoft.com/office/drawing/2014/main" id="{F385CD89-8FA2-4B91-BC38-57972661F58B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Connecteur droit 31">
                        <a:extLst>
                          <a:ext uri="{FF2B5EF4-FFF2-40B4-BE49-F238E27FC236}">
                            <a16:creationId xmlns:a16="http://schemas.microsoft.com/office/drawing/2014/main" id="{662E7E78-CBC5-4133-B9C4-5CA29E4D1B4F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5" name="Grouper 79">
                      <a:extLst>
                        <a:ext uri="{FF2B5EF4-FFF2-40B4-BE49-F238E27FC236}">
                          <a16:creationId xmlns:a16="http://schemas.microsoft.com/office/drawing/2014/main" id="{5D6FA5B0-581C-4DC2-B4B6-ACBD65D647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0" y="30480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29" name="Connecteur droit 28">
                        <a:extLst>
                          <a:ext uri="{FF2B5EF4-FFF2-40B4-BE49-F238E27FC236}">
                            <a16:creationId xmlns:a16="http://schemas.microsoft.com/office/drawing/2014/main" id="{972D0AE5-13BA-49AA-9B74-8C3C8E0F77E9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Connecteur droit 29">
                        <a:extLst>
                          <a:ext uri="{FF2B5EF4-FFF2-40B4-BE49-F238E27FC236}">
                            <a16:creationId xmlns:a16="http://schemas.microsoft.com/office/drawing/2014/main" id="{68363E9F-295B-464E-8180-7E7109DE2E98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6" name="Grouper 80">
                      <a:extLst>
                        <a:ext uri="{FF2B5EF4-FFF2-40B4-BE49-F238E27FC236}">
                          <a16:creationId xmlns:a16="http://schemas.microsoft.com/office/drawing/2014/main" id="{A94BFBEB-D11E-482C-9FA8-E6329D929B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94640"/>
                      <a:ext cx="100753" cy="149860"/>
                      <a:chOff x="0" y="0"/>
                      <a:chExt cx="203200" cy="292100"/>
                    </a:xfrm>
                  </p:grpSpPr>
                  <p:cxnSp>
                    <p:nvCxnSpPr>
                      <p:cNvPr id="27" name="Connecteur droit 26">
                        <a:extLst>
                          <a:ext uri="{FF2B5EF4-FFF2-40B4-BE49-F238E27FC236}">
                            <a16:creationId xmlns:a16="http://schemas.microsoft.com/office/drawing/2014/main" id="{5683A197-B24F-409A-8B02-4CBCF86D4689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0" y="0"/>
                        <a:ext cx="203200" cy="25527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Connecteur droit 27">
                        <a:extLst>
                          <a:ext uri="{FF2B5EF4-FFF2-40B4-BE49-F238E27FC236}">
                            <a16:creationId xmlns:a16="http://schemas.microsoft.com/office/drawing/2014/main" id="{B47D596A-4924-4DF5-90D6-0FEF52062A5D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7620" y="0"/>
                        <a:ext cx="195580" cy="292100"/>
                      </a:xfrm>
                      <a:prstGeom prst="line">
                        <a:avLst/>
                      </a:prstGeom>
                      <a:ln w="12700" cmpd="sng">
                        <a:solidFill>
                          <a:srgbClr val="000000"/>
                        </a:solidFill>
                      </a:ln>
                      <a:effectLst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16" name="Rectangle à coins arrondis 70">
                  <a:extLst>
                    <a:ext uri="{FF2B5EF4-FFF2-40B4-BE49-F238E27FC236}">
                      <a16:creationId xmlns:a16="http://schemas.microsoft.com/office/drawing/2014/main" id="{5BFDB0C9-FA7C-4B5A-8E70-355D0CEA4EAF}"/>
                    </a:ext>
                  </a:extLst>
                </p:cNvPr>
                <p:cNvSpPr/>
                <p:nvPr/>
              </p:nvSpPr>
              <p:spPr>
                <a:xfrm>
                  <a:off x="704215" y="2146300"/>
                  <a:ext cx="228600" cy="4508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2D3CA78A-133B-4B7E-95D7-277085679B66}"/>
                  </a:ext>
                </a:extLst>
              </p:cNvPr>
              <p:cNvSpPr txBox="1"/>
              <p:nvPr/>
            </p:nvSpPr>
            <p:spPr>
              <a:xfrm>
                <a:off x="6272240" y="4104879"/>
                <a:ext cx="24200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Cristallisoir rempli </a:t>
                </a:r>
              </a:p>
              <a:p>
                <a:r>
                  <a:rPr lang="fr-FR" dirty="0"/>
                  <a:t>d’un mélange eau-glace</a:t>
                </a:r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E4100E4F-C25C-43F5-900D-2CF6DFF0AA7A}"/>
                  </a:ext>
                </a:extLst>
              </p:cNvPr>
              <p:cNvSpPr txBox="1"/>
              <p:nvPr/>
            </p:nvSpPr>
            <p:spPr>
              <a:xfrm>
                <a:off x="466977" y="4893706"/>
                <a:ext cx="2241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Agitateur magnétique</a:t>
                </a:r>
              </a:p>
            </p:txBody>
          </p:sp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AEAF1197-5FAE-4D74-84A5-8FA53524F64D}"/>
                  </a:ext>
                </a:extLst>
              </p:cNvPr>
              <p:cNvSpPr txBox="1"/>
              <p:nvPr/>
            </p:nvSpPr>
            <p:spPr>
              <a:xfrm>
                <a:off x="940486" y="3245362"/>
                <a:ext cx="17361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Solution de </a:t>
                </a:r>
                <a:r>
                  <a:rPr lang="fr-FR" dirty="0" err="1"/>
                  <a:t>NaCl</a:t>
                </a:r>
                <a:endParaRPr lang="fr-FR" dirty="0"/>
              </a:p>
              <a:p>
                <a:r>
                  <a:rPr lang="fr-FR" dirty="0"/>
                  <a:t>à 5 mol.L</a:t>
                </a:r>
                <a:r>
                  <a:rPr lang="fr-FR" baseline="30000" dirty="0"/>
                  <a:t>-1</a:t>
                </a:r>
              </a:p>
            </p:txBody>
          </p:sp>
          <p:sp>
            <p:nvSpPr>
              <p:cNvPr id="78" name="Flèche vers la droite 129">
                <a:extLst>
                  <a:ext uri="{FF2B5EF4-FFF2-40B4-BE49-F238E27FC236}">
                    <a16:creationId xmlns:a16="http://schemas.microsoft.com/office/drawing/2014/main" id="{2A27B422-EDCC-423C-97A1-0F89C3E46FC8}"/>
                  </a:ext>
                </a:extLst>
              </p:cNvPr>
              <p:cNvSpPr/>
              <p:nvPr/>
            </p:nvSpPr>
            <p:spPr>
              <a:xfrm rot="489713">
                <a:off x="2709294" y="3611080"/>
                <a:ext cx="1270926" cy="104915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9" name="Flèche vers la droite 130">
                <a:extLst>
                  <a:ext uri="{FF2B5EF4-FFF2-40B4-BE49-F238E27FC236}">
                    <a16:creationId xmlns:a16="http://schemas.microsoft.com/office/drawing/2014/main" id="{DE535654-6DA4-491E-885F-393303F707AF}"/>
                  </a:ext>
                </a:extLst>
              </p:cNvPr>
              <p:cNvSpPr/>
              <p:nvPr/>
            </p:nvSpPr>
            <p:spPr>
              <a:xfrm>
                <a:off x="2676621" y="5103002"/>
                <a:ext cx="912233" cy="114300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0" name="Flèche vers la droite 131">
                <a:extLst>
                  <a:ext uri="{FF2B5EF4-FFF2-40B4-BE49-F238E27FC236}">
                    <a16:creationId xmlns:a16="http://schemas.microsoft.com/office/drawing/2014/main" id="{F202C734-D73A-4305-B572-92726DF1E6A6}"/>
                  </a:ext>
                </a:extLst>
              </p:cNvPr>
              <p:cNvSpPr/>
              <p:nvPr/>
            </p:nvSpPr>
            <p:spPr>
              <a:xfrm rot="10800000">
                <a:off x="5760194" y="4313744"/>
                <a:ext cx="831106" cy="114300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1" name="Flèche vers la droite 132">
                <a:extLst>
                  <a:ext uri="{FF2B5EF4-FFF2-40B4-BE49-F238E27FC236}">
                    <a16:creationId xmlns:a16="http://schemas.microsoft.com/office/drawing/2014/main" id="{F57D0BDA-50DA-4928-9540-9606334C0C69}"/>
                  </a:ext>
                </a:extLst>
              </p:cNvPr>
              <p:cNvSpPr/>
              <p:nvPr/>
            </p:nvSpPr>
            <p:spPr>
              <a:xfrm rot="10103157">
                <a:off x="5023431" y="2931697"/>
                <a:ext cx="1820167" cy="131797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C3116ACA-C02F-45D2-8653-AA73A66F8C71}"/>
                  </a:ext>
                </a:extLst>
              </p:cNvPr>
              <p:cNvSpPr txBox="1"/>
              <p:nvPr/>
            </p:nvSpPr>
            <p:spPr>
              <a:xfrm>
                <a:off x="6838234" y="2561527"/>
                <a:ext cx="12603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rgbClr val="C00000"/>
                    </a:solidFill>
                  </a:rPr>
                  <a:t>Anode</a:t>
                </a:r>
                <a:r>
                  <a:rPr lang="fr-FR" dirty="0"/>
                  <a:t> </a:t>
                </a:r>
              </a:p>
              <a:p>
                <a:r>
                  <a:rPr lang="fr-FR" dirty="0"/>
                  <a:t>en graphite</a:t>
                </a:r>
              </a:p>
            </p:txBody>
          </p:sp>
          <p:sp>
            <p:nvSpPr>
              <p:cNvPr id="83" name="Flèche vers la droite 134">
                <a:extLst>
                  <a:ext uri="{FF2B5EF4-FFF2-40B4-BE49-F238E27FC236}">
                    <a16:creationId xmlns:a16="http://schemas.microsoft.com/office/drawing/2014/main" id="{1C16651C-6BB5-4AF5-A3D8-9AC0DCF4F750}"/>
                  </a:ext>
                </a:extLst>
              </p:cNvPr>
              <p:cNvSpPr/>
              <p:nvPr/>
            </p:nvSpPr>
            <p:spPr>
              <a:xfrm rot="579948">
                <a:off x="2154856" y="2928460"/>
                <a:ext cx="1820167" cy="131797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7F429A19-0C6C-4A63-BEE5-070599D6CA43}"/>
                  </a:ext>
                </a:extLst>
              </p:cNvPr>
              <p:cNvSpPr txBox="1"/>
              <p:nvPr/>
            </p:nvSpPr>
            <p:spPr>
              <a:xfrm>
                <a:off x="1384300" y="2380980"/>
                <a:ext cx="9747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chemeClr val="accent1"/>
                    </a:solidFill>
                  </a:rPr>
                  <a:t>Cathode</a:t>
                </a:r>
              </a:p>
              <a:p>
                <a:r>
                  <a:rPr lang="fr-FR" dirty="0"/>
                  <a:t>en fer</a:t>
                </a:r>
              </a:p>
            </p:txBody>
          </p:sp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F74F78E3-FF56-41C3-BE88-37E0EAD2CE28}"/>
                  </a:ext>
                </a:extLst>
              </p:cNvPr>
              <p:cNvSpPr txBox="1"/>
              <p:nvPr/>
            </p:nvSpPr>
            <p:spPr>
              <a:xfrm>
                <a:off x="5575099" y="2024348"/>
                <a:ext cx="370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e-</a:t>
                </a:r>
              </a:p>
            </p:txBody>
          </p:sp>
          <p:sp>
            <p:nvSpPr>
              <p:cNvPr id="86" name="Flèche vers la droite 137">
                <a:extLst>
                  <a:ext uri="{FF2B5EF4-FFF2-40B4-BE49-F238E27FC236}">
                    <a16:creationId xmlns:a16="http://schemas.microsoft.com/office/drawing/2014/main" id="{73786084-AA87-4592-B31C-A130EB131365}"/>
                  </a:ext>
                </a:extLst>
              </p:cNvPr>
              <p:cNvSpPr/>
              <p:nvPr/>
            </p:nvSpPr>
            <p:spPr>
              <a:xfrm rot="16200000">
                <a:off x="5446116" y="2108564"/>
                <a:ext cx="217767" cy="183934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ZoneTexte 87">
                  <a:extLst>
                    <a:ext uri="{FF2B5EF4-FFF2-40B4-BE49-F238E27FC236}">
                      <a16:creationId xmlns:a16="http://schemas.microsoft.com/office/drawing/2014/main" id="{B2AD1845-005D-4D56-8DD3-7B8026BCC5A3}"/>
                    </a:ext>
                  </a:extLst>
                </p:cNvPr>
                <p:cNvSpPr txBox="1"/>
                <p:nvPr/>
              </p:nvSpPr>
              <p:spPr>
                <a:xfrm>
                  <a:off x="7601824" y="1540133"/>
                  <a:ext cx="4555036" cy="430887"/>
                </a:xfrm>
                <a:prstGeom prst="rect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</m:t>
                        </m:r>
                        <m:sSup>
                          <m:sSup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</m:t>
                            </m:r>
                          </m:e>
                          <m:sup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</m:t>
                        </m:r>
                        <m:sSub>
                          <m:sSub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</m:t>
                            </m:r>
                          </m:e>
                          <m:sub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</m:t>
                        </m:r>
                        <m:sSup>
                          <m:sSup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sz="2200" dirty="0"/>
                </a:p>
              </p:txBody>
            </p:sp>
          </mc:Choice>
          <mc:Fallback xmlns="">
            <p:sp>
              <p:nvSpPr>
                <p:cNvPr id="88" name="ZoneTexte 87">
                  <a:extLst>
                    <a:ext uri="{FF2B5EF4-FFF2-40B4-BE49-F238E27FC236}">
                      <a16:creationId xmlns:a16="http://schemas.microsoft.com/office/drawing/2014/main" id="{B2AD1845-005D-4D56-8DD3-7B8026BCC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824" y="1540133"/>
                  <a:ext cx="4555036" cy="430887"/>
                </a:xfrm>
                <a:prstGeom prst="rect">
                  <a:avLst/>
                </a:prstGeom>
                <a:blipFill>
                  <a:blip r:embed="rId2"/>
                  <a:stretch>
                    <a:fillRect b="-3947"/>
                  </a:stretch>
                </a:blipFill>
                <a:ln w="28575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ZoneTexte 88">
                  <a:extLst>
                    <a:ext uri="{FF2B5EF4-FFF2-40B4-BE49-F238E27FC236}">
                      <a16:creationId xmlns:a16="http://schemas.microsoft.com/office/drawing/2014/main" id="{7C48D939-3507-4A9C-A8B6-F2228E0EA63E}"/>
                    </a:ext>
                  </a:extLst>
                </p:cNvPr>
                <p:cNvSpPr txBox="1"/>
                <p:nvPr/>
              </p:nvSpPr>
              <p:spPr>
                <a:xfrm>
                  <a:off x="64266" y="1540133"/>
                  <a:ext cx="4901059" cy="430887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sSub>
                          <m:sSub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b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d>
                          <m:d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</m:t>
                        </m:r>
                        <m:sSup>
                          <m:sSup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b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g</m:t>
                            </m:r>
                          </m:e>
                        </m:d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+2 </m:t>
                        </m:r>
                        <m:sSup>
                          <m:sSup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HO</m:t>
                            </m:r>
                          </m:e>
                          <m:sup>
                            <m:r>
                              <a:rPr lang="fr-FR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aq</m:t>
                        </m:r>
                        <m:r>
                          <a:rPr lang="fr-FR" sz="2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oMath>
                    </m:oMathPara>
                  </a14:m>
                  <a:endParaRPr lang="fr-FR" sz="2200" dirty="0"/>
                </a:p>
              </p:txBody>
            </p:sp>
          </mc:Choice>
          <mc:Fallback xmlns="">
            <p:sp>
              <p:nvSpPr>
                <p:cNvPr id="89" name="ZoneTexte 88">
                  <a:extLst>
                    <a:ext uri="{FF2B5EF4-FFF2-40B4-BE49-F238E27FC236}">
                      <a16:creationId xmlns:a16="http://schemas.microsoft.com/office/drawing/2014/main" id="{7C48D939-3507-4A9C-A8B6-F2228E0EA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6" y="1540133"/>
                  <a:ext cx="4901059" cy="430887"/>
                </a:xfrm>
                <a:prstGeom prst="rect">
                  <a:avLst/>
                </a:prstGeom>
                <a:blipFill>
                  <a:blip r:embed="rId3"/>
                  <a:stretch>
                    <a:fillRect r="-124" b="-10526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1773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8E9A8E-96D8-425D-9188-7625F603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Eau de Javel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C3CBD85-DEE5-4B51-8943-249C2B76C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318" y="1299524"/>
            <a:ext cx="8291691" cy="491077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0740DD-B596-46B6-852F-873629C3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FE0F9E-1DD0-4630-89AA-09BCC3B5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605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A8AF0FC-DE1C-44E0-98DF-C78FB940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821542-A9DE-40A9-B303-EA7F1622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4</a:t>
            </a:fld>
            <a:endParaRPr lang="fr-FR"/>
          </a:p>
        </p:txBody>
      </p:sp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6646BD03-8463-4287-B35E-E9210F46CD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032" b="15864"/>
          <a:stretch/>
        </p:blipFill>
        <p:spPr>
          <a:xfrm>
            <a:off x="3686185" y="147938"/>
            <a:ext cx="8105371" cy="6088442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EE14885-F72E-4708-88EA-60E9DCD6270A}"/>
              </a:ext>
            </a:extLst>
          </p:cNvPr>
          <p:cNvSpPr txBox="1">
            <a:spLocks/>
          </p:cNvSpPr>
          <p:nvPr/>
        </p:nvSpPr>
        <p:spPr>
          <a:xfrm>
            <a:off x="400444" y="1456185"/>
            <a:ext cx="2978534" cy="8425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Synthèse</a:t>
            </a:r>
            <a:br>
              <a:rPr lang="fr-FR" dirty="0"/>
            </a:br>
            <a:r>
              <a:rPr lang="fr-FR" dirty="0"/>
              <a:t>industrielle</a:t>
            </a:r>
          </a:p>
        </p:txBody>
      </p:sp>
    </p:spTree>
    <p:extLst>
      <p:ext uri="{BB962C8B-B14F-4D97-AF65-F5344CB8AC3E}">
        <p14:creationId xmlns:p14="http://schemas.microsoft.com/office/powerpoint/2010/main" val="30834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9BA5B-2561-4345-B750-77266854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de l’eau de Javel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463CC59-FB8C-44F5-9768-741F05877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pt-BR" sz="3200" dirty="0"/>
                  <a:t>Titrage indirect 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Cl</m:t>
                    </m:r>
                    <m:sSup>
                      <m:sSupPr>
                        <m:ctrlPr>
                          <a:rPr lang="fr-FR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fr-FR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fr-FR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2 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2−</m:t>
                        </m:r>
                      </m:sup>
                    </m:sSubSup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fr-FR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2−</m:t>
                        </m:r>
                      </m:sup>
                    </m:sSubSup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aq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lvl="2">
                  <a:lnSpc>
                    <a:spcPct val="150000"/>
                  </a:lnSpc>
                </a:pPr>
                <a:r>
                  <a:rPr lang="pt-BR" sz="2400" dirty="0"/>
                  <a:t>À l’équivalence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fr-FR" sz="2400" b="0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fr-FR" sz="2400" i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i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fr-FR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fr-FR" sz="2400" i="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sz="24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sz="2400" i="0">
                                <a:latin typeface="Cambria Math" panose="02040503050406030204" pitchFamily="18" charset="0"/>
                              </a:rPr>
                              <m:t>2−</m:t>
                            </m:r>
                          </m:sup>
                        </m:sSubSup>
                        <m:r>
                          <a:rPr lang="fr-FR" sz="2400" i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Cl</m:t>
                    </m:r>
                    <m:sSup>
                      <m:sSupPr>
                        <m:ctrlPr>
                          <a:rPr lang="fr-FR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fr-FR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lvl="1">
                  <a:lnSpc>
                    <a:spcPct val="150000"/>
                  </a:lnSpc>
                </a:pPr>
                <a:r>
                  <a:rPr lang="pt-BR" sz="3200" dirty="0"/>
                  <a:t>Calcul du rendement : 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m:rPr>
                        <m:nor/>
                      </m:rPr>
                      <a:rPr lang="fr-FR" sz="2400" b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/>
                          <m:t>n</m:t>
                        </m:r>
                        <m:r>
                          <m:rPr>
                            <m:sty m:val="p"/>
                          </m:rPr>
                          <a:rPr lang="fr-FR" sz="2400" b="0" i="0" baseline="-2500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/>
                          <m:t>n</m:t>
                        </m:r>
                        <m:r>
                          <m:rPr>
                            <m:nor/>
                          </m:rPr>
                          <a:rPr lang="pt-BR" sz="2400" baseline="-25000" dirty="0"/>
                          <m:t>max</m:t>
                        </m:r>
                      </m:den>
                    </m:f>
                  </m:oMath>
                </a14:m>
                <a:endParaRPr lang="pt-BR" sz="2400" baseline="-25000" dirty="0"/>
              </a:p>
              <a:p>
                <a:pPr lvl="2"/>
                <a:endParaRPr lang="pt-BR" sz="2000" dirty="0"/>
              </a:p>
              <a:p>
                <a:pPr lvl="1"/>
                <a:endParaRPr lang="pt-BR" sz="2800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463CC59-FB8C-44F5-9768-741F05877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07846-CBAF-40AB-8BEA-A8EF8BA5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12DEE7-C444-4A4D-BACD-9862EF84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FD75981-2F3F-4C37-B612-A7785D840808}"/>
                  </a:ext>
                </a:extLst>
              </p:cNvPr>
              <p:cNvSpPr txBox="1"/>
              <p:nvPr/>
            </p:nvSpPr>
            <p:spPr>
              <a:xfrm>
                <a:off x="4132520" y="5052237"/>
                <a:ext cx="1635897" cy="5847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200" dirty="0"/>
                  <a:t>où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200" dirty="0"/>
                      <m:t>n</m:t>
                    </m:r>
                    <m:r>
                      <m:rPr>
                        <m:nor/>
                      </m:rPr>
                      <a:rPr lang="pt-BR" sz="2200" baseline="-25000" dirty="0"/>
                      <m:t>max</m:t>
                    </m:r>
                    <m:r>
                      <m:rPr>
                        <m:nor/>
                      </m:rPr>
                      <a:rPr lang="pt-BR" sz="2200" dirty="0"/>
                      <m:t>=</m:t>
                    </m:r>
                    <m:f>
                      <m:fPr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2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fr-F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fr-FR" sz="22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fr-F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fr-FR" sz="22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den>
                    </m:f>
                  </m:oMath>
                </a14:m>
                <a:endParaRPr lang="fr-FR" sz="22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FD75981-2F3F-4C37-B612-A7785D840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20" y="5052237"/>
                <a:ext cx="1635897" cy="584712"/>
              </a:xfrm>
              <a:prstGeom prst="rect">
                <a:avLst/>
              </a:prstGeom>
              <a:blipFill>
                <a:blip r:embed="rId3"/>
                <a:stretch>
                  <a:fillRect l="-4851"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8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4E451-5777-42E3-A131-51C35FA7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complexes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135235-0B4C-4CA0-B371-6C60427F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687C7C-CB56-45E5-9AF4-5914E268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6</a:t>
            </a:fld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BA54DEB-EE92-4A23-9E00-5F826CF7A579}"/>
              </a:ext>
            </a:extLst>
          </p:cNvPr>
          <p:cNvSpPr txBox="1"/>
          <p:nvPr/>
        </p:nvSpPr>
        <p:spPr>
          <a:xfrm>
            <a:off x="992371" y="1984742"/>
            <a:ext cx="4054550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Nom : [Cu(H</a:t>
            </a:r>
            <a:r>
              <a:rPr lang="fr-FR" sz="2800" kern="1200" baseline="-25000" dirty="0">
                <a:solidFill>
                  <a:schemeClr val="tx1"/>
                </a:solidFill>
                <a:ea typeface="+mn-ea"/>
                <a:cs typeface="+mn-cs"/>
              </a:rPr>
              <a:t>2</a:t>
            </a: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O)</a:t>
            </a:r>
            <a:r>
              <a:rPr lang="fr-FR" sz="2800" kern="1200" baseline="-25000" dirty="0">
                <a:solidFill>
                  <a:schemeClr val="tx1"/>
                </a:solidFill>
                <a:ea typeface="+mn-ea"/>
                <a:cs typeface="+mn-cs"/>
              </a:rPr>
              <a:t>6</a:t>
            </a: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]</a:t>
            </a:r>
            <a:r>
              <a:rPr lang="fr-FR" sz="2800" kern="1200" baseline="30000" dirty="0">
                <a:solidFill>
                  <a:schemeClr val="tx1"/>
                </a:solidFill>
                <a:ea typeface="+mn-ea"/>
                <a:cs typeface="+mn-cs"/>
              </a:rPr>
              <a:t>2+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Atome central : Cu</a:t>
            </a:r>
            <a:endParaRPr lang="fr-FR" sz="2800" b="0" kern="1200" dirty="0">
              <a:solidFill>
                <a:schemeClr val="tx1"/>
              </a:solidFill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Ligand </a:t>
            </a:r>
            <a:r>
              <a:rPr lang="fr-FR" sz="2800" dirty="0"/>
              <a:t>: H</a:t>
            </a:r>
            <a:r>
              <a:rPr lang="fr-FR" sz="2800" baseline="-25000" dirty="0"/>
              <a:t>2</a:t>
            </a:r>
            <a:r>
              <a:rPr lang="fr-FR" sz="2800" dirty="0"/>
              <a:t>O</a:t>
            </a:r>
            <a:endParaRPr lang="fr-FR" sz="2800" kern="120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2C1696C-D7CB-49C0-ACD7-076836861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769" y="1201068"/>
            <a:ext cx="4424795" cy="51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79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4E451-5777-42E3-A131-51C35FA7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complexes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135235-0B4C-4CA0-B371-6C60427F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687C7C-CB56-45E5-9AF4-5914E268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7</a:t>
            </a:fld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272616A-9A03-49CC-8B45-6F981FC2A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752" y="1352382"/>
            <a:ext cx="5582608" cy="4884167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BA54DEB-EE92-4A23-9E00-5F826CF7A579}"/>
              </a:ext>
            </a:extLst>
          </p:cNvPr>
          <p:cNvSpPr txBox="1"/>
          <p:nvPr/>
        </p:nvSpPr>
        <p:spPr>
          <a:xfrm>
            <a:off x="992371" y="1984742"/>
            <a:ext cx="4054550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Nom : [Fe(</a:t>
            </a:r>
            <a:r>
              <a:rPr lang="fr-FR" sz="2800" kern="1200" dirty="0" err="1">
                <a:solidFill>
                  <a:schemeClr val="tx1"/>
                </a:solidFill>
                <a:ea typeface="+mn-ea"/>
                <a:cs typeface="+mn-cs"/>
              </a:rPr>
              <a:t>acac</a:t>
            </a: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)</a:t>
            </a:r>
            <a:r>
              <a:rPr lang="fr-FR" sz="2800" kern="1200" baseline="-25000" dirty="0">
                <a:solidFill>
                  <a:schemeClr val="tx1"/>
                </a:solidFill>
                <a:ea typeface="+mn-ea"/>
                <a:cs typeface="+mn-cs"/>
              </a:rPr>
              <a:t>3</a:t>
            </a: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]</a:t>
            </a:r>
            <a:endParaRPr lang="fr-FR" sz="2800" kern="1200" baseline="30000" dirty="0">
              <a:solidFill>
                <a:schemeClr val="tx1"/>
              </a:solidFill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Atome central : Fe</a:t>
            </a:r>
            <a:endParaRPr lang="fr-FR" sz="2800" b="0" kern="1200" dirty="0">
              <a:solidFill>
                <a:schemeClr val="tx1"/>
              </a:solidFill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kern="1200" dirty="0">
                <a:solidFill>
                  <a:schemeClr val="tx1"/>
                </a:solidFill>
                <a:ea typeface="+mn-ea"/>
                <a:cs typeface="+mn-cs"/>
              </a:rPr>
              <a:t>Ligand : 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EBE321D-3673-4D42-9D63-DBE616CE4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404" y="3616020"/>
            <a:ext cx="1812264" cy="91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4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AF0136-CE78-484A-B1AF-11A300F4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2542"/>
          </a:xfrm>
        </p:spPr>
        <p:txBody>
          <a:bodyPr>
            <a:normAutofit/>
          </a:bodyPr>
          <a:lstStyle/>
          <a:p>
            <a:r>
              <a:rPr lang="fr-FR" dirty="0"/>
              <a:t>Synthèse de [Fe(</a:t>
            </a:r>
            <a:r>
              <a:rPr lang="fr-FR" dirty="0" err="1"/>
              <a:t>acac</a:t>
            </a:r>
            <a:r>
              <a:rPr lang="fr-FR" dirty="0"/>
              <a:t>)</a:t>
            </a:r>
            <a:r>
              <a:rPr lang="fr-FR" baseline="-25000" dirty="0"/>
              <a:t>3</a:t>
            </a:r>
            <a:r>
              <a:rPr lang="fr-FR" dirty="0"/>
              <a:t>]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CEC0A6-A433-4A29-9D3C-F919067C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4EC994-66C6-4F45-8E97-8245DF1B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8</a:t>
            </a:fld>
            <a:endParaRPr lang="fr-FR"/>
          </a:p>
        </p:txBody>
      </p: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A91122D8-9DE8-44C7-B10C-1D3F28A827E9}"/>
              </a:ext>
            </a:extLst>
          </p:cNvPr>
          <p:cNvGrpSpPr/>
          <p:nvPr/>
        </p:nvGrpSpPr>
        <p:grpSpPr>
          <a:xfrm>
            <a:off x="1967597" y="1529245"/>
            <a:ext cx="8345707" cy="4262962"/>
            <a:chOff x="465026" y="1720631"/>
            <a:chExt cx="8345707" cy="4262962"/>
          </a:xfrm>
        </p:grpSpPr>
        <p:grpSp>
          <p:nvGrpSpPr>
            <p:cNvPr id="6" name="Grouper 117">
              <a:extLst>
                <a:ext uri="{FF2B5EF4-FFF2-40B4-BE49-F238E27FC236}">
                  <a16:creationId xmlns:a16="http://schemas.microsoft.com/office/drawing/2014/main" id="{A33115FD-0324-4909-AED3-F8533DFB5448}"/>
                </a:ext>
              </a:extLst>
            </p:cNvPr>
            <p:cNvGrpSpPr/>
            <p:nvPr/>
          </p:nvGrpSpPr>
          <p:grpSpPr>
            <a:xfrm>
              <a:off x="6457872" y="4652633"/>
              <a:ext cx="633731" cy="1330960"/>
              <a:chOff x="0" y="0"/>
              <a:chExt cx="633731" cy="1330960"/>
            </a:xfrm>
          </p:grpSpPr>
          <p:grpSp>
            <p:nvGrpSpPr>
              <p:cNvPr id="7" name="Grouper 118">
                <a:extLst>
                  <a:ext uri="{FF2B5EF4-FFF2-40B4-BE49-F238E27FC236}">
                    <a16:creationId xmlns:a16="http://schemas.microsoft.com/office/drawing/2014/main" id="{24C95ADB-E43C-4284-8067-BE0E314A17DD}"/>
                  </a:ext>
                </a:extLst>
              </p:cNvPr>
              <p:cNvGrpSpPr/>
              <p:nvPr/>
            </p:nvGrpSpPr>
            <p:grpSpPr>
              <a:xfrm>
                <a:off x="1270" y="288925"/>
                <a:ext cx="632461" cy="1042035"/>
                <a:chOff x="0" y="0"/>
                <a:chExt cx="632461" cy="1042035"/>
              </a:xfrm>
            </p:grpSpPr>
            <p:grpSp>
              <p:nvGrpSpPr>
                <p:cNvPr id="18" name="Grouper 129">
                  <a:extLst>
                    <a:ext uri="{FF2B5EF4-FFF2-40B4-BE49-F238E27FC236}">
                      <a16:creationId xmlns:a16="http://schemas.microsoft.com/office/drawing/2014/main" id="{CA326574-5A99-4265-8223-9195DAEF24C3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32461" cy="1042035"/>
                  <a:chOff x="0" y="0"/>
                  <a:chExt cx="501650" cy="826770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0D096C58-1B62-4B76-85F1-6D454BAD9303}"/>
                      </a:ext>
                    </a:extLst>
                  </p:cNvPr>
                  <p:cNvSpPr/>
                  <p:nvPr/>
                </p:nvSpPr>
                <p:spPr>
                  <a:xfrm>
                    <a:off x="175260" y="99695"/>
                    <a:ext cx="152400" cy="16858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21" name="Grouper 132">
                    <a:extLst>
                      <a:ext uri="{FF2B5EF4-FFF2-40B4-BE49-F238E27FC236}">
                        <a16:creationId xmlns:a16="http://schemas.microsoft.com/office/drawing/2014/main" id="{57431AC4-74D0-4047-921F-2CE7AF61F116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29285"/>
                    <a:ext cx="501650" cy="197485"/>
                    <a:chOff x="0" y="0"/>
                    <a:chExt cx="641350" cy="222885"/>
                  </a:xfrm>
                </p:grpSpPr>
                <p:sp>
                  <p:nvSpPr>
                    <p:cNvPr id="28" name="Arrondir un rectangle avec un coin du même côté 139">
                      <a:extLst>
                        <a:ext uri="{FF2B5EF4-FFF2-40B4-BE49-F238E27FC236}">
                          <a16:creationId xmlns:a16="http://schemas.microsoft.com/office/drawing/2014/main" id="{58854522-C2EF-488D-8E1C-C74CCB832EE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6985"/>
                      <a:ext cx="641350" cy="215900"/>
                    </a:xfrm>
                    <a:prstGeom prst="round2SameRect">
                      <a:avLst>
                        <a:gd name="adj1" fmla="val 46667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221A7747-0801-42C1-B174-128E2BD48B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41350" cy="8255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71B667A-BFBF-4B30-8825-440156FB3AB8}"/>
                      </a:ext>
                    </a:extLst>
                  </p:cNvPr>
                  <p:cNvSpPr/>
                  <p:nvPr/>
                </p:nvSpPr>
                <p:spPr>
                  <a:xfrm>
                    <a:off x="3810" y="626745"/>
                    <a:ext cx="494665" cy="749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23" name="Triangle isocèle 22">
                    <a:extLst>
                      <a:ext uri="{FF2B5EF4-FFF2-40B4-BE49-F238E27FC236}">
                        <a16:creationId xmlns:a16="http://schemas.microsoft.com/office/drawing/2014/main" id="{AAEC1BD9-6817-4558-9654-7129447B4800}"/>
                      </a:ext>
                    </a:extLst>
                  </p:cNvPr>
                  <p:cNvSpPr/>
                  <p:nvPr/>
                </p:nvSpPr>
                <p:spPr>
                  <a:xfrm>
                    <a:off x="3810" y="82550"/>
                    <a:ext cx="494665" cy="619760"/>
                  </a:xfrm>
                  <a:prstGeom prst="triangl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0AEEAAF3-AF0A-4962-82C8-EC4EA3A98769}"/>
                      </a:ext>
                    </a:extLst>
                  </p:cNvPr>
                  <p:cNvSpPr/>
                  <p:nvPr/>
                </p:nvSpPr>
                <p:spPr>
                  <a:xfrm>
                    <a:off x="180340" y="0"/>
                    <a:ext cx="140335" cy="3397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25" name="Grouper 136">
                    <a:extLst>
                      <a:ext uri="{FF2B5EF4-FFF2-40B4-BE49-F238E27FC236}">
                        <a16:creationId xmlns:a16="http://schemas.microsoft.com/office/drawing/2014/main" id="{62A6A96F-9321-48AE-B914-7FA6D4CE1AEA}"/>
                      </a:ext>
                    </a:extLst>
                  </p:cNvPr>
                  <p:cNvGrpSpPr/>
                  <p:nvPr/>
                </p:nvGrpSpPr>
                <p:grpSpPr>
                  <a:xfrm>
                    <a:off x="3810" y="530225"/>
                    <a:ext cx="494665" cy="294005"/>
                    <a:chOff x="0" y="0"/>
                    <a:chExt cx="633095" cy="331451"/>
                  </a:xfrm>
                </p:grpSpPr>
                <p:sp>
                  <p:nvSpPr>
                    <p:cNvPr id="26" name="Arrondir un rectangle avec un coin du même côté 137">
                      <a:extLst>
                        <a:ext uri="{FF2B5EF4-FFF2-40B4-BE49-F238E27FC236}">
                          <a16:creationId xmlns:a16="http://schemas.microsoft.com/office/drawing/2014/main" id="{EB0274BA-67BB-4A1E-A69A-2742DCBF38F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109220"/>
                      <a:ext cx="633095" cy="222231"/>
                    </a:xfrm>
                    <a:prstGeom prst="round2SameRect">
                      <a:avLst>
                        <a:gd name="adj1" fmla="val 46667"/>
                        <a:gd name="adj2" fmla="val 50000"/>
                      </a:avLst>
                    </a:prstGeom>
                    <a:solidFill>
                      <a:srgbClr val="FFFFFF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7" name="Trapèze 26">
                      <a:extLst>
                        <a:ext uri="{FF2B5EF4-FFF2-40B4-BE49-F238E27FC236}">
                          <a16:creationId xmlns:a16="http://schemas.microsoft.com/office/drawing/2014/main" id="{3AD50BE3-9F87-4CD1-97B9-3FC47B1C7A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" y="0"/>
                      <a:ext cx="622300" cy="198120"/>
                    </a:xfrm>
                    <a:prstGeom prst="trapezoid">
                      <a:avLst>
                        <a:gd name="adj" fmla="val 45513"/>
                      </a:avLst>
                    </a:prstGeom>
                    <a:solidFill>
                      <a:srgbClr val="FFFFFF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  <p:cxnSp>
              <p:nvCxnSpPr>
                <p:cNvPr id="19" name="Connecteur droit 18">
                  <a:extLst>
                    <a:ext uri="{FF2B5EF4-FFF2-40B4-BE49-F238E27FC236}">
                      <a16:creationId xmlns:a16="http://schemas.microsoft.com/office/drawing/2014/main" id="{12802846-97CC-479B-A6B6-8E58DE0B9FD4}"/>
                    </a:ext>
                  </a:extLst>
                </p:cNvPr>
                <p:cNvCxnSpPr/>
                <p:nvPr/>
              </p:nvCxnSpPr>
              <p:spPr>
                <a:xfrm>
                  <a:off x="70485" y="737870"/>
                  <a:ext cx="501650" cy="0"/>
                </a:xfrm>
                <a:prstGeom prst="line">
                  <a:avLst/>
                </a:prstGeom>
                <a:ln w="9525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er 119">
                <a:extLst>
                  <a:ext uri="{FF2B5EF4-FFF2-40B4-BE49-F238E27FC236}">
                    <a16:creationId xmlns:a16="http://schemas.microsoft.com/office/drawing/2014/main" id="{C1FD6F06-E13E-4CE4-A088-1682EA40694E}"/>
                  </a:ext>
                </a:extLst>
              </p:cNvPr>
              <p:cNvGrpSpPr/>
              <p:nvPr/>
            </p:nvGrpSpPr>
            <p:grpSpPr>
              <a:xfrm rot="16200000">
                <a:off x="89852" y="589599"/>
                <a:ext cx="90805" cy="270510"/>
                <a:chOff x="0" y="0"/>
                <a:chExt cx="192140" cy="428179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3508EAA-527C-4065-9D43-7A876F59DC03}"/>
                    </a:ext>
                  </a:extLst>
                </p:cNvPr>
                <p:cNvSpPr/>
                <p:nvPr/>
              </p:nvSpPr>
              <p:spPr>
                <a:xfrm>
                  <a:off x="0" y="125095"/>
                  <a:ext cx="192140" cy="2124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64FBED28-87C0-42D7-9C31-DED094ABAE06}"/>
                    </a:ext>
                  </a:extLst>
                </p:cNvPr>
                <p:cNvSpPr/>
                <p:nvPr/>
              </p:nvSpPr>
              <p:spPr>
                <a:xfrm>
                  <a:off x="6350" y="0"/>
                  <a:ext cx="176929" cy="4281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0708E63-0321-4E39-94D1-E14253D18F73}"/>
                  </a:ext>
                </a:extLst>
              </p:cNvPr>
              <p:cNvSpPr/>
              <p:nvPr/>
            </p:nvSpPr>
            <p:spPr>
              <a:xfrm>
                <a:off x="111760" y="56515"/>
                <a:ext cx="412750" cy="2470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0" name="Triangle isocèle 9">
                <a:extLst>
                  <a:ext uri="{FF2B5EF4-FFF2-40B4-BE49-F238E27FC236}">
                    <a16:creationId xmlns:a16="http://schemas.microsoft.com/office/drawing/2014/main" id="{F848B6F3-4AD7-4935-8869-F94EDEB39DBA}"/>
                  </a:ext>
                </a:extLst>
              </p:cNvPr>
              <p:cNvSpPr/>
              <p:nvPr/>
            </p:nvSpPr>
            <p:spPr>
              <a:xfrm>
                <a:off x="111760" y="179705"/>
                <a:ext cx="412750" cy="123825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611CA87-E192-4623-8D3E-BB54DC986F21}"/>
                  </a:ext>
                </a:extLst>
              </p:cNvPr>
              <p:cNvSpPr/>
              <p:nvPr/>
            </p:nvSpPr>
            <p:spPr>
              <a:xfrm>
                <a:off x="78740" y="0"/>
                <a:ext cx="494375" cy="88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" name="Triangle isocèle 11">
                <a:extLst>
                  <a:ext uri="{FF2B5EF4-FFF2-40B4-BE49-F238E27FC236}">
                    <a16:creationId xmlns:a16="http://schemas.microsoft.com/office/drawing/2014/main" id="{227B6DF2-11C0-464B-874B-E92CF5697F07}"/>
                  </a:ext>
                </a:extLst>
              </p:cNvPr>
              <p:cNvSpPr/>
              <p:nvPr/>
            </p:nvSpPr>
            <p:spPr>
              <a:xfrm rot="10800000">
                <a:off x="111760" y="306070"/>
                <a:ext cx="412750" cy="12382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3" name="Grouper 124">
                <a:extLst>
                  <a:ext uri="{FF2B5EF4-FFF2-40B4-BE49-F238E27FC236}">
                    <a16:creationId xmlns:a16="http://schemas.microsoft.com/office/drawing/2014/main" id="{6747B601-2F4F-40D2-B50F-24DF66C1193E}"/>
                  </a:ext>
                </a:extLst>
              </p:cNvPr>
              <p:cNvGrpSpPr/>
              <p:nvPr/>
            </p:nvGrpSpPr>
            <p:grpSpPr>
              <a:xfrm>
                <a:off x="228600" y="340995"/>
                <a:ext cx="177800" cy="273050"/>
                <a:chOff x="0" y="72096"/>
                <a:chExt cx="192140" cy="356082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A729718-64EE-470A-9EC0-757FF61125BB}"/>
                    </a:ext>
                  </a:extLst>
                </p:cNvPr>
                <p:cNvSpPr/>
                <p:nvPr/>
              </p:nvSpPr>
              <p:spPr>
                <a:xfrm>
                  <a:off x="0" y="125095"/>
                  <a:ext cx="192140" cy="2124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972CE26-13E1-4B78-A956-6E7BF59F2C36}"/>
                    </a:ext>
                  </a:extLst>
                </p:cNvPr>
                <p:cNvSpPr/>
                <p:nvPr/>
              </p:nvSpPr>
              <p:spPr>
                <a:xfrm>
                  <a:off x="6350" y="72096"/>
                  <a:ext cx="176929" cy="3560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grpSp>
          <p:nvGrpSpPr>
            <p:cNvPr id="30" name="Grouper 154">
              <a:extLst>
                <a:ext uri="{FF2B5EF4-FFF2-40B4-BE49-F238E27FC236}">
                  <a16:creationId xmlns:a16="http://schemas.microsoft.com/office/drawing/2014/main" id="{C3C7A271-15BA-4AF8-867F-0B85740624F0}"/>
                </a:ext>
              </a:extLst>
            </p:cNvPr>
            <p:cNvGrpSpPr/>
            <p:nvPr/>
          </p:nvGrpSpPr>
          <p:grpSpPr>
            <a:xfrm>
              <a:off x="899795" y="2549321"/>
              <a:ext cx="1143000" cy="1149033"/>
              <a:chOff x="1397000" y="2040716"/>
              <a:chExt cx="1143000" cy="1149033"/>
            </a:xfrm>
          </p:grpSpPr>
          <p:grpSp>
            <p:nvGrpSpPr>
              <p:cNvPr id="31" name="Grouper 3">
                <a:extLst>
                  <a:ext uri="{FF2B5EF4-FFF2-40B4-BE49-F238E27FC236}">
                    <a16:creationId xmlns:a16="http://schemas.microsoft.com/office/drawing/2014/main" id="{0600F09C-B7EE-43EF-B839-3D25C3524B11}"/>
                  </a:ext>
                </a:extLst>
              </p:cNvPr>
              <p:cNvGrpSpPr/>
              <p:nvPr/>
            </p:nvGrpSpPr>
            <p:grpSpPr>
              <a:xfrm>
                <a:off x="1397000" y="2217564"/>
                <a:ext cx="1143000" cy="972185"/>
                <a:chOff x="0" y="0"/>
                <a:chExt cx="1143000" cy="972185"/>
              </a:xfrm>
            </p:grpSpPr>
            <p:grpSp>
              <p:nvGrpSpPr>
                <p:cNvPr id="40" name="Grouper 4">
                  <a:extLst>
                    <a:ext uri="{FF2B5EF4-FFF2-40B4-BE49-F238E27FC236}">
                      <a16:creationId xmlns:a16="http://schemas.microsoft.com/office/drawing/2014/main" id="{70510986-4714-4AC9-8F48-21C074B1B6D2}"/>
                    </a:ext>
                  </a:extLst>
                </p:cNvPr>
                <p:cNvGrpSpPr/>
                <p:nvPr/>
              </p:nvGrpSpPr>
              <p:grpSpPr>
                <a:xfrm>
                  <a:off x="0" y="226695"/>
                  <a:ext cx="1143000" cy="745490"/>
                  <a:chOff x="0" y="0"/>
                  <a:chExt cx="1143000" cy="745490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5E3F8D64-89C7-4B66-A400-77C547C2C2C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0" cy="745490"/>
                  </a:xfrm>
                  <a:prstGeom prst="rect">
                    <a:avLst/>
                  </a:prstGeom>
                  <a:solidFill>
                    <a:srgbClr val="BFBFBF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3" name="Ellipse 42">
                    <a:extLst>
                      <a:ext uri="{FF2B5EF4-FFF2-40B4-BE49-F238E27FC236}">
                        <a16:creationId xmlns:a16="http://schemas.microsoft.com/office/drawing/2014/main" id="{1B435810-07CF-42D9-A1FC-3E82682170D0}"/>
                      </a:ext>
                    </a:extLst>
                  </p:cNvPr>
                  <p:cNvSpPr/>
                  <p:nvPr/>
                </p:nvSpPr>
                <p:spPr>
                  <a:xfrm>
                    <a:off x="114300" y="496570"/>
                    <a:ext cx="114300" cy="13525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41" name="Corde 40">
                  <a:extLst>
                    <a:ext uri="{FF2B5EF4-FFF2-40B4-BE49-F238E27FC236}">
                      <a16:creationId xmlns:a16="http://schemas.microsoft.com/office/drawing/2014/main" id="{165D9E55-4364-4BD1-98FC-3CBECEA9E49B}"/>
                    </a:ext>
                  </a:extLst>
                </p:cNvPr>
                <p:cNvSpPr/>
                <p:nvPr/>
              </p:nvSpPr>
              <p:spPr>
                <a:xfrm rot="17567007">
                  <a:off x="227330" y="4445"/>
                  <a:ext cx="706120" cy="697230"/>
                </a:xfrm>
                <a:prstGeom prst="chord">
                  <a:avLst>
                    <a:gd name="adj1" fmla="val 2700000"/>
                    <a:gd name="adj2" fmla="val 16236166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32" name="Grouper 8">
                <a:extLst>
                  <a:ext uri="{FF2B5EF4-FFF2-40B4-BE49-F238E27FC236}">
                    <a16:creationId xmlns:a16="http://schemas.microsoft.com/office/drawing/2014/main" id="{59F2E83A-C783-4BA8-A280-216C6D6D7ACA}"/>
                  </a:ext>
                </a:extLst>
              </p:cNvPr>
              <p:cNvGrpSpPr/>
              <p:nvPr/>
            </p:nvGrpSpPr>
            <p:grpSpPr>
              <a:xfrm flipH="1">
                <a:off x="1629410" y="2040716"/>
                <a:ext cx="693420" cy="883285"/>
                <a:chOff x="0" y="0"/>
                <a:chExt cx="693420" cy="883285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865F31E-1A8B-4ECA-BA3A-97AE53B86036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7B6810DE-C284-41EB-BB09-7F8A71C9818C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7" name="Ellipse 36">
                  <a:extLst>
                    <a:ext uri="{FF2B5EF4-FFF2-40B4-BE49-F238E27FC236}">
                      <a16:creationId xmlns:a16="http://schemas.microsoft.com/office/drawing/2014/main" id="{3144289B-B1F6-487E-828D-AF59E2A0C013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46E79FE-DB2C-461F-8D03-7F9C6ED64B30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FE3F7EA-215A-4121-99A7-98C770CE2018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33" name="Corde 32">
                <a:extLst>
                  <a:ext uri="{FF2B5EF4-FFF2-40B4-BE49-F238E27FC236}">
                    <a16:creationId xmlns:a16="http://schemas.microsoft.com/office/drawing/2014/main" id="{5065E400-78B5-4B23-89AC-691587976C39}"/>
                  </a:ext>
                </a:extLst>
              </p:cNvPr>
              <p:cNvSpPr/>
              <p:nvPr/>
            </p:nvSpPr>
            <p:spPr>
              <a:xfrm rot="17560116">
                <a:off x="1629266" y="2231798"/>
                <a:ext cx="693420" cy="693420"/>
              </a:xfrm>
              <a:prstGeom prst="chord">
                <a:avLst>
                  <a:gd name="adj1" fmla="val 4447445"/>
                  <a:gd name="adj2" fmla="val 1432163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77DD436D-5206-48D3-930B-1FE688E52081}"/>
                  </a:ext>
                </a:extLst>
              </p:cNvPr>
              <p:cNvSpPr/>
              <p:nvPr/>
            </p:nvSpPr>
            <p:spPr>
              <a:xfrm>
                <a:off x="1896745" y="2842548"/>
                <a:ext cx="146050" cy="755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44" name="Grouper 155">
              <a:extLst>
                <a:ext uri="{FF2B5EF4-FFF2-40B4-BE49-F238E27FC236}">
                  <a16:creationId xmlns:a16="http://schemas.microsoft.com/office/drawing/2014/main" id="{4636C639-FD0E-49C8-B6AE-075F7464E32E}"/>
                </a:ext>
              </a:extLst>
            </p:cNvPr>
            <p:cNvGrpSpPr/>
            <p:nvPr/>
          </p:nvGrpSpPr>
          <p:grpSpPr>
            <a:xfrm>
              <a:off x="3723005" y="1750106"/>
              <a:ext cx="1294024" cy="1925532"/>
              <a:chOff x="3723005" y="1241501"/>
              <a:chExt cx="1294024" cy="1925532"/>
            </a:xfrm>
          </p:grpSpPr>
          <p:grpSp>
            <p:nvGrpSpPr>
              <p:cNvPr id="45" name="Grouper 20">
                <a:extLst>
                  <a:ext uri="{FF2B5EF4-FFF2-40B4-BE49-F238E27FC236}">
                    <a16:creationId xmlns:a16="http://schemas.microsoft.com/office/drawing/2014/main" id="{F8488B79-5872-47A0-A718-9FEBE69555B4}"/>
                  </a:ext>
                </a:extLst>
              </p:cNvPr>
              <p:cNvGrpSpPr/>
              <p:nvPr/>
            </p:nvGrpSpPr>
            <p:grpSpPr>
              <a:xfrm>
                <a:off x="3723005" y="2194848"/>
                <a:ext cx="1143000" cy="972185"/>
                <a:chOff x="0" y="0"/>
                <a:chExt cx="1143000" cy="972185"/>
              </a:xfrm>
            </p:grpSpPr>
            <p:grpSp>
              <p:nvGrpSpPr>
                <p:cNvPr id="73" name="Grouper 27">
                  <a:extLst>
                    <a:ext uri="{FF2B5EF4-FFF2-40B4-BE49-F238E27FC236}">
                      <a16:creationId xmlns:a16="http://schemas.microsoft.com/office/drawing/2014/main" id="{50CE379B-4DAA-442B-B6ED-5E457F045A85}"/>
                    </a:ext>
                  </a:extLst>
                </p:cNvPr>
                <p:cNvGrpSpPr/>
                <p:nvPr/>
              </p:nvGrpSpPr>
              <p:grpSpPr>
                <a:xfrm>
                  <a:off x="0" y="226695"/>
                  <a:ext cx="1143000" cy="745490"/>
                  <a:chOff x="0" y="0"/>
                  <a:chExt cx="1143000" cy="745490"/>
                </a:xfrm>
              </p:grpSpPr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E4F60085-BCBE-4431-83BF-075BE87D618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0" cy="745490"/>
                  </a:xfrm>
                  <a:prstGeom prst="rect">
                    <a:avLst/>
                  </a:prstGeom>
                  <a:solidFill>
                    <a:srgbClr val="BFBFBF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6" name="Ellipse 75">
                    <a:extLst>
                      <a:ext uri="{FF2B5EF4-FFF2-40B4-BE49-F238E27FC236}">
                        <a16:creationId xmlns:a16="http://schemas.microsoft.com/office/drawing/2014/main" id="{F2CA7564-A583-44E3-8FC7-6B8B766A55C6}"/>
                      </a:ext>
                    </a:extLst>
                  </p:cNvPr>
                  <p:cNvSpPr/>
                  <p:nvPr/>
                </p:nvSpPr>
                <p:spPr>
                  <a:xfrm>
                    <a:off x="114300" y="496570"/>
                    <a:ext cx="114300" cy="13525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74" name="Corde 73">
                  <a:extLst>
                    <a:ext uri="{FF2B5EF4-FFF2-40B4-BE49-F238E27FC236}">
                      <a16:creationId xmlns:a16="http://schemas.microsoft.com/office/drawing/2014/main" id="{8C8A1704-4448-450D-8F5B-857CEEB992C6}"/>
                    </a:ext>
                  </a:extLst>
                </p:cNvPr>
                <p:cNvSpPr/>
                <p:nvPr/>
              </p:nvSpPr>
              <p:spPr>
                <a:xfrm rot="17567007">
                  <a:off x="227330" y="4445"/>
                  <a:ext cx="706120" cy="697230"/>
                </a:xfrm>
                <a:prstGeom prst="chord">
                  <a:avLst>
                    <a:gd name="adj1" fmla="val 2700000"/>
                    <a:gd name="adj2" fmla="val 16236166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46" name="Grouper 21">
                <a:extLst>
                  <a:ext uri="{FF2B5EF4-FFF2-40B4-BE49-F238E27FC236}">
                    <a16:creationId xmlns:a16="http://schemas.microsoft.com/office/drawing/2014/main" id="{68E3C5F0-9883-4CF5-A6E7-1EE0E4BD434C}"/>
                  </a:ext>
                </a:extLst>
              </p:cNvPr>
              <p:cNvGrpSpPr/>
              <p:nvPr/>
            </p:nvGrpSpPr>
            <p:grpSpPr>
              <a:xfrm flipH="1">
                <a:off x="3955415" y="2018000"/>
                <a:ext cx="693420" cy="883285"/>
                <a:chOff x="0" y="0"/>
                <a:chExt cx="693420" cy="883285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1E83F3EC-C6EC-4425-ADA5-F4A02AA4CFA2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FC8A5733-27BE-4101-831A-4DD5DA31D8D3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0" name="Ellipse 69">
                  <a:extLst>
                    <a:ext uri="{FF2B5EF4-FFF2-40B4-BE49-F238E27FC236}">
                      <a16:creationId xmlns:a16="http://schemas.microsoft.com/office/drawing/2014/main" id="{D6D00D39-8ACF-4391-B94B-9EB47BEC7555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02F0CB17-F4E4-4D0D-A18C-6C258D190AB5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4606DF2-67E4-4AC2-950C-A2F7A30435A3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47" name="Grouper 9">
                <a:extLst>
                  <a:ext uri="{FF2B5EF4-FFF2-40B4-BE49-F238E27FC236}">
                    <a16:creationId xmlns:a16="http://schemas.microsoft.com/office/drawing/2014/main" id="{422C1DD4-B4FD-475D-B2C3-13E4EE9863FB}"/>
                  </a:ext>
                </a:extLst>
              </p:cNvPr>
              <p:cNvGrpSpPr/>
              <p:nvPr/>
            </p:nvGrpSpPr>
            <p:grpSpPr>
              <a:xfrm>
                <a:off x="4187920" y="1972453"/>
                <a:ext cx="219710" cy="161925"/>
                <a:chOff x="0" y="0"/>
                <a:chExt cx="219710" cy="16192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66FB9F10-FE68-46D8-937A-7BE7C5A55BBB}"/>
                    </a:ext>
                  </a:extLst>
                </p:cNvPr>
                <p:cNvSpPr/>
                <p:nvPr/>
              </p:nvSpPr>
              <p:spPr>
                <a:xfrm>
                  <a:off x="45720" y="45720"/>
                  <a:ext cx="134620" cy="1162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3E8C019-4C5E-4A60-8054-7F5C8A14D8A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9710" cy="450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48" name="Grouper 18">
                <a:extLst>
                  <a:ext uri="{FF2B5EF4-FFF2-40B4-BE49-F238E27FC236}">
                    <a16:creationId xmlns:a16="http://schemas.microsoft.com/office/drawing/2014/main" id="{20369BD7-4257-4A67-9AF1-8AE86C4C4AA9}"/>
                  </a:ext>
                </a:extLst>
              </p:cNvPr>
              <p:cNvGrpSpPr/>
              <p:nvPr/>
            </p:nvGrpSpPr>
            <p:grpSpPr>
              <a:xfrm flipH="1">
                <a:off x="4706515" y="1241501"/>
                <a:ext cx="310514" cy="1184275"/>
                <a:chOff x="3222687" y="3124896"/>
                <a:chExt cx="310514" cy="1184275"/>
              </a:xfrm>
            </p:grpSpPr>
            <p:grpSp>
              <p:nvGrpSpPr>
                <p:cNvPr id="51" name="Grouper 46">
                  <a:extLst>
                    <a:ext uri="{FF2B5EF4-FFF2-40B4-BE49-F238E27FC236}">
                      <a16:creationId xmlns:a16="http://schemas.microsoft.com/office/drawing/2014/main" id="{8312365C-AE73-42BD-A81D-64CB3464B3A9}"/>
                    </a:ext>
                  </a:extLst>
                </p:cNvPr>
                <p:cNvGrpSpPr/>
                <p:nvPr/>
              </p:nvGrpSpPr>
              <p:grpSpPr>
                <a:xfrm rot="19789929">
                  <a:off x="3232846" y="3124896"/>
                  <a:ext cx="300355" cy="1184275"/>
                  <a:chOff x="0" y="0"/>
                  <a:chExt cx="300355" cy="1184275"/>
                </a:xfrm>
              </p:grpSpPr>
              <p:sp>
                <p:nvSpPr>
                  <p:cNvPr id="53" name="Cadre 52">
                    <a:extLst>
                      <a:ext uri="{FF2B5EF4-FFF2-40B4-BE49-F238E27FC236}">
                        <a16:creationId xmlns:a16="http://schemas.microsoft.com/office/drawing/2014/main" id="{AC9FA5A4-68F1-4A80-8416-17E1C088C1AF}"/>
                      </a:ext>
                    </a:extLst>
                  </p:cNvPr>
                  <p:cNvSpPr/>
                  <p:nvPr/>
                </p:nvSpPr>
                <p:spPr>
                  <a:xfrm>
                    <a:off x="0" y="139065"/>
                    <a:ext cx="210820" cy="826770"/>
                  </a:xfrm>
                  <a:prstGeom prst="frame">
                    <a:avLst>
                      <a:gd name="adj1" fmla="val 25000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B1554014-0F25-4C74-9B46-5EE2EC426E17}"/>
                      </a:ext>
                    </a:extLst>
                  </p:cNvPr>
                  <p:cNvSpPr/>
                  <p:nvPr/>
                </p:nvSpPr>
                <p:spPr>
                  <a:xfrm>
                    <a:off x="112395" y="13335"/>
                    <a:ext cx="152400" cy="14986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6B25806B-D259-4641-92E8-C3BA36EBF9F3}"/>
                      </a:ext>
                    </a:extLst>
                  </p:cNvPr>
                  <p:cNvSpPr/>
                  <p:nvPr/>
                </p:nvSpPr>
                <p:spPr>
                  <a:xfrm>
                    <a:off x="154940" y="815340"/>
                    <a:ext cx="63500" cy="14986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6" name="Rectangle à coins arrondis 76">
                    <a:extLst>
                      <a:ext uri="{FF2B5EF4-FFF2-40B4-BE49-F238E27FC236}">
                        <a16:creationId xmlns:a16="http://schemas.microsoft.com/office/drawing/2014/main" id="{415745B7-E631-4AFE-98A6-9715F3B0E9C1}"/>
                      </a:ext>
                    </a:extLst>
                  </p:cNvPr>
                  <p:cNvSpPr/>
                  <p:nvPr/>
                </p:nvSpPr>
                <p:spPr>
                  <a:xfrm>
                    <a:off x="73660" y="100330"/>
                    <a:ext cx="226695" cy="721360"/>
                  </a:xfrm>
                  <a:prstGeom prst="roundRect">
                    <a:avLst>
                      <a:gd name="adj" fmla="val 4187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17111044-FA52-4283-9927-3A82D718E0EE}"/>
                      </a:ext>
                    </a:extLst>
                  </p:cNvPr>
                  <p:cNvSpPr/>
                  <p:nvPr/>
                </p:nvSpPr>
                <p:spPr>
                  <a:xfrm>
                    <a:off x="120015" y="962660"/>
                    <a:ext cx="134620" cy="14986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4CDC09A6-CB62-405B-9AC3-A3543CCCF76D}"/>
                      </a:ext>
                    </a:extLst>
                  </p:cNvPr>
                  <p:cNvSpPr/>
                  <p:nvPr/>
                </p:nvSpPr>
                <p:spPr>
                  <a:xfrm>
                    <a:off x="120015" y="855345"/>
                    <a:ext cx="144780" cy="45719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" name="Ellipse 58">
                    <a:extLst>
                      <a:ext uri="{FF2B5EF4-FFF2-40B4-BE49-F238E27FC236}">
                        <a16:creationId xmlns:a16="http://schemas.microsoft.com/office/drawing/2014/main" id="{C6B9E343-C8A0-4574-B81F-AC2B7F0E22F5}"/>
                      </a:ext>
                    </a:extLst>
                  </p:cNvPr>
                  <p:cNvSpPr/>
                  <p:nvPr/>
                </p:nvSpPr>
                <p:spPr>
                  <a:xfrm>
                    <a:off x="255270" y="818515"/>
                    <a:ext cx="45085" cy="112395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DFA737A0-030C-45B4-91A9-AA8BC5CB2DE9}"/>
                      </a:ext>
                    </a:extLst>
                  </p:cNvPr>
                  <p:cNvSpPr/>
                  <p:nvPr/>
                </p:nvSpPr>
                <p:spPr>
                  <a:xfrm>
                    <a:off x="127000" y="921385"/>
                    <a:ext cx="85725" cy="1174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E7D2F3CD-6796-4FFE-A8DC-B2E1B3C32957}"/>
                      </a:ext>
                    </a:extLst>
                  </p:cNvPr>
                  <p:cNvSpPr/>
                  <p:nvPr/>
                </p:nvSpPr>
                <p:spPr>
                  <a:xfrm>
                    <a:off x="127000" y="1066800"/>
                    <a:ext cx="122555" cy="1174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9D43D2AE-8610-42A9-8612-785A6DF4AEDF}"/>
                      </a:ext>
                    </a:extLst>
                  </p:cNvPr>
                  <p:cNvSpPr/>
                  <p:nvPr/>
                </p:nvSpPr>
                <p:spPr>
                  <a:xfrm>
                    <a:off x="67945" y="918210"/>
                    <a:ext cx="114935" cy="4445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CF0DFE89-6CCE-475E-887B-2E81441F988F}"/>
                      </a:ext>
                    </a:extLst>
                  </p:cNvPr>
                  <p:cNvSpPr/>
                  <p:nvPr/>
                </p:nvSpPr>
                <p:spPr>
                  <a:xfrm>
                    <a:off x="47625" y="143510"/>
                    <a:ext cx="114935" cy="4381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10F7070E-D2D3-4B34-A17B-B78F2E34FAE8}"/>
                      </a:ext>
                    </a:extLst>
                  </p:cNvPr>
                  <p:cNvSpPr/>
                  <p:nvPr/>
                </p:nvSpPr>
                <p:spPr>
                  <a:xfrm>
                    <a:off x="121285" y="0"/>
                    <a:ext cx="132715" cy="13144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7D50663C-717D-4DB3-8DEC-B81A72B7446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9540" y="757555"/>
                    <a:ext cx="114935" cy="4381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cxnSp>
              <p:nvCxnSpPr>
                <p:cNvPr id="52" name="Connecteur droit 51">
                  <a:extLst>
                    <a:ext uri="{FF2B5EF4-FFF2-40B4-BE49-F238E27FC236}">
                      <a16:creationId xmlns:a16="http://schemas.microsoft.com/office/drawing/2014/main" id="{6F6B0718-0565-4FC2-A460-B90C1655EEE3}"/>
                    </a:ext>
                  </a:extLst>
                </p:cNvPr>
                <p:cNvCxnSpPr/>
                <p:nvPr/>
              </p:nvCxnSpPr>
              <p:spPr>
                <a:xfrm>
                  <a:off x="3222687" y="3585272"/>
                  <a:ext cx="251512" cy="0"/>
                </a:xfrm>
                <a:prstGeom prst="line">
                  <a:avLst/>
                </a:prstGeom>
                <a:ln w="9525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Corde 48">
                <a:extLst>
                  <a:ext uri="{FF2B5EF4-FFF2-40B4-BE49-F238E27FC236}">
                    <a16:creationId xmlns:a16="http://schemas.microsoft.com/office/drawing/2014/main" id="{B747AB03-7F14-4C1E-9069-6D3CEF5A8C79}"/>
                  </a:ext>
                </a:extLst>
              </p:cNvPr>
              <p:cNvSpPr/>
              <p:nvPr/>
            </p:nvSpPr>
            <p:spPr>
              <a:xfrm rot="17560116">
                <a:off x="3955273" y="2206268"/>
                <a:ext cx="693420" cy="693420"/>
              </a:xfrm>
              <a:prstGeom prst="chord">
                <a:avLst>
                  <a:gd name="adj1" fmla="val 4447445"/>
                  <a:gd name="adj2" fmla="val 1432163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0341343C-6730-4787-B1B6-50A6A19BD849}"/>
                  </a:ext>
                </a:extLst>
              </p:cNvPr>
              <p:cNvSpPr/>
              <p:nvPr/>
            </p:nvSpPr>
            <p:spPr>
              <a:xfrm>
                <a:off x="4222752" y="2817018"/>
                <a:ext cx="146050" cy="755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77" name="Grouper 156">
              <a:extLst>
                <a:ext uri="{FF2B5EF4-FFF2-40B4-BE49-F238E27FC236}">
                  <a16:creationId xmlns:a16="http://schemas.microsoft.com/office/drawing/2014/main" id="{B6747AB5-CBAE-46D3-BE81-DB506975B31E}"/>
                </a:ext>
              </a:extLst>
            </p:cNvPr>
            <p:cNvGrpSpPr/>
            <p:nvPr/>
          </p:nvGrpSpPr>
          <p:grpSpPr>
            <a:xfrm>
              <a:off x="6626688" y="2481058"/>
              <a:ext cx="1143000" cy="1207280"/>
              <a:chOff x="6172200" y="1959753"/>
              <a:chExt cx="1143000" cy="1207280"/>
            </a:xfrm>
          </p:grpSpPr>
          <p:grpSp>
            <p:nvGrpSpPr>
              <p:cNvPr id="78" name="Grouper 32">
                <a:extLst>
                  <a:ext uri="{FF2B5EF4-FFF2-40B4-BE49-F238E27FC236}">
                    <a16:creationId xmlns:a16="http://schemas.microsoft.com/office/drawing/2014/main" id="{CF82066E-5135-44D9-B6B8-3794903EA644}"/>
                  </a:ext>
                </a:extLst>
              </p:cNvPr>
              <p:cNvGrpSpPr/>
              <p:nvPr/>
            </p:nvGrpSpPr>
            <p:grpSpPr>
              <a:xfrm>
                <a:off x="6172200" y="2194848"/>
                <a:ext cx="1143000" cy="972185"/>
                <a:chOff x="0" y="0"/>
                <a:chExt cx="1143000" cy="972185"/>
              </a:xfrm>
            </p:grpSpPr>
            <p:grpSp>
              <p:nvGrpSpPr>
                <p:cNvPr id="90" name="Grouper 39">
                  <a:extLst>
                    <a:ext uri="{FF2B5EF4-FFF2-40B4-BE49-F238E27FC236}">
                      <a16:creationId xmlns:a16="http://schemas.microsoft.com/office/drawing/2014/main" id="{03221D68-46F1-44CF-B590-301AB5F7845C}"/>
                    </a:ext>
                  </a:extLst>
                </p:cNvPr>
                <p:cNvGrpSpPr/>
                <p:nvPr/>
              </p:nvGrpSpPr>
              <p:grpSpPr>
                <a:xfrm>
                  <a:off x="0" y="226695"/>
                  <a:ext cx="1143000" cy="745490"/>
                  <a:chOff x="0" y="0"/>
                  <a:chExt cx="1143000" cy="745490"/>
                </a:xfrm>
              </p:grpSpPr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3C65DCE4-D415-4CA4-A7E2-6351130FB6C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0" cy="745490"/>
                  </a:xfrm>
                  <a:prstGeom prst="rect">
                    <a:avLst/>
                  </a:prstGeom>
                  <a:solidFill>
                    <a:srgbClr val="BFBFBF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93" name="Ellipse 92">
                    <a:extLst>
                      <a:ext uri="{FF2B5EF4-FFF2-40B4-BE49-F238E27FC236}">
                        <a16:creationId xmlns:a16="http://schemas.microsoft.com/office/drawing/2014/main" id="{68DFAA51-5176-4D5F-93A0-8201A885582B}"/>
                      </a:ext>
                    </a:extLst>
                  </p:cNvPr>
                  <p:cNvSpPr/>
                  <p:nvPr/>
                </p:nvSpPr>
                <p:spPr>
                  <a:xfrm>
                    <a:off x="114300" y="496570"/>
                    <a:ext cx="114300" cy="13525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91" name="Corde 90">
                  <a:extLst>
                    <a:ext uri="{FF2B5EF4-FFF2-40B4-BE49-F238E27FC236}">
                      <a16:creationId xmlns:a16="http://schemas.microsoft.com/office/drawing/2014/main" id="{DD32C919-83E1-41A4-8061-8AED6B0DB31E}"/>
                    </a:ext>
                  </a:extLst>
                </p:cNvPr>
                <p:cNvSpPr/>
                <p:nvPr/>
              </p:nvSpPr>
              <p:spPr>
                <a:xfrm rot="17567007">
                  <a:off x="227330" y="4445"/>
                  <a:ext cx="706120" cy="697230"/>
                </a:xfrm>
                <a:prstGeom prst="chord">
                  <a:avLst>
                    <a:gd name="adj1" fmla="val 2700000"/>
                    <a:gd name="adj2" fmla="val 16236166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79" name="Grouper 33">
                <a:extLst>
                  <a:ext uri="{FF2B5EF4-FFF2-40B4-BE49-F238E27FC236}">
                    <a16:creationId xmlns:a16="http://schemas.microsoft.com/office/drawing/2014/main" id="{B399C180-EF8D-420B-8397-708923ECDE8D}"/>
                  </a:ext>
                </a:extLst>
              </p:cNvPr>
              <p:cNvGrpSpPr/>
              <p:nvPr/>
            </p:nvGrpSpPr>
            <p:grpSpPr>
              <a:xfrm flipH="1">
                <a:off x="6404610" y="2018000"/>
                <a:ext cx="693420" cy="883285"/>
                <a:chOff x="0" y="0"/>
                <a:chExt cx="693420" cy="883285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BEE22EC9-574C-4608-B5F2-98D7FCE3F10B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884A9BE0-8306-4585-B298-32E9862A335F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1CB3D6B4-BC58-47DC-99E8-C25BB52EE451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959B705D-22C1-4190-945B-459262E74C0C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8FCEE4-5553-4897-BB4B-296D16993C81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80" name="Grouper 111">
                <a:extLst>
                  <a:ext uri="{FF2B5EF4-FFF2-40B4-BE49-F238E27FC236}">
                    <a16:creationId xmlns:a16="http://schemas.microsoft.com/office/drawing/2014/main" id="{B630EAA2-D8D8-4925-84CC-575C0869D679}"/>
                  </a:ext>
                </a:extLst>
              </p:cNvPr>
              <p:cNvGrpSpPr/>
              <p:nvPr/>
            </p:nvGrpSpPr>
            <p:grpSpPr>
              <a:xfrm>
                <a:off x="6637115" y="1959753"/>
                <a:ext cx="219710" cy="161925"/>
                <a:chOff x="0" y="0"/>
                <a:chExt cx="219710" cy="16192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AA4D350-F9D4-4778-8E09-3D208EF74485}"/>
                    </a:ext>
                  </a:extLst>
                </p:cNvPr>
                <p:cNvSpPr/>
                <p:nvPr/>
              </p:nvSpPr>
              <p:spPr>
                <a:xfrm>
                  <a:off x="45720" y="45720"/>
                  <a:ext cx="134620" cy="1162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F9BC7FC6-3E6D-4421-8990-50326411A5F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9710" cy="450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81" name="Corde 80">
                <a:extLst>
                  <a:ext uri="{FF2B5EF4-FFF2-40B4-BE49-F238E27FC236}">
                    <a16:creationId xmlns:a16="http://schemas.microsoft.com/office/drawing/2014/main" id="{F1D05EC8-D7B9-4F28-93FD-ACF6C19F0AFE}"/>
                  </a:ext>
                </a:extLst>
              </p:cNvPr>
              <p:cNvSpPr/>
              <p:nvPr/>
            </p:nvSpPr>
            <p:spPr>
              <a:xfrm rot="17560116">
                <a:off x="6404002" y="2214116"/>
                <a:ext cx="693420" cy="693420"/>
              </a:xfrm>
              <a:prstGeom prst="chord">
                <a:avLst>
                  <a:gd name="adj1" fmla="val 4447445"/>
                  <a:gd name="adj2" fmla="val 1432163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A6AAEB60-5B95-4545-B567-24231248DB3B}"/>
                  </a:ext>
                </a:extLst>
              </p:cNvPr>
              <p:cNvSpPr/>
              <p:nvPr/>
            </p:nvSpPr>
            <p:spPr>
              <a:xfrm>
                <a:off x="6674656" y="2824866"/>
                <a:ext cx="146050" cy="755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94" name="Grouper 147">
              <a:extLst>
                <a:ext uri="{FF2B5EF4-FFF2-40B4-BE49-F238E27FC236}">
                  <a16:creationId xmlns:a16="http://schemas.microsoft.com/office/drawing/2014/main" id="{29B5DB32-B09A-44AF-8972-785A373FC19F}"/>
                </a:ext>
              </a:extLst>
            </p:cNvPr>
            <p:cNvGrpSpPr/>
            <p:nvPr/>
          </p:nvGrpSpPr>
          <p:grpSpPr>
            <a:xfrm>
              <a:off x="3814947" y="5015219"/>
              <a:ext cx="645795" cy="633730"/>
              <a:chOff x="0" y="0"/>
              <a:chExt cx="645795" cy="633730"/>
            </a:xfrm>
          </p:grpSpPr>
          <p:sp>
            <p:nvSpPr>
              <p:cNvPr id="95" name="Triangle isocèle 94">
                <a:extLst>
                  <a:ext uri="{FF2B5EF4-FFF2-40B4-BE49-F238E27FC236}">
                    <a16:creationId xmlns:a16="http://schemas.microsoft.com/office/drawing/2014/main" id="{07AF198B-652C-4FF0-BFBD-E266863E5BD6}"/>
                  </a:ext>
                </a:extLst>
              </p:cNvPr>
              <p:cNvSpPr/>
              <p:nvPr/>
            </p:nvSpPr>
            <p:spPr>
              <a:xfrm>
                <a:off x="92075" y="223520"/>
                <a:ext cx="457200" cy="114300"/>
              </a:xfrm>
              <a:prstGeom prst="triangle">
                <a:avLst>
                  <a:gd name="adj" fmla="val 51852"/>
                </a:avLst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6" name="Bande diagonale 95">
                <a:extLst>
                  <a:ext uri="{FF2B5EF4-FFF2-40B4-BE49-F238E27FC236}">
                    <a16:creationId xmlns:a16="http://schemas.microsoft.com/office/drawing/2014/main" id="{A7CB6C85-C8F5-474F-A9F3-3B3902A68283}"/>
                  </a:ext>
                </a:extLst>
              </p:cNvPr>
              <p:cNvSpPr/>
              <p:nvPr/>
            </p:nvSpPr>
            <p:spPr>
              <a:xfrm rot="13516846">
                <a:off x="6033" y="-6033"/>
                <a:ext cx="633730" cy="645795"/>
              </a:xfrm>
              <a:prstGeom prst="diagStripe">
                <a:avLst>
                  <a:gd name="adj" fmla="val 82443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97" name="Flèche vers la droite 153">
              <a:extLst>
                <a:ext uri="{FF2B5EF4-FFF2-40B4-BE49-F238E27FC236}">
                  <a16:creationId xmlns:a16="http://schemas.microsoft.com/office/drawing/2014/main" id="{03E78784-5AB1-4B11-9F6C-7798E4BBA615}"/>
                </a:ext>
              </a:extLst>
            </p:cNvPr>
            <p:cNvSpPr/>
            <p:nvPr/>
          </p:nvSpPr>
          <p:spPr>
            <a:xfrm>
              <a:off x="2303145" y="3268473"/>
              <a:ext cx="1143000" cy="114300"/>
            </a:xfrm>
            <a:prstGeom prst="rightArrow">
              <a:avLst>
                <a:gd name="adj1" fmla="val 16667"/>
                <a:gd name="adj2" fmla="val 58333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98" name="Flèche vers la droite 157">
              <a:extLst>
                <a:ext uri="{FF2B5EF4-FFF2-40B4-BE49-F238E27FC236}">
                  <a16:creationId xmlns:a16="http://schemas.microsoft.com/office/drawing/2014/main" id="{2300D0AD-C498-4882-BAAF-4B50ADFA1FE3}"/>
                </a:ext>
              </a:extLst>
            </p:cNvPr>
            <p:cNvSpPr/>
            <p:nvPr/>
          </p:nvSpPr>
          <p:spPr>
            <a:xfrm>
              <a:off x="4998085" y="3268473"/>
              <a:ext cx="1143000" cy="114300"/>
            </a:xfrm>
            <a:prstGeom prst="rightArrow">
              <a:avLst>
                <a:gd name="adj1" fmla="val 16667"/>
                <a:gd name="adj2" fmla="val 58333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99" name="Flèche vers la droite 158">
              <a:extLst>
                <a:ext uri="{FF2B5EF4-FFF2-40B4-BE49-F238E27FC236}">
                  <a16:creationId xmlns:a16="http://schemas.microsoft.com/office/drawing/2014/main" id="{36B7A85E-06F3-4425-90F3-4A7792F973F8}"/>
                </a:ext>
              </a:extLst>
            </p:cNvPr>
            <p:cNvSpPr/>
            <p:nvPr/>
          </p:nvSpPr>
          <p:spPr>
            <a:xfrm rot="5400000">
              <a:off x="6874144" y="4169069"/>
              <a:ext cx="768972" cy="114300"/>
            </a:xfrm>
            <a:prstGeom prst="rightArrow">
              <a:avLst>
                <a:gd name="adj1" fmla="val 16667"/>
                <a:gd name="adj2" fmla="val 58333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0" name="Flèche vers la droite 159">
              <a:extLst>
                <a:ext uri="{FF2B5EF4-FFF2-40B4-BE49-F238E27FC236}">
                  <a16:creationId xmlns:a16="http://schemas.microsoft.com/office/drawing/2014/main" id="{A0CFEC88-DF11-4263-9410-E8BC6A4999BA}"/>
                </a:ext>
              </a:extLst>
            </p:cNvPr>
            <p:cNvSpPr/>
            <p:nvPr/>
          </p:nvSpPr>
          <p:spPr>
            <a:xfrm rot="10800000">
              <a:off x="4937486" y="5312587"/>
              <a:ext cx="1143000" cy="114300"/>
            </a:xfrm>
            <a:prstGeom prst="rightArrow">
              <a:avLst>
                <a:gd name="adj1" fmla="val 16667"/>
                <a:gd name="adj2" fmla="val 58333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1" name="ZoneTexte 100">
              <a:extLst>
                <a:ext uri="{FF2B5EF4-FFF2-40B4-BE49-F238E27FC236}">
                  <a16:creationId xmlns:a16="http://schemas.microsoft.com/office/drawing/2014/main" id="{4107AFCE-80A1-449D-99BE-89F221F51F40}"/>
                </a:ext>
              </a:extLst>
            </p:cNvPr>
            <p:cNvSpPr txBox="1"/>
            <p:nvPr/>
          </p:nvSpPr>
          <p:spPr>
            <a:xfrm>
              <a:off x="465026" y="1720631"/>
              <a:ext cx="25777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/>
                <a:t>0,5g de </a:t>
              </a:r>
              <a:r>
                <a:rPr lang="fr-FR" b="1" u="sng" dirty="0"/>
                <a:t>FeCl</a:t>
              </a:r>
              <a:r>
                <a:rPr lang="fr-FR" b="1" u="sng" baseline="-25000" dirty="0"/>
                <a:t>3</a:t>
              </a:r>
              <a:r>
                <a:rPr lang="fr-FR" baseline="-25000" dirty="0"/>
                <a:t> </a:t>
              </a:r>
              <a:r>
                <a:rPr lang="fr-FR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(1,85 </a:t>
              </a:r>
              <a:r>
                <a:rPr lang="fr-FR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mmol</a:t>
              </a:r>
              <a:r>
                <a:rPr lang="fr-FR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)</a:t>
              </a:r>
            </a:p>
            <a:p>
              <a:pPr algn="ctr"/>
              <a:r>
                <a:rPr lang="fr-FR" dirty="0"/>
                <a:t>+ 50mL d’eau distillée</a:t>
              </a:r>
            </a:p>
          </p:txBody>
        </p: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E5B1EBCA-DB4E-4238-BEEC-6F380D59A9F3}"/>
                </a:ext>
              </a:extLst>
            </p:cNvPr>
            <p:cNvSpPr txBox="1"/>
            <p:nvPr/>
          </p:nvSpPr>
          <p:spPr>
            <a:xfrm>
              <a:off x="3214989" y="1745414"/>
              <a:ext cx="17224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/>
                <a:t>0,5g NaCH</a:t>
              </a:r>
              <a:r>
                <a:rPr lang="fr-FR" baseline="-25000" dirty="0"/>
                <a:t>3</a:t>
              </a:r>
              <a:r>
                <a:rPr lang="fr-FR" dirty="0"/>
                <a:t>COO</a:t>
              </a:r>
              <a:br>
                <a:rPr lang="fr-FR" dirty="0"/>
              </a:br>
              <a:r>
                <a:rPr lang="fr-FR" dirty="0"/>
                <a:t>concentré</a:t>
              </a:r>
              <a:endParaRPr lang="fr-FR" baseline="-25000" dirty="0"/>
            </a:p>
          </p:txBody>
        </p:sp>
        <p:sp>
          <p:nvSpPr>
            <p:cNvPr id="103" name="ZoneTexte 102">
              <a:extLst>
                <a:ext uri="{FF2B5EF4-FFF2-40B4-BE49-F238E27FC236}">
                  <a16:creationId xmlns:a16="http://schemas.microsoft.com/office/drawing/2014/main" id="{20BA60F8-4CB1-4238-8FD2-3C8B7A417BF2}"/>
                </a:ext>
              </a:extLst>
            </p:cNvPr>
            <p:cNvSpPr txBox="1"/>
            <p:nvPr/>
          </p:nvSpPr>
          <p:spPr>
            <a:xfrm>
              <a:off x="6285272" y="1808857"/>
              <a:ext cx="23324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dirty="0"/>
                <a:t>1,0mL </a:t>
              </a:r>
              <a:r>
                <a:rPr lang="fr-FR" b="1" u="sng" dirty="0"/>
                <a:t>d’acétylacétone</a:t>
              </a:r>
              <a:br>
                <a:rPr lang="fr-FR" dirty="0"/>
              </a:br>
              <a:r>
                <a:rPr lang="fr-FR" i="1" dirty="0">
                  <a:solidFill>
                    <a:srgbClr val="7F7F7F"/>
                  </a:solidFill>
                </a:rPr>
                <a:t>(9,79 </a:t>
              </a:r>
              <a:r>
                <a:rPr lang="fr-FR" i="1" dirty="0" err="1">
                  <a:solidFill>
                    <a:srgbClr val="7F7F7F"/>
                  </a:solidFill>
                </a:rPr>
                <a:t>mmol</a:t>
              </a:r>
              <a:r>
                <a:rPr lang="fr-FR" i="1" dirty="0">
                  <a:solidFill>
                    <a:srgbClr val="7F7F7F"/>
                  </a:solidFill>
                </a:rPr>
                <a:t>)</a:t>
              </a:r>
            </a:p>
          </p:txBody>
        </p: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287A3C65-A44F-4143-B5D5-50F9AC7CE887}"/>
                </a:ext>
              </a:extLst>
            </p:cNvPr>
            <p:cNvSpPr txBox="1"/>
            <p:nvPr/>
          </p:nvSpPr>
          <p:spPr>
            <a:xfrm>
              <a:off x="7769688" y="2987194"/>
              <a:ext cx="10410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/>
                <a:t>Agitation</a:t>
              </a:r>
            </a:p>
            <a:p>
              <a:pPr algn="ctr"/>
              <a:r>
                <a:rPr lang="fr-FR" dirty="0"/>
                <a:t>10mn</a:t>
              </a:r>
            </a:p>
          </p:txBody>
        </p:sp>
        <p:sp>
          <p:nvSpPr>
            <p:cNvPr id="105" name="ZoneTexte 104">
              <a:extLst>
                <a:ext uri="{FF2B5EF4-FFF2-40B4-BE49-F238E27FC236}">
                  <a16:creationId xmlns:a16="http://schemas.microsoft.com/office/drawing/2014/main" id="{DF973DB9-3274-408F-BB8C-A5D595C5BF44}"/>
                </a:ext>
              </a:extLst>
            </p:cNvPr>
            <p:cNvSpPr txBox="1"/>
            <p:nvPr/>
          </p:nvSpPr>
          <p:spPr>
            <a:xfrm>
              <a:off x="7287738" y="5197201"/>
              <a:ext cx="10067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/>
                <a:t>Essorage</a:t>
              </a:r>
            </a:p>
            <a:p>
              <a:pPr algn="ctr"/>
              <a:r>
                <a:rPr lang="fr-FR" dirty="0"/>
                <a:t>Büchner</a:t>
              </a:r>
            </a:p>
          </p:txBody>
        </p:sp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1F4E1E77-0885-4995-A044-7F3F86C32B3F}"/>
                </a:ext>
              </a:extLst>
            </p:cNvPr>
            <p:cNvSpPr txBox="1"/>
            <p:nvPr/>
          </p:nvSpPr>
          <p:spPr>
            <a:xfrm>
              <a:off x="3228623" y="5474200"/>
              <a:ext cx="1816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Séchage à l’étuve</a:t>
              </a:r>
            </a:p>
          </p:txBody>
        </p:sp>
        <p:sp>
          <p:nvSpPr>
            <p:cNvPr id="107" name="Flèche vers la droite 167">
              <a:extLst>
                <a:ext uri="{FF2B5EF4-FFF2-40B4-BE49-F238E27FC236}">
                  <a16:creationId xmlns:a16="http://schemas.microsoft.com/office/drawing/2014/main" id="{AE259D81-DF0F-4CF0-A364-C644351815AC}"/>
                </a:ext>
              </a:extLst>
            </p:cNvPr>
            <p:cNvSpPr/>
            <p:nvPr/>
          </p:nvSpPr>
          <p:spPr>
            <a:xfrm rot="10800000">
              <a:off x="2588181" y="5332084"/>
              <a:ext cx="665842" cy="94804"/>
            </a:xfrm>
            <a:prstGeom prst="rightArrow">
              <a:avLst>
                <a:gd name="adj1" fmla="val 16667"/>
                <a:gd name="adj2" fmla="val 58333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8" name="ZoneTexte 107">
              <a:extLst>
                <a:ext uri="{FF2B5EF4-FFF2-40B4-BE49-F238E27FC236}">
                  <a16:creationId xmlns:a16="http://schemas.microsoft.com/office/drawing/2014/main" id="{3D4B6405-3DFE-4561-8781-58B0B6D57241}"/>
                </a:ext>
              </a:extLst>
            </p:cNvPr>
            <p:cNvSpPr txBox="1"/>
            <p:nvPr/>
          </p:nvSpPr>
          <p:spPr>
            <a:xfrm>
              <a:off x="775031" y="5067210"/>
              <a:ext cx="1797781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fr-FR" dirty="0"/>
                <a:t>Caractérisation puis rendement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552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828F1-3917-4A6D-99E9-648617F2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rendement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A0DE00-E4D4-4F8E-9ACC-CC0BDF2A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36A57C-E95C-4760-9E56-95EFCA7D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9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ce réservé du contenu 7">
                <a:extLst>
                  <a:ext uri="{FF2B5EF4-FFF2-40B4-BE49-F238E27FC236}">
                    <a16:creationId xmlns:a16="http://schemas.microsoft.com/office/drawing/2014/main" id="{449AC511-EB72-48B5-8757-BCCC971EA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357745"/>
                <a:ext cx="10058400" cy="4398013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defRPr/>
                </a:pPr>
                <a:r>
                  <a:rPr lang="fr-FR" sz="2800" dirty="0"/>
                  <a:t>Réaction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800" i="0">
                        <a:latin typeface="Cambria Math" panose="02040503050406030204" pitchFamily="18" charset="0"/>
                      </a:rPr>
                      <m:t>F</m:t>
                    </m:r>
                    <m:sSup>
                      <m:sSupPr>
                        <m:ctrlPr>
                          <a:rPr lang="fr-F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800" i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fr-FR" sz="2800" i="0">
                            <a:latin typeface="Cambria Math" panose="02040503050406030204" pitchFamily="18" charset="0"/>
                          </a:rPr>
                          <m:t>3+</m:t>
                        </m:r>
                      </m:sup>
                    </m:sSup>
                    <m:d>
                      <m:dPr>
                        <m:ctrlPr>
                          <a:rPr lang="fr-F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800" i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800" i="0">
                        <a:latin typeface="Cambria Math" panose="02040503050406030204" pitchFamily="18" charset="0"/>
                      </a:rPr>
                      <m:t>+3</m:t>
                    </m:r>
                    <m:r>
                      <a:rPr lang="fr-FR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800" i="0">
                        <a:latin typeface="Cambria Math" panose="02040503050406030204" pitchFamily="18" charset="0"/>
                      </a:rPr>
                      <m:t>aca</m:t>
                    </m:r>
                    <m:sSup>
                      <m:sSupPr>
                        <m:ctrlPr>
                          <a:rPr lang="fr-F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8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fr-FR" sz="2800" i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800" i="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800" i="0">
                        <a:latin typeface="Cambria Math" panose="02040503050406030204" pitchFamily="18" charset="0"/>
                      </a:rPr>
                      <m:t>=[</m:t>
                    </m:r>
                    <m:r>
                      <m:rPr>
                        <m:sty m:val="p"/>
                      </m:rPr>
                      <a:rPr lang="fr-FR" sz="2800" i="0">
                        <a:latin typeface="Cambria Math" panose="02040503050406030204" pitchFamily="18" charset="0"/>
                      </a:rPr>
                      <m:t>Fe</m:t>
                    </m:r>
                    <m:sSub>
                      <m:sSubPr>
                        <m:ctrlPr>
                          <a:rPr lang="fr-F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800" i="0">
                                <a:latin typeface="Cambria Math" panose="02040503050406030204" pitchFamily="18" charset="0"/>
                              </a:rPr>
                              <m:t>acac</m:t>
                            </m:r>
                          </m:e>
                        </m:d>
                      </m:e>
                      <m:sub>
                        <m:r>
                          <a:rPr lang="fr-FR" sz="2800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2800" i="0">
                        <a:latin typeface="Cambria Math" panose="02040503050406030204" pitchFamily="18" charset="0"/>
                      </a:rPr>
                      <m:t>](</m:t>
                    </m:r>
                    <m:r>
                      <m:rPr>
                        <m:sty m:val="p"/>
                      </m:rPr>
                      <a:rPr lang="fr-FR" sz="2800" i="0">
                        <a:latin typeface="Cambria Math" panose="02040503050406030204" pitchFamily="18" charset="0"/>
                      </a:rPr>
                      <m:t>aq</m:t>
                    </m:r>
                    <m:r>
                      <a:rPr lang="fr-FR" sz="280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fr-FR" sz="2800" dirty="0"/>
                  <a:t>Réactif limitant : Fe</a:t>
                </a:r>
                <a:r>
                  <a:rPr lang="fr-FR" sz="2800" baseline="30000" dirty="0"/>
                  <a:t>3+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2800" dirty="0"/>
                  <a:t>Avancement maximal : 1.85 </a:t>
                </a:r>
                <a:r>
                  <a:rPr lang="fr-FR" sz="2800" dirty="0" err="1"/>
                  <a:t>mmol</a:t>
                </a:r>
                <a:endParaRPr lang="fr-FR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2800" dirty="0"/>
                  <a:t>Masse maximale de [Fe(</a:t>
                </a:r>
                <a:r>
                  <a:rPr lang="fr-FR" sz="2800" dirty="0" err="1"/>
                  <a:t>acac</a:t>
                </a:r>
                <a:r>
                  <a:rPr lang="fr-FR" sz="2800" dirty="0"/>
                  <a:t>)</a:t>
                </a:r>
                <a:r>
                  <a:rPr lang="fr-FR" sz="2800" baseline="-25000" dirty="0"/>
                  <a:t>3</a:t>
                </a:r>
                <a:r>
                  <a:rPr lang="fr-FR" sz="2800" dirty="0"/>
                  <a:t>] : 0,65 g </a:t>
                </a:r>
              </a:p>
              <a:p>
                <a:endParaRPr lang="fr-FR" sz="2400" dirty="0"/>
              </a:p>
            </p:txBody>
          </p:sp>
        </mc:Choice>
        <mc:Fallback xmlns="">
          <p:sp>
            <p:nvSpPr>
              <p:cNvPr id="8" name="Espace réservé du contenu 7">
                <a:extLst>
                  <a:ext uri="{FF2B5EF4-FFF2-40B4-BE49-F238E27FC236}">
                    <a16:creationId xmlns:a16="http://schemas.microsoft.com/office/drawing/2014/main" id="{449AC511-EB72-48B5-8757-BCCC971EA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357745"/>
                <a:ext cx="10058400" cy="4398013"/>
              </a:xfrm>
              <a:blipFill>
                <a:blip r:embed="rId2"/>
                <a:stretch>
                  <a:fillRect l="-2000" t="-23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005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BE9B9-23A2-4DB1-BEF3-48054764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Hème et transport du dioxygène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A58A18C-D1BC-42E4-A965-A2F39FEF1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67" y="1871580"/>
            <a:ext cx="10195192" cy="3483141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DB4D08-765A-4DE7-9297-D66859FA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489C86-2740-442E-BE50-F4FDC0AC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99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CDE9A-1E08-4238-8E0B-C3ED92F6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Cisplatine et chimiothérapie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508F95-4CDC-4667-9B6B-B2CFC226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96FF11-54F0-40F5-930A-F2E778A4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11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D36511-5D07-48EF-B4E2-0C84964FB030}"/>
              </a:ext>
            </a:extLst>
          </p:cNvPr>
          <p:cNvSpPr/>
          <p:nvPr/>
        </p:nvSpPr>
        <p:spPr>
          <a:xfrm>
            <a:off x="7669619" y="1552133"/>
            <a:ext cx="914400" cy="1297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E0E48B4E-62A3-413F-87E3-8793D4058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49" t="1966" r="1232" b="939"/>
          <a:stretch/>
        </p:blipFill>
        <p:spPr>
          <a:xfrm>
            <a:off x="1360966" y="1446028"/>
            <a:ext cx="9512597" cy="438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07739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1537</TotalTime>
  <Words>292</Words>
  <Application>Microsoft Office PowerPoint</Application>
  <PresentationFormat>Grand écran</PresentationFormat>
  <Paragraphs>78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Rétrospective</vt:lpstr>
      <vt:lpstr>Synthèses inorganiques</vt:lpstr>
      <vt:lpstr>Électrosynthèse de l’eau de Javel</vt:lpstr>
      <vt:lpstr>Eau de Javel</vt:lpstr>
      <vt:lpstr>Présentation PowerPoint</vt:lpstr>
      <vt:lpstr>Dosage de l’eau de Javel</vt:lpstr>
      <vt:lpstr>Exemples de complexes</vt:lpstr>
      <vt:lpstr>Exemples de complexes</vt:lpstr>
      <vt:lpstr>Synthèse de [Fe(acac)3]</vt:lpstr>
      <vt:lpstr>Calcul du rendement</vt:lpstr>
      <vt:lpstr>Hème et transport du dioxygène</vt:lpstr>
      <vt:lpstr>Cisplatine et chimiothérapie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Séparations, purifications, contrôles de pureté́</dc:title>
  <dc:creator>Hugo Roussille</dc:creator>
  <cp:lastModifiedBy>Hugo Roussille</cp:lastModifiedBy>
  <cp:revision>78</cp:revision>
  <dcterms:created xsi:type="dcterms:W3CDTF">2019-04-13T10:12:36Z</dcterms:created>
  <dcterms:modified xsi:type="dcterms:W3CDTF">2019-06-25T20:42:25Z</dcterms:modified>
</cp:coreProperties>
</file>