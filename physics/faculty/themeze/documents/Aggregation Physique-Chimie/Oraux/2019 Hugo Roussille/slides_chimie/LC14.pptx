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"/>
  </p:notesMasterIdLst>
  <p:sldIdLst>
    <p:sldId id="256" r:id="rId2"/>
    <p:sldId id="261" r:id="rId3"/>
    <p:sldId id="258" r:id="rId4"/>
    <p:sldId id="257" r:id="rId5"/>
    <p:sldId id="260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B07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2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2F01C-BC14-4F81-87AE-D5D26E359E8E}" type="datetimeFigureOut">
              <a:rPr lang="fr-FR" smtClean="0"/>
              <a:t>15/06/2019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89472F-C389-4AF2-BA24-C1FF8F94A6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3886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B33F-87D8-4BFE-BCBF-731AD622E09E}" type="datetime1">
              <a:rPr lang="fr-FR" smtClean="0"/>
              <a:t>15/06/2019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752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FEB24-1155-4371-B688-DDAD01CF823D}" type="datetime1">
              <a:rPr lang="fr-FR" smtClean="0"/>
              <a:t>15/06/2019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6835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147B3-5A91-453A-92FD-677E850FA3A5}" type="datetime1">
              <a:rPr lang="fr-FR" smtClean="0"/>
              <a:t>15/06/2019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028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6843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460206"/>
            <a:ext cx="4937760" cy="44088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460205"/>
            <a:ext cx="4937760" cy="44088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0384B-D365-439B-B9FB-A10B3FA0B79A}" type="datetime1">
              <a:rPr lang="fr-FR" smtClean="0"/>
              <a:t>15/06/2019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803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7B8B-BEB2-49C1-8BB4-8D396D554AA6}" type="datetime1">
              <a:rPr lang="fr-FR" smtClean="0"/>
              <a:t>15/06/2019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1322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53237-6937-4077-8416-FFF866A41361}" type="datetime1">
              <a:rPr lang="fr-FR" smtClean="0"/>
              <a:t>15/06/2019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9822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CE37A-26D6-4DCD-AF35-3F127425D5BF}" type="datetime1">
              <a:rPr lang="fr-FR" smtClean="0"/>
              <a:t>15/06/2019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055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F45A67E-4DF6-4C8F-B8DA-2D1171F57B74}" type="datetime1">
              <a:rPr lang="fr-FR" smtClean="0"/>
              <a:t>15/06/2019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0199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4F725-0123-4CE3-85B9-619490EE40F6}" type="datetime1">
              <a:rPr lang="fr-FR" smtClean="0"/>
              <a:t>15/06/2019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025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CC754-28B9-41E4-AE10-BE433397311B}" type="datetime1">
              <a:rPr lang="fr-FR" smtClean="0"/>
              <a:t>15/06/2019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9337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81CE-1004-4FD8-A91E-F417EDBE9258}" type="datetime1">
              <a:rPr lang="fr-FR" smtClean="0"/>
              <a:t>15/06/2019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9712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172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28237"/>
            <a:ext cx="10058400" cy="444085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63DEDF1-3E42-46F1-803C-3F81A5B34212}" type="datetime1">
              <a:rPr lang="fr-FR" smtClean="0"/>
              <a:t>15/06/2019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88720" y="1369251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468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A20284-6E28-4815-81F6-68D3A0402E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Acides et bases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CEC554-AF82-49BC-9FF3-978A8522E9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AGREGATION 2019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1437BC0-A1E8-4D84-AFC7-4F650B5D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108AC17-FBA1-49AF-9262-771D85784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3765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11D288-03B7-4E48-8498-55818B95D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Exemples de couples acide/base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ce réservé du contenu 5">
                <a:extLst>
                  <a:ext uri="{FF2B5EF4-FFF2-40B4-BE49-F238E27FC236}">
                    <a16:creationId xmlns:a16="http://schemas.microsoft.com/office/drawing/2014/main" id="{6B988F9D-CED1-43E2-A016-6B755D43F0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fr-FR" sz="2400" b="1" dirty="0"/>
                  <a:t>Acide éthanoïque / Ion éthanoate</a:t>
                </a:r>
                <a:r>
                  <a:rPr lang="fr-FR" sz="2400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2400" b="0" i="0" smtClean="0">
                        <a:latin typeface="Cambria Math" panose="02040503050406030204" pitchFamily="18" charset="0"/>
                      </a:rPr>
                      <m:t>C</m:t>
                    </m:r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fr-FR" sz="24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fr-FR" sz="2400" b="0" i="0" smtClean="0">
                        <a:latin typeface="Cambria Math" panose="02040503050406030204" pitchFamily="18" charset="0"/>
                      </a:rPr>
                      <m:t>COOH</m:t>
                    </m:r>
                    <m:r>
                      <a:rPr lang="fr-FR" sz="2400" b="0" i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fr-FR" sz="2400" b="0" i="0" smtClean="0">
                        <a:latin typeface="Cambria Math" panose="02040503050406030204" pitchFamily="18" charset="0"/>
                      </a:rPr>
                      <m:t>C</m:t>
                    </m:r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fr-FR" sz="24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fr-FR" sz="2400" b="0" i="0" smtClean="0">
                        <a:latin typeface="Cambria Math" panose="02040503050406030204" pitchFamily="18" charset="0"/>
                      </a:rPr>
                      <m:t>CO</m:t>
                    </m:r>
                    <m:sSup>
                      <m:sSup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p>
                        <m:r>
                          <a:rPr lang="fr-FR" sz="24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endParaRPr lang="fr-FR" sz="2400" dirty="0"/>
              </a:p>
              <a:p>
                <a:r>
                  <a:rPr lang="fr-FR" sz="2400" b="1" dirty="0"/>
                  <a:t>Ion ammonium / Ammoniac	</a:t>
                </a:r>
                <a:r>
                  <a:rPr lang="fr-FR" sz="2400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2400" b="0" i="0" smtClean="0">
                        <a:latin typeface="Cambria Math" panose="02040503050406030204" pitchFamily="18" charset="0"/>
                      </a:rPr>
                      <m:t>N</m:t>
                    </m:r>
                    <m:sSubSup>
                      <m:sSubSup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fr-FR" sz="24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fr-FR" sz="2400" b="0" i="0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  <m:r>
                      <a:rPr lang="fr-FR" sz="2400" b="0" i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fr-FR" sz="2400" b="0" i="0" smtClean="0">
                        <a:latin typeface="Cambria Math" panose="02040503050406030204" pitchFamily="18" charset="0"/>
                      </a:rPr>
                      <m:t>N</m:t>
                    </m:r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fr-FR" sz="24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fr-FR" sz="2400" dirty="0"/>
              </a:p>
              <a:p>
                <a:endParaRPr lang="fr-F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NH</m:t>
                          </m:r>
                        </m:e>
                        <m:sub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N</m:t>
                      </m:r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d>
                        <m:d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</m:oMath>
                  </m:oMathPara>
                </a14:m>
                <a:endParaRPr lang="fr-FR" sz="2400" dirty="0"/>
              </a:p>
              <a:p>
                <a:pPr marL="0" indent="0">
                  <a:buNone/>
                </a:pPr>
                <a:endParaRPr lang="fr-FR" sz="2400" dirty="0"/>
              </a:p>
              <a:p>
                <a:pPr marL="0" indent="0">
                  <a:buNone/>
                </a:pPr>
                <a:r>
                  <a:rPr lang="fr-FR" sz="2400" b="1" dirty="0"/>
                  <a:t>Couples de l’eau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fr-FR" sz="2400" b="0" i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fr-FR" sz="2400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p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fr-FR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2400" b="0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fr-FR" sz="2400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fr-FR" sz="2400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fr-FR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</m:oMath>
                  </m:oMathPara>
                </a14:m>
                <a:endParaRPr lang="fr-FR" sz="2400" dirty="0"/>
              </a:p>
              <a:p>
                <a:pPr marL="0" indent="0">
                  <a:buNone/>
                </a:pPr>
                <a:endParaRPr lang="fr-FR" sz="9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2400" b="0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fr-FR" sz="2400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fr-FR" sz="2400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H</m:t>
                      </m:r>
                      <m:sSup>
                        <m:sSup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p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fr-FR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6" name="Espace réservé du contenu 5">
                <a:extLst>
                  <a:ext uri="{FF2B5EF4-FFF2-40B4-BE49-F238E27FC236}">
                    <a16:creationId xmlns:a16="http://schemas.microsoft.com/office/drawing/2014/main" id="{6B988F9D-CED1-43E2-A016-6B755D43F0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18" t="-212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6F7384A-33C3-4C78-9C4B-0104925B5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3387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AB1A9E-D08F-41AB-8ABE-99BFB30A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Réaction d’un acide avec l’eau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Espace réservé du contenu 3">
                <a:extLst>
                  <a:ext uri="{FF2B5EF4-FFF2-40B4-BE49-F238E27FC236}">
                    <a16:creationId xmlns:a16="http://schemas.microsoft.com/office/drawing/2014/main" id="{6025DD7C-09E1-4E9B-833B-0DC78FB54BD9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1096963" y="2129067"/>
              <a:ext cx="10058400" cy="2160000"/>
            </p:xfrm>
            <a:graphic>
              <a:graphicData uri="http://schemas.openxmlformats.org/drawingml/2006/table">
                <a:tbl>
                  <a:tblPr firstRow="1" bandRow="1">
                    <a:tableStyleId>{8A107856-5554-42FB-B03E-39F5DBC370BA}</a:tableStyleId>
                  </a:tblPr>
                  <a:tblGrid>
                    <a:gridCol w="2011680">
                      <a:extLst>
                        <a:ext uri="{9D8B030D-6E8A-4147-A177-3AD203B41FA5}">
                          <a16:colId xmlns:a16="http://schemas.microsoft.com/office/drawing/2014/main" val="732896237"/>
                        </a:ext>
                      </a:extLst>
                    </a:gridCol>
                    <a:gridCol w="2011680">
                      <a:extLst>
                        <a:ext uri="{9D8B030D-6E8A-4147-A177-3AD203B41FA5}">
                          <a16:colId xmlns:a16="http://schemas.microsoft.com/office/drawing/2014/main" val="2804952674"/>
                        </a:ext>
                      </a:extLst>
                    </a:gridCol>
                    <a:gridCol w="2011680">
                      <a:extLst>
                        <a:ext uri="{9D8B030D-6E8A-4147-A177-3AD203B41FA5}">
                          <a16:colId xmlns:a16="http://schemas.microsoft.com/office/drawing/2014/main" val="1893444008"/>
                        </a:ext>
                      </a:extLst>
                    </a:gridCol>
                    <a:gridCol w="2011680">
                      <a:extLst>
                        <a:ext uri="{9D8B030D-6E8A-4147-A177-3AD203B41FA5}">
                          <a16:colId xmlns:a16="http://schemas.microsoft.com/office/drawing/2014/main" val="3639045379"/>
                        </a:ext>
                      </a:extLst>
                    </a:gridCol>
                    <a:gridCol w="2011680">
                      <a:extLst>
                        <a:ext uri="{9D8B030D-6E8A-4147-A177-3AD203B41FA5}">
                          <a16:colId xmlns:a16="http://schemas.microsoft.com/office/drawing/2014/main" val="884641906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algn="r"/>
                          <a:endParaRPr lang="fr-FR" sz="2400" i="1" dirty="0"/>
                        </a:p>
                      </a:txBody>
                      <a:tcPr anchor="ctr">
                        <a:lnL w="12700" cmpd="sng">
                          <a:noFill/>
                        </a:lnL>
                        <a:lnT w="12700" cmpd="sng">
                          <a:noFill/>
                        </a:lnT>
                        <a:noFill/>
                      </a:tcPr>
                    </a:tc>
                    <a:tc gridSpan="4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fr-FR" sz="2400" b="1" i="0" smtClean="0">
                                    <a:latin typeface="Cambria Math" panose="02040503050406030204" pitchFamily="18" charset="0"/>
                                  </a:rPr>
                                  <m:t>      </m:t>
                                </m:r>
                                <m:r>
                                  <a:rPr lang="fr-FR" sz="2400" smtClean="0">
                                    <a:latin typeface="Cambria Math" panose="02040503050406030204" pitchFamily="18" charset="0"/>
                                  </a:rPr>
                                  <m:t>𝑨𝑯</m:t>
                                </m:r>
                                <m:r>
                                  <a:rPr lang="fr-FR" sz="24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fr-FR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2400" smtClean="0">
                                        <a:latin typeface="Cambria Math" panose="02040503050406030204" pitchFamily="18" charset="0"/>
                                      </a:rPr>
                                      <m:t>𝒂𝒒</m:t>
                                    </m:r>
                                  </m:e>
                                </m:d>
                                <m:r>
                                  <a:rPr lang="fr-FR" sz="2400" b="1" i="0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fr-FR" sz="240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sz="2400" b="1" i="0" smtClean="0"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  <m:sSub>
                                  <m:sSubPr>
                                    <m:ctrlPr>
                                      <a:rPr lang="fr-FR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400" smtClean="0">
                                        <a:latin typeface="Cambria Math" panose="02040503050406030204" pitchFamily="18" charset="0"/>
                                      </a:rPr>
                                      <m:t>𝑯</m:t>
                                    </m:r>
                                  </m:e>
                                  <m:sub>
                                    <m:r>
                                      <a:rPr lang="fr-FR" sz="240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fr-FR" sz="2400" smtClean="0">
                                    <a:latin typeface="Cambria Math" panose="02040503050406030204" pitchFamily="18" charset="0"/>
                                  </a:rPr>
                                  <m:t>𝑶</m:t>
                                </m:r>
                                <m:r>
                                  <a:rPr lang="fr-FR" sz="24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fr-FR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2400" smtClean="0">
                                        <a:latin typeface="Cambria Math" panose="02040503050406030204" pitchFamily="18" charset="0"/>
                                      </a:rPr>
                                      <m:t>𝒍</m:t>
                                    </m:r>
                                  </m:e>
                                </m:d>
                                <m:r>
                                  <a:rPr lang="fr-FR" sz="2400" b="1" i="0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a:rPr lang="fr-FR" sz="2400" smtClean="0">
                                    <a:latin typeface="Cambria Math" panose="02040503050406030204" pitchFamily="18" charset="0"/>
                                  </a:rPr>
                                  <m:t>⇆</m:t>
                                </m:r>
                                <m:r>
                                  <a:rPr lang="fr-FR" sz="2400" b="1" i="0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sSup>
                                  <m:sSupPr>
                                    <m:ctrlPr>
                                      <a:rPr lang="fr-FR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2400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p>
                                    <m:r>
                                      <a:rPr lang="fr-FR" sz="240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p>
                                <m:r>
                                  <a:rPr lang="fr-FR" sz="24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fr-FR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2400" smtClean="0">
                                        <a:latin typeface="Cambria Math" panose="02040503050406030204" pitchFamily="18" charset="0"/>
                                      </a:rPr>
                                      <m:t>𝒂𝒒</m:t>
                                    </m:r>
                                  </m:e>
                                </m:d>
                                <m:r>
                                  <a:rPr lang="fr-FR" sz="2400" b="1" i="0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a:rPr lang="fr-FR" sz="240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sz="2400" b="1" i="0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sSub>
                                  <m:sSubPr>
                                    <m:ctrlPr>
                                      <a:rPr lang="fr-FR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400" smtClean="0">
                                        <a:latin typeface="Cambria Math" panose="02040503050406030204" pitchFamily="18" charset="0"/>
                                      </a:rPr>
                                      <m:t>𝑯</m:t>
                                    </m:r>
                                  </m:e>
                                  <m:sub>
                                    <m:r>
                                      <a:rPr lang="fr-FR" sz="240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fr-FR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2400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p>
                                    <m:r>
                                      <a:rPr lang="fr-FR" sz="240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  <m:r>
                                  <a:rPr lang="fr-FR" sz="24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fr-FR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2400" smtClean="0">
                                        <a:latin typeface="Cambria Math" panose="02040503050406030204" pitchFamily="18" charset="0"/>
                                      </a:rPr>
                                      <m:t>𝒍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fr-FR" sz="24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4324088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fr-FR" sz="2200" i="1" dirty="0"/>
                            <a:t>État initial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4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fr-FR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 sz="2400" dirty="0"/>
                        </a:p>
                      </a:txBody>
                      <a:tcPr anchor="ctr"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fr-F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fr-FR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21405277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fr-FR" sz="2200" i="1" dirty="0"/>
                            <a:t>État final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4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fr-FR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fr-F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 sz="2400" dirty="0"/>
                        </a:p>
                      </a:txBody>
                      <a:tcPr anchor="ctr"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fr-F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fr-FR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572175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Espace réservé du contenu 3">
                <a:extLst>
                  <a:ext uri="{FF2B5EF4-FFF2-40B4-BE49-F238E27FC236}">
                    <a16:creationId xmlns:a16="http://schemas.microsoft.com/office/drawing/2014/main" id="{6025DD7C-09E1-4E9B-833B-0DC78FB54BD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415468394"/>
                  </p:ext>
                </p:extLst>
              </p:nvPr>
            </p:nvGraphicFramePr>
            <p:xfrm>
              <a:off x="1096963" y="2129067"/>
              <a:ext cx="10058400" cy="2160000"/>
            </p:xfrm>
            <a:graphic>
              <a:graphicData uri="http://schemas.openxmlformats.org/drawingml/2006/table">
                <a:tbl>
                  <a:tblPr firstRow="1" bandRow="1">
                    <a:tableStyleId>{8A107856-5554-42FB-B03E-39F5DBC370BA}</a:tableStyleId>
                  </a:tblPr>
                  <a:tblGrid>
                    <a:gridCol w="2011680">
                      <a:extLst>
                        <a:ext uri="{9D8B030D-6E8A-4147-A177-3AD203B41FA5}">
                          <a16:colId xmlns:a16="http://schemas.microsoft.com/office/drawing/2014/main" val="732896237"/>
                        </a:ext>
                      </a:extLst>
                    </a:gridCol>
                    <a:gridCol w="2011680">
                      <a:extLst>
                        <a:ext uri="{9D8B030D-6E8A-4147-A177-3AD203B41FA5}">
                          <a16:colId xmlns:a16="http://schemas.microsoft.com/office/drawing/2014/main" val="2804952674"/>
                        </a:ext>
                      </a:extLst>
                    </a:gridCol>
                    <a:gridCol w="2011680">
                      <a:extLst>
                        <a:ext uri="{9D8B030D-6E8A-4147-A177-3AD203B41FA5}">
                          <a16:colId xmlns:a16="http://schemas.microsoft.com/office/drawing/2014/main" val="1893444008"/>
                        </a:ext>
                      </a:extLst>
                    </a:gridCol>
                    <a:gridCol w="2011680">
                      <a:extLst>
                        <a:ext uri="{9D8B030D-6E8A-4147-A177-3AD203B41FA5}">
                          <a16:colId xmlns:a16="http://schemas.microsoft.com/office/drawing/2014/main" val="3639045379"/>
                        </a:ext>
                      </a:extLst>
                    </a:gridCol>
                    <a:gridCol w="2011680">
                      <a:extLst>
                        <a:ext uri="{9D8B030D-6E8A-4147-A177-3AD203B41FA5}">
                          <a16:colId xmlns:a16="http://schemas.microsoft.com/office/drawing/2014/main" val="884641906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algn="r"/>
                          <a:endParaRPr lang="fr-FR" sz="2400" i="1" dirty="0"/>
                        </a:p>
                      </a:txBody>
                      <a:tcPr anchor="ctr">
                        <a:lnL w="12700" cmpd="sng">
                          <a:noFill/>
                        </a:lnL>
                        <a:lnT w="12700" cmpd="sng">
                          <a:noFill/>
                        </a:lnT>
                        <a:noFill/>
                      </a:tcPr>
                    </a:tc>
                    <a:tc gridSpan="4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057" t="-847" r="-227" b="-20254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4324088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fr-FR" sz="2200" i="1" dirty="0"/>
                            <a:t>État initial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303" t="-100000" r="-301212" b="-1008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2400" dirty="0"/>
                        </a:p>
                      </a:txBody>
                      <a:tcPr anchor="ctr"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606" t="-100000" r="-100909" b="-1008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606" t="-100000" r="-909" b="-1008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21405277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fr-FR" sz="2200" i="1" dirty="0"/>
                            <a:t>État final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303" t="-201695" r="-301212" b="-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2400" dirty="0"/>
                        </a:p>
                      </a:txBody>
                      <a:tcPr anchor="ctr"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606" t="-201695" r="-100909" b="-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606" t="-201695" r="-909" b="-16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721758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Espace réservé du pied de page 3">
            <a:extLst>
              <a:ext uri="{FF2B5EF4-FFF2-40B4-BE49-F238E27FC236}">
                <a16:creationId xmlns:a16="http://schemas.microsoft.com/office/drawing/2014/main" id="{30BFABD6-9025-493C-81D2-E4D851A78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18289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11D288-03B7-4E48-8498-55818B95D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Acides forts		    Bases fortes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ce réservé du contenu 5">
                <a:extLst>
                  <a:ext uri="{FF2B5EF4-FFF2-40B4-BE49-F238E27FC236}">
                    <a16:creationId xmlns:a16="http://schemas.microsoft.com/office/drawing/2014/main" id="{6B988F9D-CED1-43E2-A016-6B755D43F05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fr-FR" sz="2400" dirty="0"/>
                  <a:t>Acide nitrique		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𝐻𝑁</m:t>
                    </m:r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fr-FR" sz="2400" dirty="0"/>
              </a:p>
              <a:p>
                <a:r>
                  <a:rPr lang="fr-FR" sz="2400" dirty="0"/>
                  <a:t>Acide chlorhydrique	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𝐻𝐶𝑙</m:t>
                    </m:r>
                  </m:oMath>
                </a14:m>
                <a:endParaRPr lang="fr-FR" sz="2400" dirty="0"/>
              </a:p>
              <a:p>
                <a:r>
                  <a:rPr lang="fr-FR" sz="2400" dirty="0"/>
                  <a:t>Acide sulfurique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fr-FR" sz="2400" dirty="0"/>
              </a:p>
              <a:p>
                <a:endParaRPr lang="fr-FR" sz="2400" dirty="0"/>
              </a:p>
              <a:p>
                <a:endParaRPr lang="fr-FR" sz="2400" dirty="0"/>
              </a:p>
            </p:txBody>
          </p:sp>
        </mc:Choice>
        <mc:Fallback xmlns="">
          <p:sp>
            <p:nvSpPr>
              <p:cNvPr id="6" name="Espace réservé du contenu 5">
                <a:extLst>
                  <a:ext uri="{FF2B5EF4-FFF2-40B4-BE49-F238E27FC236}">
                    <a16:creationId xmlns:a16="http://schemas.microsoft.com/office/drawing/2014/main" id="{6B988F9D-CED1-43E2-A016-6B755D43F0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852" t="-212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Espace réservé du contenu 9">
                <a:extLst>
                  <a:ext uri="{FF2B5EF4-FFF2-40B4-BE49-F238E27FC236}">
                    <a16:creationId xmlns:a16="http://schemas.microsoft.com/office/drawing/2014/main" id="{447A43E9-D33F-4065-B609-03E05082836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fr-FR" sz="2400" dirty="0"/>
                  <a:t>Hydroxyde de sodium	</a:t>
                </a:r>
                <a14:m>
                  <m:oMath xmlns:m="http://schemas.openxmlformats.org/officeDocument/2006/math">
                    <m:r>
                      <a:rPr lang="fr-FR" sz="2400" i="1">
                        <a:latin typeface="Cambria Math" panose="02040503050406030204" pitchFamily="18" charset="0"/>
                      </a:rPr>
                      <m:t>𝑁𝑎𝑂𝐻</m:t>
                    </m:r>
                  </m:oMath>
                </a14:m>
                <a:endParaRPr lang="fr-FR" sz="2400" dirty="0"/>
              </a:p>
              <a:p>
                <a:r>
                  <a:rPr lang="fr-FR" sz="2400" dirty="0"/>
                  <a:t>Hydroxyde de potassium	</a:t>
                </a:r>
                <a14:m>
                  <m:oMath xmlns:m="http://schemas.openxmlformats.org/officeDocument/2006/math">
                    <m:r>
                      <a:rPr lang="fr-FR" sz="2400" i="1">
                        <a:latin typeface="Cambria Math" panose="02040503050406030204" pitchFamily="18" charset="0"/>
                      </a:rPr>
                      <m:t>𝐾𝑂𝐻</m:t>
                    </m:r>
                  </m:oMath>
                </a14:m>
                <a:endParaRPr lang="fr-FR" sz="2400" dirty="0"/>
              </a:p>
              <a:p>
                <a:endParaRPr lang="fr-FR" sz="2400" dirty="0"/>
              </a:p>
            </p:txBody>
          </p:sp>
        </mc:Choice>
        <mc:Fallback xmlns="">
          <p:sp>
            <p:nvSpPr>
              <p:cNvPr id="10" name="Espace réservé du contenu 9">
                <a:extLst>
                  <a:ext uri="{FF2B5EF4-FFF2-40B4-BE49-F238E27FC236}">
                    <a16:creationId xmlns:a16="http://schemas.microsoft.com/office/drawing/2014/main" id="{447A43E9-D33F-4065-B609-03E0508283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852" t="-212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space réservé du pied de page 3">
            <a:extLst>
              <a:ext uri="{FF2B5EF4-FFF2-40B4-BE49-F238E27FC236}">
                <a16:creationId xmlns:a16="http://schemas.microsoft.com/office/drawing/2014/main" id="{F579B5DA-9C69-4A27-984B-BCD3A3B03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35591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Ã©sultat de recherche d'images pour &quot;schÃ©ma dosage pH mÃ©trique&quot;">
            <a:extLst>
              <a:ext uri="{FF2B5EF4-FFF2-40B4-BE49-F238E27FC236}">
                <a16:creationId xmlns:a16="http://schemas.microsoft.com/office/drawing/2014/main" id="{8D9ACF6E-95A6-4B71-B6E3-8C787C2EE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3825" y="562018"/>
            <a:ext cx="6044349" cy="5733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7A8598AA-FB07-4B24-9F2D-DA86B10B71FA}"/>
                  </a:ext>
                </a:extLst>
              </p:cNvPr>
              <p:cNvSpPr txBox="1"/>
              <p:nvPr/>
            </p:nvSpPr>
            <p:spPr>
              <a:xfrm>
                <a:off x="2929968" y="1234912"/>
                <a:ext cx="2009676" cy="147732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fr-FR" dirty="0"/>
              </a:p>
              <a:p>
                <a:pPr algn="r"/>
                <a:r>
                  <a:rPr lang="fr-FR" dirty="0"/>
                  <a:t>Concentration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endParaRPr lang="fr-FR" b="0" dirty="0"/>
              </a:p>
              <a:p>
                <a:pPr algn="r"/>
                <a:endParaRPr lang="fr-FR" dirty="0"/>
              </a:p>
              <a:p>
                <a:pPr algn="r"/>
                <a:endParaRPr lang="fr-FR" dirty="0"/>
              </a:p>
              <a:p>
                <a:pPr algn="r"/>
                <a:endParaRPr lang="fr-FR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7A8598AA-FB07-4B24-9F2D-DA86B10B7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968" y="1234912"/>
                <a:ext cx="2009676" cy="14773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FAC2D497-AA21-4EA8-A36C-F03EFFC6EA48}"/>
                  </a:ext>
                </a:extLst>
              </p:cNvPr>
              <p:cNvSpPr txBox="1"/>
              <p:nvPr/>
            </p:nvSpPr>
            <p:spPr>
              <a:xfrm>
                <a:off x="2779140" y="4347327"/>
                <a:ext cx="2009676" cy="147732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𝐻𝑂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fr-FR" dirty="0"/>
              </a:p>
              <a:p>
                <a:pPr algn="r"/>
                <a:r>
                  <a:rPr lang="fr-FR" dirty="0"/>
                  <a:t>Concentration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fr-FR" b="0" dirty="0"/>
              </a:p>
              <a:p>
                <a:pPr algn="r"/>
                <a:r>
                  <a:rPr lang="fr-FR" dirty="0"/>
                  <a:t>Volume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fr-FR" dirty="0"/>
              </a:p>
              <a:p>
                <a:pPr algn="r"/>
                <a:endParaRPr lang="fr-FR" dirty="0"/>
              </a:p>
              <a:p>
                <a:pPr algn="r"/>
                <a:endParaRPr lang="fr-FR" dirty="0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FAC2D497-AA21-4EA8-A36C-F03EFFC6EA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9140" y="4347327"/>
                <a:ext cx="2009676" cy="14773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space réservé du pied de page 3">
            <a:extLst>
              <a:ext uri="{FF2B5EF4-FFF2-40B4-BE49-F238E27FC236}">
                <a16:creationId xmlns:a16="http://schemas.microsoft.com/office/drawing/2014/main" id="{8DE94752-8F67-4882-AABD-DD27F2EC5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70187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11D288-03B7-4E48-8498-55818B95D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Acides et bases faibles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ce réservé du contenu 5">
                <a:extLst>
                  <a:ext uri="{FF2B5EF4-FFF2-40B4-BE49-F238E27FC236}">
                    <a16:creationId xmlns:a16="http://schemas.microsoft.com/office/drawing/2014/main" id="{6B988F9D-CED1-43E2-A016-6B755D43F0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fr-FR" sz="2400" dirty="0"/>
                  <a:t>Acide éthanoïque / Ion éthanoate	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𝐶𝑂𝑂𝐻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𝐶𝑂</m:t>
                    </m:r>
                    <m:sSup>
                      <m:sSup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endParaRPr lang="fr-FR" sz="2400" dirty="0"/>
              </a:p>
              <a:p>
                <a:r>
                  <a:rPr lang="fr-FR" sz="2400" dirty="0"/>
                  <a:t>Ion ammonium / Ammoniac		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𝑁</m:t>
                    </m:r>
                    <m:sSubSup>
                      <m:sSubSup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𝑁</m:t>
                    </m:r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fr-FR" sz="2400" dirty="0"/>
              </a:p>
              <a:p>
                <a:endParaRPr lang="fr-FR" sz="2400" dirty="0"/>
              </a:p>
              <a:p>
                <a:r>
                  <a:rPr lang="fr-FR" sz="2800" b="1" u="sng" dirty="0"/>
                  <a:t>Constantes d’acidité</a:t>
                </a:r>
              </a:p>
              <a:p>
                <a14:m>
                  <m:oMath xmlns:m="http://schemas.openxmlformats.org/officeDocument/2006/math"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𝑝</m:t>
                    </m:r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sSub>
                              <m:sSubPr>
                                <m:ctrlP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𝐶𝑂𝑂𝐻</m:t>
                            </m:r>
                          </m:num>
                          <m:den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sSub>
                              <m:sSubPr>
                                <m:ctrlP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𝐶𝑂</m:t>
                            </m:r>
                            <m:sSup>
                              <m:sSupPr>
                                <m:ctrlP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p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=4,8</m:t>
                    </m:r>
                  </m:oMath>
                </a14:m>
                <a:endParaRPr lang="fr-FR" sz="2400" b="0" dirty="0"/>
              </a:p>
              <a:p>
                <a14:m>
                  <m:oMath xmlns:m="http://schemas.openxmlformats.org/officeDocument/2006/math">
                    <m:r>
                      <a:rPr lang="fr-FR" sz="2400" i="1">
                        <a:latin typeface="Cambria Math" panose="02040503050406030204" pitchFamily="18" charset="0"/>
                      </a:rPr>
                      <m:t>𝑝</m:t>
                    </m:r>
                    <m:sSub>
                      <m:sSub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sSubSup>
                              <m:sSubSupPr>
                                <m:ctrlP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  <m:sup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bSup>
                          </m:num>
                          <m:den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sSub>
                              <m:sSubPr>
                                <m:ctrlP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fr-FR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9,2</m:t>
                    </m:r>
                  </m:oMath>
                </a14:m>
                <a:endParaRPr lang="fr-FR" sz="2400" dirty="0"/>
              </a:p>
              <a:p>
                <a:endParaRPr lang="fr-FR" sz="2400" dirty="0"/>
              </a:p>
            </p:txBody>
          </p:sp>
        </mc:Choice>
        <mc:Fallback xmlns="">
          <p:sp>
            <p:nvSpPr>
              <p:cNvPr id="6" name="Espace réservé du contenu 5">
                <a:extLst>
                  <a:ext uri="{FF2B5EF4-FFF2-40B4-BE49-F238E27FC236}">
                    <a16:creationId xmlns:a16="http://schemas.microsoft.com/office/drawing/2014/main" id="{6B988F9D-CED1-43E2-A016-6B755D43F0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18" t="-212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8069572-795A-46EF-869B-D90E26690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10724254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Rétrospectiv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1035</TotalTime>
  <Words>85</Words>
  <Application>Microsoft Office PowerPoint</Application>
  <PresentationFormat>Grand écran</PresentationFormat>
  <Paragraphs>48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Calibri</vt:lpstr>
      <vt:lpstr>Calibri Light</vt:lpstr>
      <vt:lpstr>Cambria Math</vt:lpstr>
      <vt:lpstr>Rétrospective</vt:lpstr>
      <vt:lpstr>Acides et bases</vt:lpstr>
      <vt:lpstr>Exemples de couples acide/base</vt:lpstr>
      <vt:lpstr>Réaction d’un acide avec l’eau</vt:lpstr>
      <vt:lpstr>Acides forts      Bases fortes</vt:lpstr>
      <vt:lpstr>Présentation PowerPoint</vt:lpstr>
      <vt:lpstr>Acides et bases faibles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Chimie durable</dc:title>
  <dc:creator>Hugo Roussille</dc:creator>
  <cp:lastModifiedBy>Hugo Roussille</cp:lastModifiedBy>
  <cp:revision>83</cp:revision>
  <dcterms:created xsi:type="dcterms:W3CDTF">2019-04-06T14:18:31Z</dcterms:created>
  <dcterms:modified xsi:type="dcterms:W3CDTF">2019-06-15T13:01:07Z</dcterms:modified>
</cp:coreProperties>
</file>