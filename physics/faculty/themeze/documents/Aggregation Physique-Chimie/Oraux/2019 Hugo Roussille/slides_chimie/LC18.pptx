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63" r:id="rId3"/>
    <p:sldId id="267" r:id="rId4"/>
    <p:sldId id="264" r:id="rId5"/>
    <p:sldId id="265" r:id="rId6"/>
    <p:sldId id="266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>
        <p:scale>
          <a:sx n="167" d="100"/>
          <a:sy n="167" d="100"/>
        </p:scale>
        <p:origin x="-452" y="-3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16/06/2019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16/06/2019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16/06/2019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16/06/2019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16/06/2019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tm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4.tmp"/><Relationship Id="rId10" Type="http://schemas.openxmlformats.org/officeDocument/2006/relationships/image" Target="../media/image18.png"/><Relationship Id="rId4" Type="http://schemas.openxmlformats.org/officeDocument/2006/relationships/image" Target="../media/image13.tmp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Solides cristallins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2C895-2D91-41F6-8F9F-5350AE80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2764"/>
          </a:xfrm>
        </p:spPr>
        <p:txBody>
          <a:bodyPr/>
          <a:lstStyle/>
          <a:p>
            <a:r>
              <a:rPr lang="fr-FR"/>
              <a:t>Réseau et motif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C405D1-6B07-4F81-806B-1809C7E3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2F7B5C52-E8E9-455A-A162-5895D592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DB00165-F3F3-4CBA-A280-65D3D834D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502" y="4305474"/>
            <a:ext cx="6724996" cy="184794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09DD2C5-1DDD-44E1-A26E-C40FB4926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601" y="1747310"/>
            <a:ext cx="5778797" cy="186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7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F362C895-2D91-41F6-8F9F-5350AE8096F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97280" y="286604"/>
                <a:ext cx="10058400" cy="922764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Mesure de la masse volumique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𝐶𝑢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F362C895-2D91-41F6-8F9F-5350AE8096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97280" y="286604"/>
                <a:ext cx="10058400" cy="922764"/>
              </a:xfrm>
              <a:blipFill>
                <a:blip r:embed="rId2"/>
                <a:stretch>
                  <a:fillRect l="-2727" t="-3311" b="-364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C405D1-6B07-4F81-806B-1809C7E3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154BFA2C-3F28-48D6-B41E-FBC0F4F333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447"/>
          <a:stretch/>
        </p:blipFill>
        <p:spPr>
          <a:xfrm>
            <a:off x="937558" y="1732088"/>
            <a:ext cx="1889826" cy="3664860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443CE366-7484-4BD6-9AA3-7EE194A128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02"/>
          <a:stretch/>
        </p:blipFill>
        <p:spPr>
          <a:xfrm>
            <a:off x="5412341" y="1680970"/>
            <a:ext cx="1780304" cy="3664860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1E0D467C-07E6-4C55-AE4C-11108B81E7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447"/>
          <a:stretch/>
        </p:blipFill>
        <p:spPr>
          <a:xfrm>
            <a:off x="3249806" y="1680970"/>
            <a:ext cx="1889826" cy="3664860"/>
          </a:xfrm>
          <a:prstGeom prst="rect">
            <a:avLst/>
          </a:prstGeom>
        </p:spPr>
      </p:pic>
      <p:sp>
        <p:nvSpPr>
          <p:cNvPr id="5" name="Forme libre 1">
            <a:extLst>
              <a:ext uri="{FF2B5EF4-FFF2-40B4-BE49-F238E27FC236}">
                <a16:creationId xmlns:a16="http://schemas.microsoft.com/office/drawing/2014/main" id="{53B1AD35-FBF8-402C-9520-0B96B91274A1}"/>
              </a:ext>
            </a:extLst>
          </p:cNvPr>
          <p:cNvSpPr/>
          <p:nvPr/>
        </p:nvSpPr>
        <p:spPr>
          <a:xfrm>
            <a:off x="4250642" y="5004315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48" name="Forme libre 1">
            <a:extLst>
              <a:ext uri="{FF2B5EF4-FFF2-40B4-BE49-F238E27FC236}">
                <a16:creationId xmlns:a16="http://schemas.microsoft.com/office/drawing/2014/main" id="{F592B870-2E9D-48F0-BAC6-80B5CCE43A5C}"/>
              </a:ext>
            </a:extLst>
          </p:cNvPr>
          <p:cNvSpPr/>
          <p:nvPr/>
        </p:nvSpPr>
        <p:spPr>
          <a:xfrm>
            <a:off x="3828220" y="5004315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49" name="Forme libre 1">
            <a:extLst>
              <a:ext uri="{FF2B5EF4-FFF2-40B4-BE49-F238E27FC236}">
                <a16:creationId xmlns:a16="http://schemas.microsoft.com/office/drawing/2014/main" id="{4C3498CF-9A2E-45DA-8693-D66143A5E5C9}"/>
              </a:ext>
            </a:extLst>
          </p:cNvPr>
          <p:cNvSpPr/>
          <p:nvPr/>
        </p:nvSpPr>
        <p:spPr>
          <a:xfrm>
            <a:off x="4089703" y="4953197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50" name="Forme libre 1">
            <a:extLst>
              <a:ext uri="{FF2B5EF4-FFF2-40B4-BE49-F238E27FC236}">
                <a16:creationId xmlns:a16="http://schemas.microsoft.com/office/drawing/2014/main" id="{3ECFD7E3-4537-4BBA-A22F-331C6CF5DAFB}"/>
              </a:ext>
            </a:extLst>
          </p:cNvPr>
          <p:cNvSpPr/>
          <p:nvPr/>
        </p:nvSpPr>
        <p:spPr>
          <a:xfrm>
            <a:off x="3775965" y="4978756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51" name="Forme libre 1">
            <a:extLst>
              <a:ext uri="{FF2B5EF4-FFF2-40B4-BE49-F238E27FC236}">
                <a16:creationId xmlns:a16="http://schemas.microsoft.com/office/drawing/2014/main" id="{3EE94EF4-1BFB-4D2D-84D8-681EBB742DEC}"/>
              </a:ext>
            </a:extLst>
          </p:cNvPr>
          <p:cNvSpPr/>
          <p:nvPr/>
        </p:nvSpPr>
        <p:spPr>
          <a:xfrm>
            <a:off x="6349697" y="4978756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52" name="Forme libre 1">
            <a:extLst>
              <a:ext uri="{FF2B5EF4-FFF2-40B4-BE49-F238E27FC236}">
                <a16:creationId xmlns:a16="http://schemas.microsoft.com/office/drawing/2014/main" id="{DC6E9AB1-AC5D-4279-B188-05477F3D6783}"/>
              </a:ext>
            </a:extLst>
          </p:cNvPr>
          <p:cNvSpPr/>
          <p:nvPr/>
        </p:nvSpPr>
        <p:spPr>
          <a:xfrm>
            <a:off x="5927275" y="4978756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53" name="Forme libre 1">
            <a:extLst>
              <a:ext uri="{FF2B5EF4-FFF2-40B4-BE49-F238E27FC236}">
                <a16:creationId xmlns:a16="http://schemas.microsoft.com/office/drawing/2014/main" id="{EAFA33BF-0ABA-4677-A607-848F2B5E99F6}"/>
              </a:ext>
            </a:extLst>
          </p:cNvPr>
          <p:cNvSpPr/>
          <p:nvPr/>
        </p:nvSpPr>
        <p:spPr>
          <a:xfrm>
            <a:off x="6188758" y="4927638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54" name="Forme libre 1">
            <a:extLst>
              <a:ext uri="{FF2B5EF4-FFF2-40B4-BE49-F238E27FC236}">
                <a16:creationId xmlns:a16="http://schemas.microsoft.com/office/drawing/2014/main" id="{048FC1C3-B93E-4448-BA1E-62043C72482A}"/>
              </a:ext>
            </a:extLst>
          </p:cNvPr>
          <p:cNvSpPr/>
          <p:nvPr/>
        </p:nvSpPr>
        <p:spPr>
          <a:xfrm>
            <a:off x="5875020" y="4953197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9B84D567-8A0A-49B6-94B6-2AA37F0F0EDA}"/>
                  </a:ext>
                </a:extLst>
              </p:cNvPr>
              <p:cNvSpPr txBox="1"/>
              <p:nvPr/>
            </p:nvSpPr>
            <p:spPr>
              <a:xfrm>
                <a:off x="1619229" y="5243059"/>
                <a:ext cx="6855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fiole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9B84D567-8A0A-49B6-94B6-2AA37F0F0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29" y="5243059"/>
                <a:ext cx="685509" cy="307777"/>
              </a:xfrm>
              <a:prstGeom prst="rect">
                <a:avLst/>
              </a:prstGeom>
              <a:blipFill>
                <a:blip r:embed="rId4"/>
                <a:stretch>
                  <a:fillRect l="-5357" r="-4464" b="-176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F9B42E22-2701-44C2-BAD8-93A13389B677}"/>
                  </a:ext>
                </a:extLst>
              </p:cNvPr>
              <p:cNvSpPr txBox="1"/>
              <p:nvPr/>
            </p:nvSpPr>
            <p:spPr>
              <a:xfrm>
                <a:off x="3865408" y="5201879"/>
                <a:ext cx="7704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fiole</m:t>
                          </m:r>
                        </m:sub>
                      </m:sSub>
                    </m:oMath>
                  </m:oMathPara>
                </a14:m>
                <a:endParaRPr lang="fr-F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Cu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F9B42E22-2701-44C2-BAD8-93A13389B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408" y="5201879"/>
                <a:ext cx="770467" cy="615553"/>
              </a:xfrm>
              <a:prstGeom prst="rect">
                <a:avLst/>
              </a:prstGeom>
              <a:blipFill>
                <a:blip r:embed="rId5"/>
                <a:stretch>
                  <a:fillRect l="-6349" r="-3968" b="-79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938FF6B0-FE5B-4B82-9DDF-A8F76F5B742B}"/>
                  </a:ext>
                </a:extLst>
              </p:cNvPr>
              <p:cNvSpPr txBox="1"/>
              <p:nvPr/>
            </p:nvSpPr>
            <p:spPr>
              <a:xfrm>
                <a:off x="5925800" y="5201879"/>
                <a:ext cx="818557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fiole</m:t>
                          </m:r>
                        </m:sub>
                      </m:sSub>
                    </m:oMath>
                  </m:oMathPara>
                </a14:m>
                <a:endParaRPr lang="fr-F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Cu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eau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938FF6B0-FE5B-4B82-9DDF-A8F76F5B7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800" y="5201879"/>
                <a:ext cx="818557" cy="923330"/>
              </a:xfrm>
              <a:prstGeom prst="rect">
                <a:avLst/>
              </a:prstGeom>
              <a:blipFill>
                <a:blip r:embed="rId6"/>
                <a:stretch>
                  <a:fillRect l="-5224" r="-746" b="-26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96E55284-81F7-4EFA-9FCB-933E1CA829F0}"/>
                  </a:ext>
                </a:extLst>
              </p:cNvPr>
              <p:cNvSpPr txBox="1"/>
              <p:nvPr/>
            </p:nvSpPr>
            <p:spPr>
              <a:xfrm>
                <a:off x="7974160" y="1853649"/>
                <a:ext cx="2582310" cy="695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Cu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fiole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eau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eau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96E55284-81F7-4EFA-9FCB-933E1CA82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160" y="1853649"/>
                <a:ext cx="2582310" cy="6950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13366724-FFE4-44C0-9E19-6CB3E563F150}"/>
                  </a:ext>
                </a:extLst>
              </p:cNvPr>
              <p:cNvSpPr txBox="1"/>
              <p:nvPr/>
            </p:nvSpPr>
            <p:spPr>
              <a:xfrm>
                <a:off x="8454868" y="3450080"/>
                <a:ext cx="1620893" cy="859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400">
                                  <a:latin typeface="Cambria Math" panose="02040503050406030204" pitchFamily="18" charset="0"/>
                                </a:rPr>
                                <m:t>Cu</m:t>
                              </m:r>
                            </m:sub>
                          </m:s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2400">
                                      <a:latin typeface="Cambria Math" panose="02040503050406030204" pitchFamily="18" charset="0"/>
                                    </a:rPr>
                                    <m:t>Cu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2400">
                                      <a:latin typeface="Cambria Math" panose="02040503050406030204" pitchFamily="18" charset="0"/>
                                    </a:rPr>
                                    <m:t>Cu</m:t>
                                  </m:r>
                                </m:sub>
                              </m:sSub>
                            </m:den>
                          </m:f>
                        </m:e>
                      </m:borderBox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13366724-FFE4-44C0-9E19-6CB3E563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868" y="3450080"/>
                <a:ext cx="1620893" cy="8592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Flèche : courbe vers le bas 59">
            <a:extLst>
              <a:ext uri="{FF2B5EF4-FFF2-40B4-BE49-F238E27FC236}">
                <a16:creationId xmlns:a16="http://schemas.microsoft.com/office/drawing/2014/main" id="{074B4E45-3808-45BE-8602-F33C85312DC4}"/>
              </a:ext>
            </a:extLst>
          </p:cNvPr>
          <p:cNvSpPr/>
          <p:nvPr/>
        </p:nvSpPr>
        <p:spPr>
          <a:xfrm>
            <a:off x="2087217" y="1392906"/>
            <a:ext cx="2163426" cy="420484"/>
          </a:xfrm>
          <a:prstGeom prst="curvedDownArrow">
            <a:avLst/>
          </a:prstGeom>
          <a:solidFill>
            <a:srgbClr val="CC99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2" name="Forme libre 1">
            <a:extLst>
              <a:ext uri="{FF2B5EF4-FFF2-40B4-BE49-F238E27FC236}">
                <a16:creationId xmlns:a16="http://schemas.microsoft.com/office/drawing/2014/main" id="{C32A08F3-CCC2-430B-8282-32D53687CDAA}"/>
              </a:ext>
            </a:extLst>
          </p:cNvPr>
          <p:cNvSpPr/>
          <p:nvPr/>
        </p:nvSpPr>
        <p:spPr>
          <a:xfrm>
            <a:off x="3151472" y="1630361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63" name="Forme libre 1">
            <a:extLst>
              <a:ext uri="{FF2B5EF4-FFF2-40B4-BE49-F238E27FC236}">
                <a16:creationId xmlns:a16="http://schemas.microsoft.com/office/drawing/2014/main" id="{987597A2-2A09-4B28-8129-A5985E8C6BF8}"/>
              </a:ext>
            </a:extLst>
          </p:cNvPr>
          <p:cNvSpPr/>
          <p:nvPr/>
        </p:nvSpPr>
        <p:spPr>
          <a:xfrm>
            <a:off x="2729050" y="1630361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64" name="Forme libre 1">
            <a:extLst>
              <a:ext uri="{FF2B5EF4-FFF2-40B4-BE49-F238E27FC236}">
                <a16:creationId xmlns:a16="http://schemas.microsoft.com/office/drawing/2014/main" id="{51CF39E9-D84A-453F-9366-C974C4AEF29A}"/>
              </a:ext>
            </a:extLst>
          </p:cNvPr>
          <p:cNvSpPr/>
          <p:nvPr/>
        </p:nvSpPr>
        <p:spPr>
          <a:xfrm>
            <a:off x="2990533" y="1579243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65" name="Forme libre 1">
            <a:extLst>
              <a:ext uri="{FF2B5EF4-FFF2-40B4-BE49-F238E27FC236}">
                <a16:creationId xmlns:a16="http://schemas.microsoft.com/office/drawing/2014/main" id="{A5F63230-E363-41CD-968E-B178C38CFD9C}"/>
              </a:ext>
            </a:extLst>
          </p:cNvPr>
          <p:cNvSpPr/>
          <p:nvPr/>
        </p:nvSpPr>
        <p:spPr>
          <a:xfrm>
            <a:off x="2676795" y="1604802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rgbClr val="CC9900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66" name="Flèche : courbe vers le bas 65">
            <a:extLst>
              <a:ext uri="{FF2B5EF4-FFF2-40B4-BE49-F238E27FC236}">
                <a16:creationId xmlns:a16="http://schemas.microsoft.com/office/drawing/2014/main" id="{7F1C1305-CDE2-4EA2-8FCE-9FA569B23D55}"/>
              </a:ext>
            </a:extLst>
          </p:cNvPr>
          <p:cNvSpPr/>
          <p:nvPr/>
        </p:nvSpPr>
        <p:spPr>
          <a:xfrm>
            <a:off x="4291713" y="1392906"/>
            <a:ext cx="2163426" cy="420484"/>
          </a:xfrm>
          <a:prstGeom prst="curvedDownArrow">
            <a:avLst/>
          </a:prstGeom>
          <a:solidFill>
            <a:srgbClr val="8EB4E3"/>
          </a:solidFill>
          <a:ln>
            <a:solidFill>
              <a:srgbClr val="8EB4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Espace réservé du pied de page 3">
            <a:extLst>
              <a:ext uri="{FF2B5EF4-FFF2-40B4-BE49-F238E27FC236}">
                <a16:creationId xmlns:a16="http://schemas.microsoft.com/office/drawing/2014/main" id="{234D41AF-7BA8-4AD2-BD80-1BE587C4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787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E32A1-D3F8-47C7-B305-F1119628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Empilements compacts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1C223F-783A-4479-A150-F4DCF6EC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4895114-AE6E-4061-B3D0-C5305B886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916" y="1500831"/>
            <a:ext cx="6166167" cy="4667490"/>
          </a:xfrm>
          <a:prstGeom prst="rect">
            <a:avLst/>
          </a:prstGeom>
        </p:spPr>
      </p:pic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4491B7CD-D0A3-4F54-A399-7BF9C99D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511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E32A1-D3F8-47C7-B305-F1119628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cubique faces centrées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1C223F-783A-4479-A150-F4DCF6EC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pic>
        <p:nvPicPr>
          <p:cNvPr id="1026" name="Picture 2" descr="https://upload.wikimedia.org/wikipedia/commons/thumb/0/00/Ccp.svg/1920px-Ccp.svg.png">
            <a:extLst>
              <a:ext uri="{FF2B5EF4-FFF2-40B4-BE49-F238E27FC236}">
                <a16:creationId xmlns:a16="http://schemas.microsoft.com/office/drawing/2014/main" id="{42AC09F3-41D8-4811-92E8-18B47453E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655"/>
          <a:stretch/>
        </p:blipFill>
        <p:spPr bwMode="auto">
          <a:xfrm>
            <a:off x="246821" y="1909619"/>
            <a:ext cx="11698357" cy="384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4C285F42-94FD-49F6-8A6B-7C410588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247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E32A1-D3F8-47C7-B305-F1119628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hexagonale compacte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1C223F-783A-4479-A150-F4DCF6EC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6</a:t>
            </a:fld>
            <a:endParaRPr lang="fr-FR"/>
          </a:p>
        </p:txBody>
      </p:sp>
      <p:pic>
        <p:nvPicPr>
          <p:cNvPr id="2050" name="Picture 2" descr="https://upload.wikimedia.org/wikipedia/commons/thumb/7/76/Hcp.svg/1920px-Hcp.svg.png">
            <a:extLst>
              <a:ext uri="{FF2B5EF4-FFF2-40B4-BE49-F238E27FC236}">
                <a16:creationId xmlns:a16="http://schemas.microsoft.com/office/drawing/2014/main" id="{7E9EE282-BB65-402D-8D6B-4E758905E0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71"/>
          <a:stretch/>
        </p:blipFill>
        <p:spPr bwMode="auto">
          <a:xfrm>
            <a:off x="0" y="1455047"/>
            <a:ext cx="12192000" cy="394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7CA892-C223-4C5A-A730-389F1912AA11}"/>
              </a:ext>
            </a:extLst>
          </p:cNvPr>
          <p:cNvSpPr/>
          <p:nvPr/>
        </p:nvSpPr>
        <p:spPr>
          <a:xfrm>
            <a:off x="4810539" y="2286000"/>
            <a:ext cx="139148" cy="268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EFBEDE97-CE58-45DC-B8E6-A3746A43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9551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FE76CC-5556-4164-8F08-11646250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cubique centrée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DE5735-5DAD-43C2-8E88-25A95EF7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7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space réservé du contenu 10">
                <a:extLst>
                  <a:ext uri="{FF2B5EF4-FFF2-40B4-BE49-F238E27FC236}">
                    <a16:creationId xmlns:a16="http://schemas.microsoft.com/office/drawing/2014/main" id="{4CDB0179-FD9A-4DCF-89A9-8E487F0038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6948" y="1500809"/>
                <a:ext cx="5758732" cy="4522304"/>
              </a:xfrm>
            </p:spPr>
            <p:txBody>
              <a:bodyPr>
                <a:normAutofit/>
              </a:bodyPr>
              <a:lstStyle/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dirty="0"/>
                  <a:t> </a:t>
                </a:r>
                <a:r>
                  <a:rPr lang="fr-FR" sz="2400" b="1" u="sng" dirty="0">
                    <a:solidFill>
                      <a:schemeClr val="accent1"/>
                    </a:solidFill>
                  </a:rPr>
                  <a:t>Condition de tangence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⟹   </m:t>
                      </m:r>
                      <m:borderBox>
                        <m:borderBox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den>
                          </m:f>
                        </m:e>
                      </m:borderBox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2400" b="1" dirty="0">
                    <a:solidFill>
                      <a:schemeClr val="accent1"/>
                    </a:solidFill>
                  </a:rPr>
                  <a:t> </a:t>
                </a:r>
                <a:r>
                  <a:rPr lang="fr-FR" sz="2400" b="1" u="sng" dirty="0">
                    <a:solidFill>
                      <a:schemeClr val="accent1"/>
                    </a:solidFill>
                  </a:rPr>
                  <a:t>Population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8×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+1=</m:t>
                      </m:r>
                      <m:borderBox>
                        <m:borderBox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motifs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par</m:t>
                          </m:r>
                          <m:r>
                            <a:rPr lang="fr-FR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>
                              <a:latin typeface="Cambria Math" panose="02040503050406030204" pitchFamily="18" charset="0"/>
                            </a:rPr>
                            <m:t>maille</m:t>
                          </m:r>
                        </m:e>
                      </m:borderBox>
                    </m:oMath>
                  </m:oMathPara>
                </a14:m>
                <a:endParaRPr lang="fr-FR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2400" b="1" dirty="0">
                    <a:solidFill>
                      <a:schemeClr val="accent1"/>
                    </a:solidFill>
                  </a:rPr>
                  <a:t> </a:t>
                </a:r>
                <a:r>
                  <a:rPr lang="fr-FR" sz="2400" b="1" u="sng" dirty="0">
                    <a:solidFill>
                      <a:schemeClr val="accent1"/>
                    </a:solidFill>
                  </a:rPr>
                  <a:t>Coordinence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Fe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Fe</m:t>
                              </m:r>
                            </m:den>
                          </m:f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=[8]</m:t>
                          </m:r>
                        </m:e>
                      </m:borderBox>
                    </m:oMath>
                  </m:oMathPara>
                </a14:m>
                <a:endParaRPr lang="fr-FR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2400" b="1" dirty="0">
                    <a:solidFill>
                      <a:schemeClr val="accent1"/>
                    </a:solidFill>
                  </a:rPr>
                  <a:t> </a:t>
                </a:r>
                <a:r>
                  <a:rPr lang="fr-FR" sz="2400" b="1" u="sng" dirty="0">
                    <a:solidFill>
                      <a:schemeClr val="accent1"/>
                    </a:solidFill>
                  </a:rPr>
                  <a:t>Compacité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2×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borderBox>
                        <m:borderBox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≈0,68</m:t>
                          </m:r>
                        </m:e>
                      </m:borderBox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Espace réservé du contenu 10">
                <a:extLst>
                  <a:ext uri="{FF2B5EF4-FFF2-40B4-BE49-F238E27FC236}">
                    <a16:creationId xmlns:a16="http://schemas.microsoft.com/office/drawing/2014/main" id="{4CDB0179-FD9A-4DCF-89A9-8E487F0038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6948" y="1500809"/>
                <a:ext cx="5758732" cy="4522304"/>
              </a:xfrm>
              <a:blipFill>
                <a:blip r:embed="rId2"/>
                <a:stretch>
                  <a:fillRect l="-3069" t="-18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Espace réservé du contenu 9">
            <a:extLst>
              <a:ext uri="{FF2B5EF4-FFF2-40B4-BE49-F238E27FC236}">
                <a16:creationId xmlns:a16="http://schemas.microsoft.com/office/drawing/2014/main" id="{649660E2-1566-46C0-AB76-EA3C084E5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661" y="1609631"/>
            <a:ext cx="3365673" cy="3638737"/>
          </a:xfrm>
          <a:prstGeom prst="rect">
            <a:avLst/>
          </a:prstGeom>
        </p:spPr>
      </p:pic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01F0A17-CB5F-4E4E-A869-FE2AA5F0266C}"/>
              </a:ext>
            </a:extLst>
          </p:cNvPr>
          <p:cNvCxnSpPr/>
          <p:nvPr/>
        </p:nvCxnSpPr>
        <p:spPr>
          <a:xfrm>
            <a:off x="1699591" y="5536096"/>
            <a:ext cx="221642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23F9E8C2-3356-40F5-A002-865E692E445D}"/>
                  </a:ext>
                </a:extLst>
              </p:cNvPr>
              <p:cNvSpPr txBox="1"/>
              <p:nvPr/>
            </p:nvSpPr>
            <p:spPr>
              <a:xfrm>
                <a:off x="2714413" y="5546826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23F9E8C2-3356-40F5-A002-865E692E4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413" y="5546826"/>
                <a:ext cx="247952" cy="369332"/>
              </a:xfrm>
              <a:prstGeom prst="rect">
                <a:avLst/>
              </a:prstGeom>
              <a:blipFill>
                <a:blip r:embed="rId4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C1721D4A-37BF-47CC-8779-E84FF1EF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564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C1E7D0-C495-4F32-BAD7-D23C81A4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Graphite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A22622D-6B97-43A2-A3BA-40FA27DD9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6898" y="1570518"/>
            <a:ext cx="3454496" cy="444023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A79CF4-336C-4F66-850A-F89638E3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8</a:t>
            </a:fld>
            <a:endParaRPr lang="fr-FR"/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933286DA-2C45-4A57-877B-AE4C687B9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F319500-99C9-4830-8158-73D0527A2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50" y="1938019"/>
            <a:ext cx="7156274" cy="351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12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8FD781-7850-4F00-BDA2-4698CED7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</p:spPr>
        <p:txBody>
          <a:bodyPr/>
          <a:lstStyle/>
          <a:p>
            <a:r>
              <a:rPr lang="fr-FR" dirty="0"/>
              <a:t>Cristaux ioniques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9AA2D3-1492-4B34-B725-4F59CD62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9</a:t>
            </a:fld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D213C73-E6BD-431A-9C6E-6E9238029D15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35496" y="5424607"/>
            <a:ext cx="10409582" cy="49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02466AF4-26A3-4909-A82A-B48C5CEBAB80}"/>
                  </a:ext>
                </a:extLst>
              </p:cNvPr>
              <p:cNvSpPr txBox="1"/>
              <p:nvPr/>
            </p:nvSpPr>
            <p:spPr>
              <a:xfrm>
                <a:off x="11145078" y="4962621"/>
                <a:ext cx="478528" cy="9239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02466AF4-26A3-4909-A82A-B48C5CEBA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078" y="4962621"/>
                <a:ext cx="478528" cy="9239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0CDD5941-5E0E-42FF-9B90-80F9CCF2D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4C6E57-18FE-4860-8D06-D68788189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96" y="3020920"/>
            <a:ext cx="3604259" cy="2403686"/>
          </a:xfrm>
          <a:prstGeom prst="rect">
            <a:avLst/>
          </a:prstGeom>
        </p:spPr>
      </p:pic>
      <p:pic>
        <p:nvPicPr>
          <p:cNvPr id="11" name="Image 10" descr="Chimie tout-en-un PCSI Ed. 4 - ScholarVox Université - Mozilla Firefox">
            <a:extLst>
              <a:ext uri="{FF2B5EF4-FFF2-40B4-BE49-F238E27FC236}">
                <a16:creationId xmlns:a16="http://schemas.microsoft.com/office/drawing/2014/main" id="{C8E9D81E-5BD0-4517-BAF7-F9E51E9CA0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39" t="45374" r="36529" b="15246"/>
          <a:stretch/>
        </p:blipFill>
        <p:spPr>
          <a:xfrm>
            <a:off x="4545320" y="2593281"/>
            <a:ext cx="3202273" cy="2700671"/>
          </a:xfrm>
          <a:prstGeom prst="rect">
            <a:avLst/>
          </a:prstGeom>
        </p:spPr>
      </p:pic>
      <p:pic>
        <p:nvPicPr>
          <p:cNvPr id="13" name="Image 12" descr="Chimie tout-en-un PCSI Ed. 4 - ScholarVox Université - Mozilla Firefox">
            <a:extLst>
              <a:ext uri="{FF2B5EF4-FFF2-40B4-BE49-F238E27FC236}">
                <a16:creationId xmlns:a16="http://schemas.microsoft.com/office/drawing/2014/main" id="{A76020F5-FB93-4EBA-9AD0-75ECEB9767E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18" t="41888" r="37123" b="24341"/>
          <a:stretch/>
        </p:blipFill>
        <p:spPr>
          <a:xfrm>
            <a:off x="8045302" y="2977987"/>
            <a:ext cx="3076355" cy="23159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C6C5391-29CC-4F2A-AEAA-8AECE3C991F6}"/>
                  </a:ext>
                </a:extLst>
              </p:cNvPr>
              <p:cNvSpPr txBox="1"/>
              <p:nvPr/>
            </p:nvSpPr>
            <p:spPr>
              <a:xfrm>
                <a:off x="8190616" y="2350775"/>
                <a:ext cx="20272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CsCl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C6C5391-29CC-4F2A-AEAA-8AECE3C99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616" y="2350775"/>
                <a:ext cx="202727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52124244-C2E4-48DB-999C-FB9E1C0B6529}"/>
                  </a:ext>
                </a:extLst>
              </p:cNvPr>
              <p:cNvSpPr txBox="1"/>
              <p:nvPr/>
            </p:nvSpPr>
            <p:spPr>
              <a:xfrm>
                <a:off x="5082363" y="2070061"/>
                <a:ext cx="20272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aCl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52124244-C2E4-48DB-999C-FB9E1C0B6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363" y="2070061"/>
                <a:ext cx="202727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1D8AB238-1DDA-45E8-B4AB-B2DF96A5A056}"/>
                  </a:ext>
                </a:extLst>
              </p:cNvPr>
              <p:cNvSpPr txBox="1"/>
              <p:nvPr/>
            </p:nvSpPr>
            <p:spPr>
              <a:xfrm>
                <a:off x="1658911" y="2355670"/>
                <a:ext cx="20272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ZnS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1D8AB238-1DDA-45E8-B4AB-B2DF96A5A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911" y="2355670"/>
                <a:ext cx="202727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e 13">
            <a:extLst>
              <a:ext uri="{FF2B5EF4-FFF2-40B4-BE49-F238E27FC236}">
                <a16:creationId xmlns:a16="http://schemas.microsoft.com/office/drawing/2014/main" id="{C1FF813F-8712-45F5-937A-7C7DC1624935}"/>
              </a:ext>
            </a:extLst>
          </p:cNvPr>
          <p:cNvGrpSpPr/>
          <p:nvPr/>
        </p:nvGrpSpPr>
        <p:grpSpPr>
          <a:xfrm>
            <a:off x="8818184" y="5441836"/>
            <a:ext cx="772138" cy="525208"/>
            <a:chOff x="8818184" y="5441836"/>
            <a:chExt cx="772138" cy="52520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ZoneTexte 2">
                  <a:extLst>
                    <a:ext uri="{FF2B5EF4-FFF2-40B4-BE49-F238E27FC236}">
                      <a16:creationId xmlns:a16="http://schemas.microsoft.com/office/drawing/2014/main" id="{039515BF-5981-44D4-9191-4DADC6B0D3A9}"/>
                    </a:ext>
                  </a:extLst>
                </p:cNvPr>
                <p:cNvSpPr txBox="1"/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0,80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>
            <p:sp>
              <p:nvSpPr>
                <p:cNvPr id="3" name="ZoneTexte 2">
                  <a:extLst>
                    <a:ext uri="{FF2B5EF4-FFF2-40B4-BE49-F238E27FC236}">
                      <a16:creationId xmlns:a16="http://schemas.microsoft.com/office/drawing/2014/main" id="{039515BF-5981-44D4-9191-4DADC6B0D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794" r="-158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0309EF56-753F-4BB4-8EB8-604FBC82CE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4253" y="5441836"/>
              <a:ext cx="0" cy="828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20D212D-A2CF-47E1-834F-EC600505A16C}"/>
              </a:ext>
            </a:extLst>
          </p:cNvPr>
          <p:cNvGrpSpPr/>
          <p:nvPr/>
        </p:nvGrpSpPr>
        <p:grpSpPr>
          <a:xfrm>
            <a:off x="5252024" y="5449456"/>
            <a:ext cx="772138" cy="525208"/>
            <a:chOff x="8818184" y="5441836"/>
            <a:chExt cx="772138" cy="52520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E9F0ACAF-9A9A-4FA1-A12E-51382FFC1E1A}"/>
                    </a:ext>
                  </a:extLst>
                </p:cNvPr>
                <p:cNvSpPr txBox="1"/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0,54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E9F0ACAF-9A9A-4FA1-A12E-51382FFC1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794" r="-238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A7ABD74F-9704-4A5D-8C5E-2DF75503DD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4253" y="5441836"/>
              <a:ext cx="0" cy="828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E2765A75-5C9C-4957-B968-EDE5E0D1092A}"/>
              </a:ext>
            </a:extLst>
          </p:cNvPr>
          <p:cNvGrpSpPr/>
          <p:nvPr/>
        </p:nvGrpSpPr>
        <p:grpSpPr>
          <a:xfrm>
            <a:off x="2349676" y="5470495"/>
            <a:ext cx="772138" cy="525208"/>
            <a:chOff x="8818184" y="5441836"/>
            <a:chExt cx="772138" cy="52520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ZoneTexte 24">
                  <a:extLst>
                    <a:ext uri="{FF2B5EF4-FFF2-40B4-BE49-F238E27FC236}">
                      <a16:creationId xmlns:a16="http://schemas.microsoft.com/office/drawing/2014/main" id="{26A5AE93-3C0F-4199-A05A-435771E8D01D}"/>
                    </a:ext>
                  </a:extLst>
                </p:cNvPr>
                <p:cNvSpPr txBox="1"/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0,40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>
            <p:sp>
              <p:nvSpPr>
                <p:cNvPr id="25" name="ZoneTexte 24">
                  <a:extLst>
                    <a:ext uri="{FF2B5EF4-FFF2-40B4-BE49-F238E27FC236}">
                      <a16:creationId xmlns:a16="http://schemas.microsoft.com/office/drawing/2014/main" id="{26A5AE93-3C0F-4199-A05A-435771E8D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8184" y="5505379"/>
                  <a:ext cx="772138" cy="461665"/>
                </a:xfrm>
                <a:prstGeom prst="rect">
                  <a:avLst/>
                </a:prstGeom>
                <a:blipFill>
                  <a:blip r:embed="rId11"/>
                  <a:stretch>
                    <a:fillRect r="-157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5DCA6949-2451-47B3-A48C-A6E967A06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4253" y="5441836"/>
              <a:ext cx="0" cy="828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4350345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1031</TotalTime>
  <Words>113</Words>
  <Application>Microsoft Office PowerPoint</Application>
  <PresentationFormat>Grand écran</PresentationFormat>
  <Paragraphs>52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Calibri</vt:lpstr>
      <vt:lpstr>Calibri Light</vt:lpstr>
      <vt:lpstr>Cambria Math</vt:lpstr>
      <vt:lpstr>Courier New</vt:lpstr>
      <vt:lpstr>Rétrospective</vt:lpstr>
      <vt:lpstr>Solides cristallins</vt:lpstr>
      <vt:lpstr>Réseau et motif</vt:lpstr>
      <vt:lpstr>Mesure de la masse volumique de Cu</vt:lpstr>
      <vt:lpstr>Empilements compacts</vt:lpstr>
      <vt:lpstr>Structure cubique faces centrées</vt:lpstr>
      <vt:lpstr>Structure hexagonale compacte</vt:lpstr>
      <vt:lpstr>Structure cubique centrée</vt:lpstr>
      <vt:lpstr>Graphite</vt:lpstr>
      <vt:lpstr>Cristaux ioniques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63</cp:revision>
  <dcterms:created xsi:type="dcterms:W3CDTF">2019-04-06T14:18:31Z</dcterms:created>
  <dcterms:modified xsi:type="dcterms:W3CDTF">2019-06-16T14:30:17Z</dcterms:modified>
</cp:coreProperties>
</file>