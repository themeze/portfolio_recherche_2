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5" r:id="rId6"/>
    <p:sldId id="264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B07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F01C-BC14-4F81-87AE-D5D26E359E8E}" type="datetimeFigureOut">
              <a:rPr lang="fr-FR" smtClean="0"/>
              <a:t>25/06/2019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472F-C389-4AF2-BA24-C1FF8F94A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88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B33F-87D8-4BFE-BCBF-731AD622E09E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EB24-1155-4371-B688-DDAD01CF823D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3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7B3-5A91-453A-92FD-677E850FA3A5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843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460206"/>
            <a:ext cx="4937760" cy="44088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60205"/>
            <a:ext cx="4937760" cy="44088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384B-D365-439B-B9FB-A10B3FA0B79A}" type="datetime1">
              <a:rPr lang="fr-FR" smtClean="0"/>
              <a:t>25/06/2019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8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7B8B-BEB2-49C1-8BB4-8D396D554AA6}" type="datetime1">
              <a:rPr lang="fr-FR" smtClean="0"/>
              <a:t>25/06/2019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32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3237-6937-4077-8416-FFF866A41361}" type="datetime1">
              <a:rPr lang="fr-FR" smtClean="0"/>
              <a:t>25/06/2019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2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E37A-26D6-4DCD-AF35-3F127425D5BF}" type="datetime1">
              <a:rPr lang="fr-FR" smtClean="0"/>
              <a:t>25/06/2019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45A67E-4DF6-4C8F-B8DA-2D1171F57B74}" type="datetime1">
              <a:rPr lang="fr-FR" smtClean="0"/>
              <a:t>25/06/2019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725-0123-4CE3-85B9-619490EE40F6}" type="datetime1">
              <a:rPr lang="fr-FR" smtClean="0"/>
              <a:t>25/06/2019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C754-28B9-41E4-AE10-BE433397311B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81CE-1004-4FD8-A91E-F417EDBE9258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28237"/>
            <a:ext cx="10058400" cy="44408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3DEDF1-3E42-46F1-803C-3F81A5B34212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36925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tmp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1.jpe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Molécules de la santé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2019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08AC17-FBA1-49AF-9262-771D857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E13B5F-D338-4F2A-9D89-3DB9243C3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pH du système digestif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EEE425AF-4DD3-4FEC-819A-BA5CCCD586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154" y="1439709"/>
            <a:ext cx="4550651" cy="4884262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DE564A2-DE67-4191-9D29-6633ABD28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98417AB-F5AE-474E-A347-9DBE5B50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2</a:t>
            </a:fld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F70137-A567-4DA0-B215-9D5BBE343A76}"/>
              </a:ext>
            </a:extLst>
          </p:cNvPr>
          <p:cNvSpPr/>
          <p:nvPr/>
        </p:nvSpPr>
        <p:spPr>
          <a:xfrm>
            <a:off x="4536558" y="1637414"/>
            <a:ext cx="1013637" cy="2126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3F441A-7A48-442F-96A8-8F7E32D7B76D}"/>
              </a:ext>
            </a:extLst>
          </p:cNvPr>
          <p:cNvSpPr/>
          <p:nvPr/>
        </p:nvSpPr>
        <p:spPr>
          <a:xfrm>
            <a:off x="4876800" y="2456119"/>
            <a:ext cx="1332613" cy="2126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0FE37-F774-485E-A472-F2E09EBBCD98}"/>
              </a:ext>
            </a:extLst>
          </p:cNvPr>
          <p:cNvSpPr/>
          <p:nvPr/>
        </p:nvSpPr>
        <p:spPr>
          <a:xfrm>
            <a:off x="3944679" y="2826696"/>
            <a:ext cx="1013637" cy="2126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EBCEB0-79FC-4A5D-A00C-ECAF1202E35C}"/>
              </a:ext>
            </a:extLst>
          </p:cNvPr>
          <p:cNvSpPr/>
          <p:nvPr/>
        </p:nvSpPr>
        <p:spPr>
          <a:xfrm>
            <a:off x="7077740" y="4610986"/>
            <a:ext cx="1265274" cy="2161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6C63ED-7926-498B-BF9E-B850687DD9F1}"/>
              </a:ext>
            </a:extLst>
          </p:cNvPr>
          <p:cNvSpPr/>
          <p:nvPr/>
        </p:nvSpPr>
        <p:spPr>
          <a:xfrm>
            <a:off x="6647124" y="5525386"/>
            <a:ext cx="554664" cy="2161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F4ABD45-3364-4BAB-96E3-2C7E484FF761}"/>
              </a:ext>
            </a:extLst>
          </p:cNvPr>
          <p:cNvSpPr txBox="1"/>
          <p:nvPr/>
        </p:nvSpPr>
        <p:spPr>
          <a:xfrm>
            <a:off x="4043916" y="151971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Cavité orale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8BCA512-ADF8-475C-B824-5B4B6D946692}"/>
              </a:ext>
            </a:extLst>
          </p:cNvPr>
          <p:cNvSpPr txBox="1"/>
          <p:nvPr/>
        </p:nvSpPr>
        <p:spPr>
          <a:xfrm>
            <a:off x="4628706" y="234942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Estomac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37F4E2A-FDDB-4AF5-8D7E-E8615D432FC1}"/>
              </a:ext>
            </a:extLst>
          </p:cNvPr>
          <p:cNvSpPr txBox="1"/>
          <p:nvPr/>
        </p:nvSpPr>
        <p:spPr>
          <a:xfrm>
            <a:off x="3537097" y="271875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Duodénum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B331296-56D4-495A-AB8A-2DA412B57612}"/>
              </a:ext>
            </a:extLst>
          </p:cNvPr>
          <p:cNvSpPr txBox="1"/>
          <p:nvPr/>
        </p:nvSpPr>
        <p:spPr>
          <a:xfrm>
            <a:off x="6701453" y="4534417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Intestin grêle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A2A62A9-E010-4604-A660-AC620AB88065}"/>
              </a:ext>
            </a:extLst>
          </p:cNvPr>
          <p:cNvSpPr txBox="1"/>
          <p:nvPr/>
        </p:nvSpPr>
        <p:spPr>
          <a:xfrm>
            <a:off x="6010056" y="542919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Colon</a:t>
            </a:r>
          </a:p>
        </p:txBody>
      </p:sp>
    </p:spTree>
    <p:extLst>
      <p:ext uri="{BB962C8B-B14F-4D97-AF65-F5344CB8AC3E}">
        <p14:creationId xmlns:p14="http://schemas.microsoft.com/office/powerpoint/2010/main" val="391999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BF5069-44B7-4974-BDF0-97F9D40E7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 de l’aspirine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371DAD8-EDB8-4227-9EF2-475719F55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0AE7F0A-364E-422E-BD12-33AE7D328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3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au 20">
                <a:extLst>
                  <a:ext uri="{FF2B5EF4-FFF2-40B4-BE49-F238E27FC236}">
                    <a16:creationId xmlns:a16="http://schemas.microsoft.com/office/drawing/2014/main" id="{2F8B5AC1-EEF6-4F8B-B544-AC0CF6B930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070259"/>
                  </p:ext>
                </p:extLst>
              </p:nvPr>
            </p:nvGraphicFramePr>
            <p:xfrm>
              <a:off x="188844" y="2051926"/>
              <a:ext cx="11688418" cy="32233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385391">
                      <a:extLst>
                        <a:ext uri="{9D8B030D-6E8A-4147-A177-3AD203B41FA5}">
                          <a16:colId xmlns:a16="http://schemas.microsoft.com/office/drawing/2014/main" val="3676508839"/>
                        </a:ext>
                      </a:extLst>
                    </a:gridCol>
                    <a:gridCol w="377687">
                      <a:extLst>
                        <a:ext uri="{9D8B030D-6E8A-4147-A177-3AD203B41FA5}">
                          <a16:colId xmlns:a16="http://schemas.microsoft.com/office/drawing/2014/main" val="3364169271"/>
                        </a:ext>
                      </a:extLst>
                    </a:gridCol>
                    <a:gridCol w="2345635">
                      <a:extLst>
                        <a:ext uri="{9D8B030D-6E8A-4147-A177-3AD203B41FA5}">
                          <a16:colId xmlns:a16="http://schemas.microsoft.com/office/drawing/2014/main" val="460053931"/>
                        </a:ext>
                      </a:extLst>
                    </a:gridCol>
                    <a:gridCol w="1570383">
                      <a:extLst>
                        <a:ext uri="{9D8B030D-6E8A-4147-A177-3AD203B41FA5}">
                          <a16:colId xmlns:a16="http://schemas.microsoft.com/office/drawing/2014/main" val="2498011360"/>
                        </a:ext>
                      </a:extLst>
                    </a:gridCol>
                    <a:gridCol w="2504660">
                      <a:extLst>
                        <a:ext uri="{9D8B030D-6E8A-4147-A177-3AD203B41FA5}">
                          <a16:colId xmlns:a16="http://schemas.microsoft.com/office/drawing/2014/main" val="2579247023"/>
                        </a:ext>
                      </a:extLst>
                    </a:gridCol>
                    <a:gridCol w="347870">
                      <a:extLst>
                        <a:ext uri="{9D8B030D-6E8A-4147-A177-3AD203B41FA5}">
                          <a16:colId xmlns:a16="http://schemas.microsoft.com/office/drawing/2014/main" val="1635373302"/>
                        </a:ext>
                      </a:extLst>
                    </a:gridCol>
                    <a:gridCol w="2156792">
                      <a:extLst>
                        <a:ext uri="{9D8B030D-6E8A-4147-A177-3AD203B41FA5}">
                          <a16:colId xmlns:a16="http://schemas.microsoft.com/office/drawing/2014/main" val="1146037858"/>
                        </a:ext>
                      </a:extLst>
                    </a:gridCol>
                  </a:tblGrid>
                  <a:tr h="2018328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fr-FR" sz="3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fr-FR" sz="3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000" b="0" i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fr-FR" sz="20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fr-FR" sz="20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sSub>
                                  <m:sSub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000" b="0" i="0" smtClean="0">
                                        <a:latin typeface="Cambria Math" panose="02040503050406030204" pitchFamily="18" charset="0"/>
                                      </a:rPr>
                                      <m:t>O</m:t>
                                    </m:r>
                                  </m:e>
                                  <m:sub>
                                    <m:r>
                                      <a:rPr lang="fr-FR" sz="2000" b="0" i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000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r>
                            <a:rPr lang="fr-FR" sz="2000" b="0" dirty="0"/>
                            <a:t>20 min</a:t>
                          </a:r>
                          <a:r>
                            <a:rPr lang="fr-FR" sz="1400" b="0" dirty="0"/>
                            <a:t> </a:t>
                          </a:r>
                          <a:r>
                            <a:rPr lang="fr-FR" sz="2000" b="0" dirty="0"/>
                            <a:t>|</a:t>
                          </a:r>
                          <a:r>
                            <a:rPr lang="fr-FR" sz="1400" b="0" dirty="0"/>
                            <a:t> </a:t>
                          </a:r>
                          <a:r>
                            <a:rPr lang="fr-FR" sz="2000" b="0" dirty="0"/>
                            <a:t>65°C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fr-FR" sz="3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fr-FR" sz="3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402701178"/>
                      </a:ext>
                    </a:extLst>
                  </a:tr>
                  <a:tr h="471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Acide salicylique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Anhydride acétique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/>
                            <a:t>Acide acétylsalicylique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Acide acétique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89108697"/>
                      </a:ext>
                    </a:extLst>
                  </a:tr>
                  <a:tr h="7330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b="0" i="1" smtClean="0">
                                    <a:latin typeface="Cambria Math" panose="02040503050406030204" pitchFamily="18" charset="0"/>
                                  </a:rPr>
                                  <m:t>3,0 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 b="0" i="0" smtClean="0"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  <m:r>
                                  <a:rPr lang="fr-FR" sz="1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2,2.10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fr-FR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1800" i="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b="0" i="1" smtClean="0">
                                    <a:latin typeface="Cambria Math" panose="02040503050406030204" pitchFamily="18" charset="0"/>
                                  </a:rPr>
                                  <m:t>∼6,0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 b="0" i="0" smtClean="0">
                                    <a:latin typeface="Cambria Math" panose="02040503050406030204" pitchFamily="18" charset="0"/>
                                  </a:rPr>
                                  <m:t>mL</m:t>
                                </m:r>
                              </m:oMath>
                            </m:oMathPara>
                          </a14:m>
                          <a:endParaRPr lang="fr-FR" sz="1800" b="0" i="0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6,4.10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fr-FR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1800" i="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4828999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au 20">
                <a:extLst>
                  <a:ext uri="{FF2B5EF4-FFF2-40B4-BE49-F238E27FC236}">
                    <a16:creationId xmlns:a16="http://schemas.microsoft.com/office/drawing/2014/main" id="{2F8B5AC1-EEF6-4F8B-B544-AC0CF6B930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070259"/>
                  </p:ext>
                </p:extLst>
              </p:nvPr>
            </p:nvGraphicFramePr>
            <p:xfrm>
              <a:off x="188844" y="2051926"/>
              <a:ext cx="11688418" cy="32233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385391">
                      <a:extLst>
                        <a:ext uri="{9D8B030D-6E8A-4147-A177-3AD203B41FA5}">
                          <a16:colId xmlns:a16="http://schemas.microsoft.com/office/drawing/2014/main" val="3676508839"/>
                        </a:ext>
                      </a:extLst>
                    </a:gridCol>
                    <a:gridCol w="377687">
                      <a:extLst>
                        <a:ext uri="{9D8B030D-6E8A-4147-A177-3AD203B41FA5}">
                          <a16:colId xmlns:a16="http://schemas.microsoft.com/office/drawing/2014/main" val="3364169271"/>
                        </a:ext>
                      </a:extLst>
                    </a:gridCol>
                    <a:gridCol w="2345635">
                      <a:extLst>
                        <a:ext uri="{9D8B030D-6E8A-4147-A177-3AD203B41FA5}">
                          <a16:colId xmlns:a16="http://schemas.microsoft.com/office/drawing/2014/main" val="460053931"/>
                        </a:ext>
                      </a:extLst>
                    </a:gridCol>
                    <a:gridCol w="1570383">
                      <a:extLst>
                        <a:ext uri="{9D8B030D-6E8A-4147-A177-3AD203B41FA5}">
                          <a16:colId xmlns:a16="http://schemas.microsoft.com/office/drawing/2014/main" val="2498011360"/>
                        </a:ext>
                      </a:extLst>
                    </a:gridCol>
                    <a:gridCol w="2504660">
                      <a:extLst>
                        <a:ext uri="{9D8B030D-6E8A-4147-A177-3AD203B41FA5}">
                          <a16:colId xmlns:a16="http://schemas.microsoft.com/office/drawing/2014/main" val="2579247023"/>
                        </a:ext>
                      </a:extLst>
                    </a:gridCol>
                    <a:gridCol w="347870">
                      <a:extLst>
                        <a:ext uri="{9D8B030D-6E8A-4147-A177-3AD203B41FA5}">
                          <a16:colId xmlns:a16="http://schemas.microsoft.com/office/drawing/2014/main" val="1635373302"/>
                        </a:ext>
                      </a:extLst>
                    </a:gridCol>
                    <a:gridCol w="2156792">
                      <a:extLst>
                        <a:ext uri="{9D8B030D-6E8A-4147-A177-3AD203B41FA5}">
                          <a16:colId xmlns:a16="http://schemas.microsoft.com/office/drawing/2014/main" val="1146037858"/>
                        </a:ext>
                      </a:extLst>
                    </a:gridCol>
                  </a:tblGrid>
                  <a:tr h="2018328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632258" t="-301" r="-2364516" b="-59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325194" t="-301" r="-318992" b="-59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645614" t="-301" r="-622807" b="-59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402701178"/>
                      </a:ext>
                    </a:extLst>
                  </a:tr>
                  <a:tr h="471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Acide salicylique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Anhydride acétique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/>
                            <a:t>Acide acétylsalicylique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Acide acétique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89108697"/>
                      </a:ext>
                    </a:extLst>
                  </a:tr>
                  <a:tr h="733025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t="-338843" r="-389796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17922" t="-338843" r="-280779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48289990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2" name="Picture 8" descr="RÃ©sultat de recherche d'images pour &quot;salicylic acid formula&quot;">
            <a:extLst>
              <a:ext uri="{FF2B5EF4-FFF2-40B4-BE49-F238E27FC236}">
                <a16:creationId xmlns:a16="http://schemas.microsoft.com/office/drawing/2014/main" id="{323794F6-E249-4DAB-8741-A712F2345B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8" r="4623"/>
          <a:stretch/>
        </p:blipFill>
        <p:spPr bwMode="auto">
          <a:xfrm>
            <a:off x="336753" y="2227983"/>
            <a:ext cx="2230795" cy="165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Ã©sultat de recherche d'images pour &quot;anhydride acÃ©tique&quot;">
            <a:extLst>
              <a:ext uri="{FF2B5EF4-FFF2-40B4-BE49-F238E27FC236}">
                <a16:creationId xmlns:a16="http://schemas.microsoft.com/office/drawing/2014/main" id="{CDBCD379-CC58-44FE-BFC8-372F5DDBB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983" y="2458547"/>
            <a:ext cx="2009315" cy="1212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CE12FE15-94DE-429A-BE04-CB22A8B187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704" y="2112885"/>
            <a:ext cx="2252810" cy="1890026"/>
          </a:xfrm>
          <a:prstGeom prst="rect">
            <a:avLst/>
          </a:prstGeom>
        </p:spPr>
      </p:pic>
      <p:pic>
        <p:nvPicPr>
          <p:cNvPr id="25" name="Picture 16" descr="RÃ©sultat de recherche d'images pour &quot;acetic acid formula&quot;">
            <a:extLst>
              <a:ext uri="{FF2B5EF4-FFF2-40B4-BE49-F238E27FC236}">
                <a16:creationId xmlns:a16="http://schemas.microsoft.com/office/drawing/2014/main" id="{E2C55041-B10C-4F65-A729-862BA0906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458" y="2347261"/>
            <a:ext cx="1666030" cy="143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46F6D53B-D128-48F4-AD89-CE75C5BBEE77}"/>
              </a:ext>
            </a:extLst>
          </p:cNvPr>
          <p:cNvCxnSpPr>
            <a:cxnSpLocks/>
          </p:cNvCxnSpPr>
          <p:nvPr/>
        </p:nvCxnSpPr>
        <p:spPr>
          <a:xfrm>
            <a:off x="5506279" y="3057898"/>
            <a:ext cx="14212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721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04C7F6-4CD1-48C5-A92D-D4A63C503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 et hémisynthèse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F885A549-BD01-45B7-9A31-FA699874F8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85" y="1615196"/>
            <a:ext cx="6972777" cy="1318489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CB57974-AE77-49B2-9B9E-59F540529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C492E4A-39C4-45EA-B9BC-AC10E163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4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18ACBFC-95CF-4F35-8017-D94353DC5A0F}"/>
              </a:ext>
            </a:extLst>
          </p:cNvPr>
          <p:cNvSpPr txBox="1"/>
          <p:nvPr/>
        </p:nvSpPr>
        <p:spPr>
          <a:xfrm>
            <a:off x="1195219" y="3049841"/>
            <a:ext cx="5401338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Synthèse de </a:t>
            </a:r>
            <a:r>
              <a:rPr lang="fr-FR" sz="2400" b="1" dirty="0" err="1"/>
              <a:t>Kolbe</a:t>
            </a:r>
            <a:r>
              <a:rPr lang="fr-FR" sz="2400" dirty="0"/>
              <a:t>, à partir du phénol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5049E1E-DA06-479A-B863-122029331C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214" y="2469026"/>
            <a:ext cx="2895282" cy="2403686"/>
          </a:xfrm>
          <a:prstGeom prst="rect">
            <a:avLst/>
          </a:prstGeom>
        </p:spPr>
      </p:pic>
      <p:grpSp>
        <p:nvGrpSpPr>
          <p:cNvPr id="21" name="Groupe 20">
            <a:extLst>
              <a:ext uri="{FF2B5EF4-FFF2-40B4-BE49-F238E27FC236}">
                <a16:creationId xmlns:a16="http://schemas.microsoft.com/office/drawing/2014/main" id="{C2976297-EBBA-444F-85AF-FEFF8523E33E}"/>
              </a:ext>
            </a:extLst>
          </p:cNvPr>
          <p:cNvGrpSpPr/>
          <p:nvPr/>
        </p:nvGrpSpPr>
        <p:grpSpPr>
          <a:xfrm>
            <a:off x="1736242" y="3698359"/>
            <a:ext cx="4319292" cy="1602459"/>
            <a:chOff x="2019286" y="4098972"/>
            <a:chExt cx="4319292" cy="1602459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71026B6E-19A2-4CDB-B6C5-9E4B81471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9286" y="4098972"/>
              <a:ext cx="1549043" cy="1602459"/>
            </a:xfrm>
            <a:prstGeom prst="rect">
              <a:avLst/>
            </a:prstGeom>
          </p:spPr>
        </p:pic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6FF6A6D6-FB18-4333-8319-390D938C3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69115" y="4153951"/>
              <a:ext cx="1369463" cy="1492500"/>
            </a:xfrm>
            <a:prstGeom prst="rect">
              <a:avLst/>
            </a:prstGeom>
          </p:spPr>
        </p:pic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4E6A913B-FA10-4BBD-AD0A-099FA1E0ECAC}"/>
                </a:ext>
              </a:extLst>
            </p:cNvPr>
            <p:cNvCxnSpPr>
              <a:stCxn id="12" idx="3"/>
              <a:endCxn id="14" idx="1"/>
            </p:cNvCxnSpPr>
            <p:nvPr/>
          </p:nvCxnSpPr>
          <p:spPr>
            <a:xfrm flipV="1">
              <a:off x="3568329" y="4900201"/>
              <a:ext cx="140078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96516DC2-22C0-427F-A6B1-F6F2C1F704EE}"/>
                </a:ext>
              </a:extLst>
            </p:cNvPr>
            <p:cNvGrpSpPr/>
            <p:nvPr/>
          </p:nvGrpSpPr>
          <p:grpSpPr>
            <a:xfrm>
              <a:off x="3320238" y="4530869"/>
              <a:ext cx="1828800" cy="742456"/>
              <a:chOff x="3568329" y="4530869"/>
              <a:chExt cx="1828800" cy="74245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ZoneTexte 16">
                    <a:extLst>
                      <a:ext uri="{FF2B5EF4-FFF2-40B4-BE49-F238E27FC236}">
                        <a16:creationId xmlns:a16="http://schemas.microsoft.com/office/drawing/2014/main" id="{53B53EA6-69FC-4943-91B3-46282433563C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329" y="4530869"/>
                    <a:ext cx="18288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FR" sz="1800" b="0" i="0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NaOH</m:t>
                          </m:r>
                        </m:oMath>
                      </m:oMathPara>
                    </a14:m>
                    <a:endParaRPr lang="fr-FR" sz="1800" kern="1200" dirty="0">
                      <a:solidFill>
                        <a:schemeClr val="tx1"/>
                      </a:solidFill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7" name="ZoneTexte 16">
                    <a:extLst>
                      <a:ext uri="{FF2B5EF4-FFF2-40B4-BE49-F238E27FC236}">
                        <a16:creationId xmlns:a16="http://schemas.microsoft.com/office/drawing/2014/main" id="{53B53EA6-69FC-4943-91B3-4628243356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68329" y="4530869"/>
                    <a:ext cx="1828800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ZoneTexte 17">
                    <a:extLst>
                      <a:ext uri="{FF2B5EF4-FFF2-40B4-BE49-F238E27FC236}">
                        <a16:creationId xmlns:a16="http://schemas.microsoft.com/office/drawing/2014/main" id="{5B5EC2D1-E7C9-438B-A94E-5B4B0444B4B0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329" y="4903993"/>
                    <a:ext cx="18288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800" b="0" i="0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H</m:t>
                              </m:r>
                            </m:e>
                            <m:sub>
                              <m:r>
                                <a:rPr lang="fr-FR" sz="1800" b="0" i="0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800" b="0" i="0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SO</m:t>
                              </m:r>
                            </m:e>
                            <m:sub>
                              <m:r>
                                <a:rPr lang="fr-FR" sz="1800" b="0" i="0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fr-FR" sz="1800" kern="1200" dirty="0">
                      <a:solidFill>
                        <a:schemeClr val="tx1"/>
                      </a:solidFill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8" name="ZoneTexte 17">
                    <a:extLst>
                      <a:ext uri="{FF2B5EF4-FFF2-40B4-BE49-F238E27FC236}">
                        <a16:creationId xmlns:a16="http://schemas.microsoft.com/office/drawing/2014/main" id="{5B5EC2D1-E7C9-438B-A94E-5B4B0444B4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68329" y="4903993"/>
                    <a:ext cx="1828800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730A90E0-40FC-4666-AB5C-BEE89FBF3107}"/>
              </a:ext>
            </a:extLst>
          </p:cNvPr>
          <p:cNvSpPr txBox="1"/>
          <p:nvPr/>
        </p:nvSpPr>
        <p:spPr>
          <a:xfrm>
            <a:off x="691771" y="5435416"/>
            <a:ext cx="658781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Hémisynthèse</a:t>
            </a:r>
            <a:r>
              <a:rPr lang="fr-FR" sz="2400" dirty="0"/>
              <a:t>, à partir de l’essence de Gaulthérie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72560E27-4FE8-4B0E-8181-31F110FC48CC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7279585" y="2700670"/>
            <a:ext cx="1419629" cy="970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95AA84F8-BEA7-4085-8A3A-9AC139208426}"/>
              </a:ext>
            </a:extLst>
          </p:cNvPr>
          <p:cNvCxnSpPr>
            <a:cxnSpLocks/>
          </p:cNvCxnSpPr>
          <p:nvPr/>
        </p:nvCxnSpPr>
        <p:spPr>
          <a:xfrm flipV="1">
            <a:off x="6596557" y="3857431"/>
            <a:ext cx="2102657" cy="642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1" name="Picture 10">
            <a:extLst>
              <a:ext uri="{FF2B5EF4-FFF2-40B4-BE49-F238E27FC236}">
                <a16:creationId xmlns:a16="http://schemas.microsoft.com/office/drawing/2014/main" id="{9B271CA3-436B-445F-9F8E-51E2472C1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495" y="3342316"/>
            <a:ext cx="1134205" cy="684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E4E1FBC0-BD7B-4660-AE72-859DEA4DB7B7}"/>
              </a:ext>
            </a:extLst>
          </p:cNvPr>
          <p:cNvSpPr txBox="1"/>
          <p:nvPr/>
        </p:nvSpPr>
        <p:spPr>
          <a:xfrm>
            <a:off x="9288721" y="5069985"/>
            <a:ext cx="1828800" cy="46166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kern="120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Aspirine</a:t>
            </a:r>
          </a:p>
        </p:txBody>
      </p:sp>
    </p:spTree>
    <p:extLst>
      <p:ext uri="{BB962C8B-B14F-4D97-AF65-F5344CB8AC3E}">
        <p14:creationId xmlns:p14="http://schemas.microsoft.com/office/powerpoint/2010/main" val="2908436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35F74B5B-89F7-4FA4-8EFF-A265446699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840" b="21674"/>
          <a:stretch/>
        </p:blipFill>
        <p:spPr>
          <a:xfrm>
            <a:off x="2721292" y="1514252"/>
            <a:ext cx="8404520" cy="399676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E915150-27F5-42F5-A518-EA938EFA2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IR : acide salicylique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D614960-16F8-4938-9B24-5C2C714A5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5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380370-08E6-4CA5-A94C-AA77D003984F}"/>
              </a:ext>
            </a:extLst>
          </p:cNvPr>
          <p:cNvSpPr/>
          <p:nvPr/>
        </p:nvSpPr>
        <p:spPr>
          <a:xfrm>
            <a:off x="7709483" y="1560352"/>
            <a:ext cx="3416329" cy="3758268"/>
          </a:xfrm>
          <a:prstGeom prst="rect">
            <a:avLst/>
          </a:prstGeom>
          <a:solidFill>
            <a:schemeClr val="dk1">
              <a:alpha val="36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10A5E7D6-D74A-40E2-A8B5-C23E5FE88AB0}"/>
              </a:ext>
            </a:extLst>
          </p:cNvPr>
          <p:cNvSpPr/>
          <p:nvPr/>
        </p:nvSpPr>
        <p:spPr>
          <a:xfrm>
            <a:off x="7046455" y="2063316"/>
            <a:ext cx="316346" cy="3112315"/>
          </a:xfrm>
          <a:prstGeom prst="ellipse">
            <a:avLst/>
          </a:prstGeom>
          <a:solidFill>
            <a:srgbClr val="1482AC">
              <a:alpha val="25098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B13FA6C-5D13-449A-81F1-7B8913F4596B}"/>
              </a:ext>
            </a:extLst>
          </p:cNvPr>
          <p:cNvSpPr/>
          <p:nvPr/>
        </p:nvSpPr>
        <p:spPr>
          <a:xfrm>
            <a:off x="3877325" y="1751938"/>
            <a:ext cx="1608802" cy="1687548"/>
          </a:xfrm>
          <a:prstGeom prst="ellipse">
            <a:avLst/>
          </a:prstGeom>
          <a:solidFill>
            <a:schemeClr val="accent5">
              <a:alpha val="3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9B7987A6-2D48-4AAE-9FD6-0BBAD0164A66}"/>
                  </a:ext>
                </a:extLst>
              </p:cNvPr>
              <p:cNvSpPr txBox="1"/>
              <p:nvPr/>
            </p:nvSpPr>
            <p:spPr>
              <a:xfrm>
                <a:off x="3748217" y="3416913"/>
                <a:ext cx="26274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800" kern="1200" dirty="0">
                    <a:solidFill>
                      <a:schemeClr val="accent5"/>
                    </a:solidFill>
                    <a:ea typeface="+mn-ea"/>
                    <a:cs typeface="+mn-cs"/>
                  </a:rPr>
                  <a:t>Liaisons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800" b="0" i="0" kern="120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C</m:t>
                    </m:r>
                    <m:r>
                      <a:rPr lang="fr-FR" sz="1800" b="0" i="0" kern="120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m:rPr>
                        <m:sty m:val="p"/>
                      </m:rPr>
                      <a:rPr lang="fr-FR" sz="1800" b="0" i="0" kern="120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H</m:t>
                    </m:r>
                  </m:oMath>
                </a14:m>
                <a:r>
                  <a:rPr lang="fr-FR" sz="1800" kern="1200" dirty="0">
                    <a:solidFill>
                      <a:schemeClr val="accent5"/>
                    </a:solidFill>
                    <a:ea typeface="+mn-ea"/>
                    <a:cs typeface="+mn-cs"/>
                  </a:rPr>
                  <a:t> 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800" b="0" i="0" kern="120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O</m:t>
                    </m:r>
                    <m:r>
                      <a:rPr lang="fr-FR" sz="1800" b="0" i="0" kern="120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m:rPr>
                        <m:sty m:val="p"/>
                      </m:rPr>
                      <a:rPr lang="fr-FR" sz="1800" b="0" i="0" kern="120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H</m:t>
                    </m:r>
                  </m:oMath>
                </a14:m>
                <a:endParaRPr lang="fr-FR" sz="1800" kern="1200" dirty="0">
                  <a:solidFill>
                    <a:schemeClr val="accent5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9B7987A6-2D48-4AAE-9FD6-0BBAD0164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217" y="3416913"/>
                <a:ext cx="2627415" cy="369332"/>
              </a:xfrm>
              <a:prstGeom prst="rect">
                <a:avLst/>
              </a:prstGeom>
              <a:blipFill>
                <a:blip r:embed="rId3"/>
                <a:stretch>
                  <a:fillRect l="-2088" t="-10000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A982E830-9932-4C79-9C97-0B147D7493F6}"/>
                  </a:ext>
                </a:extLst>
              </p:cNvPr>
              <p:cNvSpPr txBox="1"/>
              <p:nvPr/>
            </p:nvSpPr>
            <p:spPr>
              <a:xfrm>
                <a:off x="5061924" y="4390800"/>
                <a:ext cx="196688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800" kern="1200" dirty="0">
                    <a:solidFill>
                      <a:schemeClr val="accent1">
                        <a:lumMod val="75000"/>
                      </a:schemeClr>
                    </a:solidFill>
                    <a:ea typeface="+mn-ea"/>
                    <a:cs typeface="+mn-cs"/>
                  </a:rPr>
                  <a:t>Liaison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800" b="0" i="0" kern="120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C</m:t>
                    </m:r>
                    <m:r>
                      <a:rPr lang="fr-FR" sz="1800" b="0" i="0" kern="120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lang="fr-FR" sz="1800" b="0" i="0" kern="120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O</m:t>
                    </m:r>
                  </m:oMath>
                </a14:m>
                <a:endParaRPr lang="fr-FR" sz="1800" kern="1200" dirty="0">
                  <a:solidFill>
                    <a:schemeClr val="accent1">
                      <a:lumMod val="75000"/>
                    </a:schemeClr>
                  </a:solidFill>
                  <a:ea typeface="+mn-ea"/>
                  <a:cs typeface="+mn-cs"/>
                </a:endParaRPr>
              </a:p>
              <a:p>
                <a:pPr algn="ctr"/>
                <a:r>
                  <a:rPr lang="fr-FR" sz="1800" kern="1200" dirty="0">
                    <a:solidFill>
                      <a:schemeClr val="accent1">
                        <a:lumMod val="75000"/>
                      </a:schemeClr>
                    </a:solidFill>
                    <a:ea typeface="+mn-ea"/>
                    <a:cs typeface="+mn-cs"/>
                  </a:rPr>
                  <a:t>acide carboxylique</a:t>
                </a: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A982E830-9932-4C79-9C97-0B147D749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924" y="4390800"/>
                <a:ext cx="1966884" cy="646331"/>
              </a:xfrm>
              <a:prstGeom prst="rect">
                <a:avLst/>
              </a:prstGeom>
              <a:blipFill>
                <a:blip r:embed="rId4"/>
                <a:stretch>
                  <a:fillRect l="-1548" t="-4717" r="-1548" b="-141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RÃ©sultat de recherche d'images pour &quot;acide salicylique&quot;">
            <a:extLst>
              <a:ext uri="{FF2B5EF4-FFF2-40B4-BE49-F238E27FC236}">
                <a16:creationId xmlns:a16="http://schemas.microsoft.com/office/drawing/2014/main" id="{5ED9C54B-ECCD-4192-B215-411F25D5A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213" y="2404199"/>
            <a:ext cx="1949787" cy="2128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Ellipse 13">
            <a:extLst>
              <a:ext uri="{FF2B5EF4-FFF2-40B4-BE49-F238E27FC236}">
                <a16:creationId xmlns:a16="http://schemas.microsoft.com/office/drawing/2014/main" id="{BA77332C-C3C9-4444-92ED-9104F132BA39}"/>
              </a:ext>
            </a:extLst>
          </p:cNvPr>
          <p:cNvSpPr/>
          <p:nvPr/>
        </p:nvSpPr>
        <p:spPr>
          <a:xfrm rot="18049373">
            <a:off x="388344" y="2154441"/>
            <a:ext cx="509889" cy="975876"/>
          </a:xfrm>
          <a:prstGeom prst="ellipse">
            <a:avLst/>
          </a:prstGeom>
          <a:solidFill>
            <a:srgbClr val="1482AC">
              <a:alpha val="25098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5F53A88D-85C0-420D-B7A9-C237FDBC08BB}"/>
                  </a:ext>
                </a:extLst>
              </p:cNvPr>
              <p:cNvSpPr txBox="1"/>
              <p:nvPr/>
            </p:nvSpPr>
            <p:spPr>
              <a:xfrm>
                <a:off x="5792359" y="5511013"/>
                <a:ext cx="226151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Nombre d’onde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5F53A88D-85C0-420D-B7A9-C237FDBC0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359" y="5511013"/>
                <a:ext cx="2261517" cy="338554"/>
              </a:xfrm>
              <a:prstGeom prst="rect">
                <a:avLst/>
              </a:prstGeom>
              <a:blipFill>
                <a:blip r:embed="rId6"/>
                <a:stretch>
                  <a:fillRect l="-1348" t="-5357" b="-2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Espace réservé du pied de page 3">
            <a:extLst>
              <a:ext uri="{FF2B5EF4-FFF2-40B4-BE49-F238E27FC236}">
                <a16:creationId xmlns:a16="http://schemas.microsoft.com/office/drawing/2014/main" id="{04D707B6-0B60-4B36-AF73-08837950C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</a:p>
        </p:txBody>
      </p:sp>
    </p:spTree>
    <p:extLst>
      <p:ext uri="{BB962C8B-B14F-4D97-AF65-F5344CB8AC3E}">
        <p14:creationId xmlns:p14="http://schemas.microsoft.com/office/powerpoint/2010/main" val="1775904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915150-27F5-42F5-A518-EA938EFA2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IR : aspirine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D614960-16F8-4938-9B24-5C2C714A5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6</a:t>
            </a:fld>
            <a:endParaRPr lang="fr-FR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9C33075-AAD6-424B-95CB-03D570A21C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79" b="21920"/>
          <a:stretch/>
        </p:blipFill>
        <p:spPr>
          <a:xfrm>
            <a:off x="2720424" y="1498172"/>
            <a:ext cx="8405388" cy="399816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7380370-08E6-4CA5-A94C-AA77D003984F}"/>
              </a:ext>
            </a:extLst>
          </p:cNvPr>
          <p:cNvSpPr/>
          <p:nvPr/>
        </p:nvSpPr>
        <p:spPr>
          <a:xfrm>
            <a:off x="7709483" y="1560352"/>
            <a:ext cx="3416329" cy="3758268"/>
          </a:xfrm>
          <a:prstGeom prst="rect">
            <a:avLst/>
          </a:prstGeom>
          <a:solidFill>
            <a:schemeClr val="dk1">
              <a:alpha val="36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E5D50BF-1688-4546-8EB3-98CFD5ABD7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52" y="2435741"/>
            <a:ext cx="2392795" cy="1986518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10A5E7D6-D74A-40E2-A8B5-C23E5FE88AB0}"/>
              </a:ext>
            </a:extLst>
          </p:cNvPr>
          <p:cNvSpPr/>
          <p:nvPr/>
        </p:nvSpPr>
        <p:spPr>
          <a:xfrm>
            <a:off x="7048483" y="2226365"/>
            <a:ext cx="180000" cy="3003715"/>
          </a:xfrm>
          <a:prstGeom prst="ellipse">
            <a:avLst/>
          </a:prstGeom>
          <a:solidFill>
            <a:srgbClr val="1482AC">
              <a:alpha val="25098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B13FA6C-5D13-449A-81F1-7B8913F4596B}"/>
              </a:ext>
            </a:extLst>
          </p:cNvPr>
          <p:cNvSpPr/>
          <p:nvPr/>
        </p:nvSpPr>
        <p:spPr>
          <a:xfrm>
            <a:off x="4236440" y="1741453"/>
            <a:ext cx="1367405" cy="1687548"/>
          </a:xfrm>
          <a:prstGeom prst="ellipse">
            <a:avLst/>
          </a:prstGeom>
          <a:solidFill>
            <a:schemeClr val="accent5">
              <a:alpha val="3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9B7987A6-2D48-4AAE-9FD6-0BBAD0164A66}"/>
                  </a:ext>
                </a:extLst>
              </p:cNvPr>
              <p:cNvSpPr txBox="1"/>
              <p:nvPr/>
            </p:nvSpPr>
            <p:spPr>
              <a:xfrm>
                <a:off x="3748217" y="3416913"/>
                <a:ext cx="26274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800" kern="1200" dirty="0">
                    <a:solidFill>
                      <a:schemeClr val="accent5"/>
                    </a:solidFill>
                    <a:ea typeface="+mn-ea"/>
                    <a:cs typeface="+mn-cs"/>
                  </a:rPr>
                  <a:t>Liaisons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800" b="0" i="0" kern="120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C</m:t>
                    </m:r>
                    <m:r>
                      <a:rPr lang="fr-FR" sz="1800" b="0" i="0" kern="120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m:rPr>
                        <m:sty m:val="p"/>
                      </m:rPr>
                      <a:rPr lang="fr-FR" sz="1800" b="0" i="0" kern="120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H</m:t>
                    </m:r>
                  </m:oMath>
                </a14:m>
                <a:r>
                  <a:rPr lang="fr-FR" sz="1800" kern="1200" dirty="0">
                    <a:solidFill>
                      <a:schemeClr val="accent5"/>
                    </a:solidFill>
                    <a:ea typeface="+mn-ea"/>
                    <a:cs typeface="+mn-cs"/>
                  </a:rPr>
                  <a:t> 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800" b="0" i="0" kern="120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O</m:t>
                    </m:r>
                    <m:r>
                      <a:rPr lang="fr-FR" sz="1800" b="0" i="0" kern="120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m:rPr>
                        <m:sty m:val="p"/>
                      </m:rPr>
                      <a:rPr lang="fr-FR" sz="1800" b="0" i="0" kern="120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H</m:t>
                    </m:r>
                  </m:oMath>
                </a14:m>
                <a:endParaRPr lang="fr-FR" sz="1800" kern="1200" dirty="0">
                  <a:solidFill>
                    <a:schemeClr val="accent5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9B7987A6-2D48-4AAE-9FD6-0BBAD0164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217" y="3416913"/>
                <a:ext cx="2627415" cy="369332"/>
              </a:xfrm>
              <a:prstGeom prst="rect">
                <a:avLst/>
              </a:prstGeom>
              <a:blipFill>
                <a:blip r:embed="rId4"/>
                <a:stretch>
                  <a:fillRect l="-2088" t="-10000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8A4E2BC4-E827-4F49-8935-2F9BA0638D46}"/>
                  </a:ext>
                </a:extLst>
              </p:cNvPr>
              <p:cNvSpPr txBox="1"/>
              <p:nvPr/>
            </p:nvSpPr>
            <p:spPr>
              <a:xfrm>
                <a:off x="4962642" y="4180106"/>
                <a:ext cx="196688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800" kern="1200" dirty="0">
                    <a:solidFill>
                      <a:schemeClr val="tx1"/>
                    </a:solidFill>
                    <a:ea typeface="+mn-ea"/>
                    <a:cs typeface="+mn-cs"/>
                  </a:rPr>
                  <a:t>Liaisons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800" b="0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C</m:t>
                    </m:r>
                    <m:r>
                      <a:rPr lang="fr-FR" sz="1800" b="0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lang="fr-FR" sz="1800" b="0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O</m:t>
                    </m:r>
                  </m:oMath>
                </a14:m>
                <a:endParaRPr lang="fr-FR" sz="1800" kern="1200" dirty="0">
                  <a:solidFill>
                    <a:schemeClr val="tx1"/>
                  </a:solidFill>
                  <a:ea typeface="+mn-ea"/>
                  <a:cs typeface="+mn-cs"/>
                </a:endParaRPr>
              </a:p>
              <a:p>
                <a:pPr algn="ctr"/>
                <a:r>
                  <a:rPr lang="fr-FR" dirty="0">
                    <a:solidFill>
                      <a:srgbClr val="C00000"/>
                    </a:solidFill>
                  </a:rPr>
                  <a:t>ester</a:t>
                </a:r>
                <a:endParaRPr lang="fr-FR" sz="1800" kern="1200" dirty="0">
                  <a:solidFill>
                    <a:srgbClr val="C00000"/>
                  </a:solidFill>
                </a:endParaRPr>
              </a:p>
              <a:p>
                <a:pPr algn="ctr"/>
                <a:r>
                  <a:rPr lang="fr-FR" sz="1800" kern="1200" dirty="0">
                    <a:solidFill>
                      <a:schemeClr val="accent1">
                        <a:lumMod val="75000"/>
                      </a:schemeClr>
                    </a:solidFill>
                    <a:ea typeface="+mn-ea"/>
                    <a:cs typeface="+mn-cs"/>
                  </a:rPr>
                  <a:t>acide carboxylique</a:t>
                </a:r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8A4E2BC4-E827-4F49-8935-2F9BA0638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642" y="4180106"/>
                <a:ext cx="1966884" cy="923330"/>
              </a:xfrm>
              <a:prstGeom prst="rect">
                <a:avLst/>
              </a:prstGeom>
              <a:blipFill>
                <a:blip r:embed="rId5"/>
                <a:stretch>
                  <a:fillRect l="-1548" t="-3974" r="-1548" b="-993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Ellipse 12">
            <a:extLst>
              <a:ext uri="{FF2B5EF4-FFF2-40B4-BE49-F238E27FC236}">
                <a16:creationId xmlns:a16="http://schemas.microsoft.com/office/drawing/2014/main" id="{60FD98C3-9292-4A85-B6FA-397968297162}"/>
              </a:ext>
            </a:extLst>
          </p:cNvPr>
          <p:cNvSpPr/>
          <p:nvPr/>
        </p:nvSpPr>
        <p:spPr>
          <a:xfrm>
            <a:off x="6818628" y="2099721"/>
            <a:ext cx="216000" cy="3003715"/>
          </a:xfrm>
          <a:prstGeom prst="ellipse">
            <a:avLst/>
          </a:prstGeom>
          <a:solidFill>
            <a:srgbClr val="C00000">
              <a:alpha val="25098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BB6DE1DF-6267-4BA8-B3DF-115E1CCC735C}"/>
              </a:ext>
            </a:extLst>
          </p:cNvPr>
          <p:cNvSpPr/>
          <p:nvPr/>
        </p:nvSpPr>
        <p:spPr>
          <a:xfrm>
            <a:off x="1968515" y="3528391"/>
            <a:ext cx="328791" cy="893868"/>
          </a:xfrm>
          <a:prstGeom prst="ellipse">
            <a:avLst/>
          </a:prstGeom>
          <a:solidFill>
            <a:srgbClr val="C00000">
              <a:alpha val="25098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255A25D-413A-4F29-A142-5ABF3879AC19}"/>
              </a:ext>
            </a:extLst>
          </p:cNvPr>
          <p:cNvSpPr/>
          <p:nvPr/>
        </p:nvSpPr>
        <p:spPr>
          <a:xfrm rot="18049373">
            <a:off x="321203" y="2190525"/>
            <a:ext cx="401205" cy="975876"/>
          </a:xfrm>
          <a:prstGeom prst="ellipse">
            <a:avLst/>
          </a:prstGeom>
          <a:solidFill>
            <a:srgbClr val="1482AC">
              <a:alpha val="25098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FA8E4492-5574-422E-85FC-59D06DB06757}"/>
                  </a:ext>
                </a:extLst>
              </p:cNvPr>
              <p:cNvSpPr txBox="1"/>
              <p:nvPr/>
            </p:nvSpPr>
            <p:spPr>
              <a:xfrm>
                <a:off x="5792359" y="5511013"/>
                <a:ext cx="226151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Nombre d’onde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FA8E4492-5574-422E-85FC-59D06DB06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359" y="5511013"/>
                <a:ext cx="2261517" cy="338554"/>
              </a:xfrm>
              <a:prstGeom prst="rect">
                <a:avLst/>
              </a:prstGeom>
              <a:blipFill>
                <a:blip r:embed="rId6"/>
                <a:stretch>
                  <a:fillRect l="-1348" t="-5357" b="-2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Espace réservé du pied de page 3">
            <a:extLst>
              <a:ext uri="{FF2B5EF4-FFF2-40B4-BE49-F238E27FC236}">
                <a16:creationId xmlns:a16="http://schemas.microsoft.com/office/drawing/2014/main" id="{6C70D841-DFF5-4807-82F5-13653C142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</a:p>
        </p:txBody>
      </p:sp>
    </p:spTree>
    <p:extLst>
      <p:ext uri="{BB962C8B-B14F-4D97-AF65-F5344CB8AC3E}">
        <p14:creationId xmlns:p14="http://schemas.microsoft.com/office/powerpoint/2010/main" val="2833512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226885-10C4-4F96-921D-726449E78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Chromatographie sur couche mince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9ABA19E-A6BB-4880-9C09-411B81C72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8670D3A-236A-4748-AB60-FEA2D5AE0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7</a:t>
            </a:fld>
            <a:endParaRPr lang="fr-FR"/>
          </a:p>
        </p:txBody>
      </p:sp>
      <p:sp>
        <p:nvSpPr>
          <p:cNvPr id="6" name="Arrondir un rectangle avec un coin du même côté 734">
            <a:extLst>
              <a:ext uri="{FF2B5EF4-FFF2-40B4-BE49-F238E27FC236}">
                <a16:creationId xmlns:a16="http://schemas.microsoft.com/office/drawing/2014/main" id="{8084462D-2E87-490E-A82B-BC051032C78F}"/>
              </a:ext>
            </a:extLst>
          </p:cNvPr>
          <p:cNvSpPr/>
          <p:nvPr/>
        </p:nvSpPr>
        <p:spPr>
          <a:xfrm rot="10800000" flipH="1">
            <a:off x="3259420" y="2888115"/>
            <a:ext cx="2148139" cy="2726896"/>
          </a:xfrm>
          <a:custGeom>
            <a:avLst/>
            <a:gdLst>
              <a:gd name="connsiteX0" fmla="*/ 358030 w 2148139"/>
              <a:gd name="connsiteY0" fmla="*/ 0 h 2726896"/>
              <a:gd name="connsiteX1" fmla="*/ 1790109 w 2148139"/>
              <a:gd name="connsiteY1" fmla="*/ 0 h 2726896"/>
              <a:gd name="connsiteX2" fmla="*/ 2148139 w 2148139"/>
              <a:gd name="connsiteY2" fmla="*/ 358030 h 2726896"/>
              <a:gd name="connsiteX3" fmla="*/ 2148139 w 2148139"/>
              <a:gd name="connsiteY3" fmla="*/ 2726896 h 2726896"/>
              <a:gd name="connsiteX4" fmla="*/ 2148139 w 2148139"/>
              <a:gd name="connsiteY4" fmla="*/ 2726896 h 2726896"/>
              <a:gd name="connsiteX5" fmla="*/ 0 w 2148139"/>
              <a:gd name="connsiteY5" fmla="*/ 2726896 h 2726896"/>
              <a:gd name="connsiteX6" fmla="*/ 0 w 2148139"/>
              <a:gd name="connsiteY6" fmla="*/ 2726896 h 2726896"/>
              <a:gd name="connsiteX7" fmla="*/ 0 w 2148139"/>
              <a:gd name="connsiteY7" fmla="*/ 358030 h 2726896"/>
              <a:gd name="connsiteX8" fmla="*/ 358030 w 2148139"/>
              <a:gd name="connsiteY8" fmla="*/ 0 h 2726896"/>
              <a:gd name="connsiteX0" fmla="*/ 0 w 2239579"/>
              <a:gd name="connsiteY0" fmla="*/ 2726896 h 2818336"/>
              <a:gd name="connsiteX1" fmla="*/ 0 w 2239579"/>
              <a:gd name="connsiteY1" fmla="*/ 2726896 h 2818336"/>
              <a:gd name="connsiteX2" fmla="*/ 0 w 2239579"/>
              <a:gd name="connsiteY2" fmla="*/ 358030 h 2818336"/>
              <a:gd name="connsiteX3" fmla="*/ 358030 w 2239579"/>
              <a:gd name="connsiteY3" fmla="*/ 0 h 2818336"/>
              <a:gd name="connsiteX4" fmla="*/ 1790109 w 2239579"/>
              <a:gd name="connsiteY4" fmla="*/ 0 h 2818336"/>
              <a:gd name="connsiteX5" fmla="*/ 2148139 w 2239579"/>
              <a:gd name="connsiteY5" fmla="*/ 358030 h 2818336"/>
              <a:gd name="connsiteX6" fmla="*/ 2148139 w 2239579"/>
              <a:gd name="connsiteY6" fmla="*/ 2726896 h 2818336"/>
              <a:gd name="connsiteX7" fmla="*/ 2239579 w 2239579"/>
              <a:gd name="connsiteY7" fmla="*/ 2818336 h 2818336"/>
              <a:gd name="connsiteX0" fmla="*/ 0 w 2148139"/>
              <a:gd name="connsiteY0" fmla="*/ 2726896 h 2726896"/>
              <a:gd name="connsiteX1" fmla="*/ 0 w 2148139"/>
              <a:gd name="connsiteY1" fmla="*/ 2726896 h 2726896"/>
              <a:gd name="connsiteX2" fmla="*/ 0 w 2148139"/>
              <a:gd name="connsiteY2" fmla="*/ 358030 h 2726896"/>
              <a:gd name="connsiteX3" fmla="*/ 358030 w 2148139"/>
              <a:gd name="connsiteY3" fmla="*/ 0 h 2726896"/>
              <a:gd name="connsiteX4" fmla="*/ 1790109 w 2148139"/>
              <a:gd name="connsiteY4" fmla="*/ 0 h 2726896"/>
              <a:gd name="connsiteX5" fmla="*/ 2148139 w 2148139"/>
              <a:gd name="connsiteY5" fmla="*/ 358030 h 2726896"/>
              <a:gd name="connsiteX6" fmla="*/ 2148139 w 2148139"/>
              <a:gd name="connsiteY6" fmla="*/ 2726896 h 2726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48139" h="2726896">
                <a:moveTo>
                  <a:pt x="0" y="2726896"/>
                </a:moveTo>
                <a:lnTo>
                  <a:pt x="0" y="2726896"/>
                </a:lnTo>
                <a:lnTo>
                  <a:pt x="0" y="358030"/>
                </a:lnTo>
                <a:cubicBezTo>
                  <a:pt x="0" y="160295"/>
                  <a:pt x="160295" y="0"/>
                  <a:pt x="358030" y="0"/>
                </a:cubicBezTo>
                <a:lnTo>
                  <a:pt x="1790109" y="0"/>
                </a:lnTo>
                <a:cubicBezTo>
                  <a:pt x="1987844" y="0"/>
                  <a:pt x="2148139" y="160295"/>
                  <a:pt x="2148139" y="358030"/>
                </a:cubicBezTo>
                <a:lnTo>
                  <a:pt x="2148139" y="2726896"/>
                </a:lnTo>
              </a:path>
            </a:pathLst>
          </a:custGeom>
          <a:noFill/>
          <a:ln w="127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7" name="Parallélogramme 6">
            <a:extLst>
              <a:ext uri="{FF2B5EF4-FFF2-40B4-BE49-F238E27FC236}">
                <a16:creationId xmlns:a16="http://schemas.microsoft.com/office/drawing/2014/main" id="{40F4A5A5-1558-454E-A936-D8FF28C4FDFA}"/>
              </a:ext>
            </a:extLst>
          </p:cNvPr>
          <p:cNvSpPr/>
          <p:nvPr/>
        </p:nvSpPr>
        <p:spPr>
          <a:xfrm rot="21208233" flipH="1">
            <a:off x="3342862" y="1637847"/>
            <a:ext cx="96139" cy="3893402"/>
          </a:xfrm>
          <a:prstGeom prst="parallelogram">
            <a:avLst>
              <a:gd name="adj" fmla="val 77936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1943CF7-AE19-4916-A27E-B1B4D285D664}"/>
              </a:ext>
            </a:extLst>
          </p:cNvPr>
          <p:cNvCxnSpPr>
            <a:cxnSpLocks/>
          </p:cNvCxnSpPr>
          <p:nvPr/>
        </p:nvCxnSpPr>
        <p:spPr>
          <a:xfrm>
            <a:off x="3250012" y="5080621"/>
            <a:ext cx="214813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36D0AC5C-0567-453D-936A-C70D95810DAC}"/>
              </a:ext>
            </a:extLst>
          </p:cNvPr>
          <p:cNvSpPr txBox="1"/>
          <p:nvPr/>
        </p:nvSpPr>
        <p:spPr>
          <a:xfrm>
            <a:off x="27272" y="4664871"/>
            <a:ext cx="3100585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Eluant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Acétate d’éthyle 6/11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Cyclohexane 4/11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Acide méthanoïque 1/11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27464A22-1FF3-4DFE-9B96-C2F5170984E5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127857" y="5265036"/>
            <a:ext cx="1179049" cy="59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E889B754-A062-4F80-BF62-5FB5262528CC}"/>
              </a:ext>
            </a:extLst>
          </p:cNvPr>
          <p:cNvSpPr txBox="1"/>
          <p:nvPr/>
        </p:nvSpPr>
        <p:spPr>
          <a:xfrm>
            <a:off x="1730237" y="1888969"/>
            <a:ext cx="84765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Plaque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5B8451EF-0590-4CBA-BD0A-83F8721BFA0C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577893" y="2073635"/>
            <a:ext cx="6273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D0ABB24-C122-4E11-A388-1B957D16D195}"/>
              </a:ext>
            </a:extLst>
          </p:cNvPr>
          <p:cNvSpPr/>
          <p:nvPr/>
        </p:nvSpPr>
        <p:spPr>
          <a:xfrm>
            <a:off x="8022932" y="2238546"/>
            <a:ext cx="2299954" cy="3380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02224E3B-BEF9-4FBB-ACEE-EB0A0C70F711}"/>
              </a:ext>
            </a:extLst>
          </p:cNvPr>
          <p:cNvCxnSpPr/>
          <p:nvPr/>
        </p:nvCxnSpPr>
        <p:spPr>
          <a:xfrm>
            <a:off x="8022932" y="5198380"/>
            <a:ext cx="229995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Ellipse 14">
            <a:extLst>
              <a:ext uri="{FF2B5EF4-FFF2-40B4-BE49-F238E27FC236}">
                <a16:creationId xmlns:a16="http://schemas.microsoft.com/office/drawing/2014/main" id="{42B2406D-9EBB-4C37-9B15-3116C639EB3F}"/>
              </a:ext>
            </a:extLst>
          </p:cNvPr>
          <p:cNvSpPr/>
          <p:nvPr/>
        </p:nvSpPr>
        <p:spPr>
          <a:xfrm>
            <a:off x="8460868" y="5173967"/>
            <a:ext cx="60067" cy="6006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7E1AE18-E395-46FC-B826-4CB755CC23AC}"/>
              </a:ext>
            </a:extLst>
          </p:cNvPr>
          <p:cNvSpPr/>
          <p:nvPr/>
        </p:nvSpPr>
        <p:spPr>
          <a:xfrm>
            <a:off x="9142875" y="5168346"/>
            <a:ext cx="60067" cy="6006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82CE22C-1C47-4F2A-979B-62CF77BDE1CA}"/>
              </a:ext>
            </a:extLst>
          </p:cNvPr>
          <p:cNvSpPr/>
          <p:nvPr/>
        </p:nvSpPr>
        <p:spPr>
          <a:xfrm>
            <a:off x="9884949" y="5168346"/>
            <a:ext cx="60067" cy="6006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43E89F5-DCE4-4EE1-82EF-AE8EC82E30CE}"/>
              </a:ext>
            </a:extLst>
          </p:cNvPr>
          <p:cNvSpPr txBox="1"/>
          <p:nvPr/>
        </p:nvSpPr>
        <p:spPr>
          <a:xfrm>
            <a:off x="7987153" y="5160491"/>
            <a:ext cx="947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2"/>
                </a:solidFill>
              </a:rPr>
              <a:t>Réactifs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A606C90-2A82-4556-8B4B-E29DAF061255}"/>
              </a:ext>
            </a:extLst>
          </p:cNvPr>
          <p:cNvSpPr txBox="1"/>
          <p:nvPr/>
        </p:nvSpPr>
        <p:spPr>
          <a:xfrm>
            <a:off x="8693930" y="4807933"/>
            <a:ext cx="957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92D050"/>
                </a:solidFill>
              </a:rPr>
              <a:t>Substrat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C967065-889A-47B0-888C-1C61C601CC72}"/>
              </a:ext>
            </a:extLst>
          </p:cNvPr>
          <p:cNvSpPr txBox="1"/>
          <p:nvPr/>
        </p:nvSpPr>
        <p:spPr>
          <a:xfrm>
            <a:off x="9535588" y="5245679"/>
            <a:ext cx="202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/>
                </a:solidFill>
              </a:rPr>
              <a:t>Produit commercial</a:t>
            </a:r>
          </a:p>
        </p:txBody>
      </p:sp>
    </p:spTree>
    <p:extLst>
      <p:ext uri="{BB962C8B-B14F-4D97-AF65-F5344CB8AC3E}">
        <p14:creationId xmlns:p14="http://schemas.microsoft.com/office/powerpoint/2010/main" val="2397796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BB9D92-12C0-480A-85EF-47B0A538F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Dosage du diiode dans la </a:t>
            </a:r>
            <a:r>
              <a:rPr lang="fr-FR" dirty="0" err="1"/>
              <a:t>betadine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1C62002-6E67-4F43-9A61-57617088C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53341CE-499E-4237-A8A6-334B654E4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8</a:t>
            </a:fld>
            <a:endParaRPr lang="fr-FR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BF02F236-318C-428D-9839-63FED9F60F2B}"/>
              </a:ext>
            </a:extLst>
          </p:cNvPr>
          <p:cNvGrpSpPr/>
          <p:nvPr/>
        </p:nvGrpSpPr>
        <p:grpSpPr>
          <a:xfrm>
            <a:off x="2370317" y="1539788"/>
            <a:ext cx="7581483" cy="4684105"/>
            <a:chOff x="4013860" y="1544069"/>
            <a:chExt cx="7581483" cy="4684105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AF4820EE-ED62-4662-A8F8-9BDE2CFFD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55308" y="1544069"/>
              <a:ext cx="4940035" cy="468410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ZoneTexte 8">
                  <a:extLst>
                    <a:ext uri="{FF2B5EF4-FFF2-40B4-BE49-F238E27FC236}">
                      <a16:creationId xmlns:a16="http://schemas.microsoft.com/office/drawing/2014/main" id="{6415DB1C-2A2B-4585-963E-D196D8E8355C}"/>
                    </a:ext>
                  </a:extLst>
                </p:cNvPr>
                <p:cNvSpPr txBox="1"/>
                <p:nvPr/>
              </p:nvSpPr>
              <p:spPr>
                <a:xfrm>
                  <a:off x="5444836" y="2049920"/>
                  <a:ext cx="2660840" cy="147732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Sup>
                          <m:sSub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e>
                          <m:sub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2−</m:t>
                            </m:r>
                          </m:sup>
                        </m:sSubSup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aq</m:t>
                            </m:r>
                          </m:e>
                        </m:d>
                      </m:oMath>
                    </m:oMathPara>
                  </a14:m>
                  <a:endParaRPr lang="fr-FR" dirty="0"/>
                </a:p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=5,0</m:t>
                        </m:r>
                        <m:r>
                          <a:rPr lang="fr-F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fr-FR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mol</m:t>
                        </m:r>
                        <m:r>
                          <a:rPr lang="fr-F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</m:t>
                        </m:r>
                      </m:oMath>
                    </m:oMathPara>
                  </a14:m>
                  <a:endParaRPr lang="fr-FR" b="0" dirty="0"/>
                </a:p>
                <a:p>
                  <a:pPr algn="r"/>
                  <a:endParaRPr lang="fr-FR" dirty="0"/>
                </a:p>
                <a:p>
                  <a:pPr algn="r"/>
                  <a:endParaRPr lang="fr-FR" dirty="0"/>
                </a:p>
                <a:p>
                  <a:pPr algn="r"/>
                  <a:endParaRPr lang="fr-FR" dirty="0"/>
                </a:p>
              </p:txBody>
            </p:sp>
          </mc:Choice>
          <mc:Fallback xmlns="">
            <p:sp>
              <p:nvSpPr>
                <p:cNvPr id="9" name="ZoneTexte 8">
                  <a:extLst>
                    <a:ext uri="{FF2B5EF4-FFF2-40B4-BE49-F238E27FC236}">
                      <a16:creationId xmlns:a16="http://schemas.microsoft.com/office/drawing/2014/main" id="{6415DB1C-2A2B-4585-963E-D196D8E835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4836" y="2049920"/>
                  <a:ext cx="2660840" cy="147732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ZoneTexte 9">
                  <a:extLst>
                    <a:ext uri="{FF2B5EF4-FFF2-40B4-BE49-F238E27FC236}">
                      <a16:creationId xmlns:a16="http://schemas.microsoft.com/office/drawing/2014/main" id="{A413A629-0E11-47A9-BEAC-D1C6BC56824F}"/>
                    </a:ext>
                  </a:extLst>
                </p:cNvPr>
                <p:cNvSpPr txBox="1"/>
                <p:nvPr/>
              </p:nvSpPr>
              <p:spPr>
                <a:xfrm>
                  <a:off x="4013860" y="4714549"/>
                  <a:ext cx="3948711" cy="120032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fr-FR" b="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Betadine</a:t>
                  </a:r>
                  <a:r>
                    <a:rPr lang="fr-FR" b="0" dirty="0">
                      <a:latin typeface="Cambria Math" panose="02040503050406030204" pitchFamily="18" charset="0"/>
                    </a:rPr>
                    <a:t> 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aq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fr-FR" b="0" dirty="0">
                    <a:latin typeface="Cambria Math" panose="02040503050406030204" pitchFamily="18" charset="0"/>
                  </a:endParaRPr>
                </a:p>
                <a:p>
                  <a:pPr algn="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=10 </m:t>
                        </m:r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mL</m:t>
                        </m:r>
                      </m:oMath>
                    </m:oMathPara>
                  </a14:m>
                  <a:endParaRPr lang="fr-FR" dirty="0"/>
                </a:p>
                <a:p>
                  <a:pPr algn="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 ?</m:t>
                        </m:r>
                      </m:oMath>
                    </m:oMathPara>
                  </a14:m>
                  <a:endParaRPr lang="fr-FR" b="0" dirty="0"/>
                </a:p>
                <a:p>
                  <a:pPr algn="r"/>
                  <a:r>
                    <a:rPr lang="fr-FR" dirty="0" err="1"/>
                    <a:t>Thiodène</a:t>
                  </a:r>
                  <a:r>
                    <a:rPr lang="fr-FR" dirty="0"/>
                    <a:t> proche de l’équivalence</a:t>
                  </a:r>
                </a:p>
              </p:txBody>
            </p:sp>
          </mc:Choice>
          <mc:Fallback xmlns="">
            <p:sp>
              <p:nvSpPr>
                <p:cNvPr id="10" name="ZoneTexte 9">
                  <a:extLst>
                    <a:ext uri="{FF2B5EF4-FFF2-40B4-BE49-F238E27FC236}">
                      <a16:creationId xmlns:a16="http://schemas.microsoft.com/office/drawing/2014/main" id="{A413A629-0E11-47A9-BEAC-D1C6BC568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3860" y="4714549"/>
                  <a:ext cx="3948711" cy="1200329"/>
                </a:xfrm>
                <a:prstGeom prst="rect">
                  <a:avLst/>
                </a:prstGeom>
                <a:blipFill>
                  <a:blip r:embed="rId4"/>
                  <a:stretch>
                    <a:fillRect t="-4061" r="-1235" b="-710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52208799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1149</TotalTime>
  <Words>200</Words>
  <Application>Microsoft Office PowerPoint</Application>
  <PresentationFormat>Grand écran</PresentationFormat>
  <Paragraphs>71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Rétrospective</vt:lpstr>
      <vt:lpstr>Molécules de la santé</vt:lpstr>
      <vt:lpstr>pH du système digestif</vt:lpstr>
      <vt:lpstr>Synthèse de l’aspirine</vt:lpstr>
      <vt:lpstr>Synthèse et hémisynthèse</vt:lpstr>
      <vt:lpstr>Spectre IR : acide salicylique</vt:lpstr>
      <vt:lpstr>Spectre IR : aspirine</vt:lpstr>
      <vt:lpstr>Chromatographie sur couche mince</vt:lpstr>
      <vt:lpstr>Dosage du diiode dans la betadine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Hugo Roussille</cp:lastModifiedBy>
  <cp:revision>113</cp:revision>
  <dcterms:created xsi:type="dcterms:W3CDTF">2019-04-06T14:18:31Z</dcterms:created>
  <dcterms:modified xsi:type="dcterms:W3CDTF">2019-06-25T20:51:26Z</dcterms:modified>
</cp:coreProperties>
</file>