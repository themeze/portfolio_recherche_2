
<file path=[Content_Types].xml><?xml version="1.0" encoding="utf-8"?>
<Types xmlns="http://schemas.openxmlformats.org/package/2006/content-types">
  <Default Extension="gif" ContentType="image/gif"/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"/>
  </p:notesMasterIdLst>
  <p:sldIdLst>
    <p:sldId id="256" r:id="rId2"/>
    <p:sldId id="276" r:id="rId3"/>
    <p:sldId id="278" r:id="rId4"/>
    <p:sldId id="279" r:id="rId5"/>
    <p:sldId id="287" r:id="rId6"/>
    <p:sldId id="277" r:id="rId7"/>
    <p:sldId id="266" r:id="rId8"/>
    <p:sldId id="281" r:id="rId9"/>
    <p:sldId id="280" r:id="rId10"/>
    <p:sldId id="282" r:id="rId11"/>
    <p:sldId id="288" r:id="rId12"/>
    <p:sldId id="284" r:id="rId13"/>
    <p:sldId id="285" r:id="rId14"/>
    <p:sldId id="283" r:id="rId15"/>
    <p:sldId id="28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2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2F01C-BC14-4F81-87AE-D5D26E359E8E}" type="datetimeFigureOut">
              <a:rPr lang="fr-FR" smtClean="0"/>
              <a:t>16/06/2019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89472F-C389-4AF2-BA24-C1FF8F94A6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3886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B33F-87D8-4BFE-BCBF-731AD622E09E}" type="datetime1">
              <a:rPr lang="fr-FR" smtClean="0"/>
              <a:t>16/06/2019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752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FEB24-1155-4371-B688-DDAD01CF823D}" type="datetime1">
              <a:rPr lang="fr-FR" smtClean="0"/>
              <a:t>16/06/2019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6835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147B3-5A91-453A-92FD-677E850FA3A5}" type="datetime1">
              <a:rPr lang="fr-FR" smtClean="0"/>
              <a:t>16/06/2019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028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6843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460206"/>
            <a:ext cx="4937760" cy="44088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460205"/>
            <a:ext cx="4937760" cy="44088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0384B-D365-439B-B9FB-A10B3FA0B79A}" type="datetime1">
              <a:rPr lang="fr-FR" smtClean="0"/>
              <a:t>16/06/2019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803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7B8B-BEB2-49C1-8BB4-8D396D554AA6}" type="datetime1">
              <a:rPr lang="fr-FR" smtClean="0"/>
              <a:t>16/06/2019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1322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53237-6937-4077-8416-FFF866A41361}" type="datetime1">
              <a:rPr lang="fr-FR" smtClean="0"/>
              <a:t>16/06/2019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9822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CE37A-26D6-4DCD-AF35-3F127425D5BF}" type="datetime1">
              <a:rPr lang="fr-FR" smtClean="0"/>
              <a:t>16/06/2019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055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F45A67E-4DF6-4C8F-B8DA-2D1171F57B74}" type="datetime1">
              <a:rPr lang="fr-FR" smtClean="0"/>
              <a:t>16/06/2019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0199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4F725-0123-4CE3-85B9-619490EE40F6}" type="datetime1">
              <a:rPr lang="fr-FR" smtClean="0"/>
              <a:t>16/06/2019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025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CC754-28B9-41E4-AE10-BE433397311B}" type="datetime1">
              <a:rPr lang="fr-FR" smtClean="0"/>
              <a:t>16/06/2019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9337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81CE-1004-4FD8-A91E-F417EDBE9258}" type="datetime1">
              <a:rPr lang="fr-FR" smtClean="0"/>
              <a:t>16/06/2019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9712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172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28237"/>
            <a:ext cx="10058400" cy="444085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63DEDF1-3E42-46F1-803C-3F81A5B34212}" type="datetime1">
              <a:rPr lang="fr-FR" smtClean="0"/>
              <a:t>16/06/2019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88720" y="1369251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468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jpeg"/><Relationship Id="rId7" Type="http://schemas.openxmlformats.org/officeDocument/2006/relationships/image" Target="../media/image11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gif"/><Relationship Id="rId5" Type="http://schemas.openxmlformats.org/officeDocument/2006/relationships/image" Target="../media/image9.jpe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9.png"/><Relationship Id="rId7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120.png"/><Relationship Id="rId7" Type="http://schemas.openxmlformats.org/officeDocument/2006/relationships/image" Target="../media/image16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40.png"/><Relationship Id="rId4" Type="http://schemas.openxmlformats.org/officeDocument/2006/relationships/image" Target="../media/image13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f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A20284-6E28-4815-81F6-68D3A0402E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Liaisons chimiques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CEC554-AF82-49BC-9FF3-978A8522E9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AGREGATION 2019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1437BC0-A1E8-4D84-AFC7-4F650B5D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108AC17-FBA1-49AF-9262-771D85784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3765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380E08-2344-45FD-9C6E-8B36E400D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Énergies de liaison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A595F7D-80E6-43C3-A944-D267F6DC9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20232CB-8F03-4A39-A4DF-A68D3EFD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2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au 5">
                <a:extLst>
                  <a:ext uri="{FF2B5EF4-FFF2-40B4-BE49-F238E27FC236}">
                    <a16:creationId xmlns:a16="http://schemas.microsoft.com/office/drawing/2014/main" id="{BA9D4A03-A2B0-49CD-BB17-A681313AF1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0899589"/>
                  </p:ext>
                </p:extLst>
              </p:nvPr>
            </p:nvGraphicFramePr>
            <p:xfrm>
              <a:off x="1261612" y="2609479"/>
              <a:ext cx="9729736" cy="254472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32434">
                      <a:extLst>
                        <a:ext uri="{9D8B030D-6E8A-4147-A177-3AD203B41FA5}">
                          <a16:colId xmlns:a16="http://schemas.microsoft.com/office/drawing/2014/main" val="2364848828"/>
                        </a:ext>
                      </a:extLst>
                    </a:gridCol>
                    <a:gridCol w="2432434">
                      <a:extLst>
                        <a:ext uri="{9D8B030D-6E8A-4147-A177-3AD203B41FA5}">
                          <a16:colId xmlns:a16="http://schemas.microsoft.com/office/drawing/2014/main" val="3334876929"/>
                        </a:ext>
                      </a:extLst>
                    </a:gridCol>
                    <a:gridCol w="2432434">
                      <a:extLst>
                        <a:ext uri="{9D8B030D-6E8A-4147-A177-3AD203B41FA5}">
                          <a16:colId xmlns:a16="http://schemas.microsoft.com/office/drawing/2014/main" val="521813260"/>
                        </a:ext>
                      </a:extLst>
                    </a:gridCol>
                    <a:gridCol w="2432434">
                      <a:extLst>
                        <a:ext uri="{9D8B030D-6E8A-4147-A177-3AD203B41FA5}">
                          <a16:colId xmlns:a16="http://schemas.microsoft.com/office/drawing/2014/main" val="842569165"/>
                        </a:ext>
                      </a:extLst>
                    </a:gridCol>
                  </a:tblGrid>
                  <a:tr h="727368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Type de liaison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Exemple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Énergie typique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6207172"/>
                      </a:ext>
                    </a:extLst>
                  </a:tr>
                  <a:tr h="605785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covalente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simple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oMath>
                            </m:oMathPara>
                          </a14:m>
                          <a:endParaRPr lang="fr-FR" sz="2400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300 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kJ</m:t>
                                </m:r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mol</m:t>
                                </m:r>
                              </m:oMath>
                            </m:oMathPara>
                          </a14:m>
                          <a:endParaRPr lang="fr-FR" sz="240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2242848"/>
                      </a:ext>
                    </a:extLst>
                  </a:tr>
                  <a:tr h="605785">
                    <a:tc v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double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O</m:t>
                                </m:r>
                              </m:oMath>
                            </m:oMathPara>
                          </a14:m>
                          <a:endParaRPr lang="fr-FR" sz="2400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600 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kJ</m:t>
                                </m:r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mol</m:t>
                                </m:r>
                              </m:oMath>
                            </m:oMathPara>
                          </a14:m>
                          <a:endParaRPr lang="fr-FR" sz="240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20982344"/>
                      </a:ext>
                    </a:extLst>
                  </a:tr>
                  <a:tr h="605785">
                    <a:tc v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triple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N</m:t>
                                </m:r>
                                <m:r>
                                  <a:rPr lang="fr-FR" sz="240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fr-FR" sz="2400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900 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kJ</m:t>
                                </m:r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mol</m:t>
                                </m:r>
                              </m:oMath>
                            </m:oMathPara>
                          </a14:m>
                          <a:endParaRPr lang="fr-FR" sz="240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593518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au 5">
                <a:extLst>
                  <a:ext uri="{FF2B5EF4-FFF2-40B4-BE49-F238E27FC236}">
                    <a16:creationId xmlns:a16="http://schemas.microsoft.com/office/drawing/2014/main" id="{BA9D4A03-A2B0-49CD-BB17-A681313AF1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0899589"/>
                  </p:ext>
                </p:extLst>
              </p:nvPr>
            </p:nvGraphicFramePr>
            <p:xfrm>
              <a:off x="1261612" y="2609479"/>
              <a:ext cx="9729736" cy="254472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32434">
                      <a:extLst>
                        <a:ext uri="{9D8B030D-6E8A-4147-A177-3AD203B41FA5}">
                          <a16:colId xmlns:a16="http://schemas.microsoft.com/office/drawing/2014/main" val="2364848828"/>
                        </a:ext>
                      </a:extLst>
                    </a:gridCol>
                    <a:gridCol w="2432434">
                      <a:extLst>
                        <a:ext uri="{9D8B030D-6E8A-4147-A177-3AD203B41FA5}">
                          <a16:colId xmlns:a16="http://schemas.microsoft.com/office/drawing/2014/main" val="3334876929"/>
                        </a:ext>
                      </a:extLst>
                    </a:gridCol>
                    <a:gridCol w="2432434">
                      <a:extLst>
                        <a:ext uri="{9D8B030D-6E8A-4147-A177-3AD203B41FA5}">
                          <a16:colId xmlns:a16="http://schemas.microsoft.com/office/drawing/2014/main" val="521813260"/>
                        </a:ext>
                      </a:extLst>
                    </a:gridCol>
                    <a:gridCol w="2432434">
                      <a:extLst>
                        <a:ext uri="{9D8B030D-6E8A-4147-A177-3AD203B41FA5}">
                          <a16:colId xmlns:a16="http://schemas.microsoft.com/office/drawing/2014/main" val="842569165"/>
                        </a:ext>
                      </a:extLst>
                    </a:gridCol>
                  </a:tblGrid>
                  <a:tr h="727368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Type de liaison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Exemple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Énergie typique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6207172"/>
                      </a:ext>
                    </a:extLst>
                  </a:tr>
                  <a:tr h="605785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covalente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simple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120000" r="-100750" b="-209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752" t="-120000" r="-1003" b="-209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2242848"/>
                      </a:ext>
                    </a:extLst>
                  </a:tr>
                  <a:tr h="605785">
                    <a:tc v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double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222222" r="-100750" b="-1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752" t="-222222" r="-1003" b="-1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20982344"/>
                      </a:ext>
                    </a:extLst>
                  </a:tr>
                  <a:tr h="605785">
                    <a:tc v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triple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319000" r="-100750" b="-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752" t="-319000" r="-1003" b="-1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3518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77844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que 23">
            <a:extLst>
              <a:ext uri="{FF2B5EF4-FFF2-40B4-BE49-F238E27FC236}">
                <a16:creationId xmlns:a16="http://schemas.microsoft.com/office/drawing/2014/main" id="{272D2CDC-3C9F-49B2-935E-7718256168E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977" b="4947"/>
          <a:stretch/>
        </p:blipFill>
        <p:spPr>
          <a:xfrm>
            <a:off x="4341628" y="1400911"/>
            <a:ext cx="7620000" cy="491933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1380E08-2344-45FD-9C6E-8B36E400D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Spectroscopie IR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A595F7D-80E6-43C3-A944-D267F6DC9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20232CB-8F03-4A39-A4DF-A68D3EFD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3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C84586B-DED2-4ABD-8401-9B3FA4C8D9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817" y="2001886"/>
            <a:ext cx="3531588" cy="855306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0B05B3D1-4D1A-4EE0-8E95-75D2972BCA50}"/>
              </a:ext>
            </a:extLst>
          </p:cNvPr>
          <p:cNvSpPr txBox="1"/>
          <p:nvPr/>
        </p:nvSpPr>
        <p:spPr>
          <a:xfrm>
            <a:off x="1155404" y="2970028"/>
            <a:ext cx="18004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Butan-1-ol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F8123600-D61B-4B36-BC35-05D7739FEB3A}"/>
                  </a:ext>
                </a:extLst>
              </p:cNvPr>
              <p:cNvSpPr txBox="1"/>
              <p:nvPr/>
            </p:nvSpPr>
            <p:spPr>
              <a:xfrm>
                <a:off x="2232838" y="4919073"/>
                <a:ext cx="1892596" cy="461665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fr-FR" sz="2400" dirty="0"/>
                  <a:t>Liaison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2400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fr-FR" sz="24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fr-FR" sz="2400" b="0" i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F8123600-D61B-4B36-BC35-05D7739FE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2838" y="4919073"/>
                <a:ext cx="1892596" cy="461665"/>
              </a:xfrm>
              <a:prstGeom prst="rect">
                <a:avLst/>
              </a:prstGeom>
              <a:blipFill>
                <a:blip r:embed="rId5"/>
                <a:stretch>
                  <a:fillRect l="-4459" t="-8861" b="-2531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5F911C6C-A3EB-4207-8A6F-5DC2ABDFFBDB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4125434" y="3033823"/>
            <a:ext cx="1628252" cy="2116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79684619-9F8B-4EF5-96AF-FDA0C77136AD}"/>
                  </a:ext>
                </a:extLst>
              </p:cNvPr>
              <p:cNvSpPr txBox="1"/>
              <p:nvPr/>
            </p:nvSpPr>
            <p:spPr>
              <a:xfrm>
                <a:off x="7020557" y="2001886"/>
                <a:ext cx="2024334" cy="461665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fr-FR" sz="2400" dirty="0"/>
                  <a:t>Liaisons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2400">
                        <a:latin typeface="Cambria Math" panose="02040503050406030204" pitchFamily="18" charset="0"/>
                      </a:rPr>
                      <m:t>C</m:t>
                    </m:r>
                    <m:r>
                      <a:rPr lang="fr-FR" sz="24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fr-FR" sz="2400" b="0" i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79684619-9F8B-4EF5-96AF-FDA0C7713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557" y="2001886"/>
                <a:ext cx="2024334" cy="461665"/>
              </a:xfrm>
              <a:prstGeom prst="rect">
                <a:avLst/>
              </a:prstGeom>
              <a:blipFill>
                <a:blip r:embed="rId6"/>
                <a:stretch>
                  <a:fillRect l="-4478" t="-8861" b="-2531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ADC43A33-E58A-41E1-8DE2-8730768F9821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7097234" y="2463551"/>
            <a:ext cx="935490" cy="1930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9D9382E4-A58A-43E3-B356-99B1F7372553}"/>
              </a:ext>
            </a:extLst>
          </p:cNvPr>
          <p:cNvSpPr/>
          <p:nvPr/>
        </p:nvSpPr>
        <p:spPr>
          <a:xfrm>
            <a:off x="9264502" y="1524000"/>
            <a:ext cx="2161954" cy="4264241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AC7AAD37-F470-4AA3-A5AF-5736804D9CD6}"/>
              </a:ext>
            </a:extLst>
          </p:cNvPr>
          <p:cNvSpPr txBox="1"/>
          <p:nvPr/>
        </p:nvSpPr>
        <p:spPr>
          <a:xfrm>
            <a:off x="9518646" y="4942810"/>
            <a:ext cx="1653665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400" dirty="0"/>
              <a:t>Empreinte digitale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1520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380E08-2344-45FD-9C6E-8B36E400D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Synthèse du paracétamol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A595F7D-80E6-43C3-A944-D267F6DC9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20232CB-8F03-4A39-A4DF-A68D3EFD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4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Tableau 20">
                <a:extLst>
                  <a:ext uri="{FF2B5EF4-FFF2-40B4-BE49-F238E27FC236}">
                    <a16:creationId xmlns:a16="http://schemas.microsoft.com/office/drawing/2014/main" id="{2EFD475D-B3BF-4C00-85BB-F9FCB92DB92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8844" y="1272209"/>
              <a:ext cx="11688418" cy="4598977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2385391">
                      <a:extLst>
                        <a:ext uri="{9D8B030D-6E8A-4147-A177-3AD203B41FA5}">
                          <a16:colId xmlns:a16="http://schemas.microsoft.com/office/drawing/2014/main" val="3676508839"/>
                        </a:ext>
                      </a:extLst>
                    </a:gridCol>
                    <a:gridCol w="377687">
                      <a:extLst>
                        <a:ext uri="{9D8B030D-6E8A-4147-A177-3AD203B41FA5}">
                          <a16:colId xmlns:a16="http://schemas.microsoft.com/office/drawing/2014/main" val="3364169271"/>
                        </a:ext>
                      </a:extLst>
                    </a:gridCol>
                    <a:gridCol w="2345635">
                      <a:extLst>
                        <a:ext uri="{9D8B030D-6E8A-4147-A177-3AD203B41FA5}">
                          <a16:colId xmlns:a16="http://schemas.microsoft.com/office/drawing/2014/main" val="460053931"/>
                        </a:ext>
                      </a:extLst>
                    </a:gridCol>
                    <a:gridCol w="1570383">
                      <a:extLst>
                        <a:ext uri="{9D8B030D-6E8A-4147-A177-3AD203B41FA5}">
                          <a16:colId xmlns:a16="http://schemas.microsoft.com/office/drawing/2014/main" val="2498011360"/>
                        </a:ext>
                      </a:extLst>
                    </a:gridCol>
                    <a:gridCol w="2504660">
                      <a:extLst>
                        <a:ext uri="{9D8B030D-6E8A-4147-A177-3AD203B41FA5}">
                          <a16:colId xmlns:a16="http://schemas.microsoft.com/office/drawing/2014/main" val="2579247023"/>
                        </a:ext>
                      </a:extLst>
                    </a:gridCol>
                    <a:gridCol w="626165">
                      <a:extLst>
                        <a:ext uri="{9D8B030D-6E8A-4147-A177-3AD203B41FA5}">
                          <a16:colId xmlns:a16="http://schemas.microsoft.com/office/drawing/2014/main" val="1635373302"/>
                        </a:ext>
                      </a:extLst>
                    </a:gridCol>
                    <a:gridCol w="1878497">
                      <a:extLst>
                        <a:ext uri="{9D8B030D-6E8A-4147-A177-3AD203B41FA5}">
                          <a16:colId xmlns:a16="http://schemas.microsoft.com/office/drawing/2014/main" val="1146037858"/>
                        </a:ext>
                      </a:extLst>
                    </a:gridCol>
                  </a:tblGrid>
                  <a:tr h="2018328"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fr-FR" sz="320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fr-FR" sz="3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200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fr-FR" sz="20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fr-FR" sz="2000" smtClean="0">
                                    <a:latin typeface="Cambria Math" panose="02040503050406030204" pitchFamily="18" charset="0"/>
                                  </a:rPr>
                                  <m:t>O</m:t>
                                </m:r>
                              </m:oMath>
                            </m:oMathPara>
                          </a14:m>
                          <a:endParaRPr lang="fr-FR" sz="2000" dirty="0"/>
                        </a:p>
                        <a:p>
                          <a:pPr algn="ctr"/>
                          <a:endParaRPr lang="fr-FR" dirty="0"/>
                        </a:p>
                        <a:p>
                          <a:pPr algn="ctr"/>
                          <a:r>
                            <a:rPr lang="fr-FR" sz="2000" b="0" dirty="0"/>
                            <a:t>10 min</a:t>
                          </a:r>
                          <a:r>
                            <a:rPr lang="fr-FR" sz="1400" b="0" dirty="0"/>
                            <a:t> </a:t>
                          </a:r>
                          <a:r>
                            <a:rPr lang="fr-FR" sz="2000" b="0" dirty="0"/>
                            <a:t>|</a:t>
                          </a:r>
                          <a:r>
                            <a:rPr lang="fr-FR" sz="1400" b="0" dirty="0"/>
                            <a:t> </a:t>
                          </a:r>
                          <a:r>
                            <a:rPr lang="fr-FR" sz="2000" b="0" dirty="0"/>
                            <a:t>80°C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fr-FR" sz="320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fr-FR" sz="3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402701178"/>
                      </a:ext>
                    </a:extLst>
                  </a:tr>
                  <a:tr h="4719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Para-</a:t>
                          </a:r>
                          <a:r>
                            <a:rPr lang="fr-FR" dirty="0" err="1"/>
                            <a:t>aminophénol</a:t>
                          </a:r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Anhydride acétique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1" dirty="0"/>
                            <a:t>Paracétamol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Acide acétique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89108697"/>
                      </a:ext>
                    </a:extLst>
                  </a:tr>
                  <a:tr h="7330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800" smtClean="0">
                                    <a:latin typeface="Cambria Math" panose="02040503050406030204" pitchFamily="18" charset="0"/>
                                  </a:rPr>
                                  <m:t>5,50 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800" smtClean="0">
                                    <a:latin typeface="Cambria Math" panose="02040503050406030204" pitchFamily="18" charset="0"/>
                                  </a:rPr>
                                  <m:t>g</m:t>
                                </m:r>
                                <m:r>
                                  <a:rPr lang="fr-FR" sz="18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fr-FR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800" smtClean="0">
                                        <a:latin typeface="Cambria Math" panose="02040503050406030204" pitchFamily="18" charset="0"/>
                                      </a:rPr>
                                      <m:t>5,04.10</m:t>
                                    </m:r>
                                  </m:e>
                                  <m:sup>
                                    <m:r>
                                      <a:rPr lang="fr-FR" sz="1800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  <m:r>
                                  <a:rPr lang="fr-FR" sz="18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800" smtClean="0">
                                    <a:latin typeface="Cambria Math" panose="02040503050406030204" pitchFamily="18" charset="0"/>
                                  </a:rPr>
                                  <m:t>mol</m:t>
                                </m:r>
                              </m:oMath>
                            </m:oMathPara>
                          </a14:m>
                          <a:endParaRPr lang="fr-FR" sz="1800" i="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800" smtClean="0">
                                    <a:latin typeface="Cambria Math" panose="02040503050406030204" pitchFamily="18" charset="0"/>
                                  </a:rPr>
                                  <m:t>∼7,0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800" smtClean="0">
                                    <a:latin typeface="Cambria Math" panose="02040503050406030204" pitchFamily="18" charset="0"/>
                                  </a:rPr>
                                  <m:t>mL</m:t>
                                </m:r>
                              </m:oMath>
                            </m:oMathPara>
                          </a14:m>
                          <a:endParaRPr lang="fr-FR" sz="1800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8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fr-FR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800" smtClean="0">
                                        <a:latin typeface="Cambria Math" panose="02040503050406030204" pitchFamily="18" charset="0"/>
                                      </a:rPr>
                                      <m:t>7,4.10</m:t>
                                    </m:r>
                                  </m:e>
                                  <m:sup>
                                    <m:r>
                                      <a:rPr lang="fr-FR" sz="1800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  <m:r>
                                  <a:rPr lang="fr-FR" sz="18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800" smtClean="0">
                                    <a:latin typeface="Cambria Math" panose="02040503050406030204" pitchFamily="18" charset="0"/>
                                  </a:rPr>
                                  <m:t>mol</m:t>
                                </m:r>
                              </m:oMath>
                            </m:oMathPara>
                          </a14:m>
                          <a:endParaRPr lang="fr-FR" sz="1800" i="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482899904"/>
                      </a:ext>
                    </a:extLst>
                  </a:tr>
                  <a:tr h="1375677"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  <a:p>
                          <a:pPr algn="ctr"/>
                          <a:endParaRPr lang="fr-FR" dirty="0"/>
                        </a:p>
                        <a:p>
                          <a:pPr algn="ctr"/>
                          <a:endParaRPr lang="fr-FR" sz="1600" dirty="0"/>
                        </a:p>
                        <a:p>
                          <a:pPr algn="ctr"/>
                          <a:endParaRPr lang="fr-FR" sz="1600" dirty="0"/>
                        </a:p>
                        <a:p>
                          <a:pPr algn="ctr"/>
                          <a:endParaRPr lang="fr-FR" sz="1600" i="1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34421917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Tableau 20">
                <a:extLst>
                  <a:ext uri="{FF2B5EF4-FFF2-40B4-BE49-F238E27FC236}">
                    <a16:creationId xmlns:a16="http://schemas.microsoft.com/office/drawing/2014/main" id="{2EFD475D-B3BF-4C00-85BB-F9FCB92DB92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8844" y="1272209"/>
              <a:ext cx="11688418" cy="4598977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2385391">
                      <a:extLst>
                        <a:ext uri="{9D8B030D-6E8A-4147-A177-3AD203B41FA5}">
                          <a16:colId xmlns:a16="http://schemas.microsoft.com/office/drawing/2014/main" val="3676508839"/>
                        </a:ext>
                      </a:extLst>
                    </a:gridCol>
                    <a:gridCol w="377687">
                      <a:extLst>
                        <a:ext uri="{9D8B030D-6E8A-4147-A177-3AD203B41FA5}">
                          <a16:colId xmlns:a16="http://schemas.microsoft.com/office/drawing/2014/main" val="3364169271"/>
                        </a:ext>
                      </a:extLst>
                    </a:gridCol>
                    <a:gridCol w="2345635">
                      <a:extLst>
                        <a:ext uri="{9D8B030D-6E8A-4147-A177-3AD203B41FA5}">
                          <a16:colId xmlns:a16="http://schemas.microsoft.com/office/drawing/2014/main" val="460053931"/>
                        </a:ext>
                      </a:extLst>
                    </a:gridCol>
                    <a:gridCol w="1570383">
                      <a:extLst>
                        <a:ext uri="{9D8B030D-6E8A-4147-A177-3AD203B41FA5}">
                          <a16:colId xmlns:a16="http://schemas.microsoft.com/office/drawing/2014/main" val="2498011360"/>
                        </a:ext>
                      </a:extLst>
                    </a:gridCol>
                    <a:gridCol w="2504660">
                      <a:extLst>
                        <a:ext uri="{9D8B030D-6E8A-4147-A177-3AD203B41FA5}">
                          <a16:colId xmlns:a16="http://schemas.microsoft.com/office/drawing/2014/main" val="2579247023"/>
                        </a:ext>
                      </a:extLst>
                    </a:gridCol>
                    <a:gridCol w="626165">
                      <a:extLst>
                        <a:ext uri="{9D8B030D-6E8A-4147-A177-3AD203B41FA5}">
                          <a16:colId xmlns:a16="http://schemas.microsoft.com/office/drawing/2014/main" val="1635373302"/>
                        </a:ext>
                      </a:extLst>
                    </a:gridCol>
                    <a:gridCol w="1878497">
                      <a:extLst>
                        <a:ext uri="{9D8B030D-6E8A-4147-A177-3AD203B41FA5}">
                          <a16:colId xmlns:a16="http://schemas.microsoft.com/office/drawing/2014/main" val="1146037858"/>
                        </a:ext>
                      </a:extLst>
                    </a:gridCol>
                  </a:tblGrid>
                  <a:tr h="2018328"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632258" t="-301" r="-2364516" b="-1280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325194" t="-301" r="-318992" b="-1280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1464078" t="-301" r="-300000" b="-1280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402701178"/>
                      </a:ext>
                    </a:extLst>
                  </a:tr>
                  <a:tr h="4719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Para-</a:t>
                          </a:r>
                          <a:r>
                            <a:rPr lang="fr-FR" dirty="0" err="1"/>
                            <a:t>aminophénol</a:t>
                          </a:r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Anhydride acétique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1" dirty="0"/>
                            <a:t>Paracétamol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Acide acétique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89108697"/>
                      </a:ext>
                    </a:extLst>
                  </a:tr>
                  <a:tr h="733025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t="-338843" r="-389796" b="-1876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117922" t="-338843" r="-280779" b="-1876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482899904"/>
                      </a:ext>
                    </a:extLst>
                  </a:tr>
                  <a:tr h="1375677"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  <a:p>
                          <a:pPr algn="ctr"/>
                          <a:endParaRPr lang="fr-FR" dirty="0"/>
                        </a:p>
                        <a:p>
                          <a:pPr algn="ctr"/>
                          <a:endParaRPr lang="fr-FR" sz="1600" dirty="0"/>
                        </a:p>
                        <a:p>
                          <a:pPr algn="ctr"/>
                          <a:endParaRPr lang="fr-FR" sz="1600" dirty="0"/>
                        </a:p>
                        <a:p>
                          <a:pPr algn="ctr"/>
                          <a:endParaRPr lang="fr-FR" sz="1600" i="1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344219178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2" name="Picture 10" descr="RÃ©sultat de recherche d'images pour &quot;anhydride acÃ©tique&quot;">
            <a:extLst>
              <a:ext uri="{FF2B5EF4-FFF2-40B4-BE49-F238E27FC236}">
                <a16:creationId xmlns:a16="http://schemas.microsoft.com/office/drawing/2014/main" id="{E191809D-3BF2-43EB-862A-AD69029D7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4983" y="1678830"/>
            <a:ext cx="2009315" cy="1212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6" descr="RÃ©sultat de recherche d'images pour &quot;acetic acid formula&quot;">
            <a:extLst>
              <a:ext uri="{FF2B5EF4-FFF2-40B4-BE49-F238E27FC236}">
                <a16:creationId xmlns:a16="http://schemas.microsoft.com/office/drawing/2014/main" id="{7AED90E4-E5A4-4332-9598-A1999BA4A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5404" y="1560751"/>
            <a:ext cx="1666030" cy="1434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D3EE9BBA-DBB2-456B-86A7-F4F3CFE5C327}"/>
              </a:ext>
            </a:extLst>
          </p:cNvPr>
          <p:cNvCxnSpPr>
            <a:cxnSpLocks/>
          </p:cNvCxnSpPr>
          <p:nvPr/>
        </p:nvCxnSpPr>
        <p:spPr>
          <a:xfrm>
            <a:off x="5506279" y="2278181"/>
            <a:ext cx="142129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" descr="https://orme-conseil.com/wp-content/uploads/2018/03/Pictogramme-CLP-%C3%A0-t%C3%A9l%C3%A9charger.jpg">
            <a:extLst>
              <a:ext uri="{FF2B5EF4-FFF2-40B4-BE49-F238E27FC236}">
                <a16:creationId xmlns:a16="http://schemas.microsoft.com/office/drawing/2014/main" id="{9D167A0B-C667-48DB-868D-502C200C64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9" t="64495" r="68137" b="8166"/>
          <a:stretch/>
        </p:blipFill>
        <p:spPr bwMode="auto">
          <a:xfrm>
            <a:off x="1485350" y="4887843"/>
            <a:ext cx="927081" cy="939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https://orme-conseil.com/wp-content/uploads/2018/03/Pictogramme-CLP-%C3%A0-t%C3%A9l%C3%A9charger.jpg">
            <a:extLst>
              <a:ext uri="{FF2B5EF4-FFF2-40B4-BE49-F238E27FC236}">
                <a16:creationId xmlns:a16="http://schemas.microsoft.com/office/drawing/2014/main" id="{B7C94965-99FF-4799-8AB4-9A62F51975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9" t="64495" r="68137" b="8166"/>
          <a:stretch/>
        </p:blipFill>
        <p:spPr bwMode="auto">
          <a:xfrm>
            <a:off x="3215810" y="4906987"/>
            <a:ext cx="927081" cy="939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https://orme-conseil.com/wp-content/uploads/2018/03/Pictogramme-CLP-%C3%A0-t%C3%A9l%C3%A9charger.jpg">
            <a:extLst>
              <a:ext uri="{FF2B5EF4-FFF2-40B4-BE49-F238E27FC236}">
                <a16:creationId xmlns:a16="http://schemas.microsoft.com/office/drawing/2014/main" id="{6A3B3219-EF83-4158-AAAB-0BB34806DF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69" t="32261" r="35597" b="40400"/>
          <a:stretch/>
        </p:blipFill>
        <p:spPr bwMode="auto">
          <a:xfrm>
            <a:off x="3604726" y="4485767"/>
            <a:ext cx="953587" cy="939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https://orme-conseil.com/wp-content/uploads/2018/03/Pictogramme-CLP-%C3%A0-t%C3%A9l%C3%A9charger.jpg">
            <a:extLst>
              <a:ext uri="{FF2B5EF4-FFF2-40B4-BE49-F238E27FC236}">
                <a16:creationId xmlns:a16="http://schemas.microsoft.com/office/drawing/2014/main" id="{611EFE78-345C-41EB-8572-DFB0904C9B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69" t="1834" r="35597" b="72176"/>
          <a:stretch/>
        </p:blipFill>
        <p:spPr bwMode="auto">
          <a:xfrm>
            <a:off x="4040027" y="4971746"/>
            <a:ext cx="953587" cy="892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15" descr="Image associÃ©e">
            <a:extLst>
              <a:ext uri="{FF2B5EF4-FFF2-40B4-BE49-F238E27FC236}">
                <a16:creationId xmlns:a16="http://schemas.microsoft.com/office/drawing/2014/main" id="{07683716-8BDD-429D-A07B-FA7E0AF4D0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0458" y="4713601"/>
            <a:ext cx="884609" cy="884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17" descr="Image associÃ©e">
            <a:extLst>
              <a:ext uri="{FF2B5EF4-FFF2-40B4-BE49-F238E27FC236}">
                <a16:creationId xmlns:a16="http://schemas.microsoft.com/office/drawing/2014/main" id="{DC9269F2-F918-4494-BCD7-B4B99AC31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8860" y="4706162"/>
            <a:ext cx="884609" cy="884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RÃ©sultat de recherche d'images pour &quot;para-aminophÃ©nol&quot;">
            <a:extLst>
              <a:ext uri="{FF2B5EF4-FFF2-40B4-BE49-F238E27FC236}">
                <a16:creationId xmlns:a16="http://schemas.microsoft.com/office/drawing/2014/main" id="{07E5E91A-C6F2-4277-BA45-2BCC78EE6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44" y="1620778"/>
            <a:ext cx="2496465" cy="1314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4" descr="RÃ©sultat de recherche d'images pour &quot;paracÃ©tamol&quot;">
            <a:extLst>
              <a:ext uri="{FF2B5EF4-FFF2-40B4-BE49-F238E27FC236}">
                <a16:creationId xmlns:a16="http://schemas.microsoft.com/office/drawing/2014/main" id="{A0BE707C-6822-4F39-B4BC-2EFBB587C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8031" y="1502283"/>
            <a:ext cx="2891545" cy="1551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https://orme-conseil.com/wp-content/uploads/2018/03/Pictogramme-CLP-%C3%A0-t%C3%A9l%C3%A9charger.jpg">
            <a:extLst>
              <a:ext uri="{FF2B5EF4-FFF2-40B4-BE49-F238E27FC236}">
                <a16:creationId xmlns:a16="http://schemas.microsoft.com/office/drawing/2014/main" id="{5AB12557-AECD-438F-89BC-4F1204E7BA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9" t="64495" r="68137" b="8166"/>
          <a:stretch/>
        </p:blipFill>
        <p:spPr bwMode="auto">
          <a:xfrm>
            <a:off x="7881182" y="4658963"/>
            <a:ext cx="927081" cy="939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F3E0D3D2-9E03-4838-9B03-1B72E804F9A2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5795" y="4535094"/>
            <a:ext cx="774616" cy="778074"/>
          </a:xfrm>
          <a:prstGeom prst="rect">
            <a:avLst/>
          </a:prstGeom>
        </p:spPr>
      </p:pic>
      <p:pic>
        <p:nvPicPr>
          <p:cNvPr id="35" name="Picture 2" descr="https://orme-conseil.com/wp-content/uploads/2018/03/Pictogramme-CLP-%C3%A0-t%C3%A9l%C3%A9charger.jpg">
            <a:extLst>
              <a:ext uri="{FF2B5EF4-FFF2-40B4-BE49-F238E27FC236}">
                <a16:creationId xmlns:a16="http://schemas.microsoft.com/office/drawing/2014/main" id="{A4DD535B-08FF-4314-8543-C9EE4EC511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41" t="64495" r="1919" b="8166"/>
          <a:stretch/>
        </p:blipFill>
        <p:spPr bwMode="auto">
          <a:xfrm>
            <a:off x="488125" y="4862184"/>
            <a:ext cx="1066665" cy="939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45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E02D43-39A7-4ABE-832F-281A40E84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Spectre infrarouge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EE5ABC9-4E60-4C87-9AA7-9CF460367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5</a:t>
            </a:fld>
            <a:endParaRPr lang="fr-FR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045F6C7A-7F7A-4581-B30D-5D89A643DA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224" b="21806"/>
          <a:stretch/>
        </p:blipFill>
        <p:spPr>
          <a:xfrm>
            <a:off x="1197997" y="1308084"/>
            <a:ext cx="9796006" cy="4695151"/>
          </a:xfrm>
          <a:prstGeom prst="rect">
            <a:avLst/>
          </a:prstGeom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E0501C4A-7FD3-426E-84E4-3F4687576FB2}"/>
              </a:ext>
            </a:extLst>
          </p:cNvPr>
          <p:cNvSpPr txBox="1"/>
          <p:nvPr/>
        </p:nvSpPr>
        <p:spPr>
          <a:xfrm rot="16200000">
            <a:off x="241307" y="3591561"/>
            <a:ext cx="1855380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Transmittance (%)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91CBD6FD-A919-4853-BE6F-F0B62AFC21FA}"/>
                  </a:ext>
                </a:extLst>
              </p:cNvPr>
              <p:cNvSpPr txBox="1"/>
              <p:nvPr/>
            </p:nvSpPr>
            <p:spPr>
              <a:xfrm>
                <a:off x="5319736" y="5968661"/>
                <a:ext cx="226151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Nombre d’onde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sz="16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m</m:t>
                        </m:r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91CBD6FD-A919-4853-BE6F-F0B62AFC2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736" y="5968661"/>
                <a:ext cx="2261517" cy="338554"/>
              </a:xfrm>
              <a:prstGeom prst="rect">
                <a:avLst/>
              </a:prstGeom>
              <a:blipFill>
                <a:blip r:embed="rId3"/>
                <a:stretch>
                  <a:fillRect l="-1617" t="-5357" b="-2142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4" descr="RÃ©sultat de recherche d'images pour &quot;paracÃ©tamol&quot;">
            <a:extLst>
              <a:ext uri="{FF2B5EF4-FFF2-40B4-BE49-F238E27FC236}">
                <a16:creationId xmlns:a16="http://schemas.microsoft.com/office/drawing/2014/main" id="{2D676C49-65EE-49E6-862D-1417A4D5A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2349" y="82658"/>
            <a:ext cx="2099460" cy="1126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Espace réservé du pied de page 3">
            <a:extLst>
              <a:ext uri="{FF2B5EF4-FFF2-40B4-BE49-F238E27FC236}">
                <a16:creationId xmlns:a16="http://schemas.microsoft.com/office/drawing/2014/main" id="{CA0954D2-21CD-40E0-AAF8-61E0D6D43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0092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E02D43-39A7-4ABE-832F-281A40E84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Spectre infrarouge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EE5ABC9-4E60-4C87-9AA7-9CF460367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6</a:t>
            </a:fld>
            <a:endParaRPr lang="fr-FR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045F6C7A-7F7A-4581-B30D-5D89A643DA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224" b="21806"/>
          <a:stretch/>
        </p:blipFill>
        <p:spPr>
          <a:xfrm>
            <a:off x="1197997" y="1308084"/>
            <a:ext cx="9796006" cy="469515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73B12B5-478A-46AE-9234-263E79194918}"/>
              </a:ext>
            </a:extLst>
          </p:cNvPr>
          <p:cNvSpPr/>
          <p:nvPr/>
        </p:nvSpPr>
        <p:spPr>
          <a:xfrm>
            <a:off x="6927574" y="1381538"/>
            <a:ext cx="4066429" cy="4422913"/>
          </a:xfrm>
          <a:prstGeom prst="rect">
            <a:avLst/>
          </a:prstGeom>
          <a:solidFill>
            <a:schemeClr val="bg2">
              <a:lumMod val="75000"/>
              <a:alpha val="30196"/>
            </a:schemeClr>
          </a:solidFill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endParaRPr lang="fr-FR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endParaRPr lang="fr-FR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endParaRPr lang="fr-FR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endParaRPr lang="fr-FR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endParaRPr lang="fr-FR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endParaRPr lang="fr-FR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r>
              <a:rPr lang="fr-FR" sz="2000" b="1" dirty="0">
                <a:solidFill>
                  <a:schemeClr val="accent5">
                    <a:lumMod val="50000"/>
                  </a:schemeClr>
                </a:solidFill>
              </a:rPr>
              <a:t>Empreinte digitale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0501C4A-7FD3-426E-84E4-3F4687576FB2}"/>
              </a:ext>
            </a:extLst>
          </p:cNvPr>
          <p:cNvSpPr txBox="1"/>
          <p:nvPr/>
        </p:nvSpPr>
        <p:spPr>
          <a:xfrm rot="16200000">
            <a:off x="241307" y="3591561"/>
            <a:ext cx="1855380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Transmittance (%)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91CBD6FD-A919-4853-BE6F-F0B62AFC21FA}"/>
                  </a:ext>
                </a:extLst>
              </p:cNvPr>
              <p:cNvSpPr txBox="1"/>
              <p:nvPr/>
            </p:nvSpPr>
            <p:spPr>
              <a:xfrm>
                <a:off x="5319736" y="5968661"/>
                <a:ext cx="226151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Nombre d’onde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sz="16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m</m:t>
                        </m:r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91CBD6FD-A919-4853-BE6F-F0B62AFC2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736" y="5968661"/>
                <a:ext cx="2261517" cy="338554"/>
              </a:xfrm>
              <a:prstGeom prst="rect">
                <a:avLst/>
              </a:prstGeom>
              <a:blipFill>
                <a:blip r:embed="rId3"/>
                <a:stretch>
                  <a:fillRect l="-1617" t="-5357" b="-2142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8EAAB277-D9B2-4F45-BC64-6F4944747CF0}"/>
              </a:ext>
            </a:extLst>
          </p:cNvPr>
          <p:cNvSpPr/>
          <p:nvPr/>
        </p:nvSpPr>
        <p:spPr>
          <a:xfrm>
            <a:off x="1623391" y="1381538"/>
            <a:ext cx="5304183" cy="442291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r>
              <a:rPr lang="fr-FR" sz="2000" b="1" dirty="0">
                <a:solidFill>
                  <a:srgbClr val="C00000"/>
                </a:solidFill>
              </a:rPr>
              <a:t>Bandes caractéristiques</a:t>
            </a:r>
          </a:p>
        </p:txBody>
      </p:sp>
      <p:pic>
        <p:nvPicPr>
          <p:cNvPr id="28" name="Picture 4" descr="RÃ©sultat de recherche d'images pour &quot;paracÃ©tamol&quot;">
            <a:extLst>
              <a:ext uri="{FF2B5EF4-FFF2-40B4-BE49-F238E27FC236}">
                <a16:creationId xmlns:a16="http://schemas.microsoft.com/office/drawing/2014/main" id="{A9B82F87-08A5-45E0-B32E-4245DAD18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2349" y="82658"/>
            <a:ext cx="2099460" cy="1126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Espace réservé du pied de page 3">
            <a:extLst>
              <a:ext uri="{FF2B5EF4-FFF2-40B4-BE49-F238E27FC236}">
                <a16:creationId xmlns:a16="http://schemas.microsoft.com/office/drawing/2014/main" id="{01C05178-BCE7-41CB-A473-DFB3743EE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60992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E02D43-39A7-4ABE-832F-281A40E84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Spectre IR : paracétamol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EE5ABC9-4E60-4C87-9AA7-9CF460367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7</a:t>
            </a:fld>
            <a:endParaRPr lang="fr-FR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045F6C7A-7F7A-4581-B30D-5D89A643DA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224" b="21806"/>
          <a:stretch/>
        </p:blipFill>
        <p:spPr>
          <a:xfrm>
            <a:off x="1197997" y="1308084"/>
            <a:ext cx="9796006" cy="469515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73B12B5-478A-46AE-9234-263E79194918}"/>
              </a:ext>
            </a:extLst>
          </p:cNvPr>
          <p:cNvSpPr/>
          <p:nvPr/>
        </p:nvSpPr>
        <p:spPr>
          <a:xfrm>
            <a:off x="6927574" y="1381538"/>
            <a:ext cx="4066429" cy="4422913"/>
          </a:xfrm>
          <a:prstGeom prst="rect">
            <a:avLst/>
          </a:prstGeom>
          <a:solidFill>
            <a:schemeClr val="bg1">
              <a:lumMod val="85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556E1B36-4352-4E8C-B760-476FE4BE2B91}"/>
                  </a:ext>
                </a:extLst>
              </p:cNvPr>
              <p:cNvSpPr txBox="1"/>
              <p:nvPr/>
            </p:nvSpPr>
            <p:spPr>
              <a:xfrm>
                <a:off x="1666266" y="4620458"/>
                <a:ext cx="2130482" cy="892552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FR" sz="16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 : 3300 - 3500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a:rPr lang="fr-F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fr-FR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r>
                  <a:rPr lang="fr-FR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(amide)</a:t>
                </a:r>
              </a:p>
            </p:txBody>
          </p:sp>
        </mc:Choice>
        <mc:Fallback xmlns="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556E1B36-4352-4E8C-B760-476FE4BE2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266" y="4620458"/>
                <a:ext cx="2130482" cy="892552"/>
              </a:xfrm>
              <a:prstGeom prst="rect">
                <a:avLst/>
              </a:prstGeom>
              <a:blipFill>
                <a:blip r:embed="rId3"/>
                <a:stretch>
                  <a:fillRect l="-845" t="-1325" b="-7285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Ellipse 17">
            <a:extLst>
              <a:ext uri="{FF2B5EF4-FFF2-40B4-BE49-F238E27FC236}">
                <a16:creationId xmlns:a16="http://schemas.microsoft.com/office/drawing/2014/main" id="{B60E797F-6A6B-4D2A-80F5-6D776A23A496}"/>
              </a:ext>
            </a:extLst>
          </p:cNvPr>
          <p:cNvSpPr/>
          <p:nvPr/>
        </p:nvSpPr>
        <p:spPr>
          <a:xfrm>
            <a:off x="2738369" y="2646397"/>
            <a:ext cx="173796" cy="1893194"/>
          </a:xfrm>
          <a:prstGeom prst="ellipse">
            <a:avLst/>
          </a:prstGeom>
          <a:solidFill>
            <a:srgbClr val="FF0000">
              <a:alpha val="30196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31ADBB69-103B-4391-9516-45F3E53F89EE}"/>
                  </a:ext>
                </a:extLst>
              </p:cNvPr>
              <p:cNvSpPr txBox="1"/>
              <p:nvPr/>
            </p:nvSpPr>
            <p:spPr>
              <a:xfrm>
                <a:off x="3550066" y="2454221"/>
                <a:ext cx="2171839" cy="615553"/>
              </a:xfrm>
              <a:prstGeom prst="rect">
                <a:avLst/>
              </a:prstGeom>
              <a:noFill/>
              <a:ln w="28575">
                <a:solidFill>
                  <a:srgbClr val="92D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FR" sz="1600" b="0" i="1" dirty="0">
                    <a:latin typeface="Cambria Math" panose="02040503050406030204" pitchFamily="18" charset="0"/>
                  </a:rPr>
                  <a:t>Position : </a:t>
                </a:r>
                <a:r>
                  <a:rPr lang="fr-FR" sz="1600" i="1" dirty="0">
                    <a:latin typeface="Cambria Math" panose="02040503050406030204" pitchFamily="18" charset="0"/>
                  </a:rPr>
                  <a:t>30</a:t>
                </a:r>
                <a:r>
                  <a:rPr lang="fr-FR" sz="1600" b="0" i="1" dirty="0">
                    <a:latin typeface="Cambria Math" panose="02040503050406030204" pitchFamily="18" charset="0"/>
                  </a:rPr>
                  <a:t>00 – 3200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31ADBB69-103B-4391-9516-45F3E53F8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0066" y="2454221"/>
                <a:ext cx="2171839" cy="615553"/>
              </a:xfrm>
              <a:prstGeom prst="rect">
                <a:avLst/>
              </a:prstGeom>
              <a:blipFill>
                <a:blip r:embed="rId4"/>
                <a:stretch>
                  <a:fillRect l="-829" t="-1887"/>
                </a:stretch>
              </a:blipFill>
              <a:ln w="28575">
                <a:solidFill>
                  <a:srgbClr val="92D05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Ellipse 19">
            <a:extLst>
              <a:ext uri="{FF2B5EF4-FFF2-40B4-BE49-F238E27FC236}">
                <a16:creationId xmlns:a16="http://schemas.microsoft.com/office/drawing/2014/main" id="{698DF5B9-E024-4855-B338-07DF070125DF}"/>
              </a:ext>
            </a:extLst>
          </p:cNvPr>
          <p:cNvSpPr/>
          <p:nvPr/>
        </p:nvSpPr>
        <p:spPr>
          <a:xfrm>
            <a:off x="2951920" y="2355574"/>
            <a:ext cx="427383" cy="2156336"/>
          </a:xfrm>
          <a:prstGeom prst="ellipse">
            <a:avLst/>
          </a:prstGeom>
          <a:solidFill>
            <a:srgbClr val="92D050">
              <a:alpha val="30196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FA16AC5F-1024-4C7C-80BC-EDA19F0F239A}"/>
                  </a:ext>
                </a:extLst>
              </p:cNvPr>
              <p:cNvSpPr txBox="1"/>
              <p:nvPr/>
            </p:nvSpPr>
            <p:spPr>
              <a:xfrm>
                <a:off x="4079406" y="4879213"/>
                <a:ext cx="2171839" cy="615553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FR" sz="1600" b="0" i="1" dirty="0">
                    <a:latin typeface="Cambria Math" panose="02040503050406030204" pitchFamily="18" charset="0"/>
                  </a:rPr>
                  <a:t>Position : 1650 - 1700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O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FA16AC5F-1024-4C7C-80BC-EDA19F0F2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9406" y="4879213"/>
                <a:ext cx="2171839" cy="615553"/>
              </a:xfrm>
              <a:prstGeom prst="rect">
                <a:avLst/>
              </a:prstGeom>
              <a:blipFill>
                <a:blip r:embed="rId5"/>
                <a:stretch>
                  <a:fillRect l="-831" t="-1887"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Ellipse 21">
            <a:extLst>
              <a:ext uri="{FF2B5EF4-FFF2-40B4-BE49-F238E27FC236}">
                <a16:creationId xmlns:a16="http://schemas.microsoft.com/office/drawing/2014/main" id="{399CA056-6A73-4F49-BC14-1AA2BC86DC64}"/>
              </a:ext>
            </a:extLst>
          </p:cNvPr>
          <p:cNvSpPr/>
          <p:nvPr/>
        </p:nvSpPr>
        <p:spPr>
          <a:xfrm>
            <a:off x="6331226" y="2107096"/>
            <a:ext cx="238539" cy="3652135"/>
          </a:xfrm>
          <a:prstGeom prst="ellipse">
            <a:avLst/>
          </a:prstGeom>
          <a:solidFill>
            <a:srgbClr val="1CADE4">
              <a:alpha val="30196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9E816F4F-B0E0-404F-93C2-0AA1E5CDA114}"/>
              </a:ext>
            </a:extLst>
          </p:cNvPr>
          <p:cNvSpPr/>
          <p:nvPr/>
        </p:nvSpPr>
        <p:spPr>
          <a:xfrm>
            <a:off x="6555995" y="2107096"/>
            <a:ext cx="335135" cy="3187045"/>
          </a:xfrm>
          <a:prstGeom prst="ellipse">
            <a:avLst/>
          </a:prstGeom>
          <a:solidFill>
            <a:srgbClr val="7030A0">
              <a:alpha val="30196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09C54FDF-1305-458F-9076-13CD4B204714}"/>
                  </a:ext>
                </a:extLst>
              </p:cNvPr>
              <p:cNvSpPr txBox="1"/>
              <p:nvPr/>
            </p:nvSpPr>
            <p:spPr>
              <a:xfrm>
                <a:off x="7006568" y="4688528"/>
                <a:ext cx="1660353" cy="886205"/>
              </a:xfrm>
              <a:prstGeom prst="rect">
                <a:avLst/>
              </a:prstGeom>
              <a:noFill/>
              <a:ln w="28575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FR" sz="1600" b="0" i="1" dirty="0">
                    <a:latin typeface="Cambria Math" panose="02040503050406030204" pitchFamily="18" charset="0"/>
                  </a:rPr>
                  <a:t>Position :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∼</m:t>
                    </m:r>
                  </m:oMath>
                </a14:m>
                <a:r>
                  <a:rPr lang="fr-FR" sz="1600" b="0" i="1" dirty="0">
                    <a:latin typeface="Cambria Math" panose="02040503050406030204" pitchFamily="18" charset="0"/>
                  </a:rPr>
                  <a:t>1600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b="0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(+ </m:t>
                    </m:r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1600" dirty="0"/>
                  <a:t> </a:t>
                </a:r>
              </a:p>
            </p:txBody>
          </p:sp>
        </mc:Choice>
        <mc:Fallback xmlns="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09C54FDF-1305-458F-9076-13CD4B204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6568" y="4688528"/>
                <a:ext cx="1660353" cy="886205"/>
              </a:xfrm>
              <a:prstGeom prst="rect">
                <a:avLst/>
              </a:prstGeom>
              <a:blipFill>
                <a:blip r:embed="rId6"/>
                <a:stretch>
                  <a:fillRect l="-1079" t="-1333"/>
                </a:stretch>
              </a:blipFill>
              <a:ln w="28575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ZoneTexte 24">
            <a:extLst>
              <a:ext uri="{FF2B5EF4-FFF2-40B4-BE49-F238E27FC236}">
                <a16:creationId xmlns:a16="http://schemas.microsoft.com/office/drawing/2014/main" id="{E0501C4A-7FD3-426E-84E4-3F4687576FB2}"/>
              </a:ext>
            </a:extLst>
          </p:cNvPr>
          <p:cNvSpPr txBox="1"/>
          <p:nvPr/>
        </p:nvSpPr>
        <p:spPr>
          <a:xfrm rot="16200000">
            <a:off x="241307" y="3591561"/>
            <a:ext cx="1855380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Transmittance (%)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91CBD6FD-A919-4853-BE6F-F0B62AFC21FA}"/>
                  </a:ext>
                </a:extLst>
              </p:cNvPr>
              <p:cNvSpPr txBox="1"/>
              <p:nvPr/>
            </p:nvSpPr>
            <p:spPr>
              <a:xfrm>
                <a:off x="5319736" y="5968661"/>
                <a:ext cx="226151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Nombre d’onde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sz="16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m</m:t>
                        </m:r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91CBD6FD-A919-4853-BE6F-F0B62AFC2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736" y="5968661"/>
                <a:ext cx="2261517" cy="338554"/>
              </a:xfrm>
              <a:prstGeom prst="rect">
                <a:avLst/>
              </a:prstGeom>
              <a:blipFill>
                <a:blip r:embed="rId7"/>
                <a:stretch>
                  <a:fillRect l="-1617" t="-5357" b="-2142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Picture 4" descr="RÃ©sultat de recherche d'images pour &quot;paracÃ©tamol&quot;">
            <a:extLst>
              <a:ext uri="{FF2B5EF4-FFF2-40B4-BE49-F238E27FC236}">
                <a16:creationId xmlns:a16="http://schemas.microsoft.com/office/drawing/2014/main" id="{08E193AA-7AF1-4F1F-AEC8-A456D04F91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2349" y="82658"/>
            <a:ext cx="2099460" cy="1126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Espace réservé du pied de page 3">
            <a:extLst>
              <a:ext uri="{FF2B5EF4-FFF2-40B4-BE49-F238E27FC236}">
                <a16:creationId xmlns:a16="http://schemas.microsoft.com/office/drawing/2014/main" id="{FAED70E8-4B81-495D-BBD7-726BE8F52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6593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EA5207-0A19-4090-8529-DC62722F9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Sites donneurs et accepteurs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31EE26-FC00-4865-A52C-F2E2CD775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800" b="1" dirty="0"/>
              <a:t>Site donneur de doublet d’électrons </a:t>
            </a:r>
            <a:r>
              <a:rPr lang="fr-FR" sz="2800" dirty="0"/>
              <a:t>(nucléophile) : </a:t>
            </a:r>
          </a:p>
          <a:p>
            <a:pPr lvl="1"/>
            <a:r>
              <a:rPr lang="fr-FR" sz="2400" dirty="0"/>
              <a:t>Atome porteur de doublet non liant</a:t>
            </a:r>
          </a:p>
          <a:p>
            <a:pPr lvl="1"/>
            <a:r>
              <a:rPr lang="fr-FR" sz="2400" dirty="0"/>
              <a:t>Atome porteur d’une charge négative (potentiellement partielle)</a:t>
            </a:r>
          </a:p>
          <a:p>
            <a:pPr lvl="1"/>
            <a:r>
              <a:rPr lang="fr-FR" sz="2400" dirty="0"/>
              <a:t>Liaison multiple</a:t>
            </a:r>
          </a:p>
          <a:p>
            <a:r>
              <a:rPr lang="fr-FR" sz="2800" b="1" dirty="0"/>
              <a:t>Site accepteur de doublet d’électrons </a:t>
            </a:r>
            <a:r>
              <a:rPr lang="fr-FR" sz="2800" dirty="0"/>
              <a:t>(électrophile) : </a:t>
            </a:r>
          </a:p>
          <a:p>
            <a:pPr lvl="1"/>
            <a:r>
              <a:rPr lang="fr-FR" sz="2400" dirty="0"/>
              <a:t>Atome porteur d’une charge positive (potentiellement partielle)</a:t>
            </a:r>
          </a:p>
          <a:p>
            <a:endParaRPr lang="fr-FR" sz="280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B88C98C-57DE-43B5-A863-FCFC5F8EC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2245393-5948-4D74-991A-58FBF0C6A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249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380E08-2344-45FD-9C6E-8B36E400D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Synthèse du paracétamol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A595F7D-80E6-43C3-A944-D267F6DC9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20232CB-8F03-4A39-A4DF-A68D3EFD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9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99811F3-45FE-4433-A291-60068921EDD5}"/>
              </a:ext>
            </a:extLst>
          </p:cNvPr>
          <p:cNvSpPr txBox="1"/>
          <p:nvPr/>
        </p:nvSpPr>
        <p:spPr>
          <a:xfrm>
            <a:off x="2197395" y="1630325"/>
            <a:ext cx="545805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5400" kern="1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5398431-AA8F-4DF4-A393-9A12CA929DC4}"/>
              </a:ext>
            </a:extLst>
          </p:cNvPr>
          <p:cNvSpPr txBox="1"/>
          <p:nvPr/>
        </p:nvSpPr>
        <p:spPr>
          <a:xfrm>
            <a:off x="2197395" y="3370115"/>
            <a:ext cx="545805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5400" kern="1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46B0741-B41F-4A4F-89DF-0B45FBE2BF8C}"/>
              </a:ext>
            </a:extLst>
          </p:cNvPr>
          <p:cNvSpPr txBox="1"/>
          <p:nvPr/>
        </p:nvSpPr>
        <p:spPr>
          <a:xfrm>
            <a:off x="2197394" y="5109905"/>
            <a:ext cx="545805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5400" kern="1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rPr>
              <a:t>3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DEED89C-747E-4C9B-BD00-EC9AE913F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499" y="1182519"/>
            <a:ext cx="7542797" cy="515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097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380E08-2344-45FD-9C6E-8B36E400D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Énergies de liaison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A595F7D-80E6-43C3-A944-D267F6DC9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20232CB-8F03-4A39-A4DF-A68D3EFD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10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au 5">
                <a:extLst>
                  <a:ext uri="{FF2B5EF4-FFF2-40B4-BE49-F238E27FC236}">
                    <a16:creationId xmlns:a16="http://schemas.microsoft.com/office/drawing/2014/main" id="{BA9D4A03-A2B0-49CD-BB17-A681313AF1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4944228"/>
                  </p:ext>
                </p:extLst>
              </p:nvPr>
            </p:nvGraphicFramePr>
            <p:xfrm>
              <a:off x="1006488" y="2120381"/>
              <a:ext cx="10179024" cy="31505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44756">
                      <a:extLst>
                        <a:ext uri="{9D8B030D-6E8A-4147-A177-3AD203B41FA5}">
                          <a16:colId xmlns:a16="http://schemas.microsoft.com/office/drawing/2014/main" val="2364848828"/>
                        </a:ext>
                      </a:extLst>
                    </a:gridCol>
                    <a:gridCol w="2544756">
                      <a:extLst>
                        <a:ext uri="{9D8B030D-6E8A-4147-A177-3AD203B41FA5}">
                          <a16:colId xmlns:a16="http://schemas.microsoft.com/office/drawing/2014/main" val="3334876929"/>
                        </a:ext>
                      </a:extLst>
                    </a:gridCol>
                    <a:gridCol w="2261249">
                      <a:extLst>
                        <a:ext uri="{9D8B030D-6E8A-4147-A177-3AD203B41FA5}">
                          <a16:colId xmlns:a16="http://schemas.microsoft.com/office/drawing/2014/main" val="521813260"/>
                        </a:ext>
                      </a:extLst>
                    </a:gridCol>
                    <a:gridCol w="2828263">
                      <a:extLst>
                        <a:ext uri="{9D8B030D-6E8A-4147-A177-3AD203B41FA5}">
                          <a16:colId xmlns:a16="http://schemas.microsoft.com/office/drawing/2014/main" val="842569165"/>
                        </a:ext>
                      </a:extLst>
                    </a:gridCol>
                  </a:tblGrid>
                  <a:tr h="727368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Type de liaison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Exemple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Énergie typique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6207172"/>
                      </a:ext>
                    </a:extLst>
                  </a:tr>
                  <a:tr h="605785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covalente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simple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oMath>
                            </m:oMathPara>
                          </a14:m>
                          <a:endParaRPr lang="fr-FR" sz="2400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300 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kJ</m:t>
                                </m:r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mol</m:t>
                                </m:r>
                              </m:oMath>
                            </m:oMathPara>
                          </a14:m>
                          <a:endParaRPr lang="fr-FR" sz="240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2242848"/>
                      </a:ext>
                    </a:extLst>
                  </a:tr>
                  <a:tr h="605785">
                    <a:tc v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double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O</m:t>
                                </m:r>
                              </m:oMath>
                            </m:oMathPara>
                          </a14:m>
                          <a:endParaRPr lang="fr-FR" sz="2400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600 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kJ</m:t>
                                </m:r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mol</m:t>
                                </m:r>
                              </m:oMath>
                            </m:oMathPara>
                          </a14:m>
                          <a:endParaRPr lang="fr-FR" sz="240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20982344"/>
                      </a:ext>
                    </a:extLst>
                  </a:tr>
                  <a:tr h="605785">
                    <a:tc v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triple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N</m:t>
                                </m:r>
                                <m:r>
                                  <a:rPr lang="fr-FR" sz="240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fr-FR" sz="2400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900 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kJ</m:t>
                                </m:r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mol</m:t>
                                </m:r>
                              </m:oMath>
                            </m:oMathPara>
                          </a14:m>
                          <a:endParaRPr lang="fr-FR" sz="240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5935182"/>
                      </a:ext>
                    </a:extLst>
                  </a:tr>
                  <a:tr h="605785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ionique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fr-F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NaCl</m:t>
                                </m:r>
                              </m:oMath>
                            </m:oMathPara>
                          </a14:m>
                          <a:endParaRPr lang="fr-FR" sz="2400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700−1000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kJ</m:t>
                                </m:r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mol</m:t>
                                </m:r>
                              </m:oMath>
                            </m:oMathPara>
                          </a14:m>
                          <a:endParaRPr lang="fr-FR" sz="240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370908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au 5">
                <a:extLst>
                  <a:ext uri="{FF2B5EF4-FFF2-40B4-BE49-F238E27FC236}">
                    <a16:creationId xmlns:a16="http://schemas.microsoft.com/office/drawing/2014/main" id="{BA9D4A03-A2B0-49CD-BB17-A681313AF1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4944228"/>
                  </p:ext>
                </p:extLst>
              </p:nvPr>
            </p:nvGraphicFramePr>
            <p:xfrm>
              <a:off x="1006488" y="2120381"/>
              <a:ext cx="10179024" cy="31505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44756">
                      <a:extLst>
                        <a:ext uri="{9D8B030D-6E8A-4147-A177-3AD203B41FA5}">
                          <a16:colId xmlns:a16="http://schemas.microsoft.com/office/drawing/2014/main" val="2364848828"/>
                        </a:ext>
                      </a:extLst>
                    </a:gridCol>
                    <a:gridCol w="2544756">
                      <a:extLst>
                        <a:ext uri="{9D8B030D-6E8A-4147-A177-3AD203B41FA5}">
                          <a16:colId xmlns:a16="http://schemas.microsoft.com/office/drawing/2014/main" val="3334876929"/>
                        </a:ext>
                      </a:extLst>
                    </a:gridCol>
                    <a:gridCol w="2261249">
                      <a:extLst>
                        <a:ext uri="{9D8B030D-6E8A-4147-A177-3AD203B41FA5}">
                          <a16:colId xmlns:a16="http://schemas.microsoft.com/office/drawing/2014/main" val="521813260"/>
                        </a:ext>
                      </a:extLst>
                    </a:gridCol>
                    <a:gridCol w="2828263">
                      <a:extLst>
                        <a:ext uri="{9D8B030D-6E8A-4147-A177-3AD203B41FA5}">
                          <a16:colId xmlns:a16="http://schemas.microsoft.com/office/drawing/2014/main" val="842569165"/>
                        </a:ext>
                      </a:extLst>
                    </a:gridCol>
                  </a:tblGrid>
                  <a:tr h="727368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Type de liaison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Exemple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Énergie typique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6207172"/>
                      </a:ext>
                    </a:extLst>
                  </a:tr>
                  <a:tr h="605785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covalente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simple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5337" t="-122222" r="-126415" b="-3121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60129" t="-122222" r="-1078" b="-3121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2242848"/>
                      </a:ext>
                    </a:extLst>
                  </a:tr>
                  <a:tr h="605785">
                    <a:tc v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double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5337" t="-220000" r="-126415" b="-209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60129" t="-220000" r="-1078" b="-209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20982344"/>
                      </a:ext>
                    </a:extLst>
                  </a:tr>
                  <a:tr h="605785">
                    <a:tc v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triple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5337" t="-323232" r="-126415" b="-1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60129" t="-323232" r="-1078" b="-1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35182"/>
                      </a:ext>
                    </a:extLst>
                  </a:tr>
                  <a:tr h="605785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ionique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fr-F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5337" t="-419000" r="-126415" b="-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60129" t="-419000" r="-1078" b="-1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70908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82920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CFCB78-5034-4404-B8CB-029725320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Processus de dissolution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D8A90F5-E412-48FC-8E4E-353970BAF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435FFDC-8AB5-4018-A7F5-04E158D3A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11</a:t>
            </a:fld>
            <a:endParaRPr lang="fr-FR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D9357AE9-5527-4DFB-AEBD-9DA51B4A3973}"/>
              </a:ext>
            </a:extLst>
          </p:cNvPr>
          <p:cNvGrpSpPr/>
          <p:nvPr/>
        </p:nvGrpSpPr>
        <p:grpSpPr>
          <a:xfrm>
            <a:off x="793953" y="2109306"/>
            <a:ext cx="1662223" cy="836427"/>
            <a:chOff x="2137144" y="2962940"/>
            <a:chExt cx="1662223" cy="836427"/>
          </a:xfrm>
        </p:grpSpPr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3EEEB089-3BA0-42B6-9874-A03CFA1FA6CC}"/>
                </a:ext>
              </a:extLst>
            </p:cNvPr>
            <p:cNvSpPr/>
            <p:nvPr/>
          </p:nvSpPr>
          <p:spPr>
            <a:xfrm>
              <a:off x="2137144" y="3150781"/>
              <a:ext cx="460744" cy="46074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H</a:t>
              </a:r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5B25AA39-B62A-4639-AD04-5EA6C057853D}"/>
                </a:ext>
              </a:extLst>
            </p:cNvPr>
            <p:cNvSpPr/>
            <p:nvPr/>
          </p:nvSpPr>
          <p:spPr>
            <a:xfrm>
              <a:off x="2962940" y="2962940"/>
              <a:ext cx="836427" cy="83642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Cl</a:t>
              </a:r>
            </a:p>
          </p:txBody>
        </p:sp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7F31B3A6-4DD2-439B-8041-778E94F15C32}"/>
                </a:ext>
              </a:extLst>
            </p:cNvPr>
            <p:cNvCxnSpPr>
              <a:stCxn id="6" idx="6"/>
              <a:endCxn id="7" idx="2"/>
            </p:cNvCxnSpPr>
            <p:nvPr/>
          </p:nvCxnSpPr>
          <p:spPr>
            <a:xfrm>
              <a:off x="2597888" y="3381153"/>
              <a:ext cx="365052" cy="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08453D5D-5693-4FAE-95D7-F3685C5C497B}"/>
              </a:ext>
            </a:extLst>
          </p:cNvPr>
          <p:cNvGrpSpPr/>
          <p:nvPr/>
        </p:nvGrpSpPr>
        <p:grpSpPr>
          <a:xfrm>
            <a:off x="4877465" y="2127423"/>
            <a:ext cx="1662223" cy="836427"/>
            <a:chOff x="2137144" y="2962940"/>
            <a:chExt cx="1662223" cy="8364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Ellipse 12">
                  <a:extLst>
                    <a:ext uri="{FF2B5EF4-FFF2-40B4-BE49-F238E27FC236}">
                      <a16:creationId xmlns:a16="http://schemas.microsoft.com/office/drawing/2014/main" id="{58EDC70F-F1A9-41ED-B8A5-19167E5B65C8}"/>
                    </a:ext>
                  </a:extLst>
                </p:cNvPr>
                <p:cNvSpPr/>
                <p:nvPr/>
              </p:nvSpPr>
              <p:spPr>
                <a:xfrm>
                  <a:off x="2137144" y="3150781"/>
                  <a:ext cx="460744" cy="46074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 b="0" i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fr-FR" b="0" i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13" name="Ellipse 12">
                  <a:extLst>
                    <a:ext uri="{FF2B5EF4-FFF2-40B4-BE49-F238E27FC236}">
                      <a16:creationId xmlns:a16="http://schemas.microsoft.com/office/drawing/2014/main" id="{58EDC70F-F1A9-41ED-B8A5-19167E5B65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7144" y="3150781"/>
                  <a:ext cx="460744" cy="460744"/>
                </a:xfrm>
                <a:prstGeom prst="ellipse">
                  <a:avLst/>
                </a:prstGeom>
                <a:blipFill>
                  <a:blip r:embed="rId2"/>
                  <a:stretch>
                    <a:fillRect l="-379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Ellipse 13">
                  <a:extLst>
                    <a:ext uri="{FF2B5EF4-FFF2-40B4-BE49-F238E27FC236}">
                      <a16:creationId xmlns:a16="http://schemas.microsoft.com/office/drawing/2014/main" id="{93D6F1FE-0B41-423B-93C0-12C6F80DB06D}"/>
                    </a:ext>
                  </a:extLst>
                </p:cNvPr>
                <p:cNvSpPr/>
                <p:nvPr/>
              </p:nvSpPr>
              <p:spPr>
                <a:xfrm>
                  <a:off x="2962940" y="2962940"/>
                  <a:ext cx="836427" cy="836427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 b="0" i="0" smtClean="0">
                                <a:latin typeface="Cambria Math" panose="02040503050406030204" pitchFamily="18" charset="0"/>
                              </a:rPr>
                              <m:t>l</m:t>
                            </m:r>
                          </m:e>
                          <m:sup>
                            <m:r>
                              <a:rPr lang="fr-FR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14" name="Ellipse 13">
                  <a:extLst>
                    <a:ext uri="{FF2B5EF4-FFF2-40B4-BE49-F238E27FC236}">
                      <a16:creationId xmlns:a16="http://schemas.microsoft.com/office/drawing/2014/main" id="{93D6F1FE-0B41-423B-93C0-12C6F80DB06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2940" y="2962940"/>
                  <a:ext cx="836427" cy="836427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0C70B3D4-AC92-4DC8-8CCB-313C688B9EC7}"/>
                </a:ext>
              </a:extLst>
            </p:cNvPr>
            <p:cNvCxnSpPr>
              <a:stCxn id="13" idx="6"/>
              <a:endCxn id="14" idx="2"/>
            </p:cNvCxnSpPr>
            <p:nvPr/>
          </p:nvCxnSpPr>
          <p:spPr>
            <a:xfrm>
              <a:off x="2597888" y="3381153"/>
              <a:ext cx="365052" cy="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2536FE65-B86C-485B-8D2A-3414BD5205AB}"/>
              </a:ext>
            </a:extLst>
          </p:cNvPr>
          <p:cNvGrpSpPr/>
          <p:nvPr/>
        </p:nvGrpSpPr>
        <p:grpSpPr>
          <a:xfrm>
            <a:off x="9215042" y="2109306"/>
            <a:ext cx="2401961" cy="836427"/>
            <a:chOff x="4410998" y="2854183"/>
            <a:chExt cx="2401961" cy="8364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Ellipse 20">
                  <a:extLst>
                    <a:ext uri="{FF2B5EF4-FFF2-40B4-BE49-F238E27FC236}">
                      <a16:creationId xmlns:a16="http://schemas.microsoft.com/office/drawing/2014/main" id="{1883AB31-713E-41F0-B89F-974B38753EA1}"/>
                    </a:ext>
                  </a:extLst>
                </p:cNvPr>
                <p:cNvSpPr/>
                <p:nvPr/>
              </p:nvSpPr>
              <p:spPr>
                <a:xfrm>
                  <a:off x="4410998" y="3042024"/>
                  <a:ext cx="460744" cy="46074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 b="0" i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fr-FR" b="0" i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21" name="Ellipse 20">
                  <a:extLst>
                    <a:ext uri="{FF2B5EF4-FFF2-40B4-BE49-F238E27FC236}">
                      <a16:creationId xmlns:a16="http://schemas.microsoft.com/office/drawing/2014/main" id="{1883AB31-713E-41F0-B89F-974B38753EA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0998" y="3042024"/>
                  <a:ext cx="460744" cy="460744"/>
                </a:xfrm>
                <a:prstGeom prst="ellipse">
                  <a:avLst/>
                </a:prstGeom>
                <a:blipFill>
                  <a:blip r:embed="rId4"/>
                  <a:stretch>
                    <a:fillRect l="-5128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Ellipse 21">
                  <a:extLst>
                    <a:ext uri="{FF2B5EF4-FFF2-40B4-BE49-F238E27FC236}">
                      <a16:creationId xmlns:a16="http://schemas.microsoft.com/office/drawing/2014/main" id="{26F33D47-60E9-4361-A62C-8957844F587C}"/>
                    </a:ext>
                  </a:extLst>
                </p:cNvPr>
                <p:cNvSpPr/>
                <p:nvPr/>
              </p:nvSpPr>
              <p:spPr>
                <a:xfrm>
                  <a:off x="5976532" y="2854183"/>
                  <a:ext cx="836427" cy="836427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 b="0" i="0" smtClean="0">
                                <a:latin typeface="Cambria Math" panose="02040503050406030204" pitchFamily="18" charset="0"/>
                              </a:rPr>
                              <m:t>l</m:t>
                            </m:r>
                          </m:e>
                          <m:sup>
                            <m:r>
                              <a:rPr lang="fr-FR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22" name="Ellipse 21">
                  <a:extLst>
                    <a:ext uri="{FF2B5EF4-FFF2-40B4-BE49-F238E27FC236}">
                      <a16:creationId xmlns:a16="http://schemas.microsoft.com/office/drawing/2014/main" id="{26F33D47-60E9-4361-A62C-8957844F587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6532" y="2854183"/>
                  <a:ext cx="836427" cy="836427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367FAF1F-505A-45BB-A1CD-E2792C9B9241}"/>
                </a:ext>
              </a:extLst>
            </p:cNvPr>
            <p:cNvCxnSpPr>
              <a:stCxn id="21" idx="6"/>
              <a:endCxn id="22" idx="2"/>
            </p:cNvCxnSpPr>
            <p:nvPr/>
          </p:nvCxnSpPr>
          <p:spPr>
            <a:xfrm>
              <a:off x="4871742" y="3272396"/>
              <a:ext cx="1104790" cy="1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87C1A8ED-A303-4D15-B9D9-0886CF4B3618}"/>
              </a:ext>
            </a:extLst>
          </p:cNvPr>
          <p:cNvGrpSpPr/>
          <p:nvPr/>
        </p:nvGrpSpPr>
        <p:grpSpPr>
          <a:xfrm>
            <a:off x="2244640" y="3770426"/>
            <a:ext cx="6187137" cy="2434494"/>
            <a:chOff x="3262645" y="3382063"/>
            <a:chExt cx="6187137" cy="2434494"/>
          </a:xfrm>
        </p:grpSpPr>
        <p:pic>
          <p:nvPicPr>
            <p:cNvPr id="25" name="Image 24">
              <a:extLst>
                <a:ext uri="{FF2B5EF4-FFF2-40B4-BE49-F238E27FC236}">
                  <a16:creationId xmlns:a16="http://schemas.microsoft.com/office/drawing/2014/main" id="{718DE4F4-D997-49C9-BF47-82B8C5AC79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32999"/>
            <a:stretch/>
          </p:blipFill>
          <p:spPr>
            <a:xfrm>
              <a:off x="3262645" y="3382063"/>
              <a:ext cx="6187137" cy="243449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Ellipse 26">
                  <a:extLst>
                    <a:ext uri="{FF2B5EF4-FFF2-40B4-BE49-F238E27FC236}">
                      <a16:creationId xmlns:a16="http://schemas.microsoft.com/office/drawing/2014/main" id="{61369ACC-9210-42F0-B369-7A54CE01FFBB}"/>
                    </a:ext>
                  </a:extLst>
                </p:cNvPr>
                <p:cNvSpPr/>
                <p:nvPr/>
              </p:nvSpPr>
              <p:spPr>
                <a:xfrm>
                  <a:off x="7702465" y="4174008"/>
                  <a:ext cx="836427" cy="836427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 b="0" i="0" smtClean="0">
                                <a:latin typeface="Cambria Math" panose="02040503050406030204" pitchFamily="18" charset="0"/>
                              </a:rPr>
                              <m:t>l</m:t>
                            </m:r>
                          </m:e>
                          <m:sup>
                            <m:r>
                              <a:rPr lang="fr-FR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27" name="Ellipse 26">
                  <a:extLst>
                    <a:ext uri="{FF2B5EF4-FFF2-40B4-BE49-F238E27FC236}">
                      <a16:creationId xmlns:a16="http://schemas.microsoft.com/office/drawing/2014/main" id="{61369ACC-9210-42F0-B369-7A54CE01FF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2465" y="4174008"/>
                  <a:ext cx="836427" cy="836427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80B4FB06-3159-43DE-8230-EAC5BC3A9CF0}"/>
                </a:ext>
              </a:extLst>
            </p:cNvPr>
            <p:cNvSpPr/>
            <p:nvPr/>
          </p:nvSpPr>
          <p:spPr>
            <a:xfrm>
              <a:off x="4169294" y="4174007"/>
              <a:ext cx="836427" cy="8364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Ellipse 25">
                  <a:extLst>
                    <a:ext uri="{FF2B5EF4-FFF2-40B4-BE49-F238E27FC236}">
                      <a16:creationId xmlns:a16="http://schemas.microsoft.com/office/drawing/2014/main" id="{BFC7C5F8-3BC0-4673-B93E-05B46827E6FD}"/>
                    </a:ext>
                  </a:extLst>
                </p:cNvPr>
                <p:cNvSpPr/>
                <p:nvPr/>
              </p:nvSpPr>
              <p:spPr>
                <a:xfrm>
                  <a:off x="4357135" y="4368938"/>
                  <a:ext cx="460744" cy="46074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 b="0" i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fr-FR" b="0" i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26" name="Ellipse 25">
                  <a:extLst>
                    <a:ext uri="{FF2B5EF4-FFF2-40B4-BE49-F238E27FC236}">
                      <a16:creationId xmlns:a16="http://schemas.microsoft.com/office/drawing/2014/main" id="{BFC7C5F8-3BC0-4673-B93E-05B46827E6F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57135" y="4368938"/>
                  <a:ext cx="460744" cy="460744"/>
                </a:xfrm>
                <a:prstGeom prst="ellipse">
                  <a:avLst/>
                </a:prstGeom>
                <a:blipFill>
                  <a:blip r:embed="rId8"/>
                  <a:stretch>
                    <a:fillRect l="-384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Flèche : droite 29">
            <a:extLst>
              <a:ext uri="{FF2B5EF4-FFF2-40B4-BE49-F238E27FC236}">
                <a16:creationId xmlns:a16="http://schemas.microsoft.com/office/drawing/2014/main" id="{7AA958F6-BB2D-4A28-AAD2-A86E63FCBCBF}"/>
              </a:ext>
            </a:extLst>
          </p:cNvPr>
          <p:cNvSpPr/>
          <p:nvPr/>
        </p:nvSpPr>
        <p:spPr>
          <a:xfrm>
            <a:off x="2625135" y="2269970"/>
            <a:ext cx="2069804" cy="478861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Ionisation</a:t>
            </a:r>
          </a:p>
        </p:txBody>
      </p:sp>
      <p:sp>
        <p:nvSpPr>
          <p:cNvPr id="31" name="Flèche : droite 30">
            <a:extLst>
              <a:ext uri="{FF2B5EF4-FFF2-40B4-BE49-F238E27FC236}">
                <a16:creationId xmlns:a16="http://schemas.microsoft.com/office/drawing/2014/main" id="{9ADEB586-CEBA-407D-B3AC-4463A7DAE382}"/>
              </a:ext>
            </a:extLst>
          </p:cNvPr>
          <p:cNvSpPr/>
          <p:nvPr/>
        </p:nvSpPr>
        <p:spPr>
          <a:xfrm>
            <a:off x="6842463" y="2267336"/>
            <a:ext cx="2069804" cy="478861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Dissociation</a:t>
            </a:r>
          </a:p>
        </p:txBody>
      </p:sp>
      <p:sp>
        <p:nvSpPr>
          <p:cNvPr id="33" name="Flèche : gauche 32">
            <a:extLst>
              <a:ext uri="{FF2B5EF4-FFF2-40B4-BE49-F238E27FC236}">
                <a16:creationId xmlns:a16="http://schemas.microsoft.com/office/drawing/2014/main" id="{566028A4-B785-442C-9468-7ECBA1068A07}"/>
              </a:ext>
            </a:extLst>
          </p:cNvPr>
          <p:cNvSpPr/>
          <p:nvPr/>
        </p:nvSpPr>
        <p:spPr>
          <a:xfrm rot="19399446">
            <a:off x="8355656" y="3645190"/>
            <a:ext cx="2183219" cy="460742"/>
          </a:xfrm>
          <a:prstGeom prst="lef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Solvatation</a:t>
            </a:r>
          </a:p>
        </p:txBody>
      </p:sp>
    </p:spTree>
    <p:extLst>
      <p:ext uri="{BB962C8B-B14F-4D97-AF65-F5344CB8AC3E}">
        <p14:creationId xmlns:p14="http://schemas.microsoft.com/office/powerpoint/2010/main" val="583890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380E08-2344-45FD-9C6E-8B36E400D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Énergies de liaison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A595F7D-80E6-43C3-A944-D267F6DC9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20232CB-8F03-4A39-A4DF-A68D3EFD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12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au 5">
                <a:extLst>
                  <a:ext uri="{FF2B5EF4-FFF2-40B4-BE49-F238E27FC236}">
                    <a16:creationId xmlns:a16="http://schemas.microsoft.com/office/drawing/2014/main" id="{BA9D4A03-A2B0-49CD-BB17-A681313AF1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6722185"/>
                  </p:ext>
                </p:extLst>
              </p:nvPr>
            </p:nvGraphicFramePr>
            <p:xfrm>
              <a:off x="1006488" y="1822669"/>
              <a:ext cx="10179024" cy="375629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44756">
                      <a:extLst>
                        <a:ext uri="{9D8B030D-6E8A-4147-A177-3AD203B41FA5}">
                          <a16:colId xmlns:a16="http://schemas.microsoft.com/office/drawing/2014/main" val="2364848828"/>
                        </a:ext>
                      </a:extLst>
                    </a:gridCol>
                    <a:gridCol w="2544756">
                      <a:extLst>
                        <a:ext uri="{9D8B030D-6E8A-4147-A177-3AD203B41FA5}">
                          <a16:colId xmlns:a16="http://schemas.microsoft.com/office/drawing/2014/main" val="3334876929"/>
                        </a:ext>
                      </a:extLst>
                    </a:gridCol>
                    <a:gridCol w="2261249">
                      <a:extLst>
                        <a:ext uri="{9D8B030D-6E8A-4147-A177-3AD203B41FA5}">
                          <a16:colId xmlns:a16="http://schemas.microsoft.com/office/drawing/2014/main" val="521813260"/>
                        </a:ext>
                      </a:extLst>
                    </a:gridCol>
                    <a:gridCol w="2828263">
                      <a:extLst>
                        <a:ext uri="{9D8B030D-6E8A-4147-A177-3AD203B41FA5}">
                          <a16:colId xmlns:a16="http://schemas.microsoft.com/office/drawing/2014/main" val="842569165"/>
                        </a:ext>
                      </a:extLst>
                    </a:gridCol>
                  </a:tblGrid>
                  <a:tr h="727368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Type de liaison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Exemple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Énergie typique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6207172"/>
                      </a:ext>
                    </a:extLst>
                  </a:tr>
                  <a:tr h="605785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covalente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simple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oMath>
                            </m:oMathPara>
                          </a14:m>
                          <a:endParaRPr lang="fr-FR" sz="2400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300 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kJ</m:t>
                                </m:r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mol</m:t>
                                </m:r>
                              </m:oMath>
                            </m:oMathPara>
                          </a14:m>
                          <a:endParaRPr lang="fr-FR" sz="240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2242848"/>
                      </a:ext>
                    </a:extLst>
                  </a:tr>
                  <a:tr h="605785">
                    <a:tc v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double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O</m:t>
                                </m:r>
                              </m:oMath>
                            </m:oMathPara>
                          </a14:m>
                          <a:endParaRPr lang="fr-FR" sz="2400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600 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kJ</m:t>
                                </m:r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mol</m:t>
                                </m:r>
                              </m:oMath>
                            </m:oMathPara>
                          </a14:m>
                          <a:endParaRPr lang="fr-FR" sz="240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20982344"/>
                      </a:ext>
                    </a:extLst>
                  </a:tr>
                  <a:tr h="605785">
                    <a:tc v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triple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N</m:t>
                                </m:r>
                                <m:r>
                                  <a:rPr lang="fr-FR" sz="240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fr-FR" sz="2400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900 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kJ</m:t>
                                </m:r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mol</m:t>
                                </m:r>
                              </m:oMath>
                            </m:oMathPara>
                          </a14:m>
                          <a:endParaRPr lang="fr-FR" sz="240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5935182"/>
                      </a:ext>
                    </a:extLst>
                  </a:tr>
                  <a:tr h="605785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ionique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fr-F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NaCl</m:t>
                                </m:r>
                              </m:oMath>
                            </m:oMathPara>
                          </a14:m>
                          <a:endParaRPr lang="fr-FR" sz="2400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700−1000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kJ</m:t>
                                </m:r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mol</m:t>
                                </m:r>
                              </m:oMath>
                            </m:oMathPara>
                          </a14:m>
                          <a:endParaRPr lang="fr-FR" sz="240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37090803"/>
                      </a:ext>
                    </a:extLst>
                  </a:tr>
                  <a:tr h="605785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de Van der Waals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i="0" dirty="0"/>
                            <a:t>gecko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20 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kJ</m:t>
                                </m:r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mol</m:t>
                                </m:r>
                              </m:oMath>
                            </m:oMathPara>
                          </a14:m>
                          <a:endParaRPr lang="fr-FR" sz="240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166545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au 5">
                <a:extLst>
                  <a:ext uri="{FF2B5EF4-FFF2-40B4-BE49-F238E27FC236}">
                    <a16:creationId xmlns:a16="http://schemas.microsoft.com/office/drawing/2014/main" id="{BA9D4A03-A2B0-49CD-BB17-A681313AF1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6722185"/>
                  </p:ext>
                </p:extLst>
              </p:nvPr>
            </p:nvGraphicFramePr>
            <p:xfrm>
              <a:off x="1006488" y="1822669"/>
              <a:ext cx="10179024" cy="375629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44756">
                      <a:extLst>
                        <a:ext uri="{9D8B030D-6E8A-4147-A177-3AD203B41FA5}">
                          <a16:colId xmlns:a16="http://schemas.microsoft.com/office/drawing/2014/main" val="2364848828"/>
                        </a:ext>
                      </a:extLst>
                    </a:gridCol>
                    <a:gridCol w="2544756">
                      <a:extLst>
                        <a:ext uri="{9D8B030D-6E8A-4147-A177-3AD203B41FA5}">
                          <a16:colId xmlns:a16="http://schemas.microsoft.com/office/drawing/2014/main" val="3334876929"/>
                        </a:ext>
                      </a:extLst>
                    </a:gridCol>
                    <a:gridCol w="2261249">
                      <a:extLst>
                        <a:ext uri="{9D8B030D-6E8A-4147-A177-3AD203B41FA5}">
                          <a16:colId xmlns:a16="http://schemas.microsoft.com/office/drawing/2014/main" val="521813260"/>
                        </a:ext>
                      </a:extLst>
                    </a:gridCol>
                    <a:gridCol w="2828263">
                      <a:extLst>
                        <a:ext uri="{9D8B030D-6E8A-4147-A177-3AD203B41FA5}">
                          <a16:colId xmlns:a16="http://schemas.microsoft.com/office/drawing/2014/main" val="842569165"/>
                        </a:ext>
                      </a:extLst>
                    </a:gridCol>
                  </a:tblGrid>
                  <a:tr h="727368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Type de liaison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Exemple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Énergie typique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6207172"/>
                      </a:ext>
                    </a:extLst>
                  </a:tr>
                  <a:tr h="605785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covalente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simple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5337" t="-122222" r="-126415" b="-4131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60129" t="-122222" r="-1078" b="-4131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2242848"/>
                      </a:ext>
                    </a:extLst>
                  </a:tr>
                  <a:tr h="605785">
                    <a:tc v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double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5337" t="-220000" r="-126415" b="-309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60129" t="-220000" r="-1078" b="-309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20982344"/>
                      </a:ext>
                    </a:extLst>
                  </a:tr>
                  <a:tr h="605785">
                    <a:tc v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triple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5337" t="-320000" r="-126415" b="-209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60129" t="-320000" r="-1078" b="-209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35182"/>
                      </a:ext>
                    </a:extLst>
                  </a:tr>
                  <a:tr h="605785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ionique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fr-F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5337" t="-424242" r="-126415" b="-1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60129" t="-424242" r="-1078" b="-1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7090803"/>
                      </a:ext>
                    </a:extLst>
                  </a:tr>
                  <a:tr h="605785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de Van der Waals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i="0" dirty="0"/>
                            <a:t>gecko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60129" t="-519000" r="-1078" b="-1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665453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99360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17DD81-7004-4510-97D1-22FD50348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Gecko et liaisons de Van der Waals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4EF1D863-29BC-4F83-8AC7-9AB76847D6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1965" y="1517620"/>
            <a:ext cx="6988396" cy="4730332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3FC000A-E313-49FC-8375-1B7D517BD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17ACB22-A4A5-4B65-ADA6-57A3E4AD4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0591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AE4AE0-3E35-4C32-9FC3-F67096D52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Températures d’ébullition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8AEC0FA0-BB2D-4A0E-B9C2-684C2CEDA2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6228" y="1412296"/>
            <a:ext cx="3239869" cy="4884262"/>
          </a:xfrm>
          <a:prstGeom prst="rect">
            <a:avLst/>
          </a:prstGeo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6C4763D-0EFC-4FE5-A746-F422C801E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7C83E6E-BCFC-4EB9-9686-10D6EC0E4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14</a:t>
            </a:fld>
            <a:endParaRPr lang="fr-FR"/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23D4E788-3CF3-4C7F-8E8E-0840BBD40AC9}"/>
              </a:ext>
            </a:extLst>
          </p:cNvPr>
          <p:cNvCxnSpPr>
            <a:cxnSpLocks/>
          </p:cNvCxnSpPr>
          <p:nvPr/>
        </p:nvCxnSpPr>
        <p:spPr>
          <a:xfrm flipV="1">
            <a:off x="4912242" y="6188149"/>
            <a:ext cx="323938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DE04DEC7-0305-46BE-B10E-0034B38DDDA1}"/>
              </a:ext>
            </a:extLst>
          </p:cNvPr>
          <p:cNvSpPr txBox="1"/>
          <p:nvPr/>
        </p:nvSpPr>
        <p:spPr>
          <a:xfrm>
            <a:off x="7201786" y="5793274"/>
            <a:ext cx="2495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Rayon atomique</a:t>
            </a:r>
          </a:p>
        </p:txBody>
      </p:sp>
    </p:spTree>
    <p:extLst>
      <p:ext uri="{BB962C8B-B14F-4D97-AF65-F5344CB8AC3E}">
        <p14:creationId xmlns:p14="http://schemas.microsoft.com/office/powerpoint/2010/main" val="846292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380E08-2344-45FD-9C6E-8B36E400D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Énergies de liaison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A595F7D-80E6-43C3-A944-D267F6DC9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20232CB-8F03-4A39-A4DF-A68D3EFD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15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au 5">
                <a:extLst>
                  <a:ext uri="{FF2B5EF4-FFF2-40B4-BE49-F238E27FC236}">
                    <a16:creationId xmlns:a16="http://schemas.microsoft.com/office/drawing/2014/main" id="{BA9D4A03-A2B0-49CD-BB17-A681313AF1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8307921"/>
                  </p:ext>
                </p:extLst>
              </p:nvPr>
            </p:nvGraphicFramePr>
            <p:xfrm>
              <a:off x="1006488" y="1602929"/>
              <a:ext cx="10179024" cy="43620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44756">
                      <a:extLst>
                        <a:ext uri="{9D8B030D-6E8A-4147-A177-3AD203B41FA5}">
                          <a16:colId xmlns:a16="http://schemas.microsoft.com/office/drawing/2014/main" val="2364848828"/>
                        </a:ext>
                      </a:extLst>
                    </a:gridCol>
                    <a:gridCol w="2544756">
                      <a:extLst>
                        <a:ext uri="{9D8B030D-6E8A-4147-A177-3AD203B41FA5}">
                          <a16:colId xmlns:a16="http://schemas.microsoft.com/office/drawing/2014/main" val="3334876929"/>
                        </a:ext>
                      </a:extLst>
                    </a:gridCol>
                    <a:gridCol w="2261249">
                      <a:extLst>
                        <a:ext uri="{9D8B030D-6E8A-4147-A177-3AD203B41FA5}">
                          <a16:colId xmlns:a16="http://schemas.microsoft.com/office/drawing/2014/main" val="521813260"/>
                        </a:ext>
                      </a:extLst>
                    </a:gridCol>
                    <a:gridCol w="2828263">
                      <a:extLst>
                        <a:ext uri="{9D8B030D-6E8A-4147-A177-3AD203B41FA5}">
                          <a16:colId xmlns:a16="http://schemas.microsoft.com/office/drawing/2014/main" val="842569165"/>
                        </a:ext>
                      </a:extLst>
                    </a:gridCol>
                  </a:tblGrid>
                  <a:tr h="727368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Type de liaison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Exemple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Énergie typique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6207172"/>
                      </a:ext>
                    </a:extLst>
                  </a:tr>
                  <a:tr h="605785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covalente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simple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oMath>
                            </m:oMathPara>
                          </a14:m>
                          <a:endParaRPr lang="fr-FR" sz="2400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300 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kJ</m:t>
                                </m:r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mol</m:t>
                                </m:r>
                              </m:oMath>
                            </m:oMathPara>
                          </a14:m>
                          <a:endParaRPr lang="fr-FR" sz="240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2242848"/>
                      </a:ext>
                    </a:extLst>
                  </a:tr>
                  <a:tr h="605785">
                    <a:tc v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double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O</m:t>
                                </m:r>
                              </m:oMath>
                            </m:oMathPara>
                          </a14:m>
                          <a:endParaRPr lang="fr-FR" sz="2400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600 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kJ</m:t>
                                </m:r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mol</m:t>
                                </m:r>
                              </m:oMath>
                            </m:oMathPara>
                          </a14:m>
                          <a:endParaRPr lang="fr-FR" sz="240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20982344"/>
                      </a:ext>
                    </a:extLst>
                  </a:tr>
                  <a:tr h="605785">
                    <a:tc v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triple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N</m:t>
                                </m:r>
                                <m:r>
                                  <a:rPr lang="fr-FR" sz="240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fr-FR" sz="2400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900 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kJ</m:t>
                                </m:r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mol</m:t>
                                </m:r>
                              </m:oMath>
                            </m:oMathPara>
                          </a14:m>
                          <a:endParaRPr lang="fr-FR" sz="240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5935182"/>
                      </a:ext>
                    </a:extLst>
                  </a:tr>
                  <a:tr h="605785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ionique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fr-F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NaCl</m:t>
                                </m:r>
                              </m:oMath>
                            </m:oMathPara>
                          </a14:m>
                          <a:endParaRPr lang="fr-FR" sz="2400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700−1000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kJ</m:t>
                                </m:r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mol</m:t>
                                </m:r>
                              </m:oMath>
                            </m:oMathPara>
                          </a14:m>
                          <a:endParaRPr lang="fr-FR" sz="240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37090803"/>
                      </a:ext>
                    </a:extLst>
                  </a:tr>
                  <a:tr h="605785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de Van der Waals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i="0" dirty="0"/>
                            <a:t>gecko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20 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kJ</m:t>
                                </m:r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mol</m:t>
                                </m:r>
                              </m:oMath>
                            </m:oMathPara>
                          </a14:m>
                          <a:endParaRPr lang="fr-FR" sz="240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16654538"/>
                      </a:ext>
                    </a:extLst>
                  </a:tr>
                  <a:tr h="605785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hydrogène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i="0" dirty="0"/>
                            <a:t>glace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50 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kJ</m:t>
                                </m:r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mol</m:t>
                                </m:r>
                              </m:oMath>
                            </m:oMathPara>
                          </a14:m>
                          <a:endParaRPr lang="fr-FR" sz="240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494902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au 5">
                <a:extLst>
                  <a:ext uri="{FF2B5EF4-FFF2-40B4-BE49-F238E27FC236}">
                    <a16:creationId xmlns:a16="http://schemas.microsoft.com/office/drawing/2014/main" id="{BA9D4A03-A2B0-49CD-BB17-A681313AF1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8307921"/>
                  </p:ext>
                </p:extLst>
              </p:nvPr>
            </p:nvGraphicFramePr>
            <p:xfrm>
              <a:off x="1006488" y="1602929"/>
              <a:ext cx="10179024" cy="43620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44756">
                      <a:extLst>
                        <a:ext uri="{9D8B030D-6E8A-4147-A177-3AD203B41FA5}">
                          <a16:colId xmlns:a16="http://schemas.microsoft.com/office/drawing/2014/main" val="2364848828"/>
                        </a:ext>
                      </a:extLst>
                    </a:gridCol>
                    <a:gridCol w="2544756">
                      <a:extLst>
                        <a:ext uri="{9D8B030D-6E8A-4147-A177-3AD203B41FA5}">
                          <a16:colId xmlns:a16="http://schemas.microsoft.com/office/drawing/2014/main" val="3334876929"/>
                        </a:ext>
                      </a:extLst>
                    </a:gridCol>
                    <a:gridCol w="2261249">
                      <a:extLst>
                        <a:ext uri="{9D8B030D-6E8A-4147-A177-3AD203B41FA5}">
                          <a16:colId xmlns:a16="http://schemas.microsoft.com/office/drawing/2014/main" val="521813260"/>
                        </a:ext>
                      </a:extLst>
                    </a:gridCol>
                    <a:gridCol w="2828263">
                      <a:extLst>
                        <a:ext uri="{9D8B030D-6E8A-4147-A177-3AD203B41FA5}">
                          <a16:colId xmlns:a16="http://schemas.microsoft.com/office/drawing/2014/main" val="842569165"/>
                        </a:ext>
                      </a:extLst>
                    </a:gridCol>
                  </a:tblGrid>
                  <a:tr h="727368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Type de liaison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Exemple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Énergie typique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6207172"/>
                      </a:ext>
                    </a:extLst>
                  </a:tr>
                  <a:tr h="605785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covalente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simple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5337" t="-122222" r="-126415" b="-5131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60129" t="-122222" r="-1078" b="-5131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2242848"/>
                      </a:ext>
                    </a:extLst>
                  </a:tr>
                  <a:tr h="605785">
                    <a:tc v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double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5337" t="-220000" r="-126415" b="-40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60129" t="-220000" r="-1078" b="-40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20982344"/>
                      </a:ext>
                    </a:extLst>
                  </a:tr>
                  <a:tr h="605785">
                    <a:tc v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triple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5337" t="-323232" r="-126415" b="-3121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60129" t="-323232" r="-1078" b="-3121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35182"/>
                      </a:ext>
                    </a:extLst>
                  </a:tr>
                  <a:tr h="605785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ionique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fr-F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5337" t="-419000" r="-126415" b="-209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60129" t="-419000" r="-1078" b="-209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7090803"/>
                      </a:ext>
                    </a:extLst>
                  </a:tr>
                  <a:tr h="605785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de Van der Waals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i="0" dirty="0"/>
                            <a:t>gecko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60129" t="-524242" r="-1078" b="-1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6654538"/>
                      </a:ext>
                    </a:extLst>
                  </a:tr>
                  <a:tr h="605785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/>
                            <a:t>Liaison hydrogène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i="0" dirty="0"/>
                            <a:t>glace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60129" t="-618000" r="-1078" b="-1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949029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80207205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Rétrospectiv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1894</TotalTime>
  <Words>455</Words>
  <Application>Microsoft Office PowerPoint</Application>
  <PresentationFormat>Grand écran</PresentationFormat>
  <Paragraphs>188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Rétrospective</vt:lpstr>
      <vt:lpstr>Liaisons chimiques</vt:lpstr>
      <vt:lpstr>Énergies de liaison</vt:lpstr>
      <vt:lpstr>Spectroscopie IR</vt:lpstr>
      <vt:lpstr>Synthèse du paracétamol</vt:lpstr>
      <vt:lpstr>Spectre infrarouge</vt:lpstr>
      <vt:lpstr>Spectre infrarouge</vt:lpstr>
      <vt:lpstr>Spectre IR : paracétamol</vt:lpstr>
      <vt:lpstr>Sites donneurs et accepteurs</vt:lpstr>
      <vt:lpstr>Synthèse du paracétamol</vt:lpstr>
      <vt:lpstr>Énergies de liaison</vt:lpstr>
      <vt:lpstr>Processus de dissolution</vt:lpstr>
      <vt:lpstr>Énergies de liaison</vt:lpstr>
      <vt:lpstr>Gecko et liaisons de Van der Waals</vt:lpstr>
      <vt:lpstr>Températures d’ébullition</vt:lpstr>
      <vt:lpstr>Énergies de liaison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Chimie durable</dc:title>
  <dc:creator>Hugo Roussille</dc:creator>
  <cp:lastModifiedBy>Hugo Roussille</cp:lastModifiedBy>
  <cp:revision>48</cp:revision>
  <dcterms:created xsi:type="dcterms:W3CDTF">2019-04-06T14:18:31Z</dcterms:created>
  <dcterms:modified xsi:type="dcterms:W3CDTF">2019-06-16T14:04:58Z</dcterms:modified>
</cp:coreProperties>
</file>