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263" r:id="rId3"/>
    <p:sldId id="264" r:id="rId4"/>
    <p:sldId id="276" r:id="rId5"/>
    <p:sldId id="278" r:id="rId6"/>
    <p:sldId id="277" r:id="rId7"/>
    <p:sldId id="294" r:id="rId8"/>
    <p:sldId id="282" r:id="rId9"/>
    <p:sldId id="296" r:id="rId10"/>
    <p:sldId id="297" r:id="rId11"/>
    <p:sldId id="295" r:id="rId12"/>
    <p:sldId id="279" r:id="rId13"/>
    <p:sldId id="266" r:id="rId14"/>
    <p:sldId id="288" r:id="rId15"/>
    <p:sldId id="280" r:id="rId16"/>
    <p:sldId id="281" r:id="rId17"/>
    <p:sldId id="298" r:id="rId18"/>
    <p:sldId id="284" r:id="rId19"/>
    <p:sldId id="285" r:id="rId20"/>
    <p:sldId id="291" r:id="rId21"/>
    <p:sldId id="286" r:id="rId22"/>
    <p:sldId id="289" r:id="rId23"/>
    <p:sldId id="290" r:id="rId24"/>
    <p:sldId id="301" r:id="rId25"/>
    <p:sldId id="30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04/06/2019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04/06/2019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04/06/2019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04/06/2019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gif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5.wdp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9.png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Caractérisations par spectroscopie en synthèse organique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Synthèse de l’indigo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4CD05551-91CC-4891-A6A4-8A073C71F9F6}"/>
                  </a:ext>
                </a:extLst>
              </p:cNvPr>
              <p:cNvSpPr txBox="1"/>
              <p:nvPr/>
            </p:nvSpPr>
            <p:spPr>
              <a:xfrm>
                <a:off x="195955" y="1349809"/>
                <a:ext cx="11800089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200" b="0" i="0" smtClean="0"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+ 2 </m:t>
                      </m:r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+ 2 </m:t>
                      </m:r>
                      <m:r>
                        <m:rPr>
                          <m:sty m:val="p"/>
                        </m:rPr>
                        <a:rPr lang="fr-FR" sz="2200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+ 2 </m:t>
                      </m:r>
                      <m:r>
                        <m:rPr>
                          <m:sty m:val="p"/>
                        </m:rPr>
                        <a:rPr lang="fr-FR" sz="2200" b="0" i="0" smtClean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200" b="0" i="0" smtClean="0">
                          <a:latin typeface="Cambria Math" panose="02040503050406030204" pitchFamily="18" charset="0"/>
                        </a:rPr>
                        <m:t>C</m:t>
                      </m:r>
                      <m:sSubSup>
                        <m:sSubSup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fr-FR" sz="2200" b="0" i="0" smtClean="0">
                          <a:latin typeface="Cambria Math" panose="02040503050406030204" pitchFamily="18" charset="0"/>
                        </a:rPr>
                        <m:t>4 </m:t>
                      </m:r>
                      <m:sSub>
                        <m:sSub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fr-FR" sz="22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4CD05551-91CC-4891-A6A4-8A073C71F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55" y="1349809"/>
                <a:ext cx="11800089" cy="338554"/>
              </a:xfrm>
              <a:prstGeom prst="rect">
                <a:avLst/>
              </a:prstGeom>
              <a:blipFill>
                <a:blip r:embed="rId2"/>
                <a:stretch>
                  <a:fillRect l="-52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>
            <a:extLst>
              <a:ext uri="{FF2B5EF4-FFF2-40B4-BE49-F238E27FC236}">
                <a16:creationId xmlns:a16="http://schemas.microsoft.com/office/drawing/2014/main" id="{A83CC8DE-1DBF-4643-814D-A952FD6688EB}"/>
              </a:ext>
            </a:extLst>
          </p:cNvPr>
          <p:cNvSpPr txBox="1"/>
          <p:nvPr/>
        </p:nvSpPr>
        <p:spPr>
          <a:xfrm>
            <a:off x="0" y="1833126"/>
            <a:ext cx="1178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2-nitrobenzaldéhyde	      acétone		ion hydroxyde			    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indigo</a:t>
            </a:r>
            <a:r>
              <a:rPr lang="fr-FR" dirty="0"/>
              <a:t>			      ion éthanoate		             eau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FE78CA4-0672-404A-AA21-8EA1EE264975}"/>
                  </a:ext>
                </a:extLst>
              </p:cNvPr>
              <p:cNvSpPr txBox="1"/>
              <p:nvPr/>
            </p:nvSpPr>
            <p:spPr>
              <a:xfrm>
                <a:off x="2155440" y="2347221"/>
                <a:ext cx="16930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68.10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mol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FE78CA4-0672-404A-AA21-8EA1EE264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440" y="2347221"/>
                <a:ext cx="169302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3CB2856-DF47-4F3E-8ABB-97C4B4067813}"/>
                  </a:ext>
                </a:extLst>
              </p:cNvPr>
              <p:cNvSpPr txBox="1"/>
              <p:nvPr/>
            </p:nvSpPr>
            <p:spPr>
              <a:xfrm>
                <a:off x="195955" y="2347221"/>
                <a:ext cx="17411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0,5 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fr-FR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3,3.10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mol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83CB2856-DF47-4F3E-8ABB-97C4B4067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55" y="2347221"/>
                <a:ext cx="174111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D1467BD1-27D0-46F0-81CE-77C609EB5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250" y="3331608"/>
            <a:ext cx="4410238" cy="29871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A13F132-9D83-400B-AF3A-0281E0E170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2628"/>
          <a:stretch/>
        </p:blipFill>
        <p:spPr>
          <a:xfrm>
            <a:off x="7473756" y="3786579"/>
            <a:ext cx="1401237" cy="207722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488F0DD-2669-467F-ADBA-A0B11CDD9885}"/>
              </a:ext>
            </a:extLst>
          </p:cNvPr>
          <p:cNvSpPr txBox="1"/>
          <p:nvPr/>
        </p:nvSpPr>
        <p:spPr>
          <a:xfrm>
            <a:off x="2023819" y="5876730"/>
            <a:ext cx="241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Fiole à vide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3DD5B59-E559-4227-8080-93C156EA8A5B}"/>
              </a:ext>
            </a:extLst>
          </p:cNvPr>
          <p:cNvSpPr txBox="1"/>
          <p:nvPr/>
        </p:nvSpPr>
        <p:spPr>
          <a:xfrm>
            <a:off x="8516187" y="5879579"/>
            <a:ext cx="241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Entonnoir en verre fritté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D33C7AF-BD99-46E2-96E5-544E0838E084}"/>
              </a:ext>
            </a:extLst>
          </p:cNvPr>
          <p:cNvSpPr txBox="1"/>
          <p:nvPr/>
        </p:nvSpPr>
        <p:spPr>
          <a:xfrm>
            <a:off x="7653633" y="2347221"/>
            <a:ext cx="2442720" cy="46166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1. </a:t>
            </a:r>
            <a:r>
              <a:rPr lang="fr-FR" sz="2400" b="1" u="sng" dirty="0">
                <a:solidFill>
                  <a:schemeClr val="accent5">
                    <a:lumMod val="75000"/>
                  </a:schemeClr>
                </a:solidFill>
              </a:rPr>
              <a:t>Transformation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EB8725-3A42-4F15-85CE-2B9302AA3588}"/>
              </a:ext>
            </a:extLst>
          </p:cNvPr>
          <p:cNvSpPr txBox="1"/>
          <p:nvPr/>
        </p:nvSpPr>
        <p:spPr>
          <a:xfrm>
            <a:off x="670908" y="3402784"/>
            <a:ext cx="1762342" cy="46166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2. </a:t>
            </a:r>
            <a:r>
              <a:rPr lang="fr-FR" sz="2400" b="1" u="sng" dirty="0">
                <a:solidFill>
                  <a:schemeClr val="accent5">
                    <a:lumMod val="75000"/>
                  </a:schemeClr>
                </a:solidFill>
              </a:rPr>
              <a:t>Isolement</a:t>
            </a:r>
          </a:p>
        </p:txBody>
      </p:sp>
      <p:sp>
        <p:nvSpPr>
          <p:cNvPr id="15" name="Espace réservé du pied de page 3">
            <a:extLst>
              <a:ext uri="{FF2B5EF4-FFF2-40B4-BE49-F238E27FC236}">
                <a16:creationId xmlns:a16="http://schemas.microsoft.com/office/drawing/2014/main" id="{8E4C6EF9-1DCD-4C6A-84A8-0D476DCF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647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4047BD-36C1-4EE1-9CCC-258D9D55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de l’indigo commercial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9738FC-D006-4FA6-9B1B-0B326ABB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06B996-D67D-49FD-8A49-726365F927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t="3815" r="9625"/>
          <a:stretch/>
        </p:blipFill>
        <p:spPr>
          <a:xfrm>
            <a:off x="2369702" y="1502886"/>
            <a:ext cx="6853811" cy="466338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1F7E075-C7E1-4F9E-BDD1-610A7F2AB45F}"/>
              </a:ext>
            </a:extLst>
          </p:cNvPr>
          <p:cNvSpPr txBox="1"/>
          <p:nvPr/>
        </p:nvSpPr>
        <p:spPr>
          <a:xfrm>
            <a:off x="174421" y="1776413"/>
            <a:ext cx="2195281" cy="46166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3. </a:t>
            </a:r>
            <a:r>
              <a:rPr lang="fr-FR" sz="2400" b="1" u="sng" dirty="0">
                <a:solidFill>
                  <a:schemeClr val="accent5">
                    <a:lumMod val="75000"/>
                  </a:schemeClr>
                </a:solidFill>
              </a:rPr>
              <a:t>Identification</a:t>
            </a:r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C9C9FF60-FBE1-4FDA-960D-6E9046F3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421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8844" y="1272209"/>
              <a:ext cx="11688418" cy="459897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626165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1878497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20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200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sz="200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10 min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|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80°C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Para-</a:t>
                          </a:r>
                          <a:r>
                            <a:rPr lang="fr-FR" dirty="0" err="1"/>
                            <a:t>aminophénol</a:t>
                          </a:r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Paracétamol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5,50 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5,04.10</m:t>
                                    </m:r>
                                  </m:e>
                                  <m:sup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∼7,0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mL</m:t>
                                </m:r>
                              </m:oMath>
                            </m:oMathPara>
                          </a14:m>
                          <a:endParaRPr lang="fr-FR" sz="18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7,4.10</m:t>
                                    </m:r>
                                  </m:e>
                                  <m:sup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i="1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150579"/>
                  </p:ext>
                </p:extLst>
              </p:nvPr>
            </p:nvGraphicFramePr>
            <p:xfrm>
              <a:off x="188844" y="1272209"/>
              <a:ext cx="11688418" cy="459897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626165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1878497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1" r="-2364516" b="-1280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301" r="-318992" b="-1280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464078" t="-301" r="-300000" b="-1280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Para-</a:t>
                          </a:r>
                          <a:r>
                            <a:rPr lang="fr-FR" dirty="0" err="1"/>
                            <a:t>aminophénol</a:t>
                          </a:r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Paracétamol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t="-338843" r="-389796" b="-187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17922" t="-338843" r="-280779" b="-187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dirty="0"/>
                        </a:p>
                        <a:p>
                          <a:pPr algn="ctr"/>
                          <a:endParaRPr lang="fr-FR" sz="1600" i="1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du paracétamol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1034" name="Picture 10" descr="RÃ©sultat de recherche d'images pour &quot;anhydride acÃ©tique&quot;">
            <a:extLst>
              <a:ext uri="{FF2B5EF4-FFF2-40B4-BE49-F238E27FC236}">
                <a16:creationId xmlns:a16="http://schemas.microsoft.com/office/drawing/2014/main" id="{E8AD83C6-905C-422A-9A5C-16E3E87CD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83" y="1678830"/>
            <a:ext cx="2009315" cy="121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6" descr="RÃ©sultat de recherche d'images pour &quot;acetic acid formula&quot;">
            <a:extLst>
              <a:ext uri="{FF2B5EF4-FFF2-40B4-BE49-F238E27FC236}">
                <a16:creationId xmlns:a16="http://schemas.microsoft.com/office/drawing/2014/main" id="{336B0188-933B-4691-8595-AF824C48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404" y="1560751"/>
            <a:ext cx="1666030" cy="143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AE6B7E5-DE76-459D-808F-CB7DA18ADBC6}"/>
              </a:ext>
            </a:extLst>
          </p:cNvPr>
          <p:cNvCxnSpPr>
            <a:cxnSpLocks/>
          </p:cNvCxnSpPr>
          <p:nvPr/>
        </p:nvCxnSpPr>
        <p:spPr>
          <a:xfrm>
            <a:off x="5506279" y="2278181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980779F-CB53-4054-AF8D-5639B7B55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485350" y="4887843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89A4D45D-50FA-4667-A409-95AD102C10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3215810" y="4906987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8E92E10-DF28-45B0-9E7E-09DCF7629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604726" y="4485767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A7AD55EE-3E85-4368-B3DD-9D9499290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1834" r="35597" b="72176"/>
          <a:stretch/>
        </p:blipFill>
        <p:spPr bwMode="auto">
          <a:xfrm>
            <a:off x="4040027" y="4971746"/>
            <a:ext cx="953587" cy="89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15" descr="Image associÃ©e">
            <a:extLst>
              <a:ext uri="{FF2B5EF4-FFF2-40B4-BE49-F238E27FC236}">
                <a16:creationId xmlns:a16="http://schemas.microsoft.com/office/drawing/2014/main" id="{480AE5C0-D399-486D-83EE-56F85AC1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4713601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17" descr="Image associÃ©e">
            <a:extLst>
              <a:ext uri="{FF2B5EF4-FFF2-40B4-BE49-F238E27FC236}">
                <a16:creationId xmlns:a16="http://schemas.microsoft.com/office/drawing/2014/main" id="{B3B1A77B-B9F5-4AAB-A269-ED78E9D6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860" y="4706162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Ã©sultat de recherche d'images pour &quot;para-aminophÃ©nol&quot;">
            <a:extLst>
              <a:ext uri="{FF2B5EF4-FFF2-40B4-BE49-F238E27FC236}">
                <a16:creationId xmlns:a16="http://schemas.microsoft.com/office/drawing/2014/main" id="{F33B8B29-A9C2-419C-AF2F-9BD1FBC2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4" y="1620778"/>
            <a:ext cx="2496465" cy="131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D1F1E8E2-9B79-4929-A3AA-E98462883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031" y="1502283"/>
            <a:ext cx="2891545" cy="155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D201B2E4-3DD8-4EFB-859A-07E80DE0ED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7881182" y="4658963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8AA4DD8-C1F7-437C-993E-E8FAB63F754B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5795" y="4535094"/>
            <a:ext cx="774616" cy="778074"/>
          </a:xfrm>
          <a:prstGeom prst="rect">
            <a:avLst/>
          </a:prstGeom>
        </p:spPr>
      </p:pic>
      <p:pic>
        <p:nvPicPr>
          <p:cNvPr id="23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FDD4E8AD-6111-4897-B280-DFCC00758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41" t="64495" r="1919" b="8166"/>
          <a:stretch/>
        </p:blipFill>
        <p:spPr bwMode="auto">
          <a:xfrm>
            <a:off x="488125" y="4862184"/>
            <a:ext cx="1066665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4E47EE3C-9FE4-4DE0-A38B-9E501E2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112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D43-39A7-4ABE-832F-281A40E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infrarouge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E5ABC9-4E60-4C87-9AA7-9CF46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5F6C7A-7F7A-4581-B30D-5D89A643D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997" y="1308084"/>
            <a:ext cx="9796006" cy="4695151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E0501C4A-7FD3-426E-84E4-3F4687576FB2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3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2D676C49-65EE-49E6-862D-1417A4D5A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349" y="82658"/>
            <a:ext cx="2099460" cy="11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CA0954D2-21CD-40E0-AAF8-61E0D6D43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092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D43-39A7-4ABE-832F-281A40E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infrarouge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E5ABC9-4E60-4C87-9AA7-9CF46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5F6C7A-7F7A-4581-B30D-5D89A643D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997" y="1308084"/>
            <a:ext cx="9796006" cy="469515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3B12B5-478A-46AE-9234-263E79194918}"/>
              </a:ext>
            </a:extLst>
          </p:cNvPr>
          <p:cNvSpPr/>
          <p:nvPr/>
        </p:nvSpPr>
        <p:spPr>
          <a:xfrm>
            <a:off x="6927574" y="1381538"/>
            <a:ext cx="4066429" cy="4422913"/>
          </a:xfrm>
          <a:prstGeom prst="rect">
            <a:avLst/>
          </a:prstGeom>
          <a:solidFill>
            <a:schemeClr val="bg2">
              <a:lumMod val="75000"/>
              <a:alpha val="30196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fr-FR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fr-FR" sz="2000" b="1" dirty="0">
                <a:solidFill>
                  <a:schemeClr val="accent5">
                    <a:lumMod val="50000"/>
                  </a:schemeClr>
                </a:solidFill>
              </a:rPr>
              <a:t>Empreinte digitale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0501C4A-7FD3-426E-84E4-3F4687576FB2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3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EAAB277-D9B2-4F45-BC64-6F4944747CF0}"/>
              </a:ext>
            </a:extLst>
          </p:cNvPr>
          <p:cNvSpPr/>
          <p:nvPr/>
        </p:nvSpPr>
        <p:spPr>
          <a:xfrm>
            <a:off x="1623391" y="1381538"/>
            <a:ext cx="5304183" cy="44229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000" b="1" dirty="0">
                <a:solidFill>
                  <a:srgbClr val="C00000"/>
                </a:solidFill>
              </a:rPr>
              <a:t>Bandes caractéristiques</a:t>
            </a:r>
          </a:p>
        </p:txBody>
      </p:sp>
      <p:pic>
        <p:nvPicPr>
          <p:cNvPr id="28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A9B82F87-08A5-45E0-B32E-4245DAD1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349" y="82658"/>
            <a:ext cx="2099460" cy="11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01C05178-BCE7-41CB-A473-DFB3743E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99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9F63D-F7B6-480E-A705-F9EDF789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Reconnaissance de groupes caractéristiques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AA2535E-7D13-4C54-91FE-EDA4666F0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153" y="2458409"/>
            <a:ext cx="5131064" cy="29211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14097-49DC-43A3-931A-DDCE52DD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pic>
        <p:nvPicPr>
          <p:cNvPr id="8196" name="Picture 4" descr="RÃ©sultat de recherche d'images pour &quot;pentane&quot;">
            <a:extLst>
              <a:ext uri="{FF2B5EF4-FFF2-40B4-BE49-F238E27FC236}">
                <a16:creationId xmlns:a16="http://schemas.microsoft.com/office/drawing/2014/main" id="{8FF5BB60-7FCB-4BA3-B76E-AD00D1CDE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9" b="33722"/>
          <a:stretch/>
        </p:blipFill>
        <p:spPr bwMode="auto">
          <a:xfrm>
            <a:off x="4687060" y="1778090"/>
            <a:ext cx="2381250" cy="6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F4E75135-7D08-489B-B877-D0D9A4BC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41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9F63D-F7B6-480E-A705-F9EDF789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Reconnaissance de groupes caractéristiques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AA2535E-7D13-4C54-91FE-EDA4666F0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0" y="2498166"/>
            <a:ext cx="5131064" cy="29211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14097-49DC-43A3-931A-DDCE52DD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8</a:t>
            </a:fld>
            <a:endParaRPr lang="fr-FR"/>
          </a:p>
        </p:txBody>
      </p:sp>
      <p:pic>
        <p:nvPicPr>
          <p:cNvPr id="8196" name="Picture 4" descr="RÃ©sultat de recherche d'images pour &quot;pentane&quot;">
            <a:extLst>
              <a:ext uri="{FF2B5EF4-FFF2-40B4-BE49-F238E27FC236}">
                <a16:creationId xmlns:a16="http://schemas.microsoft.com/office/drawing/2014/main" id="{8FF5BB60-7FCB-4BA3-B76E-AD00D1CDE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9" b="33722"/>
          <a:stretch/>
        </p:blipFill>
        <p:spPr bwMode="auto">
          <a:xfrm>
            <a:off x="1745077" y="1817847"/>
            <a:ext cx="2381250" cy="6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5F552A7-F136-4670-B213-5FFE8C5E6B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231" y="2396972"/>
            <a:ext cx="5347252" cy="3134220"/>
          </a:xfrm>
          <a:prstGeom prst="rect">
            <a:avLst/>
          </a:prstGeom>
        </p:spPr>
      </p:pic>
      <p:pic>
        <p:nvPicPr>
          <p:cNvPr id="15" name="Picture 2" descr="Image illustrative de lâarticle Pentan-1-ol">
            <a:extLst>
              <a:ext uri="{FF2B5EF4-FFF2-40B4-BE49-F238E27FC236}">
                <a16:creationId xmlns:a16="http://schemas.microsoft.com/office/drawing/2014/main" id="{1CBBA802-1A6F-441B-9C08-7D05B765C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482" y="1650528"/>
            <a:ext cx="3714750" cy="84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0624948-D711-4CEF-9411-A811AAEF8C23}"/>
              </a:ext>
            </a:extLst>
          </p:cNvPr>
          <p:cNvSpPr txBox="1"/>
          <p:nvPr/>
        </p:nvSpPr>
        <p:spPr>
          <a:xfrm>
            <a:off x="2383339" y="5531192"/>
            <a:ext cx="1027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Pentane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7BC0793-56DB-48D0-A380-CB5BE2BF5B8D}"/>
              </a:ext>
            </a:extLst>
          </p:cNvPr>
          <p:cNvSpPr txBox="1"/>
          <p:nvPr/>
        </p:nvSpPr>
        <p:spPr>
          <a:xfrm>
            <a:off x="8093224" y="5531192"/>
            <a:ext cx="1376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Pentan-1-ol</a:t>
            </a:r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A4C0937B-8DC4-48DB-B1BC-7F75390F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849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9F63D-F7B6-480E-A705-F9EDF789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Reconnaissance de groupes caractéristiques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AA2535E-7D13-4C54-91FE-EDA4666F0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0" y="2498166"/>
            <a:ext cx="5131064" cy="29211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14097-49DC-43A3-931A-DDCE52DD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9</a:t>
            </a:fld>
            <a:endParaRPr lang="fr-FR"/>
          </a:p>
        </p:txBody>
      </p:sp>
      <p:pic>
        <p:nvPicPr>
          <p:cNvPr id="8196" name="Picture 4" descr="RÃ©sultat de recherche d'images pour &quot;pentane&quot;">
            <a:extLst>
              <a:ext uri="{FF2B5EF4-FFF2-40B4-BE49-F238E27FC236}">
                <a16:creationId xmlns:a16="http://schemas.microsoft.com/office/drawing/2014/main" id="{8FF5BB60-7FCB-4BA3-B76E-AD00D1CDE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9" b="33722"/>
          <a:stretch/>
        </p:blipFill>
        <p:spPr bwMode="auto">
          <a:xfrm>
            <a:off x="1745077" y="1817847"/>
            <a:ext cx="2381250" cy="6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D60C588-1458-462B-B49B-0FB122D718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98166"/>
            <a:ext cx="5174285" cy="3097209"/>
          </a:xfrm>
          <a:prstGeom prst="rect">
            <a:avLst/>
          </a:prstGeom>
        </p:spPr>
      </p:pic>
      <p:pic>
        <p:nvPicPr>
          <p:cNvPr id="9" name="Picture 4" descr="1-pentene.svg">
            <a:extLst>
              <a:ext uri="{FF2B5EF4-FFF2-40B4-BE49-F238E27FC236}">
                <a16:creationId xmlns:a16="http://schemas.microsoft.com/office/drawing/2014/main" id="{2EFE72F5-2128-4529-B2DA-4CF903F6A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2" b="18558"/>
          <a:stretch/>
        </p:blipFill>
        <p:spPr bwMode="auto">
          <a:xfrm>
            <a:off x="7142576" y="1723024"/>
            <a:ext cx="3081131" cy="70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E5DFF65-E9EB-4697-BE59-A1F849146EF7}"/>
              </a:ext>
            </a:extLst>
          </p:cNvPr>
          <p:cNvSpPr txBox="1"/>
          <p:nvPr/>
        </p:nvSpPr>
        <p:spPr>
          <a:xfrm>
            <a:off x="2383339" y="5531192"/>
            <a:ext cx="1027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Pentane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54CAFD1-EEE9-4A20-95EE-AF61A927AE4C}"/>
              </a:ext>
            </a:extLst>
          </p:cNvPr>
          <p:cNvSpPr txBox="1"/>
          <p:nvPr/>
        </p:nvSpPr>
        <p:spPr>
          <a:xfrm>
            <a:off x="8229725" y="5531192"/>
            <a:ext cx="1324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Pent-1-ène</a:t>
            </a:r>
          </a:p>
        </p:txBody>
      </p:sp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2931CB35-372D-4F97-B3B2-0229BD35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9853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9F63D-F7B6-480E-A705-F9EDF789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Reconnaissance de groupes caractéristiques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AA2535E-7D13-4C54-91FE-EDA4666F0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0" y="2498166"/>
            <a:ext cx="5131064" cy="29211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14097-49DC-43A3-931A-DDCE52DD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10</a:t>
            </a:fld>
            <a:endParaRPr lang="fr-FR"/>
          </a:p>
        </p:txBody>
      </p:sp>
      <p:pic>
        <p:nvPicPr>
          <p:cNvPr id="8196" name="Picture 4" descr="RÃ©sultat de recherche d'images pour &quot;pentane&quot;">
            <a:extLst>
              <a:ext uri="{FF2B5EF4-FFF2-40B4-BE49-F238E27FC236}">
                <a16:creationId xmlns:a16="http://schemas.microsoft.com/office/drawing/2014/main" id="{8FF5BB60-7FCB-4BA3-B76E-AD00D1CDE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9" b="33722"/>
          <a:stretch/>
        </p:blipFill>
        <p:spPr bwMode="auto">
          <a:xfrm>
            <a:off x="1745077" y="1817847"/>
            <a:ext cx="2381250" cy="6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F503F83-1EB9-47A2-8DBC-E5892B50B9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77"/>
          <a:stretch/>
        </p:blipFill>
        <p:spPr>
          <a:xfrm>
            <a:off x="6045839" y="2418061"/>
            <a:ext cx="5000773" cy="3001255"/>
          </a:xfrm>
          <a:prstGeom prst="rect">
            <a:avLst/>
          </a:prstGeom>
        </p:spPr>
      </p:pic>
      <p:pic>
        <p:nvPicPr>
          <p:cNvPr id="11" name="Picture 2" descr="RÃ©sultat de recherche d'images pour &quot;pentanal&quot;">
            <a:extLst>
              <a:ext uri="{FF2B5EF4-FFF2-40B4-BE49-F238E27FC236}">
                <a16:creationId xmlns:a16="http://schemas.microsoft.com/office/drawing/2014/main" id="{82721409-521F-45DE-B299-F0AABB899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97" y="1340478"/>
            <a:ext cx="2498607" cy="115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D27AF46F-56CD-4651-91A8-F5E0B6B6B879}"/>
              </a:ext>
            </a:extLst>
          </p:cNvPr>
          <p:cNvSpPr txBox="1"/>
          <p:nvPr/>
        </p:nvSpPr>
        <p:spPr>
          <a:xfrm>
            <a:off x="2383339" y="5531192"/>
            <a:ext cx="1027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Pentane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5557481-9668-4C10-8587-28D7817675DE}"/>
              </a:ext>
            </a:extLst>
          </p:cNvPr>
          <p:cNvSpPr txBox="1"/>
          <p:nvPr/>
        </p:nvSpPr>
        <p:spPr>
          <a:xfrm>
            <a:off x="8340192" y="5531192"/>
            <a:ext cx="1076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+mj-lt"/>
              </a:rPr>
              <a:t>Pentanal</a:t>
            </a:r>
            <a:endParaRPr lang="fr-FR" sz="2000" dirty="0">
              <a:latin typeface="+mj-lt"/>
            </a:endParaRPr>
          </a:p>
        </p:txBody>
      </p:sp>
      <p:sp>
        <p:nvSpPr>
          <p:cNvPr id="15" name="Espace réservé du pied de page 3">
            <a:extLst>
              <a:ext uri="{FF2B5EF4-FFF2-40B4-BE49-F238E27FC236}">
                <a16:creationId xmlns:a16="http://schemas.microsoft.com/office/drawing/2014/main" id="{8456A1EE-AF49-412A-B68E-81318861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934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9F63D-F7B6-480E-A705-F9EDF789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Reconnaissance de groupes caractéristiques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AA2535E-7D13-4C54-91FE-EDA4666F0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0" y="2498166"/>
            <a:ext cx="5131064" cy="29211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14097-49DC-43A3-931A-DDCE52DD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11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A6FCE9B-6320-4234-AE5D-7EB73E45C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617" y="2349610"/>
            <a:ext cx="5131063" cy="3132827"/>
          </a:xfrm>
          <a:prstGeom prst="rect">
            <a:avLst/>
          </a:prstGeom>
        </p:spPr>
      </p:pic>
      <p:pic>
        <p:nvPicPr>
          <p:cNvPr id="8194" name="Picture 2" descr="RÃ©sultat de recherche d'images pour &quot;pentylamine&quot;">
            <a:extLst>
              <a:ext uri="{FF2B5EF4-FFF2-40B4-BE49-F238E27FC236}">
                <a16:creationId xmlns:a16="http://schemas.microsoft.com/office/drawing/2014/main" id="{4B524D78-003E-458E-BBAA-4C88BDB2E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261" y="1711468"/>
            <a:ext cx="3558209" cy="78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Ã©sultat de recherche d'images pour &quot;pentane&quot;">
            <a:extLst>
              <a:ext uri="{FF2B5EF4-FFF2-40B4-BE49-F238E27FC236}">
                <a16:creationId xmlns:a16="http://schemas.microsoft.com/office/drawing/2014/main" id="{8FF5BB60-7FCB-4BA3-B76E-AD00D1CDE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9" b="33722"/>
          <a:stretch/>
        </p:blipFill>
        <p:spPr bwMode="auto">
          <a:xfrm>
            <a:off x="1745077" y="1817847"/>
            <a:ext cx="2381250" cy="6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119C087-2FD0-4011-A879-2D3B66595E32}"/>
              </a:ext>
            </a:extLst>
          </p:cNvPr>
          <p:cNvSpPr txBox="1"/>
          <p:nvPr/>
        </p:nvSpPr>
        <p:spPr>
          <a:xfrm>
            <a:off x="2383339" y="5531192"/>
            <a:ext cx="1027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Pentane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1C63EC-7392-4D61-8F05-B555A96EF83D}"/>
              </a:ext>
            </a:extLst>
          </p:cNvPr>
          <p:cNvSpPr txBox="1"/>
          <p:nvPr/>
        </p:nvSpPr>
        <p:spPr>
          <a:xfrm>
            <a:off x="7981622" y="5531192"/>
            <a:ext cx="1827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+mj-lt"/>
              </a:rPr>
              <a:t>Pentan-1-amine</a:t>
            </a:r>
          </a:p>
        </p:txBody>
      </p:sp>
      <p:sp>
        <p:nvSpPr>
          <p:cNvPr id="12" name="Espace réservé du pied de page 3">
            <a:extLst>
              <a:ext uri="{FF2B5EF4-FFF2-40B4-BE49-F238E27FC236}">
                <a16:creationId xmlns:a16="http://schemas.microsoft.com/office/drawing/2014/main" id="{AAC549AD-0F3B-4995-BA60-CAF01782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6854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E7771-B200-476B-84D3-73868C0B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de données IR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515135-53C9-41D3-AD72-FB464A2F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Espace réservé du contenu 3">
                <a:extLst>
                  <a:ext uri="{FF2B5EF4-FFF2-40B4-BE49-F238E27FC236}">
                    <a16:creationId xmlns:a16="http://schemas.microsoft.com/office/drawing/2014/main" id="{EB2E237C-FFBC-4A7F-91AC-1CD9CDD10AC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37492" y="1308761"/>
              <a:ext cx="11917016" cy="49458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93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9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8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766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27827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164519">
                      <a:extLst>
                        <a:ext uri="{9D8B030D-6E8A-4147-A177-3AD203B41FA5}">
                          <a16:colId xmlns:a16="http://schemas.microsoft.com/office/drawing/2014/main" val="3067414083"/>
                        </a:ext>
                      </a:extLst>
                    </a:gridCol>
                  </a:tblGrid>
                  <a:tr h="43100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</a:t>
                          </a:r>
                          <a:r>
                            <a:rPr lang="fr-FR" baseline="0" dirty="0"/>
                            <a:t> de liaison</a:t>
                          </a:r>
                          <a:endParaRPr lang="fr-F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baseline="0" smtClean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oMath>
                          </a14:m>
                          <a:r>
                            <a:rPr lang="fr-FR" dirty="0"/>
                            <a:t> (en </a:t>
                          </a:r>
                          <a14:m>
                            <m:oMath xmlns:m="http://schemas.openxmlformats.org/officeDocument/2006/math">
                              <m:r>
                                <a:rPr lang="fr-FR" b="1" i="0" smtClean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  <m:sSup>
                                <m:sSup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 i="0" smtClean="0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p>
                                  <m:r>
                                    <a:rPr lang="fr-FR" b="1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b="1" i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Largeur de la bande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Intensité</a:t>
                          </a:r>
                          <a:r>
                            <a:rPr lang="fr-FR" baseline="0" dirty="0"/>
                            <a:t> d’absorption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Remarques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8123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fr-FR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fr-FR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fr-FR" i="0" dirty="0"/>
                            <a:t> </a:t>
                          </a:r>
                        </a:p>
                        <a:p>
                          <a:pPr algn="ctr"/>
                          <a:r>
                            <a:rPr lang="fr-FR" i="0" dirty="0"/>
                            <a:t>hydroxyle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gazeuse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3600 – 3700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2183">
                    <a:tc vMerge="1"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condensée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3200 - 3400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se superpose à la précédente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8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3100 - 3500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(amine) à forte (amide)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double bande si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fr-FR" sz="16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fr-FR" sz="16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21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2900 - 3100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Peut descendre à 2700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fr-FR" sz="1600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600" i="0" dirty="0"/>
                            <a:t> pour</a:t>
                          </a:r>
                          <a:r>
                            <a:rPr lang="fr-FR" sz="1600" i="0" baseline="0" dirty="0"/>
                            <a:t> un aldéhyde</a:t>
                          </a:r>
                          <a:endParaRPr lang="fr-FR" sz="16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338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fr-FR" i="0" dirty="0"/>
                            <a:t> </a:t>
                          </a:r>
                          <a:r>
                            <a:rPr lang="fr-FR" sz="1600" i="0" dirty="0"/>
                            <a:t>carboxyle</a:t>
                          </a:r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2500 - 3200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i="0" dirty="0"/>
                            <a:t>se superpose aux C-H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22622"/>
                      </a:ext>
                    </a:extLst>
                  </a:tr>
                  <a:tr h="478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1650 - 1750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78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1600 - 1700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021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1560 - 1640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se superpose à C=O pour un amide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60577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Espace réservé du contenu 3">
                <a:extLst>
                  <a:ext uri="{FF2B5EF4-FFF2-40B4-BE49-F238E27FC236}">
                    <a16:creationId xmlns:a16="http://schemas.microsoft.com/office/drawing/2014/main" id="{EB2E237C-FFBC-4A7F-91AC-1CD9CDD10AC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37492" y="1308761"/>
              <a:ext cx="11917016" cy="49458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93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9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8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766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27827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164519">
                      <a:extLst>
                        <a:ext uri="{9D8B030D-6E8A-4147-A177-3AD203B41FA5}">
                          <a16:colId xmlns:a16="http://schemas.microsoft.com/office/drawing/2014/main" val="3067414083"/>
                        </a:ext>
                      </a:extLst>
                    </a:gridCol>
                  </a:tblGrid>
                  <a:tr h="431008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</a:t>
                          </a:r>
                          <a:r>
                            <a:rPr lang="fr-FR" baseline="0" dirty="0"/>
                            <a:t> de liaison</a:t>
                          </a:r>
                          <a:endParaRPr lang="fr-F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000" t="-1408" r="-325373" b="-10591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Largeur de la bande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Intensité</a:t>
                          </a:r>
                          <a:r>
                            <a:rPr lang="fr-FR" baseline="0" dirty="0"/>
                            <a:t> d’absorption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Remarques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8123">
                    <a:tc row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40678" r="-880000" b="-3248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gazeuse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3600 – 3700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2183">
                    <a:tc vMerge="1">
                      <a:txBody>
                        <a:bodyPr/>
                        <a:lstStyle/>
                        <a:p>
                          <a:pPr/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condensée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3200 - 3400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se superpose à la précédente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234906" r="-880000" b="-442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3100 - 3500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(amine) à forte (amide)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1268" t="-234906" r="-1127" b="-4424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218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358586" r="-880000" b="-373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2900 - 3100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1268" t="-358586" r="-1127" b="-373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3387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436538" r="-880000" b="-25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2500 - 3200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i="0" dirty="0"/>
                            <a:t>se superpose aux C-H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22622"/>
                      </a:ext>
                    </a:extLst>
                  </a:tr>
                  <a:tr h="47812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715385" r="-880000" b="-24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1650 - 1750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7812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805063" r="-880000" b="-1379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1600 - 1700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602183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" t="-722222" r="-880000" b="-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1560 - 1640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se superpose à C=O pour un amide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60577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68F0B887-DAC4-4408-8038-CB55F062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4517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02D43-39A7-4ABE-832F-281A40E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: paracétamol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E5ABC9-4E60-4C87-9AA7-9CF46036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13</a:t>
            </a:fld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45F6C7A-7F7A-4581-B30D-5D89A643D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997" y="1308084"/>
            <a:ext cx="9796006" cy="469515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3B12B5-478A-46AE-9234-263E79194918}"/>
              </a:ext>
            </a:extLst>
          </p:cNvPr>
          <p:cNvSpPr/>
          <p:nvPr/>
        </p:nvSpPr>
        <p:spPr>
          <a:xfrm>
            <a:off x="6927574" y="1381538"/>
            <a:ext cx="4066429" cy="4422913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56E1B36-4352-4E8C-B760-476FE4BE2B91}"/>
                  </a:ext>
                </a:extLst>
              </p:cNvPr>
              <p:cNvSpPr txBox="1"/>
              <p:nvPr/>
            </p:nvSpPr>
            <p:spPr>
              <a:xfrm>
                <a:off x="1666266" y="4620458"/>
                <a:ext cx="2130482" cy="89255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: 3300 - 3500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fr-FR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(amide)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56E1B36-4352-4E8C-B760-476FE4BE2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266" y="4620458"/>
                <a:ext cx="2130482" cy="892552"/>
              </a:xfrm>
              <a:prstGeom prst="rect">
                <a:avLst/>
              </a:prstGeom>
              <a:blipFill>
                <a:blip r:embed="rId3"/>
                <a:stretch>
                  <a:fillRect l="-845" t="-1325" b="-728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llipse 17">
            <a:extLst>
              <a:ext uri="{FF2B5EF4-FFF2-40B4-BE49-F238E27FC236}">
                <a16:creationId xmlns:a16="http://schemas.microsoft.com/office/drawing/2014/main" id="{B60E797F-6A6B-4D2A-80F5-6D776A23A496}"/>
              </a:ext>
            </a:extLst>
          </p:cNvPr>
          <p:cNvSpPr/>
          <p:nvPr/>
        </p:nvSpPr>
        <p:spPr>
          <a:xfrm>
            <a:off x="2738369" y="2646397"/>
            <a:ext cx="173796" cy="1893194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1ADBB69-103B-4391-9516-45F3E53F89EE}"/>
                  </a:ext>
                </a:extLst>
              </p:cNvPr>
              <p:cNvSpPr txBox="1"/>
              <p:nvPr/>
            </p:nvSpPr>
            <p:spPr>
              <a:xfrm>
                <a:off x="3550066" y="2454221"/>
                <a:ext cx="2171839" cy="615553"/>
              </a:xfrm>
              <a:prstGeom prst="rect">
                <a:avLst/>
              </a:prstGeom>
              <a:noFill/>
              <a:ln w="2857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</a:t>
                </a:r>
                <a:r>
                  <a:rPr lang="fr-FR" sz="1600" i="1" dirty="0">
                    <a:latin typeface="Cambria Math" panose="02040503050406030204" pitchFamily="18" charset="0"/>
                  </a:rPr>
                  <a:t>30</a:t>
                </a:r>
                <a:r>
                  <a:rPr lang="fr-FR" sz="1600" b="0" i="1" dirty="0">
                    <a:latin typeface="Cambria Math" panose="02040503050406030204" pitchFamily="18" charset="0"/>
                  </a:rPr>
                  <a:t>00 – 3200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1ADBB69-103B-4391-9516-45F3E53F8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066" y="2454221"/>
                <a:ext cx="2171839" cy="615553"/>
              </a:xfrm>
              <a:prstGeom prst="rect">
                <a:avLst/>
              </a:prstGeom>
              <a:blipFill>
                <a:blip r:embed="rId4"/>
                <a:stretch>
                  <a:fillRect l="-829" t="-1887"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lipse 19">
            <a:extLst>
              <a:ext uri="{FF2B5EF4-FFF2-40B4-BE49-F238E27FC236}">
                <a16:creationId xmlns:a16="http://schemas.microsoft.com/office/drawing/2014/main" id="{698DF5B9-E024-4855-B338-07DF070125DF}"/>
              </a:ext>
            </a:extLst>
          </p:cNvPr>
          <p:cNvSpPr/>
          <p:nvPr/>
        </p:nvSpPr>
        <p:spPr>
          <a:xfrm>
            <a:off x="2951920" y="2355574"/>
            <a:ext cx="427383" cy="2156336"/>
          </a:xfrm>
          <a:prstGeom prst="ellipse">
            <a:avLst/>
          </a:prstGeom>
          <a:solidFill>
            <a:srgbClr val="92D05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A16AC5F-1024-4C7C-80BC-EDA19F0F239A}"/>
                  </a:ext>
                </a:extLst>
              </p:cNvPr>
              <p:cNvSpPr txBox="1"/>
              <p:nvPr/>
            </p:nvSpPr>
            <p:spPr>
              <a:xfrm>
                <a:off x="4079406" y="4879213"/>
                <a:ext cx="2171839" cy="615553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1650 - 1700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A16AC5F-1024-4C7C-80BC-EDA19F0F2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406" y="4879213"/>
                <a:ext cx="2171839" cy="615553"/>
              </a:xfrm>
              <a:prstGeom prst="rect">
                <a:avLst/>
              </a:prstGeom>
              <a:blipFill>
                <a:blip r:embed="rId5"/>
                <a:stretch>
                  <a:fillRect l="-831" t="-1887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lipse 21">
            <a:extLst>
              <a:ext uri="{FF2B5EF4-FFF2-40B4-BE49-F238E27FC236}">
                <a16:creationId xmlns:a16="http://schemas.microsoft.com/office/drawing/2014/main" id="{399CA056-6A73-4F49-BC14-1AA2BC86DC64}"/>
              </a:ext>
            </a:extLst>
          </p:cNvPr>
          <p:cNvSpPr/>
          <p:nvPr/>
        </p:nvSpPr>
        <p:spPr>
          <a:xfrm>
            <a:off x="6331226" y="2107096"/>
            <a:ext cx="238539" cy="3652135"/>
          </a:xfrm>
          <a:prstGeom prst="ellipse">
            <a:avLst/>
          </a:prstGeom>
          <a:solidFill>
            <a:srgbClr val="1CADE4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E816F4F-B0E0-404F-93C2-0AA1E5CDA114}"/>
              </a:ext>
            </a:extLst>
          </p:cNvPr>
          <p:cNvSpPr/>
          <p:nvPr/>
        </p:nvSpPr>
        <p:spPr>
          <a:xfrm>
            <a:off x="6555995" y="2107096"/>
            <a:ext cx="335135" cy="3187045"/>
          </a:xfrm>
          <a:prstGeom prst="ellipse">
            <a:avLst/>
          </a:prstGeom>
          <a:solidFill>
            <a:srgbClr val="7030A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9C54FDF-1305-458F-9076-13CD4B204714}"/>
                  </a:ext>
                </a:extLst>
              </p:cNvPr>
              <p:cNvSpPr txBox="1"/>
              <p:nvPr/>
            </p:nvSpPr>
            <p:spPr>
              <a:xfrm>
                <a:off x="7006568" y="4688528"/>
                <a:ext cx="1660353" cy="886205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fr-FR" sz="1600" b="0" i="1" dirty="0">
                    <a:latin typeface="Cambria Math" panose="02040503050406030204" pitchFamily="18" charset="0"/>
                  </a:rPr>
                  <a:t>1600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(+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600" dirty="0"/>
                  <a:t> </a:t>
                </a:r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09C54FDF-1305-458F-9076-13CD4B204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568" y="4688528"/>
                <a:ext cx="1660353" cy="886205"/>
              </a:xfrm>
              <a:prstGeom prst="rect">
                <a:avLst/>
              </a:prstGeom>
              <a:blipFill>
                <a:blip r:embed="rId6"/>
                <a:stretch>
                  <a:fillRect l="-1079" t="-1333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ZoneTexte 24">
            <a:extLst>
              <a:ext uri="{FF2B5EF4-FFF2-40B4-BE49-F238E27FC236}">
                <a16:creationId xmlns:a16="http://schemas.microsoft.com/office/drawing/2014/main" id="{E0501C4A-7FD3-426E-84E4-3F4687576FB2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91CBD6FD-A919-4853-BE6F-F0B62AF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7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08E193AA-7AF1-4F1F-AEC8-A456D04F9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349" y="82658"/>
            <a:ext cx="2099460" cy="11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Espace réservé du pied de page 3">
            <a:extLst>
              <a:ext uri="{FF2B5EF4-FFF2-40B4-BE49-F238E27FC236}">
                <a16:creationId xmlns:a16="http://schemas.microsoft.com/office/drawing/2014/main" id="{FAED70E8-4B81-495D-BBD7-726BE8F5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593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2B3E2-8FF4-41F6-9076-53F0BFD9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: indigo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E411FD-3062-4995-9AAB-CC8DACC3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93500F-4C99-4B3C-9CF2-5F27C141EB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85"/>
          <a:stretch/>
        </p:blipFill>
        <p:spPr>
          <a:xfrm>
            <a:off x="1197997" y="1302025"/>
            <a:ext cx="9796006" cy="46892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945A89-7155-4B1E-B981-AE87FA3ED9B9}"/>
              </a:ext>
            </a:extLst>
          </p:cNvPr>
          <p:cNvSpPr/>
          <p:nvPr/>
        </p:nvSpPr>
        <p:spPr>
          <a:xfrm>
            <a:off x="6914074" y="1401416"/>
            <a:ext cx="4079930" cy="4373219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118E20-851E-4691-8821-7650B8CA3804}"/>
              </a:ext>
            </a:extLst>
          </p:cNvPr>
          <p:cNvSpPr txBox="1"/>
          <p:nvPr/>
        </p:nvSpPr>
        <p:spPr>
          <a:xfrm rot="16200000">
            <a:off x="241307" y="3591561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EAB9ED4-7EAB-4D31-8018-3C5CC5FB043C}"/>
                  </a:ext>
                </a:extLst>
              </p:cNvPr>
              <p:cNvSpPr txBox="1"/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Nombre d’onde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EAB9ED4-7EAB-4D31-8018-3C5CC5FB0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36" y="5968661"/>
                <a:ext cx="2261517" cy="338554"/>
              </a:xfrm>
              <a:prstGeom prst="rect">
                <a:avLst/>
              </a:prstGeom>
              <a:blipFill>
                <a:blip r:embed="rId3"/>
                <a:stretch>
                  <a:fillRect l="-1617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Image illustrative de lâarticle Indigo (teinture)">
            <a:extLst>
              <a:ext uri="{FF2B5EF4-FFF2-40B4-BE49-F238E27FC236}">
                <a16:creationId xmlns:a16="http://schemas.microsoft.com/office/drawing/2014/main" id="{88C734C5-2A78-4891-81D8-0F5C3C2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965" y="3716471"/>
            <a:ext cx="3763123" cy="209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3AC7FA3F-991B-4274-A96F-0208A788D538}"/>
              </a:ext>
            </a:extLst>
          </p:cNvPr>
          <p:cNvSpPr/>
          <p:nvPr/>
        </p:nvSpPr>
        <p:spPr>
          <a:xfrm rot="904014">
            <a:off x="4138493" y="4909594"/>
            <a:ext cx="452498" cy="854002"/>
          </a:xfrm>
          <a:prstGeom prst="ellipse">
            <a:avLst/>
          </a:prstGeom>
          <a:solidFill>
            <a:srgbClr val="1CADE4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0B06DA3-1832-46B0-951D-C6072EE3BC8E}"/>
              </a:ext>
            </a:extLst>
          </p:cNvPr>
          <p:cNvSpPr/>
          <p:nvPr/>
        </p:nvSpPr>
        <p:spPr>
          <a:xfrm rot="904014">
            <a:off x="3277554" y="3728978"/>
            <a:ext cx="452498" cy="854002"/>
          </a:xfrm>
          <a:prstGeom prst="ellipse">
            <a:avLst/>
          </a:prstGeom>
          <a:solidFill>
            <a:srgbClr val="1CADE4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3DAD392-0E13-452D-9B31-007E700C9CEC}"/>
              </a:ext>
            </a:extLst>
          </p:cNvPr>
          <p:cNvSpPr/>
          <p:nvPr/>
        </p:nvSpPr>
        <p:spPr>
          <a:xfrm>
            <a:off x="6422578" y="2008509"/>
            <a:ext cx="338555" cy="3652135"/>
          </a:xfrm>
          <a:prstGeom prst="ellipse">
            <a:avLst/>
          </a:prstGeom>
          <a:solidFill>
            <a:srgbClr val="1CADE4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7E53527-26C9-4099-BF6F-95F37D83F0C8}"/>
              </a:ext>
            </a:extLst>
          </p:cNvPr>
          <p:cNvSpPr/>
          <p:nvPr/>
        </p:nvSpPr>
        <p:spPr>
          <a:xfrm>
            <a:off x="3271787" y="4885338"/>
            <a:ext cx="333869" cy="690515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9E6C4A9-E94D-42FE-A65B-4D794C9C7452}"/>
              </a:ext>
            </a:extLst>
          </p:cNvPr>
          <p:cNvSpPr/>
          <p:nvPr/>
        </p:nvSpPr>
        <p:spPr>
          <a:xfrm>
            <a:off x="4272827" y="3967516"/>
            <a:ext cx="333869" cy="690515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8094A04-0AB1-479A-AE8A-83D96D23B912}"/>
              </a:ext>
            </a:extLst>
          </p:cNvPr>
          <p:cNvSpPr/>
          <p:nvPr/>
        </p:nvSpPr>
        <p:spPr>
          <a:xfrm>
            <a:off x="2597661" y="1659835"/>
            <a:ext cx="674126" cy="2234591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D174F808-8E37-428A-9D27-4FB9E883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0035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ECAE3-EBCD-48E5-8A5B-83D8F4E8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Comparaison de deux spectres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727CFB-2584-4199-9974-E5E70497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81827C-470F-4A91-B237-47F2F5DA0D3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798005"/>
            <a:ext cx="5917440" cy="326198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9EA9C2B-DA4C-4110-8605-113FAA0E82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6601" b="19035"/>
          <a:stretch/>
        </p:blipFill>
        <p:spPr>
          <a:xfrm>
            <a:off x="6203338" y="1897779"/>
            <a:ext cx="5485080" cy="3062439"/>
          </a:xfrm>
          <a:prstGeom prst="rect">
            <a:avLst/>
          </a:prstGeom>
        </p:spPr>
      </p:pic>
      <p:pic>
        <p:nvPicPr>
          <p:cNvPr id="1036" name="Picture 12" descr="Fichier:Ethanol-2D-skeletal.svg">
            <a:extLst>
              <a:ext uri="{FF2B5EF4-FFF2-40B4-BE49-F238E27FC236}">
                <a16:creationId xmlns:a16="http://schemas.microsoft.com/office/drawing/2014/main" id="{CBF047A0-7978-46ED-AD4A-7CB7392D4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499" y="3428998"/>
            <a:ext cx="1709401" cy="65598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illustrative de lâarticle Propan-1-ol">
            <a:extLst>
              <a:ext uri="{FF2B5EF4-FFF2-40B4-BE49-F238E27FC236}">
                <a16:creationId xmlns:a16="http://schemas.microsoft.com/office/drawing/2014/main" id="{D9E3D44D-F04F-42C8-80F1-1112BCF3E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970" y="4023246"/>
            <a:ext cx="2221819" cy="58322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C77F7312-FC66-4C96-8375-38655A79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234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0F27F97-1E5D-4515-834F-41B9ECD41D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6601" b="23168"/>
          <a:stretch/>
        </p:blipFill>
        <p:spPr>
          <a:xfrm>
            <a:off x="2465410" y="1763759"/>
            <a:ext cx="6559321" cy="34045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281827C-470F-4A91-B237-47F2F5DA0D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6559" y="1624367"/>
            <a:ext cx="7033538" cy="387723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0CECAE3-EBCD-48E5-8A5B-83D8F4E8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Comparaison de deux spectres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727CFB-2584-4199-9974-E5E70497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16</a:t>
            </a:fld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57FB12A-6250-4107-B390-276A093DBD24}"/>
              </a:ext>
            </a:extLst>
          </p:cNvPr>
          <p:cNvSpPr/>
          <p:nvPr/>
        </p:nvSpPr>
        <p:spPr>
          <a:xfrm>
            <a:off x="6887817" y="1848678"/>
            <a:ext cx="2136914" cy="3220278"/>
          </a:xfrm>
          <a:prstGeom prst="roundRect">
            <a:avLst/>
          </a:prstGeom>
          <a:solidFill>
            <a:srgbClr val="A9D8B7">
              <a:alpha val="20000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41A0A8AE-E784-48C1-BA79-A4F8AEC35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501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786DE-A182-401F-AFC7-058C34F5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Spectroscopie RMN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0BC556-12C0-484F-BF19-0D9A761C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447215-DD74-4863-B677-44BCCF95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8" y="1421087"/>
            <a:ext cx="5905500" cy="43338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5F32FE4-1217-4EF6-A2A0-E0B3D776A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1087"/>
            <a:ext cx="5905500" cy="4333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D285D8D-C12E-4B1B-867C-5CA7526C16BA}"/>
                  </a:ext>
                </a:extLst>
              </p:cNvPr>
              <p:cNvSpPr txBox="1"/>
              <p:nvPr/>
            </p:nvSpPr>
            <p:spPr>
              <a:xfrm>
                <a:off x="2797865" y="5466936"/>
                <a:ext cx="75443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fr-FR" dirty="0"/>
                  <a:t> (ppm)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D285D8D-C12E-4B1B-867C-5CA7526C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65" y="5466936"/>
                <a:ext cx="754437" cy="276999"/>
              </a:xfrm>
              <a:prstGeom prst="rect">
                <a:avLst/>
              </a:prstGeom>
              <a:blipFill>
                <a:blip r:embed="rId4"/>
                <a:stretch>
                  <a:fillRect l="-11290" t="-28889" r="-19355" b="-5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D7AA6D6-12D4-4623-8032-E46D6047AB83}"/>
                  </a:ext>
                </a:extLst>
              </p:cNvPr>
              <p:cNvSpPr txBox="1"/>
              <p:nvPr/>
            </p:nvSpPr>
            <p:spPr>
              <a:xfrm>
                <a:off x="8639698" y="5466935"/>
                <a:ext cx="75443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fr-FR" dirty="0"/>
                  <a:t> (ppm)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D7AA6D6-12D4-4623-8032-E46D6047A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698" y="5466935"/>
                <a:ext cx="754437" cy="276999"/>
              </a:xfrm>
              <a:prstGeom prst="rect">
                <a:avLst/>
              </a:prstGeom>
              <a:blipFill>
                <a:blip r:embed="rId5"/>
                <a:stretch>
                  <a:fillRect l="-11290" t="-28889" r="-20161" b="-5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12" descr="Fichier:Ethanol-2D-skeletal.svg">
            <a:extLst>
              <a:ext uri="{FF2B5EF4-FFF2-40B4-BE49-F238E27FC236}">
                <a16:creationId xmlns:a16="http://schemas.microsoft.com/office/drawing/2014/main" id="{6C8F5817-0D72-42FD-AA3D-6196AF948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07" y="2703442"/>
            <a:ext cx="1709401" cy="65598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Image illustrative de lâarticle Propan-1-ol">
            <a:extLst>
              <a:ext uri="{FF2B5EF4-FFF2-40B4-BE49-F238E27FC236}">
                <a16:creationId xmlns:a16="http://schemas.microsoft.com/office/drawing/2014/main" id="{3BA959D5-1EAB-4CEA-AB19-4DA1CBA84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097" y="2736439"/>
            <a:ext cx="2221819" cy="58322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6F866C5D-5845-4733-AC50-3787997A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6938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2CBF937-C897-48E5-AB89-ED91F3FF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RMN : déplacement chimique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BDDC542-6889-4722-846A-0572835F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18</a:t>
            </a:fld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47E4CACE-E158-4DFB-83F0-24C99346BAB2}"/>
              </a:ext>
            </a:extLst>
          </p:cNvPr>
          <p:cNvSpPr txBox="1">
            <a:spLocks/>
          </p:cNvSpPr>
          <p:nvPr/>
        </p:nvSpPr>
        <p:spPr>
          <a:xfrm>
            <a:off x="1097280" y="1410942"/>
            <a:ext cx="4937760" cy="73628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SPECTRE RMN DE L’ETHANE</a:t>
            </a:r>
          </a:p>
        </p:txBody>
      </p:sp>
      <p:pic>
        <p:nvPicPr>
          <p:cNvPr id="7" name="Espace réservé du contenu 8">
            <a:extLst>
              <a:ext uri="{FF2B5EF4-FFF2-40B4-BE49-F238E27FC236}">
                <a16:creationId xmlns:a16="http://schemas.microsoft.com/office/drawing/2014/main" id="{A12DA6EE-D73C-411E-8EE3-A70A4606E9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9" t="3218" r="10035" b="56813"/>
          <a:stretch/>
        </p:blipFill>
        <p:spPr>
          <a:xfrm>
            <a:off x="450330" y="1979799"/>
            <a:ext cx="5346171" cy="4058798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4816492-AD16-42FA-A9A3-FFAB6B92539E}"/>
              </a:ext>
            </a:extLst>
          </p:cNvPr>
          <p:cNvSpPr txBox="1">
            <a:spLocks/>
          </p:cNvSpPr>
          <p:nvPr/>
        </p:nvSpPr>
        <p:spPr>
          <a:xfrm>
            <a:off x="6354806" y="1410942"/>
            <a:ext cx="4937760" cy="73628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SPECTRE RMN DU METHOXYETHANE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6BA2284E-9075-46A4-B0E1-5833529683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3" t="43928" r="10337" b="16988"/>
          <a:stretch/>
        </p:blipFill>
        <p:spPr>
          <a:xfrm>
            <a:off x="6262346" y="1979799"/>
            <a:ext cx="5496065" cy="4072885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87537E2-37D4-4118-9C5B-87E7448ACA6C}"/>
              </a:ext>
            </a:extLst>
          </p:cNvPr>
          <p:cNvSpPr/>
          <p:nvPr/>
        </p:nvSpPr>
        <p:spPr>
          <a:xfrm>
            <a:off x="6303291" y="2125014"/>
            <a:ext cx="563674" cy="591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032410-E828-41DB-8310-8FC129A0CDE0}"/>
              </a:ext>
            </a:extLst>
          </p:cNvPr>
          <p:cNvSpPr/>
          <p:nvPr/>
        </p:nvSpPr>
        <p:spPr>
          <a:xfrm>
            <a:off x="493850" y="2220255"/>
            <a:ext cx="563674" cy="591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pied de page 3">
            <a:extLst>
              <a:ext uri="{FF2B5EF4-FFF2-40B4-BE49-F238E27FC236}">
                <a16:creationId xmlns:a16="http://schemas.microsoft.com/office/drawing/2014/main" id="{36FE3762-7B27-479A-9E83-D58B46B0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3725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C252F-F918-4ABE-8F07-7D39211E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de déplacements chimiques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0418EA8-5544-4C12-B62A-CB1A474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19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F71736B6-BD2D-49D0-8B6B-34B667A3082A}"/>
                  </a:ext>
                </a:extLst>
              </p:cNvPr>
              <p:cNvGraphicFramePr>
                <a:graphicFrameLocks/>
              </p:cNvGraphicFramePr>
              <p:nvPr>
                <p:extLst/>
              </p:nvPr>
            </p:nvGraphicFramePr>
            <p:xfrm>
              <a:off x="347730" y="1380997"/>
              <a:ext cx="11512064" cy="45304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852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500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768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995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</a:t>
                          </a:r>
                          <a:r>
                            <a:rPr lang="fr-FR" baseline="0" dirty="0"/>
                            <a:t> de proton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fr-FR" b="1" i="0" smtClean="0">
                                    <a:latin typeface="Cambria Math" panose="02040503050406030204" pitchFamily="18" charset="0"/>
                                  </a:rPr>
                                  <m:t>𝐩𝐩𝐦</m:t>
                                </m:r>
                                <m:r>
                                  <a:rPr lang="fr-F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55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d’un alcane ou</a:t>
                          </a:r>
                          <a:r>
                            <a:rPr lang="fr-FR" baseline="0" dirty="0"/>
                            <a:t> de </a:t>
                          </a:r>
                          <a:r>
                            <a:rPr lang="fr-FR" b="1" baseline="0" dirty="0"/>
                            <a:t>chaîne carbonée éloignée d’atomes électronégatifs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b="1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0,8 −2,5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0814">
                    <a:tc>
                      <a:txBody>
                        <a:bodyPr/>
                        <a:lstStyle/>
                        <a:p>
                          <a:pPr algn="l"/>
                          <a:endParaRPr lang="fr-FR" dirty="0"/>
                        </a:p>
                        <a:p>
                          <a:pPr algn="l"/>
                          <a:r>
                            <a:rPr lang="fr-FR" dirty="0"/>
                            <a:t>Proton sur un atome de carbone lié à</a:t>
                          </a:r>
                          <a:r>
                            <a:rPr lang="fr-FR" baseline="0" dirty="0"/>
                            <a:t> un </a:t>
                          </a:r>
                          <a:r>
                            <a:rPr lang="fr-FR" b="1" baseline="0" dirty="0"/>
                            <a:t>atome électronégatif</a:t>
                          </a:r>
                        </a:p>
                        <a:p>
                          <a:pPr algn="l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OH</m:t>
                                </m:r>
                              </m:oMath>
                            </m:oMathPara>
                          </a14:m>
                          <a:endParaRPr lang="fr-FR" b="0" i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b="1" i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Cl</m:t>
                                </m:r>
                              </m:oMath>
                            </m:oMathPara>
                          </a14:m>
                          <a:endParaRPr lang="fr-FR" b="0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3,1 −5,0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311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lié à un atome de carbone d’une </a:t>
                          </a:r>
                          <a:r>
                            <a:rPr lang="fr-FR" b="1" dirty="0"/>
                            <a:t>double liaison </a:t>
                          </a:r>
                          <a14:m>
                            <m:oMath xmlns:m="http://schemas.openxmlformats.org/officeDocument/2006/math"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oMath>
                          </a14:m>
                          <a:r>
                            <a:rPr lang="fr-FR" b="1" dirty="0"/>
                            <a:t> </a:t>
                          </a:r>
                          <a:r>
                            <a:rPr lang="fr-FR" dirty="0"/>
                            <a:t>d’un alcène ou</a:t>
                          </a:r>
                          <a:r>
                            <a:rPr lang="fr-FR" baseline="0" dirty="0"/>
                            <a:t> d’un cycle.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4,5−6,0</m:t>
                              </m:r>
                            </m:oMath>
                          </a14:m>
                          <a:r>
                            <a:rPr lang="fr-FR" dirty="0"/>
                            <a:t> pour l’alcène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6,5 −8,2</m:t>
                              </m:r>
                            </m:oMath>
                          </a14:m>
                          <a:r>
                            <a:rPr lang="fr-FR" dirty="0"/>
                            <a:t> pour</a:t>
                          </a:r>
                          <a:r>
                            <a:rPr lang="fr-FR" baseline="0" dirty="0"/>
                            <a:t> le cycle</a:t>
                          </a:r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167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lié à l’</a:t>
                          </a:r>
                          <a:r>
                            <a:rPr lang="fr-FR" b="1" dirty="0"/>
                            <a:t>atome de carbone d’un groupe carbonyle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fr-FR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9,5 −11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412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lié</a:t>
                          </a:r>
                          <a:r>
                            <a:rPr lang="fr-FR" baseline="0" dirty="0"/>
                            <a:t> à </a:t>
                          </a:r>
                          <a:r>
                            <a:rPr lang="fr-FR" b="1" baseline="0" dirty="0"/>
                            <a:t>d’un groupe carboxyle</a:t>
                          </a:r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oMath>
                            </m:oMathPara>
                          </a14:m>
                          <a:endParaRPr lang="fr-FR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10,5 −12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655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b="0" dirty="0"/>
                            <a:t>Proton </a:t>
                          </a:r>
                          <a:r>
                            <a:rPr lang="fr-FR" b="1" dirty="0"/>
                            <a:t>d’un groupe hydroxyle ou </a:t>
                          </a:r>
                          <a:r>
                            <a:rPr lang="fr-FR" b="1" dirty="0" err="1"/>
                            <a:t>amino</a:t>
                          </a:r>
                          <a:endParaRPr lang="fr-FR" b="1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  <m:r>
                                  <a:rPr lang="fr-FR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oMath>
                            </m:oMathPara>
                          </a14:m>
                          <a:endParaRPr lang="fr-FR" b="1" i="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sSub>
                                  <m:sSubPr>
                                    <m:ctrlPr>
                                      <a:rPr lang="fr-FR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  <m:sub>
                                    <m:r>
                                      <a:rPr lang="fr-FR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0,5 −5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F71736B6-BD2D-49D0-8B6B-34B667A3082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69202093"/>
                  </p:ext>
                </p:extLst>
              </p:nvPr>
            </p:nvGraphicFramePr>
            <p:xfrm>
              <a:off x="347730" y="1380997"/>
              <a:ext cx="11512064" cy="45304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852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500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768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995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</a:t>
                          </a:r>
                          <a:r>
                            <a:rPr lang="fr-FR" baseline="0" dirty="0"/>
                            <a:t> de proton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Exemple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1020" r="-985" b="-6612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55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d’un alcane ou</a:t>
                          </a:r>
                          <a:r>
                            <a:rPr lang="fr-FR" baseline="0" dirty="0"/>
                            <a:t> de </a:t>
                          </a:r>
                          <a:r>
                            <a:rPr lang="fr-FR" b="1" baseline="0" dirty="0"/>
                            <a:t>chaîne carbonée éloignée d’atomes électronégatifs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19" t="-90000" r="-90708" b="-48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90000" r="-985" b="-48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0814">
                    <a:tc>
                      <a:txBody>
                        <a:bodyPr/>
                        <a:lstStyle/>
                        <a:p>
                          <a:pPr algn="l"/>
                          <a:endParaRPr lang="fr-FR" dirty="0"/>
                        </a:p>
                        <a:p>
                          <a:pPr algn="l"/>
                          <a:r>
                            <a:rPr lang="fr-FR" dirty="0"/>
                            <a:t>Proton sur un atome de carbone lié à</a:t>
                          </a:r>
                          <a:r>
                            <a:rPr lang="fr-FR" baseline="0" dirty="0"/>
                            <a:t> un </a:t>
                          </a:r>
                          <a:r>
                            <a:rPr lang="fr-FR" b="1" baseline="0" dirty="0"/>
                            <a:t>atome électronégatif</a:t>
                          </a:r>
                        </a:p>
                        <a:p>
                          <a:pPr algn="l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19" t="-133974" r="-90708" b="-24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133974" r="-985" b="-24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311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7" t="-306723" r="-83608" b="-2210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19" t="-306723" r="-90708" b="-2210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306723" r="-985" b="-2210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167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lié à l’</a:t>
                          </a:r>
                          <a:r>
                            <a:rPr lang="fr-FR" b="1" dirty="0"/>
                            <a:t>atome de carbone d’un groupe carbonyle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19" t="-628571" r="-90708" b="-241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628571" r="-985" b="-241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412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dirty="0"/>
                            <a:t>Proton lié</a:t>
                          </a:r>
                          <a:r>
                            <a:rPr lang="fr-FR" baseline="0" dirty="0"/>
                            <a:t> à </a:t>
                          </a:r>
                          <a:r>
                            <a:rPr lang="fr-FR" b="1" baseline="0" dirty="0"/>
                            <a:t>d’un groupe carboxyle</a:t>
                          </a:r>
                          <a:endParaRPr lang="fr-FR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19" t="-748000" r="-90708" b="-1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748000" r="-985" b="-14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655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b="0" dirty="0"/>
                            <a:t>Proton </a:t>
                          </a:r>
                          <a:r>
                            <a:rPr lang="fr-FR" b="1" dirty="0"/>
                            <a:t>d’un groupe hydroxyle ou </a:t>
                          </a:r>
                          <a:r>
                            <a:rPr lang="fr-FR" b="1" dirty="0" err="1"/>
                            <a:t>amino</a:t>
                          </a:r>
                          <a:endParaRPr lang="fr-FR" b="1" baseline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8319" t="-583486" r="-90708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5517" t="-583486" r="-985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508BA26F-F644-489C-8C8F-0AB57262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458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E906E3-5816-4C45-9D94-39C41E2F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20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0C4847-9F6C-414E-8DF1-6B3A422D4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21" y="497642"/>
            <a:ext cx="8198271" cy="5524784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6548869-5ADC-4324-B18D-DE4630288021}"/>
              </a:ext>
            </a:extLst>
          </p:cNvPr>
          <p:cNvSpPr txBox="1">
            <a:spLocks/>
          </p:cNvSpPr>
          <p:nvPr/>
        </p:nvSpPr>
        <p:spPr>
          <a:xfrm>
            <a:off x="73715" y="1053547"/>
            <a:ext cx="3249193" cy="8150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Paracétamol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F6E169C-0CF0-4F01-ABC0-36A262288BF1}"/>
              </a:ext>
            </a:extLst>
          </p:cNvPr>
          <p:cNvGrpSpPr/>
          <p:nvPr/>
        </p:nvGrpSpPr>
        <p:grpSpPr>
          <a:xfrm>
            <a:off x="201412" y="1918252"/>
            <a:ext cx="3461083" cy="2146851"/>
            <a:chOff x="-7307" y="1918252"/>
            <a:chExt cx="3461083" cy="2146851"/>
          </a:xfrm>
        </p:grpSpPr>
        <p:pic>
          <p:nvPicPr>
            <p:cNvPr id="5" name="Picture 2" descr="RÃ©sultat de recherche d'images pour &quot;structural paracetamol formula&quot;">
              <a:extLst>
                <a:ext uri="{FF2B5EF4-FFF2-40B4-BE49-F238E27FC236}">
                  <a16:creationId xmlns:a16="http://schemas.microsoft.com/office/drawing/2014/main" id="{99B81917-37C2-4B50-95E4-8C0FD3CD55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65"/>
            <a:stretch/>
          </p:blipFill>
          <p:spPr bwMode="auto">
            <a:xfrm>
              <a:off x="73715" y="1995001"/>
              <a:ext cx="3304688" cy="2070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39E9A4A0-3592-45D8-9046-A247ABE402C9}"/>
                </a:ext>
              </a:extLst>
            </p:cNvPr>
            <p:cNvSpPr/>
            <p:nvPr/>
          </p:nvSpPr>
          <p:spPr>
            <a:xfrm>
              <a:off x="-1658" y="3030052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CA9C68F-0344-4013-8BCB-99981F85FEDD}"/>
                </a:ext>
              </a:extLst>
            </p:cNvPr>
            <p:cNvSpPr/>
            <p:nvPr/>
          </p:nvSpPr>
          <p:spPr>
            <a:xfrm>
              <a:off x="-7307" y="3480496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8F65D9F-7EDB-4D2B-9BA6-7D40FCE6F891}"/>
                </a:ext>
              </a:extLst>
            </p:cNvPr>
            <p:cNvSpPr/>
            <p:nvPr/>
          </p:nvSpPr>
          <p:spPr>
            <a:xfrm>
              <a:off x="376628" y="3707837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93C71AFE-2570-405D-BEEF-F92ECDE508AF}"/>
                </a:ext>
              </a:extLst>
            </p:cNvPr>
            <p:cNvSpPr/>
            <p:nvPr/>
          </p:nvSpPr>
          <p:spPr>
            <a:xfrm>
              <a:off x="1159641" y="3713015"/>
              <a:ext cx="324000" cy="324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196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E7814F4-42B4-4139-BC6F-1F3A5C0ADBDA}"/>
                </a:ext>
              </a:extLst>
            </p:cNvPr>
            <p:cNvSpPr/>
            <p:nvPr/>
          </p:nvSpPr>
          <p:spPr>
            <a:xfrm>
              <a:off x="3129776" y="2583268"/>
              <a:ext cx="324000" cy="324000"/>
            </a:xfrm>
            <a:prstGeom prst="ellipse">
              <a:avLst/>
            </a:prstGeom>
            <a:solidFill>
              <a:srgbClr val="C00000">
                <a:alpha val="3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036530E-99B6-42D7-AC92-D03DF8334FF5}"/>
                </a:ext>
              </a:extLst>
            </p:cNvPr>
            <p:cNvSpPr/>
            <p:nvPr/>
          </p:nvSpPr>
          <p:spPr>
            <a:xfrm>
              <a:off x="1165026" y="2341572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EECB2DF-538D-4764-B57F-3925E96CDEE7}"/>
                </a:ext>
              </a:extLst>
            </p:cNvPr>
            <p:cNvSpPr/>
            <p:nvPr/>
          </p:nvSpPr>
          <p:spPr>
            <a:xfrm>
              <a:off x="1947923" y="1918252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4CF45216-4964-463F-8407-CCB5A94AD224}"/>
                </a:ext>
              </a:extLst>
            </p:cNvPr>
            <p:cNvSpPr/>
            <p:nvPr/>
          </p:nvSpPr>
          <p:spPr>
            <a:xfrm>
              <a:off x="1947923" y="3697898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93613982-8D69-4EC8-BB11-ABD3D977CC2C}"/>
                </a:ext>
              </a:extLst>
            </p:cNvPr>
            <p:cNvSpPr/>
            <p:nvPr/>
          </p:nvSpPr>
          <p:spPr>
            <a:xfrm>
              <a:off x="2720163" y="3260034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1DBF5BD-F84B-4620-BCEE-9128389A44D1}"/>
              </a:ext>
            </a:extLst>
          </p:cNvPr>
          <p:cNvCxnSpPr/>
          <p:nvPr/>
        </p:nvCxnSpPr>
        <p:spPr>
          <a:xfrm flipH="1">
            <a:off x="3806684" y="5754757"/>
            <a:ext cx="8127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9437028E-1067-4E82-9099-1788450961B6}"/>
                  </a:ext>
                </a:extLst>
              </p:cNvPr>
              <p:cNvSpPr txBox="1"/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9437028E-1067-4E82-9099-178845096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blipFill>
                <a:blip r:embed="rId4"/>
                <a:stretch>
                  <a:fillRect l="-5882" t="-2174" r="-3268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space réservé du pied de page 3">
            <a:extLst>
              <a:ext uri="{FF2B5EF4-FFF2-40B4-BE49-F238E27FC236}">
                <a16:creationId xmlns:a16="http://schemas.microsoft.com/office/drawing/2014/main" id="{D0BDAAD9-5819-4120-9C10-7E133585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2960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E733F6F-CFD9-455D-A383-0ADCCE614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21" y="497642"/>
            <a:ext cx="8198271" cy="5524784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E906E3-5816-4C45-9D94-39C41E2F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AF70A00-A3BA-459B-AA64-769BFBA70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97" y="765313"/>
            <a:ext cx="6974626" cy="46802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5C7133E-2D80-4F20-AD8D-BF402430700A}"/>
              </a:ext>
            </a:extLst>
          </p:cNvPr>
          <p:cNvCxnSpPr/>
          <p:nvPr/>
        </p:nvCxnSpPr>
        <p:spPr>
          <a:xfrm flipH="1">
            <a:off x="3806684" y="5754757"/>
            <a:ext cx="8127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C2544A4-887F-419D-9DEB-998B9A657B9B}"/>
                  </a:ext>
                </a:extLst>
              </p:cNvPr>
              <p:cNvSpPr txBox="1"/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C2544A4-887F-419D-9DEB-998B9A657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blipFill>
                <a:blip r:embed="rId4"/>
                <a:stretch>
                  <a:fillRect l="-5882" t="-2174" r="-3268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A7DEB7F6-7CC2-420C-8B2B-D9F5C767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8371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E906E3-5816-4C45-9D94-39C41E2F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22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0C4847-9F6C-414E-8DF1-6B3A422D4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21" y="497642"/>
            <a:ext cx="8198271" cy="5524784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6548869-5ADC-4324-B18D-DE4630288021}"/>
              </a:ext>
            </a:extLst>
          </p:cNvPr>
          <p:cNvSpPr txBox="1">
            <a:spLocks/>
          </p:cNvSpPr>
          <p:nvPr/>
        </p:nvSpPr>
        <p:spPr>
          <a:xfrm>
            <a:off x="73715" y="1053547"/>
            <a:ext cx="3249193" cy="8150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Paracétamol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22F27D4-BADA-4D64-A679-A991EA080936}"/>
              </a:ext>
            </a:extLst>
          </p:cNvPr>
          <p:cNvCxnSpPr/>
          <p:nvPr/>
        </p:nvCxnSpPr>
        <p:spPr>
          <a:xfrm flipH="1">
            <a:off x="3806684" y="5754757"/>
            <a:ext cx="8127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C3A7ED62-30FB-42AA-ACCB-D6E352D2DB68}"/>
                  </a:ext>
                </a:extLst>
              </p:cNvPr>
              <p:cNvSpPr txBox="1"/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C3A7ED62-30FB-42AA-ACCB-D6E352D2D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blipFill>
                <a:blip r:embed="rId3"/>
                <a:stretch>
                  <a:fillRect l="-5882" t="-2174" r="-3268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7F6E169C-0CF0-4F01-ABC0-36A262288BF1}"/>
              </a:ext>
            </a:extLst>
          </p:cNvPr>
          <p:cNvGrpSpPr/>
          <p:nvPr/>
        </p:nvGrpSpPr>
        <p:grpSpPr>
          <a:xfrm>
            <a:off x="201412" y="1918252"/>
            <a:ext cx="3461083" cy="2146851"/>
            <a:chOff x="-7307" y="1918252"/>
            <a:chExt cx="3461083" cy="2146851"/>
          </a:xfrm>
        </p:grpSpPr>
        <p:pic>
          <p:nvPicPr>
            <p:cNvPr id="5" name="Picture 2" descr="RÃ©sultat de recherche d'images pour &quot;structural paracetamol formula&quot;">
              <a:extLst>
                <a:ext uri="{FF2B5EF4-FFF2-40B4-BE49-F238E27FC236}">
                  <a16:creationId xmlns:a16="http://schemas.microsoft.com/office/drawing/2014/main" id="{99B81917-37C2-4B50-95E4-8C0FD3CD55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65"/>
            <a:stretch/>
          </p:blipFill>
          <p:spPr bwMode="auto">
            <a:xfrm>
              <a:off x="73715" y="1995001"/>
              <a:ext cx="3304688" cy="2070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39E9A4A0-3592-45D8-9046-A247ABE402C9}"/>
                </a:ext>
              </a:extLst>
            </p:cNvPr>
            <p:cNvSpPr/>
            <p:nvPr/>
          </p:nvSpPr>
          <p:spPr>
            <a:xfrm>
              <a:off x="-1658" y="3030052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CA9C68F-0344-4013-8BCB-99981F85FEDD}"/>
                </a:ext>
              </a:extLst>
            </p:cNvPr>
            <p:cNvSpPr/>
            <p:nvPr/>
          </p:nvSpPr>
          <p:spPr>
            <a:xfrm>
              <a:off x="-7307" y="3480496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8F65D9F-7EDB-4D2B-9BA6-7D40FCE6F891}"/>
                </a:ext>
              </a:extLst>
            </p:cNvPr>
            <p:cNvSpPr/>
            <p:nvPr/>
          </p:nvSpPr>
          <p:spPr>
            <a:xfrm>
              <a:off x="376628" y="3707837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93C71AFE-2570-405D-BEEF-F92ECDE508AF}"/>
                </a:ext>
              </a:extLst>
            </p:cNvPr>
            <p:cNvSpPr/>
            <p:nvPr/>
          </p:nvSpPr>
          <p:spPr>
            <a:xfrm>
              <a:off x="1159641" y="3713015"/>
              <a:ext cx="324000" cy="324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196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E7814F4-42B4-4139-BC6F-1F3A5C0ADBDA}"/>
                </a:ext>
              </a:extLst>
            </p:cNvPr>
            <p:cNvSpPr/>
            <p:nvPr/>
          </p:nvSpPr>
          <p:spPr>
            <a:xfrm>
              <a:off x="3129776" y="2583268"/>
              <a:ext cx="324000" cy="324000"/>
            </a:xfrm>
            <a:prstGeom prst="ellipse">
              <a:avLst/>
            </a:prstGeom>
            <a:solidFill>
              <a:srgbClr val="C00000">
                <a:alpha val="3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036530E-99B6-42D7-AC92-D03DF8334FF5}"/>
                </a:ext>
              </a:extLst>
            </p:cNvPr>
            <p:cNvSpPr/>
            <p:nvPr/>
          </p:nvSpPr>
          <p:spPr>
            <a:xfrm>
              <a:off x="1165026" y="2341572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EECB2DF-538D-4764-B57F-3925E96CDEE7}"/>
                </a:ext>
              </a:extLst>
            </p:cNvPr>
            <p:cNvSpPr/>
            <p:nvPr/>
          </p:nvSpPr>
          <p:spPr>
            <a:xfrm>
              <a:off x="1947923" y="1918252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4CF45216-4964-463F-8407-CCB5A94AD224}"/>
                </a:ext>
              </a:extLst>
            </p:cNvPr>
            <p:cNvSpPr/>
            <p:nvPr/>
          </p:nvSpPr>
          <p:spPr>
            <a:xfrm>
              <a:off x="1947923" y="3697898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93613982-8D69-4EC8-BB11-ABD3D977CC2C}"/>
                </a:ext>
              </a:extLst>
            </p:cNvPr>
            <p:cNvSpPr/>
            <p:nvPr/>
          </p:nvSpPr>
          <p:spPr>
            <a:xfrm>
              <a:off x="2720163" y="3260034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id="{40898F31-66E1-47C8-9DDE-555311F2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1583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E906E3-5816-4C45-9D94-39C41E2F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0C4847-9F6C-414E-8DF1-6B3A422D4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21" y="497642"/>
            <a:ext cx="8198271" cy="5524784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66548869-5ADC-4324-B18D-DE4630288021}"/>
              </a:ext>
            </a:extLst>
          </p:cNvPr>
          <p:cNvSpPr txBox="1">
            <a:spLocks/>
          </p:cNvSpPr>
          <p:nvPr/>
        </p:nvSpPr>
        <p:spPr>
          <a:xfrm>
            <a:off x="73715" y="1053547"/>
            <a:ext cx="3249193" cy="8150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Paracétamol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BEC1B9E-8DD7-4F92-BBCA-945CB627238E}"/>
              </a:ext>
            </a:extLst>
          </p:cNvPr>
          <p:cNvSpPr/>
          <p:nvPr/>
        </p:nvSpPr>
        <p:spPr>
          <a:xfrm>
            <a:off x="10182773" y="646043"/>
            <a:ext cx="362643" cy="5019124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965F5D7-F125-463F-9767-49CA6B8F5E5A}"/>
              </a:ext>
            </a:extLst>
          </p:cNvPr>
          <p:cNvSpPr/>
          <p:nvPr/>
        </p:nvSpPr>
        <p:spPr>
          <a:xfrm>
            <a:off x="4244081" y="4616517"/>
            <a:ext cx="362643" cy="1108284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CC96270-C23D-4F76-8129-40465362C08C}"/>
              </a:ext>
            </a:extLst>
          </p:cNvPr>
          <p:cNvSpPr/>
          <p:nvPr/>
        </p:nvSpPr>
        <p:spPr>
          <a:xfrm>
            <a:off x="4649462" y="4492487"/>
            <a:ext cx="290286" cy="1232314"/>
          </a:xfrm>
          <a:prstGeom prst="ellipse">
            <a:avLst/>
          </a:prstGeom>
          <a:solidFill>
            <a:srgbClr val="C00000">
              <a:alpha val="3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743E11F-3A8B-4D5E-9E13-A45B91C19ADD}"/>
              </a:ext>
            </a:extLst>
          </p:cNvPr>
          <p:cNvSpPr/>
          <p:nvPr/>
        </p:nvSpPr>
        <p:spPr>
          <a:xfrm>
            <a:off x="6030128" y="3901538"/>
            <a:ext cx="290286" cy="1773567"/>
          </a:xfrm>
          <a:prstGeom prst="ellipse">
            <a:avLst/>
          </a:prstGeom>
          <a:solidFill>
            <a:srgbClr val="FFC000">
              <a:alpha val="2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C7820C6-EE4F-417B-940D-3093BD0828C2}"/>
              </a:ext>
            </a:extLst>
          </p:cNvPr>
          <p:cNvSpPr/>
          <p:nvPr/>
        </p:nvSpPr>
        <p:spPr>
          <a:xfrm>
            <a:off x="6541863" y="3895662"/>
            <a:ext cx="303129" cy="1773567"/>
          </a:xfrm>
          <a:prstGeom prst="ellipse">
            <a:avLst/>
          </a:prstGeom>
          <a:solidFill>
            <a:srgbClr val="7030A0">
              <a:alpha val="2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9525871-1286-4712-95C0-A531CAB8A014}"/>
              </a:ext>
            </a:extLst>
          </p:cNvPr>
          <p:cNvCxnSpPr/>
          <p:nvPr/>
        </p:nvCxnSpPr>
        <p:spPr>
          <a:xfrm flipH="1">
            <a:off x="3806684" y="5754757"/>
            <a:ext cx="8127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8C5688BA-537B-4281-9180-6CFE68FC591E}"/>
                  </a:ext>
                </a:extLst>
              </p:cNvPr>
              <p:cNvSpPr txBox="1"/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8C5688BA-537B-4281-9180-6CFE68FC5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941" y="5616257"/>
                <a:ext cx="934743" cy="276999"/>
              </a:xfrm>
              <a:prstGeom prst="rect">
                <a:avLst/>
              </a:prstGeom>
              <a:blipFill>
                <a:blip r:embed="rId3"/>
                <a:stretch>
                  <a:fillRect l="-5882" t="-2174" r="-3268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7F6E169C-0CF0-4F01-ABC0-36A262288BF1}"/>
              </a:ext>
            </a:extLst>
          </p:cNvPr>
          <p:cNvGrpSpPr/>
          <p:nvPr/>
        </p:nvGrpSpPr>
        <p:grpSpPr>
          <a:xfrm>
            <a:off x="201412" y="1908313"/>
            <a:ext cx="3461083" cy="2156790"/>
            <a:chOff x="-7307" y="1908313"/>
            <a:chExt cx="3461083" cy="2156790"/>
          </a:xfrm>
        </p:grpSpPr>
        <p:pic>
          <p:nvPicPr>
            <p:cNvPr id="5" name="Picture 2" descr="RÃ©sultat de recherche d'images pour &quot;structural paracetamol formula&quot;">
              <a:extLst>
                <a:ext uri="{FF2B5EF4-FFF2-40B4-BE49-F238E27FC236}">
                  <a16:creationId xmlns:a16="http://schemas.microsoft.com/office/drawing/2014/main" id="{99B81917-37C2-4B50-95E4-8C0FD3CD55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65"/>
            <a:stretch/>
          </p:blipFill>
          <p:spPr bwMode="auto">
            <a:xfrm>
              <a:off x="73715" y="1995001"/>
              <a:ext cx="3304688" cy="2070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39E9A4A0-3592-45D8-9046-A247ABE402C9}"/>
                </a:ext>
              </a:extLst>
            </p:cNvPr>
            <p:cNvSpPr/>
            <p:nvPr/>
          </p:nvSpPr>
          <p:spPr>
            <a:xfrm>
              <a:off x="-1658" y="3030052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CA9C68F-0344-4013-8BCB-99981F85FEDD}"/>
                </a:ext>
              </a:extLst>
            </p:cNvPr>
            <p:cNvSpPr/>
            <p:nvPr/>
          </p:nvSpPr>
          <p:spPr>
            <a:xfrm>
              <a:off x="-7307" y="3480496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8F65D9F-7EDB-4D2B-9BA6-7D40FCE6F891}"/>
                </a:ext>
              </a:extLst>
            </p:cNvPr>
            <p:cNvSpPr/>
            <p:nvPr/>
          </p:nvSpPr>
          <p:spPr>
            <a:xfrm>
              <a:off x="376628" y="3707837"/>
              <a:ext cx="324000" cy="324000"/>
            </a:xfrm>
            <a:prstGeom prst="ellipse">
              <a:avLst/>
            </a:prstGeom>
            <a:solidFill>
              <a:srgbClr val="77CEEF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93C71AFE-2570-405D-BEEF-F92ECDE508AF}"/>
                </a:ext>
              </a:extLst>
            </p:cNvPr>
            <p:cNvSpPr/>
            <p:nvPr/>
          </p:nvSpPr>
          <p:spPr>
            <a:xfrm>
              <a:off x="1159641" y="3713015"/>
              <a:ext cx="324000" cy="324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196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E7814F4-42B4-4139-BC6F-1F3A5C0ADBDA}"/>
                </a:ext>
              </a:extLst>
            </p:cNvPr>
            <p:cNvSpPr/>
            <p:nvPr/>
          </p:nvSpPr>
          <p:spPr>
            <a:xfrm>
              <a:off x="3129776" y="2583268"/>
              <a:ext cx="324000" cy="324000"/>
            </a:xfrm>
            <a:prstGeom prst="ellipse">
              <a:avLst/>
            </a:prstGeom>
            <a:solidFill>
              <a:srgbClr val="C00000">
                <a:alpha val="3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036530E-99B6-42D7-AC92-D03DF8334FF5}"/>
                </a:ext>
              </a:extLst>
            </p:cNvPr>
            <p:cNvSpPr/>
            <p:nvPr/>
          </p:nvSpPr>
          <p:spPr>
            <a:xfrm>
              <a:off x="1165026" y="2341572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EECB2DF-538D-4764-B57F-3925E96CDEE7}"/>
                </a:ext>
              </a:extLst>
            </p:cNvPr>
            <p:cNvSpPr/>
            <p:nvPr/>
          </p:nvSpPr>
          <p:spPr>
            <a:xfrm>
              <a:off x="1947923" y="1908313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4CF45216-4964-463F-8407-CCB5A94AD224}"/>
                </a:ext>
              </a:extLst>
            </p:cNvPr>
            <p:cNvSpPr/>
            <p:nvPr/>
          </p:nvSpPr>
          <p:spPr>
            <a:xfrm>
              <a:off x="1947923" y="3697898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93613982-8D69-4EC8-BB11-ABD3D977CC2C}"/>
                </a:ext>
              </a:extLst>
            </p:cNvPr>
            <p:cNvSpPr/>
            <p:nvPr/>
          </p:nvSpPr>
          <p:spPr>
            <a:xfrm>
              <a:off x="2720163" y="3260034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4" name="Espace réservé du pied de page 3">
            <a:extLst>
              <a:ext uri="{FF2B5EF4-FFF2-40B4-BE49-F238E27FC236}">
                <a16:creationId xmlns:a16="http://schemas.microsoft.com/office/drawing/2014/main" id="{4627E59B-723B-4BA2-82D5-0B603966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3857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5B5925D7-14A5-45F8-8AB1-31316171D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328" y="1306684"/>
            <a:ext cx="6757343" cy="495901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B1786DE-A182-401F-AFC7-058C34F5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RMN : éthanol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0BC556-12C0-484F-BF19-0D9A761C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24</a:t>
            </a:fld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217A3C9-A051-4F37-80C2-EE0A3E9D7852}"/>
              </a:ext>
            </a:extLst>
          </p:cNvPr>
          <p:cNvSpPr/>
          <p:nvPr/>
        </p:nvSpPr>
        <p:spPr>
          <a:xfrm>
            <a:off x="3052970" y="2520732"/>
            <a:ext cx="432000" cy="432000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6250304-DE81-4108-9BB2-C260C4DFB684}"/>
              </a:ext>
            </a:extLst>
          </p:cNvPr>
          <p:cNvSpPr/>
          <p:nvPr/>
        </p:nvSpPr>
        <p:spPr>
          <a:xfrm>
            <a:off x="3682448" y="1875772"/>
            <a:ext cx="432000" cy="432000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14C03ED-23A7-43D6-ABE8-1869F16B5BB0}"/>
              </a:ext>
            </a:extLst>
          </p:cNvPr>
          <p:cNvSpPr/>
          <p:nvPr/>
        </p:nvSpPr>
        <p:spPr>
          <a:xfrm>
            <a:off x="3682096" y="3165965"/>
            <a:ext cx="432000" cy="432000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49E1D8C-2572-4022-AC1D-32D8069689BB}"/>
              </a:ext>
            </a:extLst>
          </p:cNvPr>
          <p:cNvSpPr/>
          <p:nvPr/>
        </p:nvSpPr>
        <p:spPr>
          <a:xfrm>
            <a:off x="4328968" y="1880829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9286342-0085-4090-9F33-2E3B0A929F8E}"/>
              </a:ext>
            </a:extLst>
          </p:cNvPr>
          <p:cNvSpPr/>
          <p:nvPr/>
        </p:nvSpPr>
        <p:spPr>
          <a:xfrm>
            <a:off x="4333347" y="3165965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33D7D-481A-4241-A255-7F233ED56C66}"/>
              </a:ext>
            </a:extLst>
          </p:cNvPr>
          <p:cNvSpPr/>
          <p:nvPr/>
        </p:nvSpPr>
        <p:spPr>
          <a:xfrm>
            <a:off x="5317117" y="1964140"/>
            <a:ext cx="343388" cy="432000"/>
          </a:xfrm>
          <a:prstGeom prst="ellipse">
            <a:avLst/>
          </a:prstGeom>
          <a:solidFill>
            <a:srgbClr val="7030A0">
              <a:alpha val="30196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482" name="Picture 2" descr="RÃ©sultat de recherche d'images pour &quot;Ã©thanol&quot;">
            <a:extLst>
              <a:ext uri="{FF2B5EF4-FFF2-40B4-BE49-F238E27FC236}">
                <a16:creationId xmlns:a16="http://schemas.microsoft.com/office/drawing/2014/main" id="{0CD77D64-3A6E-471F-A036-7E2F98F29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31" y="1834860"/>
            <a:ext cx="2681908" cy="179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Ellipse 27">
            <a:extLst>
              <a:ext uri="{FF2B5EF4-FFF2-40B4-BE49-F238E27FC236}">
                <a16:creationId xmlns:a16="http://schemas.microsoft.com/office/drawing/2014/main" id="{4D8D5F89-69A8-44D2-80E3-5948653B932A}"/>
              </a:ext>
            </a:extLst>
          </p:cNvPr>
          <p:cNvSpPr/>
          <p:nvPr/>
        </p:nvSpPr>
        <p:spPr>
          <a:xfrm>
            <a:off x="8307107" y="1639957"/>
            <a:ext cx="329999" cy="3710608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35AA814B-7F63-4425-8446-C8FF00403D85}"/>
              </a:ext>
            </a:extLst>
          </p:cNvPr>
          <p:cNvSpPr/>
          <p:nvPr/>
        </p:nvSpPr>
        <p:spPr>
          <a:xfrm>
            <a:off x="6881192" y="3557040"/>
            <a:ext cx="432000" cy="1793526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C57D6FB-097D-48F4-808A-384185F12F9A}"/>
              </a:ext>
            </a:extLst>
          </p:cNvPr>
          <p:cNvSpPr/>
          <p:nvPr/>
        </p:nvSpPr>
        <p:spPr>
          <a:xfrm>
            <a:off x="7593496" y="4313583"/>
            <a:ext cx="216653" cy="1036982"/>
          </a:xfrm>
          <a:prstGeom prst="ellipse">
            <a:avLst/>
          </a:prstGeom>
          <a:solidFill>
            <a:srgbClr val="7030A0">
              <a:alpha val="30196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pied de page 3">
            <a:extLst>
              <a:ext uri="{FF2B5EF4-FFF2-40B4-BE49-F238E27FC236}">
                <a16:creationId xmlns:a16="http://schemas.microsoft.com/office/drawing/2014/main" id="{27CF3B65-7907-4D71-AACF-666DCB2C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9450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FE7350F9-940E-48BE-B6AA-171A828B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349" y="1368973"/>
            <a:ext cx="6709301" cy="492376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B1786DE-A182-401F-AFC7-058C34F5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RMN : propan-1-ol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0BC556-12C0-484F-BF19-0D9A761C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25</a:t>
            </a:fld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217A3C9-A051-4F37-80C2-EE0A3E9D7852}"/>
              </a:ext>
            </a:extLst>
          </p:cNvPr>
          <p:cNvSpPr/>
          <p:nvPr/>
        </p:nvSpPr>
        <p:spPr>
          <a:xfrm>
            <a:off x="3052970" y="2520732"/>
            <a:ext cx="432000" cy="432000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6250304-DE81-4108-9BB2-C260C4DFB684}"/>
              </a:ext>
            </a:extLst>
          </p:cNvPr>
          <p:cNvSpPr/>
          <p:nvPr/>
        </p:nvSpPr>
        <p:spPr>
          <a:xfrm>
            <a:off x="3682448" y="1875772"/>
            <a:ext cx="432000" cy="432000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14C03ED-23A7-43D6-ABE8-1869F16B5BB0}"/>
              </a:ext>
            </a:extLst>
          </p:cNvPr>
          <p:cNvSpPr/>
          <p:nvPr/>
        </p:nvSpPr>
        <p:spPr>
          <a:xfrm>
            <a:off x="3682096" y="3165965"/>
            <a:ext cx="432000" cy="432000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C7D02E8-E6FF-4755-B14D-1618133FB1CA}"/>
              </a:ext>
            </a:extLst>
          </p:cNvPr>
          <p:cNvSpPr/>
          <p:nvPr/>
        </p:nvSpPr>
        <p:spPr>
          <a:xfrm>
            <a:off x="8446253" y="1649896"/>
            <a:ext cx="329999" cy="3710608"/>
          </a:xfrm>
          <a:prstGeom prst="ellipse">
            <a:avLst/>
          </a:prstGeom>
          <a:solidFill>
            <a:srgbClr val="77CEEF">
              <a:alpha val="3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49E1D8C-2572-4022-AC1D-32D8069689BB}"/>
              </a:ext>
            </a:extLst>
          </p:cNvPr>
          <p:cNvSpPr/>
          <p:nvPr/>
        </p:nvSpPr>
        <p:spPr>
          <a:xfrm>
            <a:off x="4328968" y="1880829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9286342-0085-4090-9F33-2E3B0A929F8E}"/>
              </a:ext>
            </a:extLst>
          </p:cNvPr>
          <p:cNvSpPr/>
          <p:nvPr/>
        </p:nvSpPr>
        <p:spPr>
          <a:xfrm>
            <a:off x="4333347" y="3165965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1A3E4F4-E3BC-4099-AD1C-1D61B24ED20A}"/>
              </a:ext>
            </a:extLst>
          </p:cNvPr>
          <p:cNvSpPr/>
          <p:nvPr/>
        </p:nvSpPr>
        <p:spPr>
          <a:xfrm>
            <a:off x="8024192" y="4144617"/>
            <a:ext cx="432000" cy="1215887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74FA156-4429-4819-96BB-A0486D205698}"/>
              </a:ext>
            </a:extLst>
          </p:cNvPr>
          <p:cNvSpPr/>
          <p:nvPr/>
        </p:nvSpPr>
        <p:spPr>
          <a:xfrm>
            <a:off x="4970518" y="3165965"/>
            <a:ext cx="432000" cy="432000"/>
          </a:xfrm>
          <a:prstGeom prst="ellipse">
            <a:avLst/>
          </a:prstGeom>
          <a:solidFill>
            <a:srgbClr val="C00000">
              <a:alpha val="3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B75A564-4D3A-476E-9CA6-322BF09CCD7A}"/>
              </a:ext>
            </a:extLst>
          </p:cNvPr>
          <p:cNvSpPr/>
          <p:nvPr/>
        </p:nvSpPr>
        <p:spPr>
          <a:xfrm>
            <a:off x="4967029" y="1872732"/>
            <a:ext cx="432000" cy="432000"/>
          </a:xfrm>
          <a:prstGeom prst="ellipse">
            <a:avLst/>
          </a:prstGeom>
          <a:solidFill>
            <a:srgbClr val="C00000">
              <a:alpha val="3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8D98FEDC-0D4C-440F-9751-BFA46C5E2826}"/>
              </a:ext>
            </a:extLst>
          </p:cNvPr>
          <p:cNvSpPr/>
          <p:nvPr/>
        </p:nvSpPr>
        <p:spPr>
          <a:xfrm>
            <a:off x="6915547" y="2047461"/>
            <a:ext cx="432000" cy="3313043"/>
          </a:xfrm>
          <a:prstGeom prst="ellipse">
            <a:avLst/>
          </a:prstGeom>
          <a:solidFill>
            <a:srgbClr val="C00000">
              <a:alpha val="3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33D7D-481A-4241-A255-7F233ED56C66}"/>
              </a:ext>
            </a:extLst>
          </p:cNvPr>
          <p:cNvSpPr/>
          <p:nvPr/>
        </p:nvSpPr>
        <p:spPr>
          <a:xfrm>
            <a:off x="5943033" y="2520732"/>
            <a:ext cx="343388" cy="432000"/>
          </a:xfrm>
          <a:prstGeom prst="ellipse">
            <a:avLst/>
          </a:prstGeom>
          <a:solidFill>
            <a:srgbClr val="7030A0">
              <a:alpha val="30196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C00EC25-0C32-4E2C-84D5-E63BB54A2DEA}"/>
              </a:ext>
            </a:extLst>
          </p:cNvPr>
          <p:cNvSpPr/>
          <p:nvPr/>
        </p:nvSpPr>
        <p:spPr>
          <a:xfrm>
            <a:off x="7789486" y="4134678"/>
            <a:ext cx="192077" cy="1215887"/>
          </a:xfrm>
          <a:prstGeom prst="ellipse">
            <a:avLst/>
          </a:prstGeom>
          <a:solidFill>
            <a:srgbClr val="7030A0">
              <a:alpha val="30196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2" descr="RÃ©sultat de recherche d'images pour &quot;propan-1-ol&quot;">
            <a:extLst>
              <a:ext uri="{FF2B5EF4-FFF2-40B4-BE49-F238E27FC236}">
                <a16:creationId xmlns:a16="http://schemas.microsoft.com/office/drawing/2014/main" id="{A3A363DD-BBE0-4DEF-B4A6-E1D4F3242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787" y="1875499"/>
            <a:ext cx="3218622" cy="172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Espace réservé du pied de page 3">
            <a:extLst>
              <a:ext uri="{FF2B5EF4-FFF2-40B4-BE49-F238E27FC236}">
                <a16:creationId xmlns:a16="http://schemas.microsoft.com/office/drawing/2014/main" id="{27030939-B138-4658-96D7-00187C83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374725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</TotalTime>
  <Words>646</Words>
  <Application>Microsoft Office PowerPoint</Application>
  <PresentationFormat>Grand écran</PresentationFormat>
  <Paragraphs>221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Rétrospective</vt:lpstr>
      <vt:lpstr>Caractérisations par spectroscopie en synthèse organique</vt:lpstr>
      <vt:lpstr>Synthèse de l’indigo</vt:lpstr>
      <vt:lpstr>Spectre de l’indigo commercial</vt:lpstr>
      <vt:lpstr>Synthèse du paracétamol</vt:lpstr>
      <vt:lpstr>Spectre infrarouge</vt:lpstr>
      <vt:lpstr>Spectre infrarouge</vt:lpstr>
      <vt:lpstr>Reconnaissance de groupes caractéristiques</vt:lpstr>
      <vt:lpstr>Reconnaissance de groupes caractéristiques</vt:lpstr>
      <vt:lpstr>Reconnaissance de groupes caractéristiques</vt:lpstr>
      <vt:lpstr>Reconnaissance de groupes caractéristiques</vt:lpstr>
      <vt:lpstr>Reconnaissance de groupes caractéristiques</vt:lpstr>
      <vt:lpstr>Table de données IR</vt:lpstr>
      <vt:lpstr>Spectre IR : paracétamol</vt:lpstr>
      <vt:lpstr>Spectre IR : indigo</vt:lpstr>
      <vt:lpstr>Comparaison de deux spectres</vt:lpstr>
      <vt:lpstr>Comparaison de deux spectres</vt:lpstr>
      <vt:lpstr>Spectroscopie RMN</vt:lpstr>
      <vt:lpstr>Spectre RMN : déplacement chimique</vt:lpstr>
      <vt:lpstr>Table de déplacements chimiques</vt:lpstr>
      <vt:lpstr>Présentation PowerPoint</vt:lpstr>
      <vt:lpstr>Présentation PowerPoint</vt:lpstr>
      <vt:lpstr>Présentation PowerPoint</vt:lpstr>
      <vt:lpstr>Présentation PowerPoint</vt:lpstr>
      <vt:lpstr>RMN : éthanol</vt:lpstr>
      <vt:lpstr>RMN : propan-1-ol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48</cp:revision>
  <dcterms:created xsi:type="dcterms:W3CDTF">2019-04-06T14:18:31Z</dcterms:created>
  <dcterms:modified xsi:type="dcterms:W3CDTF">2019-06-04T16:31:26Z</dcterms:modified>
</cp:coreProperties>
</file>