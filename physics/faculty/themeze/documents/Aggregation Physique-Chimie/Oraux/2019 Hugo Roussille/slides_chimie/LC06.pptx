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sldIdLst>
    <p:sldId id="256" r:id="rId2"/>
    <p:sldId id="262" r:id="rId3"/>
    <p:sldId id="266" r:id="rId4"/>
    <p:sldId id="264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2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2F01C-BC14-4F81-87AE-D5D26E359E8E}" type="datetimeFigureOut">
              <a:rPr lang="fr-FR" smtClean="0"/>
              <a:t>04/06/2019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9472F-C389-4AF2-BA24-C1FF8F94A6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886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B33F-87D8-4BFE-BCBF-731AD622E09E}" type="datetime1">
              <a:rPr lang="fr-FR" smtClean="0"/>
              <a:t>04/06/2019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752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FEB24-1155-4371-B688-DDAD01CF823D}" type="datetime1">
              <a:rPr lang="fr-FR" smtClean="0"/>
              <a:t>04/06/2019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6835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47B3-5A91-453A-92FD-677E850FA3A5}" type="datetime1">
              <a:rPr lang="fr-FR" smtClean="0"/>
              <a:t>04/06/2019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028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6843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460206"/>
            <a:ext cx="4937760" cy="44088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460205"/>
            <a:ext cx="4937760" cy="44088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0384B-D365-439B-B9FB-A10B3FA0B79A}" type="datetime1">
              <a:rPr lang="fr-FR" smtClean="0"/>
              <a:t>04/06/2019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80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7B8B-BEB2-49C1-8BB4-8D396D554AA6}" type="datetime1">
              <a:rPr lang="fr-FR" smtClean="0"/>
              <a:t>04/06/2019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1322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53237-6937-4077-8416-FFF866A41361}" type="datetime1">
              <a:rPr lang="fr-FR" smtClean="0"/>
              <a:t>04/06/2019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982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CE37A-26D6-4DCD-AF35-3F127425D5BF}" type="datetime1">
              <a:rPr lang="fr-FR" smtClean="0"/>
              <a:t>04/06/2019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05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F45A67E-4DF6-4C8F-B8DA-2D1171F57B74}" type="datetime1">
              <a:rPr lang="fr-FR" smtClean="0"/>
              <a:t>04/06/2019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0199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4F725-0123-4CE3-85B9-619490EE40F6}" type="datetime1">
              <a:rPr lang="fr-FR" smtClean="0"/>
              <a:t>04/06/2019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25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CC754-28B9-41E4-AE10-BE433397311B}" type="datetime1">
              <a:rPr lang="fr-FR" smtClean="0"/>
              <a:t>04/06/2019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9337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81CE-1004-4FD8-A91E-F417EDBE9258}" type="datetime1">
              <a:rPr lang="fr-FR" smtClean="0"/>
              <a:t>04/06/2019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971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172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28237"/>
            <a:ext cx="10058400" cy="444085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63DEDF1-3E42-46F1-803C-3F81A5B34212}" type="datetime1">
              <a:rPr lang="fr-FR" smtClean="0"/>
              <a:t>04/06/2019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88720" y="1369251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468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gif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tmp"/><Relationship Id="rId4" Type="http://schemas.openxmlformats.org/officeDocument/2006/relationships/image" Target="../media/image2.jpeg"/><Relationship Id="rId9" Type="http://schemas.openxmlformats.org/officeDocument/2006/relationships/image" Target="../media/image7.gi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gif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tmp"/><Relationship Id="rId4" Type="http://schemas.openxmlformats.org/officeDocument/2006/relationships/image" Target="../media/image2.jpeg"/><Relationship Id="rId9" Type="http://schemas.openxmlformats.org/officeDocument/2006/relationships/image" Target="../media/image7.gi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6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gif"/><Relationship Id="rId11" Type="http://schemas.openxmlformats.org/officeDocument/2006/relationships/image" Target="../media/image13.png"/><Relationship Id="rId5" Type="http://schemas.openxmlformats.org/officeDocument/2006/relationships/image" Target="../media/image5.jpeg"/><Relationship Id="rId10" Type="http://schemas.openxmlformats.org/officeDocument/2006/relationships/image" Target="../media/image12.png"/><Relationship Id="rId4" Type="http://schemas.openxmlformats.org/officeDocument/2006/relationships/image" Target="../media/image3.tmp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6.gi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gif"/><Relationship Id="rId11" Type="http://schemas.openxmlformats.org/officeDocument/2006/relationships/image" Target="../media/image13.png"/><Relationship Id="rId5" Type="http://schemas.openxmlformats.org/officeDocument/2006/relationships/image" Target="../media/image5.jpeg"/><Relationship Id="rId10" Type="http://schemas.openxmlformats.org/officeDocument/2006/relationships/image" Target="../media/image12.png"/><Relationship Id="rId4" Type="http://schemas.openxmlformats.org/officeDocument/2006/relationships/image" Target="../media/image3.tmp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jpeg"/><Relationship Id="rId7" Type="http://schemas.openxmlformats.org/officeDocument/2006/relationships/image" Target="../media/image7.gi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gif"/><Relationship Id="rId5" Type="http://schemas.openxmlformats.org/officeDocument/2006/relationships/image" Target="../media/image5.jpeg"/><Relationship Id="rId10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A20284-6E28-4815-81F6-68D3A0402E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Stratégies et sélectivités en synthèse organique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CEC554-AF82-49BC-9FF3-978A8522E9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AGREGATION 2019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1437BC0-A1E8-4D84-AFC7-4F650B5D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108AC17-FBA1-49AF-9262-771D8578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765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2" name="Tableau 51">
                <a:extLst>
                  <a:ext uri="{FF2B5EF4-FFF2-40B4-BE49-F238E27FC236}">
                    <a16:creationId xmlns:a16="http://schemas.microsoft.com/office/drawing/2014/main" id="{6299EFDC-D811-415D-AE6E-13C7739EDF60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188844" y="1272209"/>
              <a:ext cx="11688418" cy="5011347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385391">
                      <a:extLst>
                        <a:ext uri="{9D8B030D-6E8A-4147-A177-3AD203B41FA5}">
                          <a16:colId xmlns:a16="http://schemas.microsoft.com/office/drawing/2014/main" val="3676508839"/>
                        </a:ext>
                      </a:extLst>
                    </a:gridCol>
                    <a:gridCol w="377687">
                      <a:extLst>
                        <a:ext uri="{9D8B030D-6E8A-4147-A177-3AD203B41FA5}">
                          <a16:colId xmlns:a16="http://schemas.microsoft.com/office/drawing/2014/main" val="3364169271"/>
                        </a:ext>
                      </a:extLst>
                    </a:gridCol>
                    <a:gridCol w="2345635">
                      <a:extLst>
                        <a:ext uri="{9D8B030D-6E8A-4147-A177-3AD203B41FA5}">
                          <a16:colId xmlns:a16="http://schemas.microsoft.com/office/drawing/2014/main" val="460053931"/>
                        </a:ext>
                      </a:extLst>
                    </a:gridCol>
                    <a:gridCol w="1570383">
                      <a:extLst>
                        <a:ext uri="{9D8B030D-6E8A-4147-A177-3AD203B41FA5}">
                          <a16:colId xmlns:a16="http://schemas.microsoft.com/office/drawing/2014/main" val="2498011360"/>
                        </a:ext>
                      </a:extLst>
                    </a:gridCol>
                    <a:gridCol w="2504660">
                      <a:extLst>
                        <a:ext uri="{9D8B030D-6E8A-4147-A177-3AD203B41FA5}">
                          <a16:colId xmlns:a16="http://schemas.microsoft.com/office/drawing/2014/main" val="2579247023"/>
                        </a:ext>
                      </a:extLst>
                    </a:gridCol>
                    <a:gridCol w="347870">
                      <a:extLst>
                        <a:ext uri="{9D8B030D-6E8A-4147-A177-3AD203B41FA5}">
                          <a16:colId xmlns:a16="http://schemas.microsoft.com/office/drawing/2014/main" val="1635373302"/>
                        </a:ext>
                      </a:extLst>
                    </a:gridCol>
                    <a:gridCol w="2156792">
                      <a:extLst>
                        <a:ext uri="{9D8B030D-6E8A-4147-A177-3AD203B41FA5}">
                          <a16:colId xmlns:a16="http://schemas.microsoft.com/office/drawing/2014/main" val="1146037858"/>
                        </a:ext>
                      </a:extLst>
                    </a:gridCol>
                  </a:tblGrid>
                  <a:tr h="2018328"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fr-FR" sz="3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fr-FR" sz="3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2000" b="0" i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fr-FR" sz="20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fr-FR" sz="20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sSub>
                                  <m:sSubPr>
                                    <m:ctrlP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2000" b="0" i="0" smtClean="0">
                                        <a:latin typeface="Cambria Math" panose="02040503050406030204" pitchFamily="18" charset="0"/>
                                      </a:rPr>
                                      <m:t>O</m:t>
                                    </m:r>
                                  </m:e>
                                  <m:sub>
                                    <m:r>
                                      <a:rPr lang="fr-FR" sz="2000" b="0" i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000" dirty="0"/>
                        </a:p>
                        <a:p>
                          <a:pPr algn="ctr"/>
                          <a:endParaRPr lang="fr-FR" dirty="0"/>
                        </a:p>
                        <a:p>
                          <a:pPr algn="ctr"/>
                          <a:r>
                            <a:rPr lang="fr-FR" sz="2000" b="0" dirty="0"/>
                            <a:t>20 min</a:t>
                          </a:r>
                          <a:r>
                            <a:rPr lang="fr-FR" sz="1400" b="0" dirty="0"/>
                            <a:t> </a:t>
                          </a:r>
                          <a:r>
                            <a:rPr lang="fr-FR" sz="2000" b="0" dirty="0"/>
                            <a:t>|</a:t>
                          </a:r>
                          <a:r>
                            <a:rPr lang="fr-FR" sz="1400" b="0" dirty="0"/>
                            <a:t> </a:t>
                          </a:r>
                          <a:r>
                            <a:rPr lang="fr-FR" sz="2000" b="0" dirty="0"/>
                            <a:t>65°C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fr-FR" sz="3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fr-FR" sz="3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402701178"/>
                      </a:ext>
                    </a:extLst>
                  </a:tr>
                  <a:tr h="4719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Acide salicylique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Anhydride acétique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1" dirty="0"/>
                            <a:t>Acide acétylsalicylique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Acide acétique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89108697"/>
                      </a:ext>
                    </a:extLst>
                  </a:tr>
                  <a:tr h="7330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800" b="0" i="1" smtClean="0">
                                    <a:latin typeface="Cambria Math" panose="02040503050406030204" pitchFamily="18" charset="0"/>
                                  </a:rPr>
                                  <m:t>3,0 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800" b="0" i="0" smtClean="0">
                                    <a:latin typeface="Cambria Math" panose="02040503050406030204" pitchFamily="18" charset="0"/>
                                  </a:rPr>
                                  <m:t>g</m:t>
                                </m:r>
                                <m:r>
                                  <a:rPr lang="fr-FR" sz="1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2,2.10</m:t>
                                    </m:r>
                                  </m:e>
                                  <m:sup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  <m:r>
                                  <a:rPr lang="fr-FR" sz="1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800" b="0" i="0" smtClean="0">
                                    <a:latin typeface="Cambria Math" panose="02040503050406030204" pitchFamily="18" charset="0"/>
                                  </a:rPr>
                                  <m:t>mol</m:t>
                                </m:r>
                              </m:oMath>
                            </m:oMathPara>
                          </a14:m>
                          <a:endParaRPr lang="fr-FR" sz="1800" i="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800" b="0" i="1" smtClean="0">
                                    <a:latin typeface="Cambria Math" panose="02040503050406030204" pitchFamily="18" charset="0"/>
                                  </a:rPr>
                                  <m:t>∼6,0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800" b="0" i="0" smtClean="0">
                                    <a:latin typeface="Cambria Math" panose="02040503050406030204" pitchFamily="18" charset="0"/>
                                  </a:rPr>
                                  <m:t>mL</m:t>
                                </m:r>
                              </m:oMath>
                            </m:oMathPara>
                          </a14:m>
                          <a:endParaRPr lang="fr-FR" sz="1800" b="0" i="0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6,4.10</m:t>
                                    </m:r>
                                  </m:e>
                                  <m:sup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  <m:r>
                                  <a:rPr lang="fr-FR" sz="1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800" b="0" i="0" smtClean="0">
                                    <a:latin typeface="Cambria Math" panose="02040503050406030204" pitchFamily="18" charset="0"/>
                                  </a:rPr>
                                  <m:t>mol</m:t>
                                </m:r>
                              </m:oMath>
                            </m:oMathPara>
                          </a14:m>
                          <a:endParaRPr lang="fr-FR" sz="1800" i="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482899904"/>
                      </a:ext>
                    </a:extLst>
                  </a:tr>
                  <a:tr h="4123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0,16 €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0,11 €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2678179576"/>
                      </a:ext>
                    </a:extLst>
                  </a:tr>
                  <a:tr h="1375677"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  <a:p>
                          <a:pPr algn="ctr"/>
                          <a:endParaRPr lang="fr-FR" dirty="0"/>
                        </a:p>
                        <a:p>
                          <a:pPr algn="ctr"/>
                          <a:endParaRPr lang="fr-FR" sz="1600" i="1" dirty="0"/>
                        </a:p>
                        <a:p>
                          <a:pPr algn="ctr"/>
                          <a:endParaRPr lang="fr-FR" sz="1600" i="1" dirty="0"/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600" b="0" i="0" dirty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fr-FR" sz="1600" b="0" i="0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fr-FR" sz="1600" b="0" i="0" dirty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sSub>
                                <m:sSubPr>
                                  <m:ctrlPr>
                                    <a:rPr lang="fr-FR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600" b="0" i="0" dirty="0" smtClean="0">
                                      <a:latin typeface="Cambria Math" panose="02040503050406030204" pitchFamily="18" charset="0"/>
                                    </a:rPr>
                                    <m:t>O</m:t>
                                  </m:r>
                                </m:e>
                                <m:sub>
                                  <m:r>
                                    <a:rPr lang="fr-FR" sz="1600" b="0" i="0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sz="1600" i="1" dirty="0"/>
                            <a:t> concentré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4421917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2" name="Tableau 51">
                <a:extLst>
                  <a:ext uri="{FF2B5EF4-FFF2-40B4-BE49-F238E27FC236}">
                    <a16:creationId xmlns:a16="http://schemas.microsoft.com/office/drawing/2014/main" id="{6299EFDC-D811-415D-AE6E-13C7739EDF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4000795"/>
                  </p:ext>
                </p:extLst>
              </p:nvPr>
            </p:nvGraphicFramePr>
            <p:xfrm>
              <a:off x="188844" y="1272209"/>
              <a:ext cx="11688418" cy="5011347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385391">
                      <a:extLst>
                        <a:ext uri="{9D8B030D-6E8A-4147-A177-3AD203B41FA5}">
                          <a16:colId xmlns:a16="http://schemas.microsoft.com/office/drawing/2014/main" val="3676508839"/>
                        </a:ext>
                      </a:extLst>
                    </a:gridCol>
                    <a:gridCol w="377687">
                      <a:extLst>
                        <a:ext uri="{9D8B030D-6E8A-4147-A177-3AD203B41FA5}">
                          <a16:colId xmlns:a16="http://schemas.microsoft.com/office/drawing/2014/main" val="3364169271"/>
                        </a:ext>
                      </a:extLst>
                    </a:gridCol>
                    <a:gridCol w="2345635">
                      <a:extLst>
                        <a:ext uri="{9D8B030D-6E8A-4147-A177-3AD203B41FA5}">
                          <a16:colId xmlns:a16="http://schemas.microsoft.com/office/drawing/2014/main" val="460053931"/>
                        </a:ext>
                      </a:extLst>
                    </a:gridCol>
                    <a:gridCol w="1570383">
                      <a:extLst>
                        <a:ext uri="{9D8B030D-6E8A-4147-A177-3AD203B41FA5}">
                          <a16:colId xmlns:a16="http://schemas.microsoft.com/office/drawing/2014/main" val="2498011360"/>
                        </a:ext>
                      </a:extLst>
                    </a:gridCol>
                    <a:gridCol w="2504660">
                      <a:extLst>
                        <a:ext uri="{9D8B030D-6E8A-4147-A177-3AD203B41FA5}">
                          <a16:colId xmlns:a16="http://schemas.microsoft.com/office/drawing/2014/main" val="2579247023"/>
                        </a:ext>
                      </a:extLst>
                    </a:gridCol>
                    <a:gridCol w="347870">
                      <a:extLst>
                        <a:ext uri="{9D8B030D-6E8A-4147-A177-3AD203B41FA5}">
                          <a16:colId xmlns:a16="http://schemas.microsoft.com/office/drawing/2014/main" val="1635373302"/>
                        </a:ext>
                      </a:extLst>
                    </a:gridCol>
                    <a:gridCol w="2156792">
                      <a:extLst>
                        <a:ext uri="{9D8B030D-6E8A-4147-A177-3AD203B41FA5}">
                          <a16:colId xmlns:a16="http://schemas.microsoft.com/office/drawing/2014/main" val="1146037858"/>
                        </a:ext>
                      </a:extLst>
                    </a:gridCol>
                  </a:tblGrid>
                  <a:tr h="2018328"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632258" t="-302" r="-2364516" b="-1522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325194" t="-302" r="-318992" b="-1522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2645614" t="-302" r="-622807" b="-1522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402701178"/>
                      </a:ext>
                    </a:extLst>
                  </a:tr>
                  <a:tr h="4719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Acide salicylique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Anhydride acétique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1" dirty="0"/>
                            <a:t>Acide acétylsalicylique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Acide acétique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89108697"/>
                      </a:ext>
                    </a:extLst>
                  </a:tr>
                  <a:tr h="733025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t="-341667" r="-389796" b="-25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117922" t="-341667" r="-280779" b="-25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482899904"/>
                      </a:ext>
                    </a:extLst>
                  </a:tr>
                  <a:tr h="4123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0,16 €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0,11 €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2678179576"/>
                      </a:ext>
                    </a:extLst>
                  </a:tr>
                  <a:tr h="1375677"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325194" t="-264602" r="-318992" b="-53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4421917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2EBA85FE-F073-486F-8EEF-8FE0F073E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Protocoles de synthèse de l’aspirine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948592D-3AFF-4E13-989B-575F820D0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2</a:t>
            </a:fld>
            <a:endParaRPr lang="fr-FR"/>
          </a:p>
        </p:txBody>
      </p:sp>
      <p:pic>
        <p:nvPicPr>
          <p:cNvPr id="1032" name="Picture 8" descr="RÃ©sultat de recherche d'images pour &quot;salicylic acid formula&quot;">
            <a:extLst>
              <a:ext uri="{FF2B5EF4-FFF2-40B4-BE49-F238E27FC236}">
                <a16:creationId xmlns:a16="http://schemas.microsoft.com/office/drawing/2014/main" id="{7662E2FC-E27B-4458-842F-F068870CDA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38" r="4623"/>
          <a:stretch/>
        </p:blipFill>
        <p:spPr bwMode="auto">
          <a:xfrm>
            <a:off x="336753" y="1448266"/>
            <a:ext cx="2230795" cy="1659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Ã©sultat de recherche d'images pour &quot;anhydride acÃ©tique&quot;">
            <a:extLst>
              <a:ext uri="{FF2B5EF4-FFF2-40B4-BE49-F238E27FC236}">
                <a16:creationId xmlns:a16="http://schemas.microsoft.com/office/drawing/2014/main" id="{E8AD83C6-905C-422A-9A5C-16E3E87CD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4983" y="1678830"/>
            <a:ext cx="2009315" cy="1212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Image 50">
            <a:extLst>
              <a:ext uri="{FF2B5EF4-FFF2-40B4-BE49-F238E27FC236}">
                <a16:creationId xmlns:a16="http://schemas.microsoft.com/office/drawing/2014/main" id="{2196F1DC-9522-45B6-B78C-19922A0ACA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7704" y="1333168"/>
            <a:ext cx="2252810" cy="1890026"/>
          </a:xfrm>
          <a:prstGeom prst="rect">
            <a:avLst/>
          </a:prstGeom>
        </p:spPr>
      </p:pic>
      <p:pic>
        <p:nvPicPr>
          <p:cNvPr id="61" name="Picture 16" descr="RÃ©sultat de recherche d'images pour &quot;acetic acid formula&quot;">
            <a:extLst>
              <a:ext uri="{FF2B5EF4-FFF2-40B4-BE49-F238E27FC236}">
                <a16:creationId xmlns:a16="http://schemas.microsoft.com/office/drawing/2014/main" id="{336B0188-933B-4691-8595-AF824C48B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0458" y="1567544"/>
            <a:ext cx="1666030" cy="1434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5AE6B7E5-DE76-459D-808F-CB7DA18ADBC6}"/>
              </a:ext>
            </a:extLst>
          </p:cNvPr>
          <p:cNvCxnSpPr>
            <a:cxnSpLocks/>
          </p:cNvCxnSpPr>
          <p:nvPr/>
        </p:nvCxnSpPr>
        <p:spPr>
          <a:xfrm>
            <a:off x="5506279" y="2278181"/>
            <a:ext cx="142129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2" descr="https://orme-conseil.com/wp-content/uploads/2018/03/Pictogramme-CLP-%C3%A0-t%C3%A9l%C3%A9charger.jpg">
            <a:extLst>
              <a:ext uri="{FF2B5EF4-FFF2-40B4-BE49-F238E27FC236}">
                <a16:creationId xmlns:a16="http://schemas.microsoft.com/office/drawing/2014/main" id="{1827E1CD-8F98-4EFD-A953-8E45B5741E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69" t="32261" r="35597" b="40400"/>
          <a:stretch/>
        </p:blipFill>
        <p:spPr bwMode="auto">
          <a:xfrm>
            <a:off x="314738" y="5116167"/>
            <a:ext cx="953587" cy="93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2" descr="https://orme-conseil.com/wp-content/uploads/2018/03/Pictogramme-CLP-%C3%A0-t%C3%A9l%C3%A9charger.jpg">
            <a:extLst>
              <a:ext uri="{FF2B5EF4-FFF2-40B4-BE49-F238E27FC236}">
                <a16:creationId xmlns:a16="http://schemas.microsoft.com/office/drawing/2014/main" id="{4980779F-CB53-4054-AF8D-5639B7B551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9" t="64495" r="68137" b="8166"/>
          <a:stretch/>
        </p:blipFill>
        <p:spPr bwMode="auto">
          <a:xfrm>
            <a:off x="1394219" y="5116166"/>
            <a:ext cx="927081" cy="93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2" descr="https://orme-conseil.com/wp-content/uploads/2018/03/Pictogramme-CLP-%C3%A0-t%C3%A9l%C3%A9charger.jpg">
            <a:extLst>
              <a:ext uri="{FF2B5EF4-FFF2-40B4-BE49-F238E27FC236}">
                <a16:creationId xmlns:a16="http://schemas.microsoft.com/office/drawing/2014/main" id="{89A4D45D-50FA-4667-A409-95AD102C10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9" t="64495" r="68137" b="8166"/>
          <a:stretch/>
        </p:blipFill>
        <p:spPr bwMode="auto">
          <a:xfrm>
            <a:off x="3215810" y="5344309"/>
            <a:ext cx="927081" cy="93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2" descr="https://orme-conseil.com/wp-content/uploads/2018/03/Pictogramme-CLP-%C3%A0-t%C3%A9l%C3%A9charger.jpg">
            <a:extLst>
              <a:ext uri="{FF2B5EF4-FFF2-40B4-BE49-F238E27FC236}">
                <a16:creationId xmlns:a16="http://schemas.microsoft.com/office/drawing/2014/main" id="{48E92E10-DF28-45B0-9E7E-09DCF7629C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69" t="32261" r="35597" b="40400"/>
          <a:stretch/>
        </p:blipFill>
        <p:spPr bwMode="auto">
          <a:xfrm>
            <a:off x="3604726" y="4923089"/>
            <a:ext cx="953587" cy="93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2" descr="https://orme-conseil.com/wp-content/uploads/2018/03/Pictogramme-CLP-%C3%A0-t%C3%A9l%C3%A9charger.jpg">
            <a:extLst>
              <a:ext uri="{FF2B5EF4-FFF2-40B4-BE49-F238E27FC236}">
                <a16:creationId xmlns:a16="http://schemas.microsoft.com/office/drawing/2014/main" id="{A7AD55EE-3E85-4368-B3DD-9D94992905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69" t="1834" r="35597" b="72176"/>
          <a:stretch/>
        </p:blipFill>
        <p:spPr bwMode="auto">
          <a:xfrm>
            <a:off x="4040027" y="5409068"/>
            <a:ext cx="953587" cy="892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115" descr="Image associÃ©e">
            <a:extLst>
              <a:ext uri="{FF2B5EF4-FFF2-40B4-BE49-F238E27FC236}">
                <a16:creationId xmlns:a16="http://schemas.microsoft.com/office/drawing/2014/main" id="{480AE5C0-D399-486D-83EE-56F85AC1E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0458" y="5150923"/>
            <a:ext cx="884609" cy="884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117" descr="Image associÃ©e">
            <a:extLst>
              <a:ext uri="{FF2B5EF4-FFF2-40B4-BE49-F238E27FC236}">
                <a16:creationId xmlns:a16="http://schemas.microsoft.com/office/drawing/2014/main" id="{B3B1A77B-B9F5-4AAB-A269-ED78E9D6C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8860" y="5143484"/>
            <a:ext cx="884609" cy="884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115" descr="Image associÃ©e">
            <a:extLst>
              <a:ext uri="{FF2B5EF4-FFF2-40B4-BE49-F238E27FC236}">
                <a16:creationId xmlns:a16="http://schemas.microsoft.com/office/drawing/2014/main" id="{423E2E55-9EF5-4BDC-81FE-2EBD059B3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1890" y="5150923"/>
            <a:ext cx="884609" cy="884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" name="Picture 117" descr="Image associÃ©e">
            <a:extLst>
              <a:ext uri="{FF2B5EF4-FFF2-40B4-BE49-F238E27FC236}">
                <a16:creationId xmlns:a16="http://schemas.microsoft.com/office/drawing/2014/main" id="{F8266D35-949C-4CD2-B991-895096C91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178" y="5036902"/>
            <a:ext cx="884609" cy="884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Espace réservé du pied de page 2">
            <a:extLst>
              <a:ext uri="{FF2B5EF4-FFF2-40B4-BE49-F238E27FC236}">
                <a16:creationId xmlns:a16="http://schemas.microsoft.com/office/drawing/2014/main" id="{29DDC3FB-A794-493F-8526-C70233B59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</a:p>
        </p:txBody>
      </p:sp>
    </p:spTree>
    <p:extLst>
      <p:ext uri="{BB962C8B-B14F-4D97-AF65-F5344CB8AC3E}">
        <p14:creationId xmlns:p14="http://schemas.microsoft.com/office/powerpoint/2010/main" val="4137470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2" name="Tableau 51">
                <a:extLst>
                  <a:ext uri="{FF2B5EF4-FFF2-40B4-BE49-F238E27FC236}">
                    <a16:creationId xmlns:a16="http://schemas.microsoft.com/office/drawing/2014/main" id="{6299EFDC-D811-415D-AE6E-13C7739EDF60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188844" y="1272209"/>
              <a:ext cx="11688418" cy="4883527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385391">
                      <a:extLst>
                        <a:ext uri="{9D8B030D-6E8A-4147-A177-3AD203B41FA5}">
                          <a16:colId xmlns:a16="http://schemas.microsoft.com/office/drawing/2014/main" val="3676508839"/>
                        </a:ext>
                      </a:extLst>
                    </a:gridCol>
                    <a:gridCol w="377687">
                      <a:extLst>
                        <a:ext uri="{9D8B030D-6E8A-4147-A177-3AD203B41FA5}">
                          <a16:colId xmlns:a16="http://schemas.microsoft.com/office/drawing/2014/main" val="3364169271"/>
                        </a:ext>
                      </a:extLst>
                    </a:gridCol>
                    <a:gridCol w="2345635">
                      <a:extLst>
                        <a:ext uri="{9D8B030D-6E8A-4147-A177-3AD203B41FA5}">
                          <a16:colId xmlns:a16="http://schemas.microsoft.com/office/drawing/2014/main" val="460053931"/>
                        </a:ext>
                      </a:extLst>
                    </a:gridCol>
                    <a:gridCol w="1570383">
                      <a:extLst>
                        <a:ext uri="{9D8B030D-6E8A-4147-A177-3AD203B41FA5}">
                          <a16:colId xmlns:a16="http://schemas.microsoft.com/office/drawing/2014/main" val="2498011360"/>
                        </a:ext>
                      </a:extLst>
                    </a:gridCol>
                    <a:gridCol w="2504660">
                      <a:extLst>
                        <a:ext uri="{9D8B030D-6E8A-4147-A177-3AD203B41FA5}">
                          <a16:colId xmlns:a16="http://schemas.microsoft.com/office/drawing/2014/main" val="2579247023"/>
                        </a:ext>
                      </a:extLst>
                    </a:gridCol>
                    <a:gridCol w="347870">
                      <a:extLst>
                        <a:ext uri="{9D8B030D-6E8A-4147-A177-3AD203B41FA5}">
                          <a16:colId xmlns:a16="http://schemas.microsoft.com/office/drawing/2014/main" val="1635373302"/>
                        </a:ext>
                      </a:extLst>
                    </a:gridCol>
                    <a:gridCol w="2156792">
                      <a:extLst>
                        <a:ext uri="{9D8B030D-6E8A-4147-A177-3AD203B41FA5}">
                          <a16:colId xmlns:a16="http://schemas.microsoft.com/office/drawing/2014/main" val="1146037858"/>
                        </a:ext>
                      </a:extLst>
                    </a:gridCol>
                  </a:tblGrid>
                  <a:tr h="2018328"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fr-FR" sz="3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fr-FR" sz="3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2000" b="0" i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fr-FR" sz="20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fr-FR" sz="20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sSub>
                                  <m:sSubPr>
                                    <m:ctrlP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2000" b="0" i="0" smtClean="0">
                                        <a:latin typeface="Cambria Math" panose="02040503050406030204" pitchFamily="18" charset="0"/>
                                      </a:rPr>
                                      <m:t>O</m:t>
                                    </m:r>
                                  </m:e>
                                  <m:sub>
                                    <m:r>
                                      <a:rPr lang="fr-FR" sz="2000" b="0" i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000" dirty="0"/>
                        </a:p>
                        <a:p>
                          <a:pPr algn="ctr"/>
                          <a:endParaRPr lang="fr-FR" dirty="0"/>
                        </a:p>
                        <a:p>
                          <a:pPr algn="ctr"/>
                          <a:r>
                            <a:rPr lang="fr-FR" sz="2000" b="0" dirty="0"/>
                            <a:t>20 min</a:t>
                          </a:r>
                          <a:r>
                            <a:rPr lang="fr-FR" sz="1400" b="0" dirty="0"/>
                            <a:t> </a:t>
                          </a:r>
                          <a:r>
                            <a:rPr lang="fr-FR" sz="2000" b="0" dirty="0"/>
                            <a:t>|</a:t>
                          </a:r>
                          <a:r>
                            <a:rPr lang="fr-FR" sz="1400" b="0" dirty="0"/>
                            <a:t> </a:t>
                          </a:r>
                          <a:r>
                            <a:rPr lang="fr-FR" sz="2000" b="0" dirty="0"/>
                            <a:t>65°C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fr-FR" sz="32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fr-FR" sz="3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402701178"/>
                      </a:ext>
                    </a:extLst>
                  </a:tr>
                  <a:tr h="4719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Acide salicylique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Anhydride acétique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1" dirty="0"/>
                            <a:t>Acide acétylsalicylique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Acide acétique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89108697"/>
                      </a:ext>
                    </a:extLst>
                  </a:tr>
                  <a:tr h="590855"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400" i="1" dirty="0"/>
                            <a:t>Nocif en cas d’ingestion. Provoque des lésions oculaires graves.</a:t>
                          </a:r>
                        </a:p>
                      </a:txBody>
                      <a:tcPr marL="0" marR="0" marT="0" marB="0"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endParaRPr lang="fr-FR" sz="1000" dirty="0"/>
                        </a:p>
                      </a:txBody>
                      <a:tcPr marL="0" marR="0" marT="0" marB="0"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fr-FR" sz="1400" i="1" dirty="0"/>
                            <a:t>Nocif en cas d’ingestion et d’inhalation. Provoque des brûlures et des lésions oculaires graves. </a:t>
                          </a:r>
                          <a:endParaRPr lang="fr-FR" sz="1400" i="0" dirty="0"/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482899904"/>
                      </a:ext>
                    </a:extLst>
                  </a:tr>
                  <a:tr h="412370">
                    <a:tc vMerge="1"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i="1" dirty="0"/>
                            <a:t>Inflammable. Réagit au contact de l’eau.</a:t>
                          </a:r>
                          <a:endParaRPr lang="fr-FR" sz="14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2678179576"/>
                      </a:ext>
                    </a:extLst>
                  </a:tr>
                  <a:tr h="1375677"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  <a:p>
                          <a:pPr algn="ctr"/>
                          <a:endParaRPr lang="fr-FR" dirty="0"/>
                        </a:p>
                        <a:p>
                          <a:pPr algn="ctr"/>
                          <a:endParaRPr lang="fr-FR" sz="1600" i="1" dirty="0"/>
                        </a:p>
                        <a:p>
                          <a:pPr algn="ctr"/>
                          <a:endParaRPr lang="fr-FR" sz="1600" i="1" dirty="0"/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600" b="0" i="0" dirty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fr-FR" sz="1600" b="0" i="0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fr-FR" sz="1600" b="0" i="0" dirty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sSub>
                                <m:sSubPr>
                                  <m:ctrlPr>
                                    <a:rPr lang="fr-FR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600" b="0" i="0" dirty="0" smtClean="0">
                                      <a:latin typeface="Cambria Math" panose="02040503050406030204" pitchFamily="18" charset="0"/>
                                    </a:rPr>
                                    <m:t>O</m:t>
                                  </m:r>
                                </m:e>
                                <m:sub>
                                  <m:r>
                                    <a:rPr lang="fr-FR" sz="1600" b="0" i="0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sz="1600" i="1" dirty="0"/>
                            <a:t> concentré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4421917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2" name="Tableau 51">
                <a:extLst>
                  <a:ext uri="{FF2B5EF4-FFF2-40B4-BE49-F238E27FC236}">
                    <a16:creationId xmlns:a16="http://schemas.microsoft.com/office/drawing/2014/main" id="{6299EFDC-D811-415D-AE6E-13C7739EDF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9103014"/>
                  </p:ext>
                </p:extLst>
              </p:nvPr>
            </p:nvGraphicFramePr>
            <p:xfrm>
              <a:off x="188844" y="1272209"/>
              <a:ext cx="11688418" cy="4883527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2385391">
                      <a:extLst>
                        <a:ext uri="{9D8B030D-6E8A-4147-A177-3AD203B41FA5}">
                          <a16:colId xmlns:a16="http://schemas.microsoft.com/office/drawing/2014/main" val="3676508839"/>
                        </a:ext>
                      </a:extLst>
                    </a:gridCol>
                    <a:gridCol w="377687">
                      <a:extLst>
                        <a:ext uri="{9D8B030D-6E8A-4147-A177-3AD203B41FA5}">
                          <a16:colId xmlns:a16="http://schemas.microsoft.com/office/drawing/2014/main" val="3364169271"/>
                        </a:ext>
                      </a:extLst>
                    </a:gridCol>
                    <a:gridCol w="2345635">
                      <a:extLst>
                        <a:ext uri="{9D8B030D-6E8A-4147-A177-3AD203B41FA5}">
                          <a16:colId xmlns:a16="http://schemas.microsoft.com/office/drawing/2014/main" val="460053931"/>
                        </a:ext>
                      </a:extLst>
                    </a:gridCol>
                    <a:gridCol w="1570383">
                      <a:extLst>
                        <a:ext uri="{9D8B030D-6E8A-4147-A177-3AD203B41FA5}">
                          <a16:colId xmlns:a16="http://schemas.microsoft.com/office/drawing/2014/main" val="2498011360"/>
                        </a:ext>
                      </a:extLst>
                    </a:gridCol>
                    <a:gridCol w="2504660">
                      <a:extLst>
                        <a:ext uri="{9D8B030D-6E8A-4147-A177-3AD203B41FA5}">
                          <a16:colId xmlns:a16="http://schemas.microsoft.com/office/drawing/2014/main" val="2579247023"/>
                        </a:ext>
                      </a:extLst>
                    </a:gridCol>
                    <a:gridCol w="347870">
                      <a:extLst>
                        <a:ext uri="{9D8B030D-6E8A-4147-A177-3AD203B41FA5}">
                          <a16:colId xmlns:a16="http://schemas.microsoft.com/office/drawing/2014/main" val="1635373302"/>
                        </a:ext>
                      </a:extLst>
                    </a:gridCol>
                    <a:gridCol w="2156792">
                      <a:extLst>
                        <a:ext uri="{9D8B030D-6E8A-4147-A177-3AD203B41FA5}">
                          <a16:colId xmlns:a16="http://schemas.microsoft.com/office/drawing/2014/main" val="1146037858"/>
                        </a:ext>
                      </a:extLst>
                    </a:gridCol>
                  </a:tblGrid>
                  <a:tr h="2018328"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632258" t="-302" r="-2364516" b="-1459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325194" t="-302" r="-318992" b="-1459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2645614" t="-302" r="-622807" b="-1459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402701178"/>
                      </a:ext>
                    </a:extLst>
                  </a:tr>
                  <a:tr h="4719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Acide salicylique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Anhydride acétique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1" dirty="0"/>
                            <a:t>Acide acétylsalicylique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Acide acétique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89108697"/>
                      </a:ext>
                    </a:extLst>
                  </a:tr>
                  <a:tr h="590855"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400" i="1" dirty="0"/>
                            <a:t>Nocif en cas d’ingestion. Provoque des lésions oculaires graves.</a:t>
                          </a:r>
                        </a:p>
                      </a:txBody>
                      <a:tcPr marL="0" marR="0" marT="0" marB="0"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endParaRPr lang="fr-FR" sz="1000" dirty="0"/>
                        </a:p>
                      </a:txBody>
                      <a:tcPr marL="0" marR="0" marT="0" marB="0"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fr-FR" sz="1400" i="1" dirty="0"/>
                            <a:t>Nocif en cas d’ingestion et d’inhalation. Provoque des brûlures et des lésions oculaires graves. </a:t>
                          </a:r>
                          <a:endParaRPr lang="fr-FR" sz="1400" i="0" dirty="0"/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482899904"/>
                      </a:ext>
                    </a:extLst>
                  </a:tr>
                  <a:tr h="426720">
                    <a:tc vMerge="1"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i="1" dirty="0"/>
                            <a:t>Inflammable. Réagit au contact de l’eau.</a:t>
                          </a:r>
                          <a:endParaRPr lang="fr-FR" sz="14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2678179576"/>
                      </a:ext>
                    </a:extLst>
                  </a:tr>
                  <a:tr h="1375677"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325194" t="-255310" r="-318992" b="-53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4421917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2EBA85FE-F073-486F-8EEF-8FE0F073E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Protocoles de synthèse de l’aspirine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948592D-3AFF-4E13-989B-575F820D0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3</a:t>
            </a:fld>
            <a:endParaRPr lang="fr-FR"/>
          </a:p>
        </p:txBody>
      </p:sp>
      <p:pic>
        <p:nvPicPr>
          <p:cNvPr id="1032" name="Picture 8" descr="RÃ©sultat de recherche d'images pour &quot;salicylic acid formula&quot;">
            <a:extLst>
              <a:ext uri="{FF2B5EF4-FFF2-40B4-BE49-F238E27FC236}">
                <a16:creationId xmlns:a16="http://schemas.microsoft.com/office/drawing/2014/main" id="{7662E2FC-E27B-4458-842F-F068870CDA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38" r="4623"/>
          <a:stretch/>
        </p:blipFill>
        <p:spPr bwMode="auto">
          <a:xfrm>
            <a:off x="336753" y="1448266"/>
            <a:ext cx="2230795" cy="1659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Ã©sultat de recherche d'images pour &quot;anhydride acÃ©tique&quot;">
            <a:extLst>
              <a:ext uri="{FF2B5EF4-FFF2-40B4-BE49-F238E27FC236}">
                <a16:creationId xmlns:a16="http://schemas.microsoft.com/office/drawing/2014/main" id="{E8AD83C6-905C-422A-9A5C-16E3E87CD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4983" y="1678830"/>
            <a:ext cx="2009315" cy="1212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Image 50">
            <a:extLst>
              <a:ext uri="{FF2B5EF4-FFF2-40B4-BE49-F238E27FC236}">
                <a16:creationId xmlns:a16="http://schemas.microsoft.com/office/drawing/2014/main" id="{2196F1DC-9522-45B6-B78C-19922A0ACA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7704" y="1333168"/>
            <a:ext cx="2252810" cy="1890026"/>
          </a:xfrm>
          <a:prstGeom prst="rect">
            <a:avLst/>
          </a:prstGeom>
        </p:spPr>
      </p:pic>
      <p:pic>
        <p:nvPicPr>
          <p:cNvPr id="61" name="Picture 16" descr="RÃ©sultat de recherche d'images pour &quot;acetic acid formula&quot;">
            <a:extLst>
              <a:ext uri="{FF2B5EF4-FFF2-40B4-BE49-F238E27FC236}">
                <a16:creationId xmlns:a16="http://schemas.microsoft.com/office/drawing/2014/main" id="{336B0188-933B-4691-8595-AF824C48B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0458" y="1567544"/>
            <a:ext cx="1666030" cy="1434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5AE6B7E5-DE76-459D-808F-CB7DA18ADBC6}"/>
              </a:ext>
            </a:extLst>
          </p:cNvPr>
          <p:cNvCxnSpPr>
            <a:cxnSpLocks/>
          </p:cNvCxnSpPr>
          <p:nvPr/>
        </p:nvCxnSpPr>
        <p:spPr>
          <a:xfrm>
            <a:off x="5506279" y="2278181"/>
            <a:ext cx="142129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2" descr="https://orme-conseil.com/wp-content/uploads/2018/03/Pictogramme-CLP-%C3%A0-t%C3%A9l%C3%A9charger.jpg">
            <a:extLst>
              <a:ext uri="{FF2B5EF4-FFF2-40B4-BE49-F238E27FC236}">
                <a16:creationId xmlns:a16="http://schemas.microsoft.com/office/drawing/2014/main" id="{1827E1CD-8F98-4EFD-A953-8E45B5741E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69" t="32261" r="35597" b="40400"/>
          <a:stretch/>
        </p:blipFill>
        <p:spPr bwMode="auto">
          <a:xfrm>
            <a:off x="314738" y="5026716"/>
            <a:ext cx="953587" cy="93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2" descr="https://orme-conseil.com/wp-content/uploads/2018/03/Pictogramme-CLP-%C3%A0-t%C3%A9l%C3%A9charger.jpg">
            <a:extLst>
              <a:ext uri="{FF2B5EF4-FFF2-40B4-BE49-F238E27FC236}">
                <a16:creationId xmlns:a16="http://schemas.microsoft.com/office/drawing/2014/main" id="{4980779F-CB53-4054-AF8D-5639B7B551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9" t="64495" r="68137" b="8166"/>
          <a:stretch/>
        </p:blipFill>
        <p:spPr bwMode="auto">
          <a:xfrm>
            <a:off x="1394219" y="5026715"/>
            <a:ext cx="927081" cy="93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2" descr="https://orme-conseil.com/wp-content/uploads/2018/03/Pictogramme-CLP-%C3%A0-t%C3%A9l%C3%A9charger.jpg">
            <a:extLst>
              <a:ext uri="{FF2B5EF4-FFF2-40B4-BE49-F238E27FC236}">
                <a16:creationId xmlns:a16="http://schemas.microsoft.com/office/drawing/2014/main" id="{89A4D45D-50FA-4667-A409-95AD102C10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9" t="64495" r="68137" b="8166"/>
          <a:stretch/>
        </p:blipFill>
        <p:spPr bwMode="auto">
          <a:xfrm>
            <a:off x="3215810" y="5175346"/>
            <a:ext cx="927081" cy="93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2" descr="https://orme-conseil.com/wp-content/uploads/2018/03/Pictogramme-CLP-%C3%A0-t%C3%A9l%C3%A9charger.jpg">
            <a:extLst>
              <a:ext uri="{FF2B5EF4-FFF2-40B4-BE49-F238E27FC236}">
                <a16:creationId xmlns:a16="http://schemas.microsoft.com/office/drawing/2014/main" id="{48E92E10-DF28-45B0-9E7E-09DCF7629C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69" t="32261" r="35597" b="40400"/>
          <a:stretch/>
        </p:blipFill>
        <p:spPr bwMode="auto">
          <a:xfrm>
            <a:off x="3604726" y="4754126"/>
            <a:ext cx="953587" cy="93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2" descr="https://orme-conseil.com/wp-content/uploads/2018/03/Pictogramme-CLP-%C3%A0-t%C3%A9l%C3%A9charger.jpg">
            <a:extLst>
              <a:ext uri="{FF2B5EF4-FFF2-40B4-BE49-F238E27FC236}">
                <a16:creationId xmlns:a16="http://schemas.microsoft.com/office/drawing/2014/main" id="{A7AD55EE-3E85-4368-B3DD-9D94992905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69" t="1834" r="35597" b="72176"/>
          <a:stretch/>
        </p:blipFill>
        <p:spPr bwMode="auto">
          <a:xfrm>
            <a:off x="4040027" y="5240105"/>
            <a:ext cx="953587" cy="892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115" descr="Image associÃ©e">
            <a:extLst>
              <a:ext uri="{FF2B5EF4-FFF2-40B4-BE49-F238E27FC236}">
                <a16:creationId xmlns:a16="http://schemas.microsoft.com/office/drawing/2014/main" id="{480AE5C0-D399-486D-83EE-56F85AC1E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0458" y="5051533"/>
            <a:ext cx="884609" cy="884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117" descr="Image associÃ©e">
            <a:extLst>
              <a:ext uri="{FF2B5EF4-FFF2-40B4-BE49-F238E27FC236}">
                <a16:creationId xmlns:a16="http://schemas.microsoft.com/office/drawing/2014/main" id="{B3B1A77B-B9F5-4AAB-A269-ED78E9D6C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8860" y="5044094"/>
            <a:ext cx="884609" cy="884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115" descr="Image associÃ©e">
            <a:extLst>
              <a:ext uri="{FF2B5EF4-FFF2-40B4-BE49-F238E27FC236}">
                <a16:creationId xmlns:a16="http://schemas.microsoft.com/office/drawing/2014/main" id="{423E2E55-9EF5-4BDC-81FE-2EBD059B3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1890" y="5051533"/>
            <a:ext cx="884609" cy="884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" name="Picture 117" descr="Image associÃ©e">
            <a:extLst>
              <a:ext uri="{FF2B5EF4-FFF2-40B4-BE49-F238E27FC236}">
                <a16:creationId xmlns:a16="http://schemas.microsoft.com/office/drawing/2014/main" id="{F8266D35-949C-4CD2-B991-895096C91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178" y="4937512"/>
            <a:ext cx="884609" cy="884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Espace réservé du pied de page 2">
            <a:extLst>
              <a:ext uri="{FF2B5EF4-FFF2-40B4-BE49-F238E27FC236}">
                <a16:creationId xmlns:a16="http://schemas.microsoft.com/office/drawing/2014/main" id="{54988572-0173-4A5F-B812-731DCA124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</a:p>
        </p:txBody>
      </p:sp>
    </p:spTree>
    <p:extLst>
      <p:ext uri="{BB962C8B-B14F-4D97-AF65-F5344CB8AC3E}">
        <p14:creationId xmlns:p14="http://schemas.microsoft.com/office/powerpoint/2010/main" val="3240080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2" name="Tableau 51">
                <a:extLst>
                  <a:ext uri="{FF2B5EF4-FFF2-40B4-BE49-F238E27FC236}">
                    <a16:creationId xmlns:a16="http://schemas.microsoft.com/office/drawing/2014/main" id="{6299EFDC-D811-415D-AE6E-13C7739EDF60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188844" y="1272209"/>
              <a:ext cx="11688418" cy="5011347"/>
            </p:xfrm>
            <a:graphic>
              <a:graphicData uri="http://schemas.openxmlformats.org/drawingml/2006/table">
                <a:tbl>
                  <a:tblPr firstRow="1" bandRow="1">
                    <a:tableStyleId>{68D230F3-CF80-4859-8CE7-A43EE81993B5}</a:tableStyleId>
                  </a:tblPr>
                  <a:tblGrid>
                    <a:gridCol w="2385391">
                      <a:extLst>
                        <a:ext uri="{9D8B030D-6E8A-4147-A177-3AD203B41FA5}">
                          <a16:colId xmlns:a16="http://schemas.microsoft.com/office/drawing/2014/main" val="3676508839"/>
                        </a:ext>
                      </a:extLst>
                    </a:gridCol>
                    <a:gridCol w="377687">
                      <a:extLst>
                        <a:ext uri="{9D8B030D-6E8A-4147-A177-3AD203B41FA5}">
                          <a16:colId xmlns:a16="http://schemas.microsoft.com/office/drawing/2014/main" val="3364169271"/>
                        </a:ext>
                      </a:extLst>
                    </a:gridCol>
                    <a:gridCol w="2345635">
                      <a:extLst>
                        <a:ext uri="{9D8B030D-6E8A-4147-A177-3AD203B41FA5}">
                          <a16:colId xmlns:a16="http://schemas.microsoft.com/office/drawing/2014/main" val="460053931"/>
                        </a:ext>
                      </a:extLst>
                    </a:gridCol>
                    <a:gridCol w="1570383">
                      <a:extLst>
                        <a:ext uri="{9D8B030D-6E8A-4147-A177-3AD203B41FA5}">
                          <a16:colId xmlns:a16="http://schemas.microsoft.com/office/drawing/2014/main" val="2498011360"/>
                        </a:ext>
                      </a:extLst>
                    </a:gridCol>
                    <a:gridCol w="2504660">
                      <a:extLst>
                        <a:ext uri="{9D8B030D-6E8A-4147-A177-3AD203B41FA5}">
                          <a16:colId xmlns:a16="http://schemas.microsoft.com/office/drawing/2014/main" val="2579247023"/>
                        </a:ext>
                      </a:extLst>
                    </a:gridCol>
                    <a:gridCol w="347870">
                      <a:extLst>
                        <a:ext uri="{9D8B030D-6E8A-4147-A177-3AD203B41FA5}">
                          <a16:colId xmlns:a16="http://schemas.microsoft.com/office/drawing/2014/main" val="1635373302"/>
                        </a:ext>
                      </a:extLst>
                    </a:gridCol>
                    <a:gridCol w="2156792">
                      <a:extLst>
                        <a:ext uri="{9D8B030D-6E8A-4147-A177-3AD203B41FA5}">
                          <a16:colId xmlns:a16="http://schemas.microsoft.com/office/drawing/2014/main" val="1146037858"/>
                        </a:ext>
                      </a:extLst>
                    </a:gridCol>
                  </a:tblGrid>
                  <a:tr h="2018328"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fr-FR" sz="320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fr-FR" sz="3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b="0" dirty="0"/>
                            <a:t>Dichlorométhane, </a:t>
                          </a:r>
                          <a:r>
                            <a:rPr lang="fr-FR" sz="1600" b="0" dirty="0" err="1"/>
                            <a:t>triéthylamine</a:t>
                          </a:r>
                          <a:endParaRPr lang="fr-FR" sz="1600" b="0" dirty="0"/>
                        </a:p>
                        <a:p>
                          <a:pPr algn="ctr"/>
                          <a:endParaRPr lang="fr-FR" dirty="0"/>
                        </a:p>
                        <a:p>
                          <a:pPr algn="ctr"/>
                          <a:r>
                            <a:rPr lang="fr-FR" sz="2000" b="0" dirty="0"/>
                            <a:t>0°C</a:t>
                          </a:r>
                        </a:p>
                        <a:p>
                          <a:pPr algn="ctr"/>
                          <a:r>
                            <a:rPr lang="fr-FR" sz="1400" b="0" dirty="0"/>
                            <a:t>Verrerie sèche et circulation d’azote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fr-FR" sz="320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fr-FR" sz="3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600" b="0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HCl</a:t>
                          </a:r>
                          <a:endParaRPr lang="fr-FR" sz="26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402701178"/>
                      </a:ext>
                    </a:extLst>
                  </a:tr>
                  <a:tr h="4719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Acide salicylique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Chlorure d’acétyle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1" dirty="0"/>
                            <a:t>Acide acétylsalicylique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Chlorure d’hydrogène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89108697"/>
                      </a:ext>
                    </a:extLst>
                  </a:tr>
                  <a:tr h="7330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800" smtClean="0">
                                    <a:latin typeface="Cambria Math" panose="02040503050406030204" pitchFamily="18" charset="0"/>
                                  </a:rPr>
                                  <m:t>3,0 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800" smtClean="0">
                                    <a:latin typeface="Cambria Math" panose="02040503050406030204" pitchFamily="18" charset="0"/>
                                  </a:rPr>
                                  <m:t>g</m:t>
                                </m:r>
                                <m:r>
                                  <a:rPr lang="fr-FR" sz="18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fr-FR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smtClean="0"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fr-FR" sz="18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fr-FR" sz="1800" smtClean="0">
                                        <a:latin typeface="Cambria Math" panose="02040503050406030204" pitchFamily="18" charset="0"/>
                                      </a:rPr>
                                      <m:t>.10</m:t>
                                    </m:r>
                                  </m:e>
                                  <m:sup>
                                    <m:r>
                                      <a:rPr lang="fr-FR" sz="1800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  <m:r>
                                  <a:rPr lang="fr-FR" sz="18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800" smtClean="0">
                                    <a:latin typeface="Cambria Math" panose="02040503050406030204" pitchFamily="18" charset="0"/>
                                  </a:rPr>
                                  <m:t>mol</m:t>
                                </m:r>
                              </m:oMath>
                            </m:oMathPara>
                          </a14:m>
                          <a:endParaRPr lang="fr-FR" sz="1800" i="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800" smtClean="0">
                                    <a:latin typeface="Cambria Math" panose="02040503050406030204" pitchFamily="18" charset="0"/>
                                  </a:rPr>
                                  <m:t>2, </m:t>
                                </m:r>
                                <m:r>
                                  <a:rPr lang="fr-FR" sz="1800" b="0" i="0" smtClean="0">
                                    <a:latin typeface="Cambria Math" panose="02040503050406030204" pitchFamily="18" charset="0"/>
                                  </a:rPr>
                                  <m:t>0 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800" b="0" i="0" smtClean="0">
                                    <a:latin typeface="Cambria Math" panose="02040503050406030204" pitchFamily="18" charset="0"/>
                                  </a:rPr>
                                  <m:t>g</m:t>
                                </m:r>
                                <m:r>
                                  <a:rPr lang="fr-FR" sz="18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fr-FR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fr-FR" sz="180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fr-FR" sz="1800" b="0" i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fr-FR" sz="1800" smtClean="0">
                                        <a:latin typeface="Cambria Math" panose="02040503050406030204" pitchFamily="18" charset="0"/>
                                      </a:rPr>
                                      <m:t>.10</m:t>
                                    </m:r>
                                  </m:e>
                                  <m:sup>
                                    <m:r>
                                      <a:rPr lang="fr-FR" sz="1800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  <m:r>
                                  <a:rPr lang="fr-FR" sz="18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800" smtClean="0">
                                    <a:latin typeface="Cambria Math" panose="02040503050406030204" pitchFamily="18" charset="0"/>
                                  </a:rPr>
                                  <m:t>mol</m:t>
                                </m:r>
                              </m:oMath>
                            </m:oMathPara>
                          </a14:m>
                          <a:endParaRPr lang="fr-FR" sz="1800" i="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 err="1"/>
                            <a:t>Dichlo</a:t>
                          </a:r>
                          <a:r>
                            <a:rPr lang="fr-FR" sz="1600" dirty="0"/>
                            <a:t> : 85 </a:t>
                          </a:r>
                          <a:r>
                            <a:rPr lang="fr-FR" sz="1600" dirty="0" err="1"/>
                            <a:t>mL</a:t>
                          </a:r>
                          <a:endParaRPr lang="fr-FR" sz="1600" dirty="0"/>
                        </a:p>
                        <a:p>
                          <a:pPr algn="ctr"/>
                          <a:r>
                            <a:rPr lang="fr-FR" sz="1600" dirty="0" err="1"/>
                            <a:t>Triéth</a:t>
                          </a:r>
                          <a:r>
                            <a:rPr lang="fr-FR" sz="1600" dirty="0"/>
                            <a:t>. : 4,0 g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482899904"/>
                      </a:ext>
                    </a:extLst>
                  </a:tr>
                  <a:tr h="4123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0,16 €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0,04 €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0,61 €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2678179576"/>
                      </a:ext>
                    </a:extLst>
                  </a:tr>
                  <a:tr h="1375677"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  <a:p>
                          <a:pPr algn="ctr"/>
                          <a:endParaRPr lang="fr-FR" dirty="0"/>
                        </a:p>
                        <a:p>
                          <a:pPr algn="ctr"/>
                          <a:endParaRPr lang="fr-FR" sz="16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4421917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2" name="Tableau 51">
                <a:extLst>
                  <a:ext uri="{FF2B5EF4-FFF2-40B4-BE49-F238E27FC236}">
                    <a16:creationId xmlns:a16="http://schemas.microsoft.com/office/drawing/2014/main" id="{6299EFDC-D811-415D-AE6E-13C7739EDF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1975063"/>
                  </p:ext>
                </p:extLst>
              </p:nvPr>
            </p:nvGraphicFramePr>
            <p:xfrm>
              <a:off x="188844" y="1272209"/>
              <a:ext cx="11688418" cy="5011347"/>
            </p:xfrm>
            <a:graphic>
              <a:graphicData uri="http://schemas.openxmlformats.org/drawingml/2006/table">
                <a:tbl>
                  <a:tblPr firstRow="1" bandRow="1">
                    <a:tableStyleId>{68D230F3-CF80-4859-8CE7-A43EE81993B5}</a:tableStyleId>
                  </a:tblPr>
                  <a:tblGrid>
                    <a:gridCol w="2385391">
                      <a:extLst>
                        <a:ext uri="{9D8B030D-6E8A-4147-A177-3AD203B41FA5}">
                          <a16:colId xmlns:a16="http://schemas.microsoft.com/office/drawing/2014/main" val="3676508839"/>
                        </a:ext>
                      </a:extLst>
                    </a:gridCol>
                    <a:gridCol w="377687">
                      <a:extLst>
                        <a:ext uri="{9D8B030D-6E8A-4147-A177-3AD203B41FA5}">
                          <a16:colId xmlns:a16="http://schemas.microsoft.com/office/drawing/2014/main" val="3364169271"/>
                        </a:ext>
                      </a:extLst>
                    </a:gridCol>
                    <a:gridCol w="2345635">
                      <a:extLst>
                        <a:ext uri="{9D8B030D-6E8A-4147-A177-3AD203B41FA5}">
                          <a16:colId xmlns:a16="http://schemas.microsoft.com/office/drawing/2014/main" val="460053931"/>
                        </a:ext>
                      </a:extLst>
                    </a:gridCol>
                    <a:gridCol w="1570383">
                      <a:extLst>
                        <a:ext uri="{9D8B030D-6E8A-4147-A177-3AD203B41FA5}">
                          <a16:colId xmlns:a16="http://schemas.microsoft.com/office/drawing/2014/main" val="2498011360"/>
                        </a:ext>
                      </a:extLst>
                    </a:gridCol>
                    <a:gridCol w="2504660">
                      <a:extLst>
                        <a:ext uri="{9D8B030D-6E8A-4147-A177-3AD203B41FA5}">
                          <a16:colId xmlns:a16="http://schemas.microsoft.com/office/drawing/2014/main" val="2579247023"/>
                        </a:ext>
                      </a:extLst>
                    </a:gridCol>
                    <a:gridCol w="347870">
                      <a:extLst>
                        <a:ext uri="{9D8B030D-6E8A-4147-A177-3AD203B41FA5}">
                          <a16:colId xmlns:a16="http://schemas.microsoft.com/office/drawing/2014/main" val="1635373302"/>
                        </a:ext>
                      </a:extLst>
                    </a:gridCol>
                    <a:gridCol w="2156792">
                      <a:extLst>
                        <a:ext uri="{9D8B030D-6E8A-4147-A177-3AD203B41FA5}">
                          <a16:colId xmlns:a16="http://schemas.microsoft.com/office/drawing/2014/main" val="1146037858"/>
                        </a:ext>
                      </a:extLst>
                    </a:gridCol>
                  </a:tblGrid>
                  <a:tr h="2018328"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632258" t="-302" r="-2364516" b="-148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b="0" dirty="0"/>
                            <a:t>Dichlorométhane, </a:t>
                          </a:r>
                          <a:r>
                            <a:rPr lang="fr-FR" sz="1600" b="0" dirty="0" err="1"/>
                            <a:t>triéthylamine</a:t>
                          </a:r>
                          <a:endParaRPr lang="fr-FR" sz="1600" b="0" dirty="0"/>
                        </a:p>
                        <a:p>
                          <a:pPr algn="ctr"/>
                          <a:endParaRPr lang="fr-FR" dirty="0"/>
                        </a:p>
                        <a:p>
                          <a:pPr algn="ctr"/>
                          <a:r>
                            <a:rPr lang="fr-FR" sz="2000" b="0" dirty="0"/>
                            <a:t>0°C</a:t>
                          </a:r>
                        </a:p>
                        <a:p>
                          <a:pPr algn="ctr"/>
                          <a:r>
                            <a:rPr lang="fr-FR" sz="1400" b="0" dirty="0"/>
                            <a:t>Verrerie sèche et circulation d’azote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2645614" t="-302" r="-622807" b="-148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600" b="0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HCl</a:t>
                          </a:r>
                          <a:endParaRPr lang="fr-FR" sz="26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402701178"/>
                      </a:ext>
                    </a:extLst>
                  </a:tr>
                  <a:tr h="4719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Acide salicylique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Chlorure d’acétyle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1" dirty="0"/>
                            <a:t>Acide acétylsalicylique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Chlorure d’hydrogène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89108697"/>
                      </a:ext>
                    </a:extLst>
                  </a:tr>
                  <a:tr h="733025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t="-341667" r="-389796" b="-24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117922" t="-341667" r="-280779" b="-24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 err="1"/>
                            <a:t>Dichlo</a:t>
                          </a:r>
                          <a:r>
                            <a:rPr lang="fr-FR" sz="1600" dirty="0"/>
                            <a:t> : 85 </a:t>
                          </a:r>
                          <a:r>
                            <a:rPr lang="fr-FR" sz="1600" dirty="0" err="1"/>
                            <a:t>mL</a:t>
                          </a:r>
                          <a:endParaRPr lang="fr-FR" sz="1600" dirty="0"/>
                        </a:p>
                        <a:p>
                          <a:pPr algn="ctr"/>
                          <a:r>
                            <a:rPr lang="fr-FR" sz="1600" dirty="0" err="1"/>
                            <a:t>Triéth</a:t>
                          </a:r>
                          <a:r>
                            <a:rPr lang="fr-FR" sz="1600" dirty="0"/>
                            <a:t>. : 4,0 g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482899904"/>
                      </a:ext>
                    </a:extLst>
                  </a:tr>
                  <a:tr h="4123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0,16 €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0,04 €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0,61 €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2678179576"/>
                      </a:ext>
                    </a:extLst>
                  </a:tr>
                  <a:tr h="1375677"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  <a:p>
                          <a:pPr algn="ctr"/>
                          <a:endParaRPr lang="fr-FR" dirty="0"/>
                        </a:p>
                        <a:p>
                          <a:pPr algn="ctr"/>
                          <a:endParaRPr lang="fr-FR" sz="16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4421917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2EBA85FE-F073-486F-8EEF-8FE0F073E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Protocoles de synthèse de l’aspirine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948592D-3AFF-4E13-989B-575F820D0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4</a:t>
            </a:fld>
            <a:endParaRPr lang="fr-FR"/>
          </a:p>
        </p:txBody>
      </p:sp>
      <p:pic>
        <p:nvPicPr>
          <p:cNvPr id="1032" name="Picture 8" descr="RÃ©sultat de recherche d'images pour &quot;salicylic acid formula&quot;">
            <a:extLst>
              <a:ext uri="{FF2B5EF4-FFF2-40B4-BE49-F238E27FC236}">
                <a16:creationId xmlns:a16="http://schemas.microsoft.com/office/drawing/2014/main" id="{7662E2FC-E27B-4458-842F-F068870CDA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38" r="4623"/>
          <a:stretch/>
        </p:blipFill>
        <p:spPr bwMode="auto">
          <a:xfrm>
            <a:off x="336753" y="1448266"/>
            <a:ext cx="2230795" cy="1659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Image 50">
            <a:extLst>
              <a:ext uri="{FF2B5EF4-FFF2-40B4-BE49-F238E27FC236}">
                <a16:creationId xmlns:a16="http://schemas.microsoft.com/office/drawing/2014/main" id="{2196F1DC-9522-45B6-B78C-19922A0ACA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7704" y="1333168"/>
            <a:ext cx="2252810" cy="1890026"/>
          </a:xfrm>
          <a:prstGeom prst="rect">
            <a:avLst/>
          </a:prstGeom>
        </p:spPr>
      </p:pic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5AE6B7E5-DE76-459D-808F-CB7DA18ADBC6}"/>
              </a:ext>
            </a:extLst>
          </p:cNvPr>
          <p:cNvCxnSpPr>
            <a:cxnSpLocks/>
          </p:cNvCxnSpPr>
          <p:nvPr/>
        </p:nvCxnSpPr>
        <p:spPr>
          <a:xfrm>
            <a:off x="5385352" y="2238424"/>
            <a:ext cx="142129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2" descr="https://orme-conseil.com/wp-content/uploads/2018/03/Pictogramme-CLP-%C3%A0-t%C3%A9l%C3%A9charger.jpg">
            <a:extLst>
              <a:ext uri="{FF2B5EF4-FFF2-40B4-BE49-F238E27FC236}">
                <a16:creationId xmlns:a16="http://schemas.microsoft.com/office/drawing/2014/main" id="{1827E1CD-8F98-4EFD-A953-8E45B5741E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69" t="32261" r="35597" b="40400"/>
          <a:stretch/>
        </p:blipFill>
        <p:spPr bwMode="auto">
          <a:xfrm>
            <a:off x="314738" y="5116167"/>
            <a:ext cx="953587" cy="93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2" descr="https://orme-conseil.com/wp-content/uploads/2018/03/Pictogramme-CLP-%C3%A0-t%C3%A9l%C3%A9charger.jpg">
            <a:extLst>
              <a:ext uri="{FF2B5EF4-FFF2-40B4-BE49-F238E27FC236}">
                <a16:creationId xmlns:a16="http://schemas.microsoft.com/office/drawing/2014/main" id="{4980779F-CB53-4054-AF8D-5639B7B551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9" t="64495" r="68137" b="8166"/>
          <a:stretch/>
        </p:blipFill>
        <p:spPr bwMode="auto">
          <a:xfrm>
            <a:off x="1394219" y="5116166"/>
            <a:ext cx="927081" cy="93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117" descr="Image associÃ©e">
            <a:extLst>
              <a:ext uri="{FF2B5EF4-FFF2-40B4-BE49-F238E27FC236}">
                <a16:creationId xmlns:a16="http://schemas.microsoft.com/office/drawing/2014/main" id="{B3B1A77B-B9F5-4AAB-A269-ED78E9D6C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7904" y="5348201"/>
            <a:ext cx="884609" cy="884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115" descr="Image associÃ©e">
            <a:extLst>
              <a:ext uri="{FF2B5EF4-FFF2-40B4-BE49-F238E27FC236}">
                <a16:creationId xmlns:a16="http://schemas.microsoft.com/office/drawing/2014/main" id="{423E2E55-9EF5-4BDC-81FE-2EBD059B3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1890" y="5150923"/>
            <a:ext cx="884609" cy="884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RÃ©sultat de recherche d'images pour &quot;chlorure d'acÃ©tyle&quot;">
            <a:extLst>
              <a:ext uri="{FF2B5EF4-FFF2-40B4-BE49-F238E27FC236}">
                <a16:creationId xmlns:a16="http://schemas.microsoft.com/office/drawing/2014/main" id="{573E03F4-07C9-4D85-A0E6-D13707C0C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131" y="1620756"/>
            <a:ext cx="1421297" cy="1360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15" descr="Image associÃ©e">
            <a:extLst>
              <a:ext uri="{FF2B5EF4-FFF2-40B4-BE49-F238E27FC236}">
                <a16:creationId xmlns:a16="http://schemas.microsoft.com/office/drawing/2014/main" id="{4D5788A2-C16D-4296-8818-A390E27DB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403" y="5158362"/>
            <a:ext cx="884609" cy="884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17" descr="Image associÃ©e">
            <a:extLst>
              <a:ext uri="{FF2B5EF4-FFF2-40B4-BE49-F238E27FC236}">
                <a16:creationId xmlns:a16="http://schemas.microsoft.com/office/drawing/2014/main" id="{8DF6DE1C-F1F4-4237-AD9B-73CC0291F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6805" y="5150923"/>
            <a:ext cx="884609" cy="884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9AD9F9E5-47FC-43BA-B726-45BDDE3D5B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0301" y="5158362"/>
            <a:ext cx="935072" cy="939246"/>
          </a:xfrm>
          <a:prstGeom prst="rect">
            <a:avLst/>
          </a:prstGeom>
        </p:spPr>
      </p:pic>
      <p:pic>
        <p:nvPicPr>
          <p:cNvPr id="3076" name="Picture 4" descr="Toxique">
            <a:extLst>
              <a:ext uri="{FF2B5EF4-FFF2-40B4-BE49-F238E27FC236}">
                <a16:creationId xmlns:a16="http://schemas.microsoft.com/office/drawing/2014/main" id="{F03B40F4-FAAE-461A-9305-AD9FF6E55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983" y="5363391"/>
            <a:ext cx="884609" cy="884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Gaz sous pression">
            <a:extLst>
              <a:ext uri="{FF2B5EF4-FFF2-40B4-BE49-F238E27FC236}">
                <a16:creationId xmlns:a16="http://schemas.microsoft.com/office/drawing/2014/main" id="{ACB030BB-FB67-4098-8C27-C48DBCB73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5476" y="4921087"/>
            <a:ext cx="884609" cy="884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Espace réservé du pied de page 2">
            <a:extLst>
              <a:ext uri="{FF2B5EF4-FFF2-40B4-BE49-F238E27FC236}">
                <a16:creationId xmlns:a16="http://schemas.microsoft.com/office/drawing/2014/main" id="{2BEF45C8-4155-41CC-93E3-382F9BE2B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</a:p>
        </p:txBody>
      </p:sp>
    </p:spTree>
    <p:extLst>
      <p:ext uri="{BB962C8B-B14F-4D97-AF65-F5344CB8AC3E}">
        <p14:creationId xmlns:p14="http://schemas.microsoft.com/office/powerpoint/2010/main" val="2926615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2" name="Tableau 51">
                <a:extLst>
                  <a:ext uri="{FF2B5EF4-FFF2-40B4-BE49-F238E27FC236}">
                    <a16:creationId xmlns:a16="http://schemas.microsoft.com/office/drawing/2014/main" id="{6299EFDC-D811-415D-AE6E-13C7739EDF60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188844" y="1272209"/>
              <a:ext cx="11688418" cy="5011347"/>
            </p:xfrm>
            <a:graphic>
              <a:graphicData uri="http://schemas.openxmlformats.org/drawingml/2006/table">
                <a:tbl>
                  <a:tblPr firstRow="1" bandRow="1">
                    <a:tableStyleId>{68D230F3-CF80-4859-8CE7-A43EE81993B5}</a:tableStyleId>
                  </a:tblPr>
                  <a:tblGrid>
                    <a:gridCol w="2385391">
                      <a:extLst>
                        <a:ext uri="{9D8B030D-6E8A-4147-A177-3AD203B41FA5}">
                          <a16:colId xmlns:a16="http://schemas.microsoft.com/office/drawing/2014/main" val="3676508839"/>
                        </a:ext>
                      </a:extLst>
                    </a:gridCol>
                    <a:gridCol w="377687">
                      <a:extLst>
                        <a:ext uri="{9D8B030D-6E8A-4147-A177-3AD203B41FA5}">
                          <a16:colId xmlns:a16="http://schemas.microsoft.com/office/drawing/2014/main" val="3364169271"/>
                        </a:ext>
                      </a:extLst>
                    </a:gridCol>
                    <a:gridCol w="2345635">
                      <a:extLst>
                        <a:ext uri="{9D8B030D-6E8A-4147-A177-3AD203B41FA5}">
                          <a16:colId xmlns:a16="http://schemas.microsoft.com/office/drawing/2014/main" val="460053931"/>
                        </a:ext>
                      </a:extLst>
                    </a:gridCol>
                    <a:gridCol w="1570383">
                      <a:extLst>
                        <a:ext uri="{9D8B030D-6E8A-4147-A177-3AD203B41FA5}">
                          <a16:colId xmlns:a16="http://schemas.microsoft.com/office/drawing/2014/main" val="2498011360"/>
                        </a:ext>
                      </a:extLst>
                    </a:gridCol>
                    <a:gridCol w="2504660">
                      <a:extLst>
                        <a:ext uri="{9D8B030D-6E8A-4147-A177-3AD203B41FA5}">
                          <a16:colId xmlns:a16="http://schemas.microsoft.com/office/drawing/2014/main" val="2579247023"/>
                        </a:ext>
                      </a:extLst>
                    </a:gridCol>
                    <a:gridCol w="347870">
                      <a:extLst>
                        <a:ext uri="{9D8B030D-6E8A-4147-A177-3AD203B41FA5}">
                          <a16:colId xmlns:a16="http://schemas.microsoft.com/office/drawing/2014/main" val="1635373302"/>
                        </a:ext>
                      </a:extLst>
                    </a:gridCol>
                    <a:gridCol w="2156792">
                      <a:extLst>
                        <a:ext uri="{9D8B030D-6E8A-4147-A177-3AD203B41FA5}">
                          <a16:colId xmlns:a16="http://schemas.microsoft.com/office/drawing/2014/main" val="1146037858"/>
                        </a:ext>
                      </a:extLst>
                    </a:gridCol>
                  </a:tblGrid>
                  <a:tr h="2018328"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fr-FR" sz="320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fr-FR" sz="3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b="0" dirty="0"/>
                            <a:t>Dichlorométhane, </a:t>
                          </a:r>
                          <a:r>
                            <a:rPr lang="fr-FR" sz="1600" b="0" dirty="0" err="1"/>
                            <a:t>triéthylamine</a:t>
                          </a:r>
                          <a:endParaRPr lang="fr-FR" sz="1600" b="0" dirty="0"/>
                        </a:p>
                        <a:p>
                          <a:pPr algn="ctr"/>
                          <a:endParaRPr lang="fr-FR" sz="1800" dirty="0"/>
                        </a:p>
                        <a:p>
                          <a:pPr algn="ctr"/>
                          <a:r>
                            <a:rPr lang="fr-FR" sz="2000" b="0" dirty="0"/>
                            <a:t>0°C</a:t>
                          </a:r>
                        </a:p>
                        <a:p>
                          <a:pPr algn="ctr"/>
                          <a:r>
                            <a:rPr lang="fr-FR" sz="1400" b="0" dirty="0"/>
                            <a:t>Verrerie sèche et circulation d’azote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fr-FR" sz="320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fr-FR" sz="3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600" b="0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HCl</a:t>
                          </a:r>
                          <a:endParaRPr lang="fr-FR" sz="26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402701178"/>
                      </a:ext>
                    </a:extLst>
                  </a:tr>
                  <a:tr h="4719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Acide salicylique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Chlorure d’acétyle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1" dirty="0"/>
                            <a:t>Acide acétylsalicylique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Chlorure d’hydrogène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89108697"/>
                      </a:ext>
                    </a:extLst>
                  </a:tr>
                  <a:tr h="733025"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400" i="1" dirty="0"/>
                            <a:t>Nocif en cas d’ingestion. Provoque des lésions oculaires graves.</a:t>
                          </a:r>
                        </a:p>
                      </a:txBody>
                      <a:tcPr marL="0" marR="0" marT="0" marB="0"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400" i="1" dirty="0"/>
                            <a:t>Provoque des brûlures et des lésions oculaires graves. 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400" i="1" dirty="0"/>
                            <a:t>Très inflammable. Réagit violemment avec l’eau.</a:t>
                          </a:r>
                          <a:endParaRPr lang="fr-FR" sz="1400" i="0" dirty="0"/>
                        </a:p>
                      </a:txBody>
                      <a:tcPr marL="0" marR="0" marT="0" marB="0"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fr-FR" sz="1400" i="1" dirty="0"/>
                            <a:t>Susceptible de provoquer le cancer.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fr-FR" sz="1400" i="1" dirty="0"/>
                            <a:t>Toxique par inhalation. Provoque des brûlures et des lésions oculaires graves 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482899904"/>
                      </a:ext>
                    </a:extLst>
                  </a:tr>
                  <a:tr h="412370">
                    <a:tc vMerge="1"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2678179576"/>
                      </a:ext>
                    </a:extLst>
                  </a:tr>
                  <a:tr h="1375677"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  <a:p>
                          <a:pPr algn="ctr"/>
                          <a:endParaRPr lang="fr-FR" dirty="0"/>
                        </a:p>
                        <a:p>
                          <a:pPr algn="ctr"/>
                          <a:endParaRPr lang="fr-FR" sz="16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4421917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2" name="Tableau 51">
                <a:extLst>
                  <a:ext uri="{FF2B5EF4-FFF2-40B4-BE49-F238E27FC236}">
                    <a16:creationId xmlns:a16="http://schemas.microsoft.com/office/drawing/2014/main" id="{6299EFDC-D811-415D-AE6E-13C7739EDF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8598001"/>
                  </p:ext>
                </p:extLst>
              </p:nvPr>
            </p:nvGraphicFramePr>
            <p:xfrm>
              <a:off x="188844" y="1272209"/>
              <a:ext cx="11688418" cy="5011347"/>
            </p:xfrm>
            <a:graphic>
              <a:graphicData uri="http://schemas.openxmlformats.org/drawingml/2006/table">
                <a:tbl>
                  <a:tblPr firstRow="1" bandRow="1">
                    <a:tableStyleId>{68D230F3-CF80-4859-8CE7-A43EE81993B5}</a:tableStyleId>
                  </a:tblPr>
                  <a:tblGrid>
                    <a:gridCol w="2385391">
                      <a:extLst>
                        <a:ext uri="{9D8B030D-6E8A-4147-A177-3AD203B41FA5}">
                          <a16:colId xmlns:a16="http://schemas.microsoft.com/office/drawing/2014/main" val="3676508839"/>
                        </a:ext>
                      </a:extLst>
                    </a:gridCol>
                    <a:gridCol w="377687">
                      <a:extLst>
                        <a:ext uri="{9D8B030D-6E8A-4147-A177-3AD203B41FA5}">
                          <a16:colId xmlns:a16="http://schemas.microsoft.com/office/drawing/2014/main" val="3364169271"/>
                        </a:ext>
                      </a:extLst>
                    </a:gridCol>
                    <a:gridCol w="2345635">
                      <a:extLst>
                        <a:ext uri="{9D8B030D-6E8A-4147-A177-3AD203B41FA5}">
                          <a16:colId xmlns:a16="http://schemas.microsoft.com/office/drawing/2014/main" val="460053931"/>
                        </a:ext>
                      </a:extLst>
                    </a:gridCol>
                    <a:gridCol w="1570383">
                      <a:extLst>
                        <a:ext uri="{9D8B030D-6E8A-4147-A177-3AD203B41FA5}">
                          <a16:colId xmlns:a16="http://schemas.microsoft.com/office/drawing/2014/main" val="2498011360"/>
                        </a:ext>
                      </a:extLst>
                    </a:gridCol>
                    <a:gridCol w="2504660">
                      <a:extLst>
                        <a:ext uri="{9D8B030D-6E8A-4147-A177-3AD203B41FA5}">
                          <a16:colId xmlns:a16="http://schemas.microsoft.com/office/drawing/2014/main" val="2579247023"/>
                        </a:ext>
                      </a:extLst>
                    </a:gridCol>
                    <a:gridCol w="347870">
                      <a:extLst>
                        <a:ext uri="{9D8B030D-6E8A-4147-A177-3AD203B41FA5}">
                          <a16:colId xmlns:a16="http://schemas.microsoft.com/office/drawing/2014/main" val="1635373302"/>
                        </a:ext>
                      </a:extLst>
                    </a:gridCol>
                    <a:gridCol w="2156792">
                      <a:extLst>
                        <a:ext uri="{9D8B030D-6E8A-4147-A177-3AD203B41FA5}">
                          <a16:colId xmlns:a16="http://schemas.microsoft.com/office/drawing/2014/main" val="1146037858"/>
                        </a:ext>
                      </a:extLst>
                    </a:gridCol>
                  </a:tblGrid>
                  <a:tr h="2018328"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632258" t="-302" r="-2364516" b="-148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b="0" dirty="0"/>
                            <a:t>Dichlorométhane, </a:t>
                          </a:r>
                          <a:r>
                            <a:rPr lang="fr-FR" sz="1600" b="0" dirty="0" err="1"/>
                            <a:t>triéthylamine</a:t>
                          </a:r>
                          <a:endParaRPr lang="fr-FR" sz="1600" b="0" dirty="0"/>
                        </a:p>
                        <a:p>
                          <a:pPr algn="ctr"/>
                          <a:endParaRPr lang="fr-FR" sz="1800" dirty="0"/>
                        </a:p>
                        <a:p>
                          <a:pPr algn="ctr"/>
                          <a:r>
                            <a:rPr lang="fr-FR" sz="2000" b="0" dirty="0"/>
                            <a:t>0°C</a:t>
                          </a:r>
                        </a:p>
                        <a:p>
                          <a:pPr algn="ctr"/>
                          <a:r>
                            <a:rPr lang="fr-FR" sz="1400" b="0" dirty="0"/>
                            <a:t>Verrerie sèche et circulation d’azote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2645614" t="-302" r="-622807" b="-148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600" b="0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HCl</a:t>
                          </a:r>
                          <a:endParaRPr lang="fr-FR" sz="26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402701178"/>
                      </a:ext>
                    </a:extLst>
                  </a:tr>
                  <a:tr h="4719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Acide salicylique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Chlorure d’acétyle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1" dirty="0"/>
                            <a:t>Acide acétylsalicylique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Chlorure d’hydrogène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89108697"/>
                      </a:ext>
                    </a:extLst>
                  </a:tr>
                  <a:tr h="733025"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400" i="1" dirty="0"/>
                            <a:t>Nocif en cas d’ingestion. Provoque des lésions oculaires graves.</a:t>
                          </a:r>
                        </a:p>
                      </a:txBody>
                      <a:tcPr marL="0" marR="0" marT="0" marB="0"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400" i="1" dirty="0"/>
                            <a:t>Provoque des brûlures et des lésions oculaires graves. 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400" i="1" dirty="0"/>
                            <a:t>Très inflammable. Réagit violemment avec l’eau.</a:t>
                          </a:r>
                          <a:endParaRPr lang="fr-FR" sz="1400" i="0" dirty="0"/>
                        </a:p>
                      </a:txBody>
                      <a:tcPr marL="0" marR="0" marT="0" marB="0"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fr-FR" sz="1400" i="1" dirty="0"/>
                            <a:t>Susceptible de provoquer le cancer.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sz="1800" dirty="0"/>
                        </a:p>
                      </a:txBody>
                      <a:tcPr marL="0" marR="0" marT="0" marB="0"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fr-FR" sz="1400" i="1" dirty="0"/>
                            <a:t>Toxique par inhalation. Provoque des brûlures et des lésions oculaires graves </a:t>
                          </a: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482899904"/>
                      </a:ext>
                    </a:extLst>
                  </a:tr>
                  <a:tr h="412370">
                    <a:tc vMerge="1"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2678179576"/>
                      </a:ext>
                    </a:extLst>
                  </a:tr>
                  <a:tr h="1375677"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  <a:p>
                          <a:pPr algn="ctr"/>
                          <a:endParaRPr lang="fr-FR" dirty="0"/>
                        </a:p>
                        <a:p>
                          <a:pPr algn="ctr"/>
                          <a:endParaRPr lang="fr-FR" sz="16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fr-FR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4421917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2EBA85FE-F073-486F-8EEF-8FE0F073E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Protocoles de synthèse de l’aspirine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948592D-3AFF-4E13-989B-575F820D0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5</a:t>
            </a:fld>
            <a:endParaRPr lang="fr-FR"/>
          </a:p>
        </p:txBody>
      </p:sp>
      <p:pic>
        <p:nvPicPr>
          <p:cNvPr id="1032" name="Picture 8" descr="RÃ©sultat de recherche d'images pour &quot;salicylic acid formula&quot;">
            <a:extLst>
              <a:ext uri="{FF2B5EF4-FFF2-40B4-BE49-F238E27FC236}">
                <a16:creationId xmlns:a16="http://schemas.microsoft.com/office/drawing/2014/main" id="{7662E2FC-E27B-4458-842F-F068870CDA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38" r="4623"/>
          <a:stretch/>
        </p:blipFill>
        <p:spPr bwMode="auto">
          <a:xfrm>
            <a:off x="336753" y="1448266"/>
            <a:ext cx="2230795" cy="1659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Image 50">
            <a:extLst>
              <a:ext uri="{FF2B5EF4-FFF2-40B4-BE49-F238E27FC236}">
                <a16:creationId xmlns:a16="http://schemas.microsoft.com/office/drawing/2014/main" id="{2196F1DC-9522-45B6-B78C-19922A0ACA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7704" y="1333168"/>
            <a:ext cx="2252810" cy="1890026"/>
          </a:xfrm>
          <a:prstGeom prst="rect">
            <a:avLst/>
          </a:prstGeom>
        </p:spPr>
      </p:pic>
      <p:pic>
        <p:nvPicPr>
          <p:cNvPr id="67" name="Picture 2" descr="https://orme-conseil.com/wp-content/uploads/2018/03/Pictogramme-CLP-%C3%A0-t%C3%A9l%C3%A9charger.jpg">
            <a:extLst>
              <a:ext uri="{FF2B5EF4-FFF2-40B4-BE49-F238E27FC236}">
                <a16:creationId xmlns:a16="http://schemas.microsoft.com/office/drawing/2014/main" id="{1827E1CD-8F98-4EFD-A953-8E45B5741E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69" t="32261" r="35597" b="40400"/>
          <a:stretch/>
        </p:blipFill>
        <p:spPr bwMode="auto">
          <a:xfrm>
            <a:off x="314738" y="5116167"/>
            <a:ext cx="953587" cy="93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2" descr="https://orme-conseil.com/wp-content/uploads/2018/03/Pictogramme-CLP-%C3%A0-t%C3%A9l%C3%A9charger.jpg">
            <a:extLst>
              <a:ext uri="{FF2B5EF4-FFF2-40B4-BE49-F238E27FC236}">
                <a16:creationId xmlns:a16="http://schemas.microsoft.com/office/drawing/2014/main" id="{4980779F-CB53-4054-AF8D-5639B7B551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9" t="64495" r="68137" b="8166"/>
          <a:stretch/>
        </p:blipFill>
        <p:spPr bwMode="auto">
          <a:xfrm>
            <a:off x="1394219" y="5116166"/>
            <a:ext cx="927081" cy="93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117" descr="Image associÃ©e">
            <a:extLst>
              <a:ext uri="{FF2B5EF4-FFF2-40B4-BE49-F238E27FC236}">
                <a16:creationId xmlns:a16="http://schemas.microsoft.com/office/drawing/2014/main" id="{B3B1A77B-B9F5-4AAB-A269-ED78E9D6C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7904" y="5348201"/>
            <a:ext cx="884609" cy="884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115" descr="Image associÃ©e">
            <a:extLst>
              <a:ext uri="{FF2B5EF4-FFF2-40B4-BE49-F238E27FC236}">
                <a16:creationId xmlns:a16="http://schemas.microsoft.com/office/drawing/2014/main" id="{423E2E55-9EF5-4BDC-81FE-2EBD059B3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1890" y="5150923"/>
            <a:ext cx="884609" cy="884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RÃ©sultat de recherche d'images pour &quot;chlorure d'acÃ©tyle&quot;">
            <a:extLst>
              <a:ext uri="{FF2B5EF4-FFF2-40B4-BE49-F238E27FC236}">
                <a16:creationId xmlns:a16="http://schemas.microsoft.com/office/drawing/2014/main" id="{573E03F4-07C9-4D85-A0E6-D13707C0C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131" y="1620756"/>
            <a:ext cx="1421297" cy="1360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15" descr="Image associÃ©e">
            <a:extLst>
              <a:ext uri="{FF2B5EF4-FFF2-40B4-BE49-F238E27FC236}">
                <a16:creationId xmlns:a16="http://schemas.microsoft.com/office/drawing/2014/main" id="{4D5788A2-C16D-4296-8818-A390E27DB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403" y="5158362"/>
            <a:ext cx="884609" cy="884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17" descr="Image associÃ©e">
            <a:extLst>
              <a:ext uri="{FF2B5EF4-FFF2-40B4-BE49-F238E27FC236}">
                <a16:creationId xmlns:a16="http://schemas.microsoft.com/office/drawing/2014/main" id="{8DF6DE1C-F1F4-4237-AD9B-73CC0291F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6805" y="5150923"/>
            <a:ext cx="884609" cy="884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9AD9F9E5-47FC-43BA-B726-45BDDE3D5B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0301" y="5158362"/>
            <a:ext cx="935072" cy="939246"/>
          </a:xfrm>
          <a:prstGeom prst="rect">
            <a:avLst/>
          </a:prstGeom>
        </p:spPr>
      </p:pic>
      <p:pic>
        <p:nvPicPr>
          <p:cNvPr id="3076" name="Picture 4" descr="Toxique">
            <a:extLst>
              <a:ext uri="{FF2B5EF4-FFF2-40B4-BE49-F238E27FC236}">
                <a16:creationId xmlns:a16="http://schemas.microsoft.com/office/drawing/2014/main" id="{F03B40F4-FAAE-461A-9305-AD9FF6E55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983" y="5363391"/>
            <a:ext cx="884609" cy="884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Gaz sous pression">
            <a:extLst>
              <a:ext uri="{FF2B5EF4-FFF2-40B4-BE49-F238E27FC236}">
                <a16:creationId xmlns:a16="http://schemas.microsoft.com/office/drawing/2014/main" id="{ACB030BB-FB67-4098-8C27-C48DBCB73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5476" y="4921087"/>
            <a:ext cx="884609" cy="884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2DD9FEF7-F235-42B4-ABA2-5D1EE49ADE6C}"/>
              </a:ext>
            </a:extLst>
          </p:cNvPr>
          <p:cNvCxnSpPr>
            <a:cxnSpLocks/>
          </p:cNvCxnSpPr>
          <p:nvPr/>
        </p:nvCxnSpPr>
        <p:spPr>
          <a:xfrm>
            <a:off x="5385352" y="2238424"/>
            <a:ext cx="142129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space réservé du pied de page 2">
            <a:extLst>
              <a:ext uri="{FF2B5EF4-FFF2-40B4-BE49-F238E27FC236}">
                <a16:creationId xmlns:a16="http://schemas.microsoft.com/office/drawing/2014/main" id="{228C5A8D-8051-495C-BB6B-295B48C88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</a:p>
        </p:txBody>
      </p:sp>
    </p:spTree>
    <p:extLst>
      <p:ext uri="{BB962C8B-B14F-4D97-AF65-F5344CB8AC3E}">
        <p14:creationId xmlns:p14="http://schemas.microsoft.com/office/powerpoint/2010/main" val="1954105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601967-2F43-4B07-9438-D02DF0037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Isolement de l’aspirine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DF5A5F8-E6F6-4A58-A5D0-862EE9902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655200C-27A6-467D-B19A-EE04D1809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6</a:t>
            </a:fld>
            <a:endParaRPr lang="fr-FR"/>
          </a:p>
        </p:txBody>
      </p:sp>
      <p:pic>
        <p:nvPicPr>
          <p:cNvPr id="5" name="table">
            <a:extLst>
              <a:ext uri="{FF2B5EF4-FFF2-40B4-BE49-F238E27FC236}">
                <a16:creationId xmlns:a16="http://schemas.microsoft.com/office/drawing/2014/main" id="{2A0935C4-49B0-46C1-BA94-1EBDB98FC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241" y="1506164"/>
            <a:ext cx="5263322" cy="2496195"/>
          </a:xfrm>
          <a:prstGeom prst="rect">
            <a:avLst/>
          </a:prstGeom>
        </p:spPr>
      </p:pic>
      <p:pic>
        <p:nvPicPr>
          <p:cNvPr id="6" name="table">
            <a:extLst>
              <a:ext uri="{FF2B5EF4-FFF2-40B4-BE49-F238E27FC236}">
                <a16:creationId xmlns:a16="http://schemas.microsoft.com/office/drawing/2014/main" id="{3895A6D0-5D85-41FE-A873-30F2799D1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6277" y="1695896"/>
            <a:ext cx="4203199" cy="21296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ZoneTexte 5">
                <a:extLst>
                  <a:ext uri="{FF2B5EF4-FFF2-40B4-BE49-F238E27FC236}">
                    <a16:creationId xmlns:a16="http://schemas.microsoft.com/office/drawing/2014/main" id="{20614C6F-87D4-4E46-BB36-DBFAAE07398A}"/>
                  </a:ext>
                </a:extLst>
              </p:cNvPr>
              <p:cNvSpPr txBox="1"/>
              <p:nvPr/>
            </p:nvSpPr>
            <p:spPr>
              <a:xfrm>
                <a:off x="1097280" y="4288881"/>
                <a:ext cx="695882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fr-F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fr-FR" sz="2000" dirty="0"/>
                  <a:t> Ajout d’</a:t>
                </a:r>
                <a:r>
                  <a:rPr lang="fr-FR" sz="2000" u="sng" dirty="0"/>
                  <a:t>eau froide </a:t>
                </a:r>
                <a:r>
                  <a:rPr lang="fr-FR" sz="2000" dirty="0"/>
                  <a:t>pour faire précipiter uniquement l’aspirine.</a:t>
                </a:r>
              </a:p>
            </p:txBody>
          </p:sp>
        </mc:Choice>
        <mc:Fallback>
          <p:sp>
            <p:nvSpPr>
              <p:cNvPr id="7" name="ZoneTexte 5">
                <a:extLst>
                  <a:ext uri="{FF2B5EF4-FFF2-40B4-BE49-F238E27FC236}">
                    <a16:creationId xmlns:a16="http://schemas.microsoft.com/office/drawing/2014/main" id="{20614C6F-87D4-4E46-BB36-DBFAAE073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4288881"/>
                <a:ext cx="6958828" cy="400110"/>
              </a:xfrm>
              <a:prstGeom prst="rect">
                <a:avLst/>
              </a:prstGeom>
              <a:blipFill>
                <a:blip r:embed="rId4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e 7">
            <a:extLst>
              <a:ext uri="{FF2B5EF4-FFF2-40B4-BE49-F238E27FC236}">
                <a16:creationId xmlns:a16="http://schemas.microsoft.com/office/drawing/2014/main" id="{D42C96D8-1194-443F-AF29-1DA3EA1D3949}"/>
              </a:ext>
            </a:extLst>
          </p:cNvPr>
          <p:cNvGrpSpPr/>
          <p:nvPr/>
        </p:nvGrpSpPr>
        <p:grpSpPr>
          <a:xfrm>
            <a:off x="10482897" y="3175653"/>
            <a:ext cx="1345565" cy="2970079"/>
            <a:chOff x="8217535" y="2248964"/>
            <a:chExt cx="1345565" cy="2970079"/>
          </a:xfrm>
        </p:grpSpPr>
        <p:grpSp>
          <p:nvGrpSpPr>
            <p:cNvPr id="11" name="Grouper 638">
              <a:extLst>
                <a:ext uri="{FF2B5EF4-FFF2-40B4-BE49-F238E27FC236}">
                  <a16:creationId xmlns:a16="http://schemas.microsoft.com/office/drawing/2014/main" id="{5D229275-50E1-4BCB-BF0E-C2E7F0A45EE9}"/>
                </a:ext>
              </a:extLst>
            </p:cNvPr>
            <p:cNvGrpSpPr/>
            <p:nvPr/>
          </p:nvGrpSpPr>
          <p:grpSpPr>
            <a:xfrm>
              <a:off x="8217535" y="2248964"/>
              <a:ext cx="1345565" cy="2970079"/>
              <a:chOff x="0" y="53450"/>
              <a:chExt cx="633731" cy="1277509"/>
            </a:xfrm>
          </p:grpSpPr>
          <p:grpSp>
            <p:nvGrpSpPr>
              <p:cNvPr id="14" name="Grouper 81">
                <a:extLst>
                  <a:ext uri="{FF2B5EF4-FFF2-40B4-BE49-F238E27FC236}">
                    <a16:creationId xmlns:a16="http://schemas.microsoft.com/office/drawing/2014/main" id="{672C8F84-6CE8-483C-B6E2-120EA53B93F7}"/>
                  </a:ext>
                </a:extLst>
              </p:cNvPr>
              <p:cNvGrpSpPr/>
              <p:nvPr/>
            </p:nvGrpSpPr>
            <p:grpSpPr>
              <a:xfrm>
                <a:off x="1270" y="288925"/>
                <a:ext cx="632461" cy="1042034"/>
                <a:chOff x="0" y="0"/>
                <a:chExt cx="632461" cy="1042034"/>
              </a:xfrm>
            </p:grpSpPr>
            <p:grpSp>
              <p:nvGrpSpPr>
                <p:cNvPr id="23" name="Grouper 149">
                  <a:extLst>
                    <a:ext uri="{FF2B5EF4-FFF2-40B4-BE49-F238E27FC236}">
                      <a16:creationId xmlns:a16="http://schemas.microsoft.com/office/drawing/2014/main" id="{C00E268A-3EE6-4369-9010-36F22ABF4CB6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632461" cy="1042034"/>
                  <a:chOff x="0" y="0"/>
                  <a:chExt cx="501650" cy="826770"/>
                </a:xfrm>
              </p:grpSpPr>
              <p:grpSp>
                <p:nvGrpSpPr>
                  <p:cNvPr id="25" name="Grouper 499">
                    <a:extLst>
                      <a:ext uri="{FF2B5EF4-FFF2-40B4-BE49-F238E27FC236}">
                        <a16:creationId xmlns:a16="http://schemas.microsoft.com/office/drawing/2014/main" id="{92732EE6-39EA-4C05-88F6-D66C6827B2F3}"/>
                      </a:ext>
                    </a:extLst>
                  </p:cNvPr>
                  <p:cNvGrpSpPr/>
                  <p:nvPr/>
                </p:nvGrpSpPr>
                <p:grpSpPr>
                  <a:xfrm>
                    <a:off x="0" y="629285"/>
                    <a:ext cx="501650" cy="197485"/>
                    <a:chOff x="0" y="0"/>
                    <a:chExt cx="641350" cy="222885"/>
                  </a:xfrm>
                </p:grpSpPr>
                <p:sp>
                  <p:nvSpPr>
                    <p:cNvPr id="32" name="Arrondir un rectangle avec un coin du même côté 501">
                      <a:extLst>
                        <a:ext uri="{FF2B5EF4-FFF2-40B4-BE49-F238E27FC236}">
                          <a16:creationId xmlns:a16="http://schemas.microsoft.com/office/drawing/2014/main" id="{3B707F23-919D-49A3-BF9B-8BC2C3560257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0" y="6985"/>
                      <a:ext cx="641350" cy="215900"/>
                    </a:xfrm>
                    <a:prstGeom prst="round2SameRect">
                      <a:avLst>
                        <a:gd name="adj1" fmla="val 46667"/>
                        <a:gd name="adj2" fmla="val 50000"/>
                      </a:avLst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>
                      <a:defPPr>
                        <a:defRPr lang="en-US"/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fr-FR"/>
                    </a:p>
                  </p:txBody>
                </p:sp>
                <p:sp>
                  <p:nvSpPr>
                    <p:cNvPr id="33" name="Rectangle 32">
                      <a:extLst>
                        <a:ext uri="{FF2B5EF4-FFF2-40B4-BE49-F238E27FC236}">
                          <a16:creationId xmlns:a16="http://schemas.microsoft.com/office/drawing/2014/main" id="{772C162F-9142-40A8-A900-6962697D6F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0"/>
                      <a:ext cx="641350" cy="8255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FFFFFF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>
                      <a:defPPr>
                        <a:defRPr lang="en-US"/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fr-FR"/>
                    </a:p>
                  </p:txBody>
                </p:sp>
              </p:grpSp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3BF338C3-00CC-4E46-A8F6-C4524A6A494E}"/>
                      </a:ext>
                    </a:extLst>
                  </p:cNvPr>
                  <p:cNvSpPr/>
                  <p:nvPr/>
                </p:nvSpPr>
                <p:spPr>
                  <a:xfrm>
                    <a:off x="3810" y="626745"/>
                    <a:ext cx="494665" cy="7493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FFFFFF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fr-FR"/>
                  </a:p>
                </p:txBody>
              </p:sp>
              <p:sp>
                <p:nvSpPr>
                  <p:cNvPr id="27" name="Triangle isocèle 26">
                    <a:extLst>
                      <a:ext uri="{FF2B5EF4-FFF2-40B4-BE49-F238E27FC236}">
                        <a16:creationId xmlns:a16="http://schemas.microsoft.com/office/drawing/2014/main" id="{B3793222-89EE-4B6E-855D-1ECB8044B901}"/>
                      </a:ext>
                    </a:extLst>
                  </p:cNvPr>
                  <p:cNvSpPr/>
                  <p:nvPr/>
                </p:nvSpPr>
                <p:spPr>
                  <a:xfrm>
                    <a:off x="3810" y="82550"/>
                    <a:ext cx="494665" cy="619760"/>
                  </a:xfrm>
                  <a:prstGeom prst="triangl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fr-FR"/>
                  </a:p>
                </p:txBody>
              </p:sp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AB88E6B7-ED89-4295-BBAB-4309F61EA8D0}"/>
                      </a:ext>
                    </a:extLst>
                  </p:cNvPr>
                  <p:cNvSpPr/>
                  <p:nvPr/>
                </p:nvSpPr>
                <p:spPr>
                  <a:xfrm>
                    <a:off x="180340" y="0"/>
                    <a:ext cx="140335" cy="33972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fr-FR"/>
                  </a:p>
                </p:txBody>
              </p:sp>
              <p:grpSp>
                <p:nvGrpSpPr>
                  <p:cNvPr id="29" name="Grouper 564">
                    <a:extLst>
                      <a:ext uri="{FF2B5EF4-FFF2-40B4-BE49-F238E27FC236}">
                        <a16:creationId xmlns:a16="http://schemas.microsoft.com/office/drawing/2014/main" id="{3EB250C2-08FD-4C17-8A7E-AA73AAD391E6}"/>
                      </a:ext>
                    </a:extLst>
                  </p:cNvPr>
                  <p:cNvGrpSpPr/>
                  <p:nvPr/>
                </p:nvGrpSpPr>
                <p:grpSpPr>
                  <a:xfrm>
                    <a:off x="3810" y="530225"/>
                    <a:ext cx="494665" cy="294005"/>
                    <a:chOff x="0" y="0"/>
                    <a:chExt cx="633095" cy="331451"/>
                  </a:xfrm>
                </p:grpSpPr>
                <p:sp>
                  <p:nvSpPr>
                    <p:cNvPr id="30" name="Arrondir un rectangle avec un coin du même côté 566">
                      <a:extLst>
                        <a:ext uri="{FF2B5EF4-FFF2-40B4-BE49-F238E27FC236}">
                          <a16:creationId xmlns:a16="http://schemas.microsoft.com/office/drawing/2014/main" id="{91BC7F98-A129-4D1D-BBEE-38BCCF301978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0" y="109220"/>
                      <a:ext cx="633095" cy="222231"/>
                    </a:xfrm>
                    <a:prstGeom prst="round2SameRect">
                      <a:avLst>
                        <a:gd name="adj1" fmla="val 46667"/>
                        <a:gd name="adj2" fmla="val 50000"/>
                      </a:avLst>
                    </a:prstGeom>
                    <a:solidFill>
                      <a:srgbClr val="FFFFFF"/>
                    </a:solidFill>
                    <a:ln>
                      <a:noFill/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>
                      <a:defPPr>
                        <a:defRPr lang="en-US"/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fr-FR"/>
                    </a:p>
                  </p:txBody>
                </p:sp>
                <p:sp>
                  <p:nvSpPr>
                    <p:cNvPr id="31" name="Trapèze 30">
                      <a:extLst>
                        <a:ext uri="{FF2B5EF4-FFF2-40B4-BE49-F238E27FC236}">
                          <a16:creationId xmlns:a16="http://schemas.microsoft.com/office/drawing/2014/main" id="{A02DC6B8-90B4-4117-AB5D-E98EBD7BD1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0" y="0"/>
                      <a:ext cx="622300" cy="198120"/>
                    </a:xfrm>
                    <a:prstGeom prst="trapezoid">
                      <a:avLst>
                        <a:gd name="adj" fmla="val 45513"/>
                      </a:avLst>
                    </a:prstGeom>
                    <a:solidFill>
                      <a:srgbClr val="FFFFFF"/>
                    </a:solidFill>
                    <a:ln>
                      <a:solidFill>
                        <a:srgbClr val="FFFFFF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>
                      <a:defPPr>
                        <a:defRPr lang="en-US"/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fr-FR"/>
                    </a:p>
                  </p:txBody>
                </p:sp>
              </p:grpSp>
            </p:grpSp>
            <p:cxnSp>
              <p:nvCxnSpPr>
                <p:cNvPr id="24" name="Connecteur droit 23">
                  <a:extLst>
                    <a:ext uri="{FF2B5EF4-FFF2-40B4-BE49-F238E27FC236}">
                      <a16:creationId xmlns:a16="http://schemas.microsoft.com/office/drawing/2014/main" id="{B3875E3E-F8B6-43CA-9AF0-B7564FD41DF9}"/>
                    </a:ext>
                  </a:extLst>
                </p:cNvPr>
                <p:cNvCxnSpPr/>
                <p:nvPr/>
              </p:nvCxnSpPr>
              <p:spPr>
                <a:xfrm>
                  <a:off x="70485" y="737870"/>
                  <a:ext cx="501650" cy="0"/>
                </a:xfrm>
                <a:prstGeom prst="line">
                  <a:avLst/>
                </a:prstGeom>
                <a:ln w="9525" cmpd="sng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" name="Grouper 590">
                <a:extLst>
                  <a:ext uri="{FF2B5EF4-FFF2-40B4-BE49-F238E27FC236}">
                    <a16:creationId xmlns:a16="http://schemas.microsoft.com/office/drawing/2014/main" id="{89C1524F-9110-4303-86BB-EF83161FCD58}"/>
                  </a:ext>
                </a:extLst>
              </p:cNvPr>
              <p:cNvGrpSpPr/>
              <p:nvPr/>
            </p:nvGrpSpPr>
            <p:grpSpPr>
              <a:xfrm rot="16200000">
                <a:off x="89852" y="589600"/>
                <a:ext cx="90805" cy="270510"/>
                <a:chOff x="0" y="0"/>
                <a:chExt cx="192140" cy="428179"/>
              </a:xfrm>
            </p:grpSpPr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DF687FEB-E322-4648-97BE-BE9B7A76D8E0}"/>
                    </a:ext>
                  </a:extLst>
                </p:cNvPr>
                <p:cNvSpPr/>
                <p:nvPr/>
              </p:nvSpPr>
              <p:spPr>
                <a:xfrm>
                  <a:off x="0" y="125095"/>
                  <a:ext cx="192140" cy="212478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BC3A8660-6502-47D2-8BF5-C4C7D0162CFC}"/>
                    </a:ext>
                  </a:extLst>
                </p:cNvPr>
                <p:cNvSpPr/>
                <p:nvPr/>
              </p:nvSpPr>
              <p:spPr>
                <a:xfrm>
                  <a:off x="6350" y="0"/>
                  <a:ext cx="176929" cy="42817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</p:grp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CDC0D6A-A22E-41DE-8C9D-120B07DA3B8C}"/>
                  </a:ext>
                </a:extLst>
              </p:cNvPr>
              <p:cNvSpPr/>
              <p:nvPr/>
            </p:nvSpPr>
            <p:spPr>
              <a:xfrm>
                <a:off x="111760" y="109965"/>
                <a:ext cx="412750" cy="2470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fr-FR"/>
              </a:p>
            </p:txBody>
          </p:sp>
          <p:sp>
            <p:nvSpPr>
              <p:cNvPr id="17" name="Triangle isocèle 16">
                <a:extLst>
                  <a:ext uri="{FF2B5EF4-FFF2-40B4-BE49-F238E27FC236}">
                    <a16:creationId xmlns:a16="http://schemas.microsoft.com/office/drawing/2014/main" id="{6634E292-1F61-4B10-9F4F-DE9086750BF3}"/>
                  </a:ext>
                </a:extLst>
              </p:cNvPr>
              <p:cNvSpPr/>
              <p:nvPr/>
            </p:nvSpPr>
            <p:spPr>
              <a:xfrm>
                <a:off x="111760" y="233153"/>
                <a:ext cx="412750" cy="123825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fr-FR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F00FB44-E7FB-4F57-BB04-A050E20CF526}"/>
                  </a:ext>
                </a:extLst>
              </p:cNvPr>
              <p:cNvSpPr/>
              <p:nvPr/>
            </p:nvSpPr>
            <p:spPr>
              <a:xfrm>
                <a:off x="78740" y="53450"/>
                <a:ext cx="494375" cy="889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fr-FR"/>
              </a:p>
            </p:txBody>
          </p:sp>
          <p:sp>
            <p:nvSpPr>
              <p:cNvPr id="19" name="Triangle isocèle 18">
                <a:extLst>
                  <a:ext uri="{FF2B5EF4-FFF2-40B4-BE49-F238E27FC236}">
                    <a16:creationId xmlns:a16="http://schemas.microsoft.com/office/drawing/2014/main" id="{FB0BF6E2-CF8B-47F8-83F6-7906CE32AC9F}"/>
                  </a:ext>
                </a:extLst>
              </p:cNvPr>
              <p:cNvSpPr/>
              <p:nvPr/>
            </p:nvSpPr>
            <p:spPr>
              <a:xfrm rot="10800000">
                <a:off x="111760" y="356850"/>
                <a:ext cx="412750" cy="126491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fr-FR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FC63ACE-95A8-4555-88E8-F64CE2BE1371}"/>
                  </a:ext>
                </a:extLst>
              </p:cNvPr>
              <p:cNvSpPr/>
              <p:nvPr/>
            </p:nvSpPr>
            <p:spPr>
              <a:xfrm>
                <a:off x="241521" y="412750"/>
                <a:ext cx="148444" cy="2055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fr-FR"/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E8940A6-A21C-483D-AD1A-7702DAF3EBDE}"/>
                </a:ext>
              </a:extLst>
            </p:cNvPr>
            <p:cNvSpPr/>
            <p:nvPr/>
          </p:nvSpPr>
          <p:spPr>
            <a:xfrm>
              <a:off x="8702985" y="3143910"/>
              <a:ext cx="375663" cy="41833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AB0CC3E-E001-475C-94DA-48E248FEA3F9}"/>
                </a:ext>
              </a:extLst>
            </p:cNvPr>
            <p:cNvSpPr/>
            <p:nvPr/>
          </p:nvSpPr>
          <p:spPr>
            <a:xfrm>
              <a:off x="8712947" y="3075670"/>
              <a:ext cx="360000" cy="517382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/>
            </a:p>
          </p:txBody>
        </p:sp>
      </p:grpSp>
      <p:sp>
        <p:nvSpPr>
          <p:cNvPr id="9" name="Flèche : droite 8">
            <a:extLst>
              <a:ext uri="{FF2B5EF4-FFF2-40B4-BE49-F238E27FC236}">
                <a16:creationId xmlns:a16="http://schemas.microsoft.com/office/drawing/2014/main" id="{12BED85A-AEEF-46D7-A166-7C58C6CCA2DD}"/>
              </a:ext>
            </a:extLst>
          </p:cNvPr>
          <p:cNvSpPr/>
          <p:nvPr/>
        </p:nvSpPr>
        <p:spPr>
          <a:xfrm flipH="1">
            <a:off x="10075841" y="4639400"/>
            <a:ext cx="495300" cy="1943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0" name="ZoneTexte 31">
            <a:extLst>
              <a:ext uri="{FF2B5EF4-FFF2-40B4-BE49-F238E27FC236}">
                <a16:creationId xmlns:a16="http://schemas.microsoft.com/office/drawing/2014/main" id="{53377E75-7509-462A-B732-E7C328F84DA9}"/>
              </a:ext>
            </a:extLst>
          </p:cNvPr>
          <p:cNvSpPr txBox="1"/>
          <p:nvPr/>
        </p:nvSpPr>
        <p:spPr>
          <a:xfrm>
            <a:off x="7996251" y="5145012"/>
            <a:ext cx="2449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i="1" dirty="0"/>
              <a:t>Essorage sous pression réduite</a:t>
            </a:r>
          </a:p>
        </p:txBody>
      </p:sp>
    </p:spTree>
    <p:extLst>
      <p:ext uri="{BB962C8B-B14F-4D97-AF65-F5344CB8AC3E}">
        <p14:creationId xmlns:p14="http://schemas.microsoft.com/office/powerpoint/2010/main" val="2296353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284A6F-2156-4A72-BFA8-279770C09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Analyse du produit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D8153C6-4F72-4DC7-A06C-D6837AB27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6899F0A-B108-4D7F-B10E-0FE49640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7</a:t>
            </a:fld>
            <a:endParaRPr lang="fr-FR"/>
          </a:p>
        </p:txBody>
      </p:sp>
      <p:pic>
        <p:nvPicPr>
          <p:cNvPr id="5" name="table">
            <a:extLst>
              <a:ext uri="{FF2B5EF4-FFF2-40B4-BE49-F238E27FC236}">
                <a16:creationId xmlns:a16="http://schemas.microsoft.com/office/drawing/2014/main" id="{1B95E68B-CA76-4137-A1D4-C62C60CE6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398" y="1665651"/>
            <a:ext cx="10115204" cy="4263885"/>
          </a:xfrm>
          <a:prstGeom prst="rect">
            <a:avLst/>
          </a:prstGeom>
        </p:spPr>
      </p:pic>
      <p:pic>
        <p:nvPicPr>
          <p:cNvPr id="6" name="Picture 2" descr="Lot de 8 substances pour Banc Kofler - Jeulin">
            <a:extLst>
              <a:ext uri="{FF2B5EF4-FFF2-40B4-BE49-F238E27FC236}">
                <a16:creationId xmlns:a16="http://schemas.microsoft.com/office/drawing/2014/main" id="{90CABF52-028B-4B1D-9980-5EAC2DE096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502" b="27708"/>
          <a:stretch/>
        </p:blipFill>
        <p:spPr bwMode="auto">
          <a:xfrm>
            <a:off x="1297809" y="3797593"/>
            <a:ext cx="4191000" cy="1709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RÃ©fractomÃ¨tre d'AbbÃ© NOVEX - Jeulin">
            <a:extLst>
              <a:ext uri="{FF2B5EF4-FFF2-40B4-BE49-F238E27FC236}">
                <a16:creationId xmlns:a16="http://schemas.microsoft.com/office/drawing/2014/main" id="{F1499DEB-7025-4DC9-B824-088160F26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9461" y="3270817"/>
            <a:ext cx="2559327" cy="2559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843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B55FBC-D052-4F1A-9A3E-FAE0B2B47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Rendement de la synthèse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A79B40B-5142-4C09-A1F4-085151189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5188304-6761-4F09-A9DB-D95458B66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8</a:t>
            </a:fld>
            <a:endParaRPr lang="fr-FR"/>
          </a:p>
        </p:txBody>
      </p:sp>
      <p:pic>
        <p:nvPicPr>
          <p:cNvPr id="5" name="table">
            <a:extLst>
              <a:ext uri="{FF2B5EF4-FFF2-40B4-BE49-F238E27FC236}">
                <a16:creationId xmlns:a16="http://schemas.microsoft.com/office/drawing/2014/main" id="{2B4C35F8-5A60-448C-9778-083C1A130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175" y="1727059"/>
            <a:ext cx="10369826" cy="357703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4">
                <a:extLst>
                  <a:ext uri="{FF2B5EF4-FFF2-40B4-BE49-F238E27FC236}">
                    <a16:creationId xmlns:a16="http://schemas.microsoft.com/office/drawing/2014/main" id="{94221C77-13B2-4C73-B7AE-8DF15A7BBDE3}"/>
                  </a:ext>
                </a:extLst>
              </p:cNvPr>
              <p:cNvSpPr txBox="1"/>
              <p:nvPr/>
            </p:nvSpPr>
            <p:spPr>
              <a:xfrm>
                <a:off x="918175" y="5541358"/>
                <a:ext cx="4922694" cy="4952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sSub>
                        <m:sSubPr>
                          <m:ctrlPr>
                            <a:rPr lang="fr-FR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2000" b="0" i="0" dirty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r>
                        <a:rPr lang="fr-FR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2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000" b="0" i="1" dirty="0" smtClean="0">
                              <a:latin typeface="Cambria Math" panose="02040503050406030204" pitchFamily="18" charset="0"/>
                            </a:rPr>
                            <m:t>2,2.10</m:t>
                          </m:r>
                        </m:e>
                        <m:sup>
                          <m:r>
                            <a:rPr lang="fr-FR" sz="2000" b="0" i="1" dirty="0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fr-FR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sz="2000" b="0" i="0" dirty="0" smtClean="0">
                          <a:latin typeface="Cambria Math" panose="02040503050406030204" pitchFamily="18" charset="0"/>
                        </a:rPr>
                        <m:t>mol</m:t>
                      </m:r>
                      <m:r>
                        <a:rPr lang="fr-F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borderBox>
                        <m:borderBoxPr>
                          <m:ctrlP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rderBoxPr>
                        <m:e>
                          <m:sSub>
                            <m:sSubPr>
                              <m:ctrlPr>
                                <a:rPr lang="fr-FR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2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=3,6 </m:t>
                          </m:r>
                          <m:r>
                            <m:rPr>
                              <m:sty m:val="p"/>
                            </m:rPr>
                            <a:rPr lang="fr-FR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</m:t>
                          </m:r>
                        </m:e>
                      </m:borderBox>
                    </m:oMath>
                  </m:oMathPara>
                </a14:m>
                <a:endParaRPr lang="fr-FR" sz="2000" dirty="0"/>
              </a:p>
            </p:txBody>
          </p:sp>
        </mc:Choice>
        <mc:Fallback>
          <p:sp>
            <p:nvSpPr>
              <p:cNvPr id="6" name="ZoneTexte 4">
                <a:extLst>
                  <a:ext uri="{FF2B5EF4-FFF2-40B4-BE49-F238E27FC236}">
                    <a16:creationId xmlns:a16="http://schemas.microsoft.com/office/drawing/2014/main" id="{94221C77-13B2-4C73-B7AE-8DF15A7BB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175" y="5541358"/>
                <a:ext cx="4922694" cy="4952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678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D1E92F-5C60-44E8-A61D-832BDD364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Synthèse du paracétamol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397EF25-5D90-4915-90FE-119FFB924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864B9B-F88A-4655-9FCD-58F1B0B34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9</a:t>
            </a:fld>
            <a:endParaRPr lang="fr-FR"/>
          </a:p>
        </p:txBody>
      </p:sp>
      <p:pic>
        <p:nvPicPr>
          <p:cNvPr id="5" name="table">
            <a:extLst>
              <a:ext uri="{FF2B5EF4-FFF2-40B4-BE49-F238E27FC236}">
                <a16:creationId xmlns:a16="http://schemas.microsoft.com/office/drawing/2014/main" id="{6170298E-7E92-44EE-B5D5-C056CA68C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91" y="1582352"/>
            <a:ext cx="11688418" cy="4598977"/>
          </a:xfrm>
          <a:prstGeom prst="rect">
            <a:avLst/>
          </a:prstGeom>
        </p:spPr>
      </p:pic>
      <p:pic>
        <p:nvPicPr>
          <p:cNvPr id="6" name="Picture 10" descr="RÃ©sultat de recherche d'images pour &quot;anhydride acÃ©tique&quot;">
            <a:extLst>
              <a:ext uri="{FF2B5EF4-FFF2-40B4-BE49-F238E27FC236}">
                <a16:creationId xmlns:a16="http://schemas.microsoft.com/office/drawing/2014/main" id="{E8AD83C6-905C-422A-9A5C-16E3E87CD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930" y="1988973"/>
            <a:ext cx="2009315" cy="1212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6" descr="RÃ©sultat de recherche d'images pour &quot;acetic acid formula&quot;">
            <a:extLst>
              <a:ext uri="{FF2B5EF4-FFF2-40B4-BE49-F238E27FC236}">
                <a16:creationId xmlns:a16="http://schemas.microsoft.com/office/drawing/2014/main" id="{336B0188-933B-4691-8595-AF824C48B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8351" y="1870894"/>
            <a:ext cx="1666030" cy="1434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5AE6B7E5-DE76-459D-808F-CB7DA18ADBC6}"/>
              </a:ext>
            </a:extLst>
          </p:cNvPr>
          <p:cNvCxnSpPr>
            <a:cxnSpLocks/>
          </p:cNvCxnSpPr>
          <p:nvPr/>
        </p:nvCxnSpPr>
        <p:spPr>
          <a:xfrm>
            <a:off x="5569226" y="2588324"/>
            <a:ext cx="142129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https://orme-conseil.com/wp-content/uploads/2018/03/Pictogramme-CLP-%C3%A0-t%C3%A9l%C3%A9charger.jpg">
            <a:extLst>
              <a:ext uri="{FF2B5EF4-FFF2-40B4-BE49-F238E27FC236}">
                <a16:creationId xmlns:a16="http://schemas.microsoft.com/office/drawing/2014/main" id="{4980779F-CB53-4054-AF8D-5639B7B551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9" t="64495" r="68137" b="8166"/>
          <a:stretch/>
        </p:blipFill>
        <p:spPr bwMode="auto">
          <a:xfrm>
            <a:off x="1548297" y="5197986"/>
            <a:ext cx="927081" cy="93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https://orme-conseil.com/wp-content/uploads/2018/03/Pictogramme-CLP-%C3%A0-t%C3%A9l%C3%A9charger.jpg">
            <a:extLst>
              <a:ext uri="{FF2B5EF4-FFF2-40B4-BE49-F238E27FC236}">
                <a16:creationId xmlns:a16="http://schemas.microsoft.com/office/drawing/2014/main" id="{89A4D45D-50FA-4667-A409-95AD102C10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9" t="64495" r="68137" b="8166"/>
          <a:stretch/>
        </p:blipFill>
        <p:spPr bwMode="auto">
          <a:xfrm>
            <a:off x="3278757" y="5217130"/>
            <a:ext cx="927081" cy="93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https://orme-conseil.com/wp-content/uploads/2018/03/Pictogramme-CLP-%C3%A0-t%C3%A9l%C3%A9charger.jpg">
            <a:extLst>
              <a:ext uri="{FF2B5EF4-FFF2-40B4-BE49-F238E27FC236}">
                <a16:creationId xmlns:a16="http://schemas.microsoft.com/office/drawing/2014/main" id="{48E92E10-DF28-45B0-9E7E-09DCF7629C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69" t="32261" r="35597" b="40400"/>
          <a:stretch/>
        </p:blipFill>
        <p:spPr bwMode="auto">
          <a:xfrm>
            <a:off x="3667673" y="4795910"/>
            <a:ext cx="953587" cy="93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https://orme-conseil.com/wp-content/uploads/2018/03/Pictogramme-CLP-%C3%A0-t%C3%A9l%C3%A9charger.jpg">
            <a:extLst>
              <a:ext uri="{FF2B5EF4-FFF2-40B4-BE49-F238E27FC236}">
                <a16:creationId xmlns:a16="http://schemas.microsoft.com/office/drawing/2014/main" id="{A7AD55EE-3E85-4368-B3DD-9D94992905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69" t="1834" r="35597" b="72176"/>
          <a:stretch/>
        </p:blipFill>
        <p:spPr bwMode="auto">
          <a:xfrm>
            <a:off x="4102974" y="5281889"/>
            <a:ext cx="953587" cy="892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15" descr="Image associÃ©e">
            <a:extLst>
              <a:ext uri="{FF2B5EF4-FFF2-40B4-BE49-F238E27FC236}">
                <a16:creationId xmlns:a16="http://schemas.microsoft.com/office/drawing/2014/main" id="{480AE5C0-D399-486D-83EE-56F85AC1E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3405" y="5023744"/>
            <a:ext cx="884609" cy="884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17" descr="Image associÃ©e">
            <a:extLst>
              <a:ext uri="{FF2B5EF4-FFF2-40B4-BE49-F238E27FC236}">
                <a16:creationId xmlns:a16="http://schemas.microsoft.com/office/drawing/2014/main" id="{B3B1A77B-B9F5-4AAB-A269-ED78E9D6C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1807" y="5016305"/>
            <a:ext cx="884609" cy="884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RÃ©sultat de recherche d'images pour &quot;para-aminophÃ©nol&quot;">
            <a:extLst>
              <a:ext uri="{FF2B5EF4-FFF2-40B4-BE49-F238E27FC236}">
                <a16:creationId xmlns:a16="http://schemas.microsoft.com/office/drawing/2014/main" id="{F33B8B29-A9C2-419C-AF2F-9BD1FBC2E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91" y="1930921"/>
            <a:ext cx="2496465" cy="1314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RÃ©sultat de recherche d'images pour &quot;paracÃ©tamol&quot;">
            <a:extLst>
              <a:ext uri="{FF2B5EF4-FFF2-40B4-BE49-F238E27FC236}">
                <a16:creationId xmlns:a16="http://schemas.microsoft.com/office/drawing/2014/main" id="{D1F1E8E2-9B79-4929-A3AA-E98462883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0978" y="1812426"/>
            <a:ext cx="2891545" cy="1551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https://orme-conseil.com/wp-content/uploads/2018/03/Pictogramme-CLP-%C3%A0-t%C3%A9l%C3%A9charger.jpg">
            <a:extLst>
              <a:ext uri="{FF2B5EF4-FFF2-40B4-BE49-F238E27FC236}">
                <a16:creationId xmlns:a16="http://schemas.microsoft.com/office/drawing/2014/main" id="{D201B2E4-3DD8-4EFB-859A-07E80DE0ED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9" t="64495" r="68137" b="8166"/>
          <a:stretch/>
        </p:blipFill>
        <p:spPr bwMode="auto">
          <a:xfrm>
            <a:off x="7944129" y="4969106"/>
            <a:ext cx="927081" cy="93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78AA4DD8-C1F7-437C-993E-E8FAB63F754B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68742" y="4845237"/>
            <a:ext cx="774616" cy="778074"/>
          </a:xfrm>
          <a:prstGeom prst="rect">
            <a:avLst/>
          </a:prstGeom>
        </p:spPr>
      </p:pic>
      <p:pic>
        <p:nvPicPr>
          <p:cNvPr id="19" name="Picture 2" descr="https://orme-conseil.com/wp-content/uploads/2018/03/Pictogramme-CLP-%C3%A0-t%C3%A9l%C3%A9charger.jpg">
            <a:extLst>
              <a:ext uri="{FF2B5EF4-FFF2-40B4-BE49-F238E27FC236}">
                <a16:creationId xmlns:a16="http://schemas.microsoft.com/office/drawing/2014/main" id="{FDD4E8AD-6111-4897-B280-DFCC007583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41" t="64495" r="1919" b="8166"/>
          <a:stretch/>
        </p:blipFill>
        <p:spPr bwMode="auto">
          <a:xfrm>
            <a:off x="551072" y="5172327"/>
            <a:ext cx="1066665" cy="93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212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44945E-DD04-4EE7-B704-880798D49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Spectre IR du paracétamol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674092A-98F1-4D78-995C-58BD6104A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CEE7D9-803D-4396-935A-05AA8B750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10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5297506-9E11-46B1-8208-692CFD995B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224" b="21806"/>
          <a:stretch/>
        </p:blipFill>
        <p:spPr>
          <a:xfrm>
            <a:off x="1197898" y="1460811"/>
            <a:ext cx="9796006" cy="469515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0614AA3-DA8E-453F-8289-BE72BC7747AD}"/>
              </a:ext>
            </a:extLst>
          </p:cNvPr>
          <p:cNvSpPr/>
          <p:nvPr/>
        </p:nvSpPr>
        <p:spPr>
          <a:xfrm>
            <a:off x="6927475" y="1534265"/>
            <a:ext cx="4066429" cy="4422913"/>
          </a:xfrm>
          <a:prstGeom prst="rect">
            <a:avLst/>
          </a:prstGeom>
          <a:solidFill>
            <a:schemeClr val="bg1">
              <a:lumMod val="8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ZoneTexte 8">
                <a:extLst>
                  <a:ext uri="{FF2B5EF4-FFF2-40B4-BE49-F238E27FC236}">
                    <a16:creationId xmlns:a16="http://schemas.microsoft.com/office/drawing/2014/main" id="{88F5719A-AFE5-4F78-9969-FC7EFDBFE433}"/>
                  </a:ext>
                </a:extLst>
              </p:cNvPr>
              <p:cNvSpPr txBox="1"/>
              <p:nvPr/>
            </p:nvSpPr>
            <p:spPr>
              <a:xfrm>
                <a:off x="1666167" y="4773185"/>
                <a:ext cx="2130482" cy="892552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sz="16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Position : 3300 - 3500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fr-FR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r>
                  <a:rPr lang="fr-FR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(amide)</a:t>
                </a:r>
              </a:p>
            </p:txBody>
          </p:sp>
        </mc:Choice>
        <mc:Fallback>
          <p:sp>
            <p:nvSpPr>
              <p:cNvPr id="7" name="ZoneTexte 8">
                <a:extLst>
                  <a:ext uri="{FF2B5EF4-FFF2-40B4-BE49-F238E27FC236}">
                    <a16:creationId xmlns:a16="http://schemas.microsoft.com/office/drawing/2014/main" id="{88F5719A-AFE5-4F78-9969-FC7EFDBFE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167" y="4773185"/>
                <a:ext cx="2130482" cy="892552"/>
              </a:xfrm>
              <a:prstGeom prst="rect">
                <a:avLst/>
              </a:prstGeom>
              <a:blipFill>
                <a:blip r:embed="rId3"/>
                <a:stretch>
                  <a:fillRect l="-845" t="-1325" b="-7285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Ellipse 7">
            <a:extLst>
              <a:ext uri="{FF2B5EF4-FFF2-40B4-BE49-F238E27FC236}">
                <a16:creationId xmlns:a16="http://schemas.microsoft.com/office/drawing/2014/main" id="{53BE8B74-DC40-4E72-99C8-46D30C61C868}"/>
              </a:ext>
            </a:extLst>
          </p:cNvPr>
          <p:cNvSpPr/>
          <p:nvPr/>
        </p:nvSpPr>
        <p:spPr>
          <a:xfrm>
            <a:off x="2738270" y="2799124"/>
            <a:ext cx="173796" cy="1893194"/>
          </a:xfrm>
          <a:prstGeom prst="ellipse">
            <a:avLst/>
          </a:prstGeom>
          <a:solidFill>
            <a:srgbClr val="FF0000">
              <a:alpha val="30196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9">
                <a:extLst>
                  <a:ext uri="{FF2B5EF4-FFF2-40B4-BE49-F238E27FC236}">
                    <a16:creationId xmlns:a16="http://schemas.microsoft.com/office/drawing/2014/main" id="{A13317F7-2441-4A69-9D2E-681F008F1A0E}"/>
                  </a:ext>
                </a:extLst>
              </p:cNvPr>
              <p:cNvSpPr txBox="1"/>
              <p:nvPr/>
            </p:nvSpPr>
            <p:spPr>
              <a:xfrm>
                <a:off x="3549967" y="2606948"/>
                <a:ext cx="2171839" cy="615553"/>
              </a:xfrm>
              <a:prstGeom prst="rect">
                <a:avLst/>
              </a:prstGeom>
              <a:noFill/>
              <a:ln w="28575">
                <a:solidFill>
                  <a:srgbClr val="92D050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sz="1600" b="0" i="1" dirty="0">
                    <a:latin typeface="Cambria Math" panose="02040503050406030204" pitchFamily="18" charset="0"/>
                  </a:rPr>
                  <a:t>Position : </a:t>
                </a:r>
                <a:r>
                  <a:rPr lang="fr-FR" sz="1600" i="1" dirty="0">
                    <a:latin typeface="Cambria Math" panose="02040503050406030204" pitchFamily="18" charset="0"/>
                  </a:rPr>
                  <a:t>30</a:t>
                </a:r>
                <a:r>
                  <a:rPr lang="fr-FR" sz="1600" b="0" i="1" dirty="0">
                    <a:latin typeface="Cambria Math" panose="02040503050406030204" pitchFamily="18" charset="0"/>
                  </a:rPr>
                  <a:t>00 – 3200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9" name="ZoneTexte 9">
                <a:extLst>
                  <a:ext uri="{FF2B5EF4-FFF2-40B4-BE49-F238E27FC236}">
                    <a16:creationId xmlns:a16="http://schemas.microsoft.com/office/drawing/2014/main" id="{A13317F7-2441-4A69-9D2E-681F008F1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967" y="2606948"/>
                <a:ext cx="2171839" cy="615553"/>
              </a:xfrm>
              <a:prstGeom prst="rect">
                <a:avLst/>
              </a:prstGeom>
              <a:blipFill>
                <a:blip r:embed="rId4"/>
                <a:stretch>
                  <a:fillRect l="-829" t="-1887"/>
                </a:stretch>
              </a:blipFill>
              <a:ln w="28575"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Ellipse 9">
            <a:extLst>
              <a:ext uri="{FF2B5EF4-FFF2-40B4-BE49-F238E27FC236}">
                <a16:creationId xmlns:a16="http://schemas.microsoft.com/office/drawing/2014/main" id="{6D27DBCC-81C9-49D8-BE0A-E5450B6EABC3}"/>
              </a:ext>
            </a:extLst>
          </p:cNvPr>
          <p:cNvSpPr/>
          <p:nvPr/>
        </p:nvSpPr>
        <p:spPr>
          <a:xfrm>
            <a:off x="2951822" y="2606948"/>
            <a:ext cx="397566" cy="2057689"/>
          </a:xfrm>
          <a:prstGeom prst="ellipse">
            <a:avLst/>
          </a:prstGeom>
          <a:solidFill>
            <a:srgbClr val="92D050">
              <a:alpha val="30196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ZoneTexte 11">
                <a:extLst>
                  <a:ext uri="{FF2B5EF4-FFF2-40B4-BE49-F238E27FC236}">
                    <a16:creationId xmlns:a16="http://schemas.microsoft.com/office/drawing/2014/main" id="{2C842708-EB9A-4053-9273-AB6C458CF3CB}"/>
                  </a:ext>
                </a:extLst>
              </p:cNvPr>
              <p:cNvSpPr txBox="1"/>
              <p:nvPr/>
            </p:nvSpPr>
            <p:spPr>
              <a:xfrm>
                <a:off x="4079307" y="5031940"/>
                <a:ext cx="2171839" cy="615553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sz="1600" b="0" i="1" dirty="0">
                    <a:latin typeface="Cambria Math" panose="02040503050406030204" pitchFamily="18" charset="0"/>
                  </a:rPr>
                  <a:t>Position : 1650 - 1700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11" name="ZoneTexte 11">
                <a:extLst>
                  <a:ext uri="{FF2B5EF4-FFF2-40B4-BE49-F238E27FC236}">
                    <a16:creationId xmlns:a16="http://schemas.microsoft.com/office/drawing/2014/main" id="{2C842708-EB9A-4053-9273-AB6C458CF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9307" y="5031940"/>
                <a:ext cx="2171839" cy="615553"/>
              </a:xfrm>
              <a:prstGeom prst="rect">
                <a:avLst/>
              </a:prstGeom>
              <a:blipFill>
                <a:blip r:embed="rId5"/>
                <a:stretch>
                  <a:fillRect l="-831" t="-1887"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Ellipse 11">
            <a:extLst>
              <a:ext uri="{FF2B5EF4-FFF2-40B4-BE49-F238E27FC236}">
                <a16:creationId xmlns:a16="http://schemas.microsoft.com/office/drawing/2014/main" id="{A1A48C9B-C54E-4C55-A258-EFCF042A7A54}"/>
              </a:ext>
            </a:extLst>
          </p:cNvPr>
          <p:cNvSpPr/>
          <p:nvPr/>
        </p:nvSpPr>
        <p:spPr>
          <a:xfrm>
            <a:off x="6331127" y="2259823"/>
            <a:ext cx="238539" cy="3652135"/>
          </a:xfrm>
          <a:prstGeom prst="ellipse">
            <a:avLst/>
          </a:prstGeom>
          <a:solidFill>
            <a:srgbClr val="1CADE4">
              <a:alpha val="30196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E7087B3-8DA7-4CCE-968F-6262AC58AEBF}"/>
              </a:ext>
            </a:extLst>
          </p:cNvPr>
          <p:cNvSpPr/>
          <p:nvPr/>
        </p:nvSpPr>
        <p:spPr>
          <a:xfrm>
            <a:off x="6555896" y="2259823"/>
            <a:ext cx="335135" cy="3187045"/>
          </a:xfrm>
          <a:prstGeom prst="ellipse">
            <a:avLst/>
          </a:prstGeom>
          <a:solidFill>
            <a:srgbClr val="7030A0">
              <a:alpha val="30196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ZoneTexte 14">
                <a:extLst>
                  <a:ext uri="{FF2B5EF4-FFF2-40B4-BE49-F238E27FC236}">
                    <a16:creationId xmlns:a16="http://schemas.microsoft.com/office/drawing/2014/main" id="{76D66D4B-1DD4-411F-8CA4-5F4218D491DA}"/>
                  </a:ext>
                </a:extLst>
              </p:cNvPr>
              <p:cNvSpPr txBox="1"/>
              <p:nvPr/>
            </p:nvSpPr>
            <p:spPr>
              <a:xfrm>
                <a:off x="7006469" y="4841255"/>
                <a:ext cx="1680232" cy="615553"/>
              </a:xfrm>
              <a:prstGeom prst="rect">
                <a:avLst/>
              </a:prstGeom>
              <a:noFill/>
              <a:ln w="28575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sz="1600" b="0" i="1" dirty="0">
                    <a:latin typeface="Cambria Math" panose="02040503050406030204" pitchFamily="18" charset="0"/>
                  </a:rPr>
                  <a:t>Position :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lang="fr-FR" sz="1600" b="0" i="1" dirty="0">
                    <a:latin typeface="Cambria Math" panose="02040503050406030204" pitchFamily="18" charset="0"/>
                  </a:rPr>
                  <a:t>1600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14" name="ZoneTexte 14">
                <a:extLst>
                  <a:ext uri="{FF2B5EF4-FFF2-40B4-BE49-F238E27FC236}">
                    <a16:creationId xmlns:a16="http://schemas.microsoft.com/office/drawing/2014/main" id="{76D66D4B-1DD4-411F-8CA4-5F4218D49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6469" y="4841255"/>
                <a:ext cx="1680232" cy="615553"/>
              </a:xfrm>
              <a:prstGeom prst="rect">
                <a:avLst/>
              </a:prstGeom>
              <a:blipFill>
                <a:blip r:embed="rId6"/>
                <a:stretch>
                  <a:fillRect l="-1068" t="-1887"/>
                </a:stretch>
              </a:blipFill>
              <a:ln w="28575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ZoneTexte 5">
            <a:extLst>
              <a:ext uri="{FF2B5EF4-FFF2-40B4-BE49-F238E27FC236}">
                <a16:creationId xmlns:a16="http://schemas.microsoft.com/office/drawing/2014/main" id="{D93841EC-B2CC-408E-9F04-4CED14340D44}"/>
              </a:ext>
            </a:extLst>
          </p:cNvPr>
          <p:cNvSpPr txBox="1"/>
          <p:nvPr/>
        </p:nvSpPr>
        <p:spPr>
          <a:xfrm rot="16200000">
            <a:off x="241208" y="3744288"/>
            <a:ext cx="185538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Transmittance (%)</a:t>
            </a:r>
          </a:p>
        </p:txBody>
      </p:sp>
    </p:spTree>
    <p:extLst>
      <p:ext uri="{BB962C8B-B14F-4D97-AF65-F5344CB8AC3E}">
        <p14:creationId xmlns:p14="http://schemas.microsoft.com/office/powerpoint/2010/main" val="1137131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85D19A-78D1-49E7-BAE1-8D494EEEF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Spectres IR du réactif et du produit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79A6780-F42D-44D1-98C7-1D4076EEA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2005414-19A9-4ED4-80CE-A1813DA12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11</a:t>
            </a:fld>
            <a:endParaRPr lang="fr-FR"/>
          </a:p>
        </p:txBody>
      </p:sp>
      <p:pic>
        <p:nvPicPr>
          <p:cNvPr id="5" name="Picture 4" descr="https://scontent-cdg2-1.xx.fbcdn.net/v/t1.15752-9/s2048x2048/61610699_566482843875189_791750746839187456_n.png?_nc_cat=105&amp;_nc_ht=scontent-cdg2-1.xx&amp;oh=430f32ea84a1944c6908653992e92d65&amp;oe=5D5251FF">
            <a:extLst>
              <a:ext uri="{FF2B5EF4-FFF2-40B4-BE49-F238E27FC236}">
                <a16:creationId xmlns:a16="http://schemas.microsoft.com/office/drawing/2014/main" id="{125FBB29-D644-4F52-8C46-65DFCB1EC4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2" t="10724" r="8789"/>
          <a:stretch/>
        </p:blipFill>
        <p:spPr bwMode="auto">
          <a:xfrm>
            <a:off x="2358887" y="1394744"/>
            <a:ext cx="7474226" cy="5065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5423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405288-6E7B-4FD0-8CB0-F829E5614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Protection de fonctions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347497C-88AC-4D76-9403-BEC2647A0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12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18189F9-06F7-4412-9306-B7EBF59788B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56" t="13142" r="42654" b="32664"/>
          <a:stretch/>
        </p:blipFill>
        <p:spPr>
          <a:xfrm>
            <a:off x="3193576" y="2662188"/>
            <a:ext cx="1119117" cy="319475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7D80BA4-7F33-4069-9924-D1B7A010342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548" t="58947" r="2290"/>
          <a:stretch/>
        </p:blipFill>
        <p:spPr>
          <a:xfrm>
            <a:off x="9949218" y="2662188"/>
            <a:ext cx="2040980" cy="24200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0A7DC54-DFB4-4C51-A827-4C966937741D}"/>
              </a:ext>
            </a:extLst>
          </p:cNvPr>
          <p:cNvSpPr/>
          <p:nvPr/>
        </p:nvSpPr>
        <p:spPr>
          <a:xfrm>
            <a:off x="2756848" y="5254388"/>
            <a:ext cx="4380931" cy="10099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78F90E-1B08-4D78-97EC-10F9A371D285}"/>
              </a:ext>
            </a:extLst>
          </p:cNvPr>
          <p:cNvSpPr/>
          <p:nvPr/>
        </p:nvSpPr>
        <p:spPr>
          <a:xfrm>
            <a:off x="8525942" y="5059612"/>
            <a:ext cx="3464256" cy="504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92E3AF-CCF1-49A2-BAA1-7D631D4BFC3E}"/>
              </a:ext>
            </a:extLst>
          </p:cNvPr>
          <p:cNvSpPr/>
          <p:nvPr/>
        </p:nvSpPr>
        <p:spPr>
          <a:xfrm>
            <a:off x="6335476" y="3006603"/>
            <a:ext cx="4380931" cy="10099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space réservé du pied de page 2">
            <a:extLst>
              <a:ext uri="{FF2B5EF4-FFF2-40B4-BE49-F238E27FC236}">
                <a16:creationId xmlns:a16="http://schemas.microsoft.com/office/drawing/2014/main" id="{AD84AFDA-03D3-47B0-B48B-CEE653331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</a:p>
        </p:txBody>
      </p:sp>
    </p:spTree>
    <p:extLst>
      <p:ext uri="{BB962C8B-B14F-4D97-AF65-F5344CB8AC3E}">
        <p14:creationId xmlns:p14="http://schemas.microsoft.com/office/powerpoint/2010/main" val="1381384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778DE0-D902-414F-BED7-6236695EA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Protection de fonctions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59FF6BF-7309-47D7-8D4A-CD013372D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13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A9093A6-7EAC-4074-AF4E-11144FA94C3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679" b="32664"/>
          <a:stretch/>
        </p:blipFill>
        <p:spPr>
          <a:xfrm>
            <a:off x="299096" y="1887486"/>
            <a:ext cx="4081835" cy="396945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9D9A3DF9-A509-465E-AB03-BB210AA4BCE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34" t="58947" r="2290"/>
          <a:stretch/>
        </p:blipFill>
        <p:spPr>
          <a:xfrm>
            <a:off x="9990161" y="2662188"/>
            <a:ext cx="2000037" cy="24200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1601528-FD3D-45D0-9176-F9B989C46BD1}"/>
              </a:ext>
            </a:extLst>
          </p:cNvPr>
          <p:cNvSpPr/>
          <p:nvPr/>
        </p:nvSpPr>
        <p:spPr>
          <a:xfrm>
            <a:off x="2756848" y="5254388"/>
            <a:ext cx="4380931" cy="10099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710C16-F8E6-4601-8ABF-72D3588EC3FE}"/>
              </a:ext>
            </a:extLst>
          </p:cNvPr>
          <p:cNvSpPr/>
          <p:nvPr/>
        </p:nvSpPr>
        <p:spPr>
          <a:xfrm>
            <a:off x="1994849" y="1816920"/>
            <a:ext cx="3464256" cy="504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F54E08-F08C-4BED-B6C3-95BA20E07DE4}"/>
              </a:ext>
            </a:extLst>
          </p:cNvPr>
          <p:cNvSpPr/>
          <p:nvPr/>
        </p:nvSpPr>
        <p:spPr>
          <a:xfrm>
            <a:off x="6335476" y="3106268"/>
            <a:ext cx="4380931" cy="10099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space réservé du pied de page 2">
            <a:extLst>
              <a:ext uri="{FF2B5EF4-FFF2-40B4-BE49-F238E27FC236}">
                <a16:creationId xmlns:a16="http://schemas.microsoft.com/office/drawing/2014/main" id="{24EDC08B-F653-43B7-ABE0-E9F1A9291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</a:p>
        </p:txBody>
      </p:sp>
    </p:spTree>
    <p:extLst>
      <p:ext uri="{BB962C8B-B14F-4D97-AF65-F5344CB8AC3E}">
        <p14:creationId xmlns:p14="http://schemas.microsoft.com/office/powerpoint/2010/main" val="2733013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CAB6D4-96A7-4390-95FF-275DD35E0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Protection de fonctions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35757E7-F0E6-4C67-9691-C20E5D2B1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14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9D76692-7D31-4CBF-9258-40DB50A8281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90" b="32664"/>
          <a:stretch/>
        </p:blipFill>
        <p:spPr>
          <a:xfrm>
            <a:off x="299096" y="1887486"/>
            <a:ext cx="6838683" cy="396945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EA04962-DB4F-4D75-8673-F8C7F1A69F6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719" t="58947" r="2290"/>
          <a:stretch/>
        </p:blipFill>
        <p:spPr>
          <a:xfrm>
            <a:off x="10031104" y="2662188"/>
            <a:ext cx="1959094" cy="24200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54B24E9-3A91-45ED-9774-6DAC5EB1C87D}"/>
              </a:ext>
            </a:extLst>
          </p:cNvPr>
          <p:cNvSpPr/>
          <p:nvPr/>
        </p:nvSpPr>
        <p:spPr>
          <a:xfrm>
            <a:off x="2756848" y="5254388"/>
            <a:ext cx="4380931" cy="10099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D273B8-9E3F-40E7-AC07-9528596A5F29}"/>
              </a:ext>
            </a:extLst>
          </p:cNvPr>
          <p:cNvSpPr/>
          <p:nvPr/>
        </p:nvSpPr>
        <p:spPr>
          <a:xfrm>
            <a:off x="1994849" y="1816920"/>
            <a:ext cx="3464256" cy="504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718BF2-D879-461C-90AB-E9813C685182}"/>
              </a:ext>
            </a:extLst>
          </p:cNvPr>
          <p:cNvSpPr/>
          <p:nvPr/>
        </p:nvSpPr>
        <p:spPr>
          <a:xfrm>
            <a:off x="8525942" y="5059612"/>
            <a:ext cx="3464256" cy="504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650329-3672-446D-8917-24FCE3EA078E}"/>
              </a:ext>
            </a:extLst>
          </p:cNvPr>
          <p:cNvSpPr/>
          <p:nvPr/>
        </p:nvSpPr>
        <p:spPr>
          <a:xfrm>
            <a:off x="7847463" y="3154472"/>
            <a:ext cx="2947915" cy="10099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space réservé du pied de page 2">
            <a:extLst>
              <a:ext uri="{FF2B5EF4-FFF2-40B4-BE49-F238E27FC236}">
                <a16:creationId xmlns:a16="http://schemas.microsoft.com/office/drawing/2014/main" id="{6C231572-723C-4409-B15D-C9C984CAA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</a:p>
        </p:txBody>
      </p:sp>
    </p:spTree>
    <p:extLst>
      <p:ext uri="{BB962C8B-B14F-4D97-AF65-F5344CB8AC3E}">
        <p14:creationId xmlns:p14="http://schemas.microsoft.com/office/powerpoint/2010/main" val="2496370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73CA32-AE10-4F3D-BCF9-EF7EC9E20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Protection de fonctions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2A2FFE3-0419-4C20-BBA4-50F0BDAE8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15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0A5D677-BA57-43B7-9AC8-D7B341F1F3D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90" b="32664"/>
          <a:stretch/>
        </p:blipFill>
        <p:spPr>
          <a:xfrm>
            <a:off x="299096" y="1887486"/>
            <a:ext cx="6838683" cy="396945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98947F05-1482-4E74-B294-656CA81FFE0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79" t="58947" r="40031"/>
          <a:stretch/>
        </p:blipFill>
        <p:spPr>
          <a:xfrm>
            <a:off x="7137779" y="2662188"/>
            <a:ext cx="2210937" cy="24200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A0312AE-402F-4171-8FA1-0B9C8EA7C2B2}"/>
              </a:ext>
            </a:extLst>
          </p:cNvPr>
          <p:cNvSpPr/>
          <p:nvPr/>
        </p:nvSpPr>
        <p:spPr>
          <a:xfrm>
            <a:off x="2756848" y="5254388"/>
            <a:ext cx="4380931" cy="10099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DA26DB-4A9B-4CAC-805F-7DEAAE25B10A}"/>
              </a:ext>
            </a:extLst>
          </p:cNvPr>
          <p:cNvSpPr/>
          <p:nvPr/>
        </p:nvSpPr>
        <p:spPr>
          <a:xfrm>
            <a:off x="1994849" y="1816920"/>
            <a:ext cx="3464256" cy="504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FC166D6-8A7F-4570-B459-E3C59B38945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719" t="58947" r="2290"/>
          <a:stretch/>
        </p:blipFill>
        <p:spPr>
          <a:xfrm>
            <a:off x="10031104" y="2665309"/>
            <a:ext cx="1959094" cy="242004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6C02E16-930E-4912-A44E-8E3B644AD5A5}"/>
              </a:ext>
            </a:extLst>
          </p:cNvPr>
          <p:cNvSpPr/>
          <p:nvPr/>
        </p:nvSpPr>
        <p:spPr>
          <a:xfrm>
            <a:off x="9395346" y="3097108"/>
            <a:ext cx="1271516" cy="10099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092F01-AF3C-4586-86ED-A00D5BD9CB51}"/>
              </a:ext>
            </a:extLst>
          </p:cNvPr>
          <p:cNvSpPr/>
          <p:nvPr/>
        </p:nvSpPr>
        <p:spPr>
          <a:xfrm>
            <a:off x="8525942" y="5049673"/>
            <a:ext cx="3464256" cy="504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space réservé du pied de page 2">
            <a:extLst>
              <a:ext uri="{FF2B5EF4-FFF2-40B4-BE49-F238E27FC236}">
                <a16:creationId xmlns:a16="http://schemas.microsoft.com/office/drawing/2014/main" id="{16DC826A-14F5-4788-98A3-3BCA7FF24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</a:p>
        </p:txBody>
      </p:sp>
    </p:spTree>
    <p:extLst>
      <p:ext uri="{BB962C8B-B14F-4D97-AF65-F5344CB8AC3E}">
        <p14:creationId xmlns:p14="http://schemas.microsoft.com/office/powerpoint/2010/main" val="2703412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67F0F0-AC94-491E-AA1B-7C8CBCFEF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Protection de fonctions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FB9690D-C9FE-4866-B661-8442DE5FA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16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7D1E925-4E18-48E3-85E6-27142B6F7A4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90" b="32664"/>
          <a:stretch/>
        </p:blipFill>
        <p:spPr>
          <a:xfrm>
            <a:off x="299096" y="1887486"/>
            <a:ext cx="6838683" cy="396945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844953D-84E3-409F-9119-85313CC6F71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79" t="58947" r="2290"/>
          <a:stretch/>
        </p:blipFill>
        <p:spPr>
          <a:xfrm>
            <a:off x="7137779" y="2662188"/>
            <a:ext cx="4852419" cy="24200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4B655B7-E2FF-4569-9683-8EDC6BEA3EBA}"/>
              </a:ext>
            </a:extLst>
          </p:cNvPr>
          <p:cNvSpPr/>
          <p:nvPr/>
        </p:nvSpPr>
        <p:spPr>
          <a:xfrm>
            <a:off x="2756848" y="5254388"/>
            <a:ext cx="4380931" cy="10099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54D97A-0591-473C-80BE-89ED8E802061}"/>
              </a:ext>
            </a:extLst>
          </p:cNvPr>
          <p:cNvSpPr/>
          <p:nvPr/>
        </p:nvSpPr>
        <p:spPr>
          <a:xfrm>
            <a:off x="1994849" y="1816920"/>
            <a:ext cx="3464256" cy="504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B6EFB9-2654-47BD-898D-99597600ED73}"/>
              </a:ext>
            </a:extLst>
          </p:cNvPr>
          <p:cNvSpPr/>
          <p:nvPr/>
        </p:nvSpPr>
        <p:spPr>
          <a:xfrm>
            <a:off x="8525942" y="5059612"/>
            <a:ext cx="3464256" cy="504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space réservé du pied de page 2">
            <a:extLst>
              <a:ext uri="{FF2B5EF4-FFF2-40B4-BE49-F238E27FC236}">
                <a16:creationId xmlns:a16="http://schemas.microsoft.com/office/drawing/2014/main" id="{2DAC19B0-C84D-4A03-8D09-F346C40EB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</a:p>
        </p:txBody>
      </p:sp>
    </p:spTree>
    <p:extLst>
      <p:ext uri="{BB962C8B-B14F-4D97-AF65-F5344CB8AC3E}">
        <p14:creationId xmlns:p14="http://schemas.microsoft.com/office/powerpoint/2010/main" val="2932137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B14B4F-E620-4C9F-9FF6-626E6B041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Application à la synthèse peptidique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8FA9251-C948-4568-BBFB-2E7A413A0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17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BAC9CE8-9A5B-4D6F-9712-9DA04113D7D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3" r="4447"/>
          <a:stretch/>
        </p:blipFill>
        <p:spPr>
          <a:xfrm rot="16200000">
            <a:off x="3629599" y="207162"/>
            <a:ext cx="4932801" cy="7188352"/>
          </a:xfrm>
          <a:prstGeom prst="rect">
            <a:avLst/>
          </a:prstGeom>
        </p:spPr>
      </p:pic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98B265B1-042A-4F8A-B0FE-222245BB6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</a:p>
        </p:txBody>
      </p:sp>
    </p:spTree>
    <p:extLst>
      <p:ext uri="{BB962C8B-B14F-4D97-AF65-F5344CB8AC3E}">
        <p14:creationId xmlns:p14="http://schemas.microsoft.com/office/powerpoint/2010/main" val="117126517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164</TotalTime>
  <Words>393</Words>
  <Application>Microsoft Office PowerPoint</Application>
  <PresentationFormat>Grand écran</PresentationFormat>
  <Paragraphs>137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Rétrospective</vt:lpstr>
      <vt:lpstr>Stratégies et sélectivités en synthèse organique</vt:lpstr>
      <vt:lpstr>Protocoles de synthèse de l’aspirine</vt:lpstr>
      <vt:lpstr>Protocoles de synthèse de l’aspirine</vt:lpstr>
      <vt:lpstr>Protocoles de synthèse de l’aspirine</vt:lpstr>
      <vt:lpstr>Protocoles de synthèse de l’aspirine</vt:lpstr>
      <vt:lpstr>Isolement de l’aspirine</vt:lpstr>
      <vt:lpstr>Analyse du produit</vt:lpstr>
      <vt:lpstr>Rendement de la synthèse</vt:lpstr>
      <vt:lpstr>Synthèse du paracétamol</vt:lpstr>
      <vt:lpstr>Spectre IR du paracétamol</vt:lpstr>
      <vt:lpstr>Spectres IR du réactif et du produit</vt:lpstr>
      <vt:lpstr>Protection de fonctions</vt:lpstr>
      <vt:lpstr>Protection de fonctions</vt:lpstr>
      <vt:lpstr>Protection de fonctions</vt:lpstr>
      <vt:lpstr>Protection de fonctions</vt:lpstr>
      <vt:lpstr>Protection de fonctions</vt:lpstr>
      <vt:lpstr>Application à la synthèse peptidique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Chimie durable</dc:title>
  <dc:creator>Hugo Roussille</dc:creator>
  <cp:lastModifiedBy>Hugo Roussille</cp:lastModifiedBy>
  <cp:revision>40</cp:revision>
  <dcterms:created xsi:type="dcterms:W3CDTF">2019-04-06T14:18:31Z</dcterms:created>
  <dcterms:modified xsi:type="dcterms:W3CDTF">2019-06-04T10:31:00Z</dcterms:modified>
</cp:coreProperties>
</file>