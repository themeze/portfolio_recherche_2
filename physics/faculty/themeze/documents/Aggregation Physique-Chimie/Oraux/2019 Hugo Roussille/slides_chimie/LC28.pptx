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70" r:id="rId3"/>
    <p:sldId id="271" r:id="rId4"/>
    <p:sldId id="264" r:id="rId5"/>
    <p:sldId id="275" r:id="rId6"/>
    <p:sldId id="273" r:id="rId7"/>
    <p:sldId id="274" r:id="rId8"/>
    <p:sldId id="272" r:id="rId9"/>
    <p:sldId id="27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rous\Nextcloud\Documents\Agreg\Lecons%20chimie\donnes_coraux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Effet du pH sur la croissance du corail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Pourcentage de croissance du corail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2"/>
              </a:solidFill>
              <a:ln w="635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>
                    <a:lumMod val="75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Feuil1!$A$2:$A$1001</c:f>
              <c:numCache>
                <c:formatCode>General</c:formatCode>
                <c:ptCount val="1000"/>
                <c:pt idx="0">
                  <c:v>8.3290540540540494</c:v>
                </c:pt>
                <c:pt idx="1">
                  <c:v>8.2131756756756698</c:v>
                </c:pt>
                <c:pt idx="2">
                  <c:v>8.0996621621621596</c:v>
                </c:pt>
                <c:pt idx="3">
                  <c:v>8.0783783783783694</c:v>
                </c:pt>
                <c:pt idx="4">
                  <c:v>8.0760135135135105</c:v>
                </c:pt>
                <c:pt idx="5">
                  <c:v>8.0807432432432407</c:v>
                </c:pt>
                <c:pt idx="6">
                  <c:v>7.5912162162162096</c:v>
                </c:pt>
                <c:pt idx="7">
                  <c:v>7.1749999999999998</c:v>
                </c:pt>
              </c:numCache>
            </c:numRef>
          </c:xVal>
          <c:yVal>
            <c:numRef>
              <c:f>Feuil1!$B$2:$B$1001</c:f>
              <c:numCache>
                <c:formatCode>General</c:formatCode>
                <c:ptCount val="1000"/>
                <c:pt idx="0">
                  <c:v>137.95555555555501</c:v>
                </c:pt>
                <c:pt idx="1">
                  <c:v>118.044444444444</c:v>
                </c:pt>
                <c:pt idx="2">
                  <c:v>111.288888888888</c:v>
                </c:pt>
                <c:pt idx="3">
                  <c:v>113.777777777777</c:v>
                </c:pt>
                <c:pt idx="4">
                  <c:v>119.466666666666</c:v>
                </c:pt>
                <c:pt idx="5">
                  <c:v>122.666666666666</c:v>
                </c:pt>
                <c:pt idx="6">
                  <c:v>83.911111111111097</c:v>
                </c:pt>
                <c:pt idx="7">
                  <c:v>46.577777777777698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4B1-46DD-8923-C550F74A6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3836280"/>
        <c:axId val="473834640"/>
      </c:scatterChart>
      <c:valAx>
        <c:axId val="4738362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pH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73834640"/>
        <c:crosses val="autoZero"/>
        <c:crossBetween val="midCat"/>
      </c:valAx>
      <c:valAx>
        <c:axId val="473834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Pourcentage de croissance du corail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738362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14/06/2019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14/06/2019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14/06/2019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14/06/2019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14/06/2019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Solubilité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8FD781-7850-4F00-BDA2-4698CED7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</p:spPr>
        <p:txBody>
          <a:bodyPr/>
          <a:lstStyle/>
          <a:p>
            <a:r>
              <a:rPr lang="fr-FR" dirty="0"/>
              <a:t>Coquillages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9AA2D3-1492-4B34-B725-4F59CD62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0CDD5941-5E0E-42FF-9B90-80F9CCF2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70A03493-A1E0-4B2E-8D5C-1D2C65C1948D}"/>
              </a:ext>
            </a:extLst>
          </p:cNvPr>
          <p:cNvGrpSpPr/>
          <p:nvPr/>
        </p:nvGrpSpPr>
        <p:grpSpPr>
          <a:xfrm>
            <a:off x="62400" y="1991833"/>
            <a:ext cx="5772727" cy="3392966"/>
            <a:chOff x="62400" y="1991833"/>
            <a:chExt cx="5772727" cy="3392966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F16B2906-B16C-4F33-A743-ECB458718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00" y="2082799"/>
              <a:ext cx="5772727" cy="33020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9CE8E1-0421-4C61-AE80-8B056EA34758}"/>
                </a:ext>
              </a:extLst>
            </p:cNvPr>
            <p:cNvSpPr/>
            <p:nvPr/>
          </p:nvSpPr>
          <p:spPr>
            <a:xfrm>
              <a:off x="62400" y="1991833"/>
              <a:ext cx="589730" cy="65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E6246E64-C2A5-41F1-B582-658A7D9C57EF}"/>
              </a:ext>
            </a:extLst>
          </p:cNvPr>
          <p:cNvGrpSpPr/>
          <p:nvPr/>
        </p:nvGrpSpPr>
        <p:grpSpPr>
          <a:xfrm>
            <a:off x="6516363" y="2378882"/>
            <a:ext cx="5328395" cy="1757496"/>
            <a:chOff x="6516363" y="2378882"/>
            <a:chExt cx="5328395" cy="1757496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6A681126-B555-4E7B-AB74-1C1B2B1F6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6824" y="2551502"/>
              <a:ext cx="5247934" cy="1584876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6809562-9AFE-4434-81DF-5F1704D9F8D9}"/>
                </a:ext>
              </a:extLst>
            </p:cNvPr>
            <p:cNvSpPr/>
            <p:nvPr/>
          </p:nvSpPr>
          <p:spPr>
            <a:xfrm>
              <a:off x="6516363" y="2378882"/>
              <a:ext cx="589730" cy="6592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997B560-0F27-457A-9E13-F24678D68246}"/>
                  </a:ext>
                </a:extLst>
              </p:cNvPr>
              <p:cNvSpPr txBox="1"/>
              <p:nvPr/>
            </p:nvSpPr>
            <p:spPr>
              <a:xfrm>
                <a:off x="8978969" y="2586632"/>
                <a:ext cx="9214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CaC</m:t>
                      </m:r>
                      <m:sSub>
                        <m:sSubPr>
                          <m:ctrlPr>
                            <a:rPr lang="fr-FR" sz="20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997B560-0F27-457A-9E13-F24678D68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969" y="2586632"/>
                <a:ext cx="92148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7757BBEF-1272-4647-A96F-011DE4C44430}"/>
                  </a:ext>
                </a:extLst>
              </p:cNvPr>
              <p:cNvSpPr txBox="1"/>
              <p:nvPr/>
            </p:nvSpPr>
            <p:spPr>
              <a:xfrm>
                <a:off x="9900458" y="3549133"/>
                <a:ext cx="9214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CaC</m:t>
                      </m:r>
                      <m:sSub>
                        <m:sSubPr>
                          <m:ctrlPr>
                            <a:rPr lang="fr-FR" sz="2000" b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7757BBEF-1272-4647-A96F-011DE4C44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458" y="3549133"/>
                <a:ext cx="92148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>
            <a:extLst>
              <a:ext uri="{FF2B5EF4-FFF2-40B4-BE49-F238E27FC236}">
                <a16:creationId xmlns:a16="http://schemas.microsoft.com/office/drawing/2014/main" id="{A4503632-9CE6-4232-9D91-DE4FECDA5BBB}"/>
              </a:ext>
            </a:extLst>
          </p:cNvPr>
          <p:cNvSpPr txBox="1"/>
          <p:nvPr/>
        </p:nvSpPr>
        <p:spPr>
          <a:xfrm>
            <a:off x="1097280" y="5475765"/>
            <a:ext cx="12617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De dessous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352E99F-FFD1-4320-BAB4-C2AE013741D7}"/>
              </a:ext>
            </a:extLst>
          </p:cNvPr>
          <p:cNvSpPr txBox="1"/>
          <p:nvPr/>
        </p:nvSpPr>
        <p:spPr>
          <a:xfrm>
            <a:off x="3737699" y="5475765"/>
            <a:ext cx="12617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De dessus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CDBB032-BFC4-45FD-B605-7789CA14D016}"/>
              </a:ext>
            </a:extLst>
          </p:cNvPr>
          <p:cNvSpPr txBox="1"/>
          <p:nvPr/>
        </p:nvSpPr>
        <p:spPr>
          <a:xfrm>
            <a:off x="8978969" y="4341864"/>
            <a:ext cx="12617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De côté</a:t>
            </a:r>
          </a:p>
        </p:txBody>
      </p:sp>
    </p:spTree>
    <p:extLst>
      <p:ext uri="{BB962C8B-B14F-4D97-AF65-F5344CB8AC3E}">
        <p14:creationId xmlns:p14="http://schemas.microsoft.com/office/powerpoint/2010/main" val="238435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90675-BB17-429F-B4CB-38CA8010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Coraux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EEB5868-C2B7-4CA0-900F-238AA6CA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FA4DE23-C77F-4F6A-9BE4-27D2A57AD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4B05A351-FF36-44E7-B877-E35823142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708" y="1719460"/>
            <a:ext cx="7280910" cy="3646170"/>
          </a:xfr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EB2F41E2-3FC3-419E-B468-ECEEE3648B1F}"/>
              </a:ext>
            </a:extLst>
          </p:cNvPr>
          <p:cNvSpPr txBox="1"/>
          <p:nvPr/>
        </p:nvSpPr>
        <p:spPr>
          <a:xfrm>
            <a:off x="3909238" y="5578092"/>
            <a:ext cx="437352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Squelette en aragonite des coraux</a:t>
            </a:r>
          </a:p>
        </p:txBody>
      </p:sp>
    </p:spTree>
    <p:extLst>
      <p:ext uri="{BB962C8B-B14F-4D97-AF65-F5344CB8AC3E}">
        <p14:creationId xmlns:p14="http://schemas.microsoft.com/office/powerpoint/2010/main" val="242858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2C895-2D91-41F6-8F9F-5350AE80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2764"/>
          </a:xfrm>
        </p:spPr>
        <p:txBody>
          <a:bodyPr/>
          <a:lstStyle/>
          <a:p>
            <a:r>
              <a:rPr lang="fr-FR" dirty="0"/>
              <a:t>Produit de solubilité de l’acide benzoïque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C405D1-6B07-4F81-806B-1809C7E3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8" name="Picture 2" descr="RÃ©sultat de recherche d'images pour &quot;schÃ©ma dosage pH mÃ©trique&quot;">
            <a:extLst>
              <a:ext uri="{FF2B5EF4-FFF2-40B4-BE49-F238E27FC236}">
                <a16:creationId xmlns:a16="http://schemas.microsoft.com/office/drawing/2014/main" id="{4A4BB564-CC8C-478C-9CB8-ED422947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758" y="1401417"/>
            <a:ext cx="5054740" cy="479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4D4097-7756-4C48-A92F-14540B3CA8AE}"/>
                  </a:ext>
                </a:extLst>
              </p:cNvPr>
              <p:cNvSpPr txBox="1"/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i="1" dirty="0"/>
              </a:p>
              <a:p>
                <a:pPr algn="r"/>
                <a:r>
                  <a:rPr lang="fr-FR" dirty="0"/>
                  <a:t>Concentration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fr-FR" b="0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  <a:p>
                <a:pPr algn="r"/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4D4097-7756-4C48-A92F-14540B3CA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49920"/>
                <a:ext cx="2009676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2F45A3A-20A1-40A8-B424-F4872DD62C9D}"/>
                  </a:ext>
                </a:extLst>
              </p:cNvPr>
              <p:cNvSpPr txBox="1"/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𝑃h</m:t>
                      </m:r>
                      <m:r>
                        <m:rPr>
                          <m:sty m:val="p"/>
                        </m:rPr>
                        <a:rPr lang="fr-FR" b="0" i="0" dirty="0" smtClean="0">
                          <a:latin typeface="Cambria Math" panose="02040503050406030204" pitchFamily="18" charset="0"/>
                        </a:rPr>
                        <m:t>COOH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mL</m:t>
                      </m:r>
                    </m:oMath>
                  </m:oMathPara>
                </a14:m>
                <a:endParaRPr lang="fr-FR" dirty="0"/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2F45A3A-20A1-40A8-B424-F4872DD62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895" y="4714549"/>
                <a:ext cx="2009676" cy="9169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r 444">
            <a:extLst>
              <a:ext uri="{FF2B5EF4-FFF2-40B4-BE49-F238E27FC236}">
                <a16:creationId xmlns:a16="http://schemas.microsoft.com/office/drawing/2014/main" id="{AEC54AE2-A3C9-4E44-BA7F-082F3ECED6F3}"/>
              </a:ext>
            </a:extLst>
          </p:cNvPr>
          <p:cNvGrpSpPr/>
          <p:nvPr/>
        </p:nvGrpSpPr>
        <p:grpSpPr>
          <a:xfrm>
            <a:off x="2164605" y="3690288"/>
            <a:ext cx="795959" cy="1477327"/>
            <a:chOff x="-421" y="0"/>
            <a:chExt cx="571921" cy="824230"/>
          </a:xfrm>
        </p:grpSpPr>
        <p:sp>
          <p:nvSpPr>
            <p:cNvPr id="17" name="Arrondir un rectangle avec un coin du même côté 49">
              <a:extLst>
                <a:ext uri="{FF2B5EF4-FFF2-40B4-BE49-F238E27FC236}">
                  <a16:creationId xmlns:a16="http://schemas.microsoft.com/office/drawing/2014/main" id="{32ABA185-F8B3-48A5-B263-9F580B14ECF3}"/>
                </a:ext>
              </a:extLst>
            </p:cNvPr>
            <p:cNvSpPr/>
            <p:nvPr/>
          </p:nvSpPr>
          <p:spPr>
            <a:xfrm rot="10800000">
              <a:off x="-421" y="481330"/>
              <a:ext cx="571500" cy="342900"/>
            </a:xfrm>
            <a:prstGeom prst="round2SameRect">
              <a:avLst/>
            </a:prstGeom>
            <a:solidFill>
              <a:srgbClr val="FFC000">
                <a:alpha val="10196"/>
              </a:srgb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8" name="Grouper 441">
              <a:extLst>
                <a:ext uri="{FF2B5EF4-FFF2-40B4-BE49-F238E27FC236}">
                  <a16:creationId xmlns:a16="http://schemas.microsoft.com/office/drawing/2014/main" id="{879151D6-946F-4ECA-8E97-D55D9DB7DC66}"/>
                </a:ext>
              </a:extLst>
            </p:cNvPr>
            <p:cNvGrpSpPr/>
            <p:nvPr/>
          </p:nvGrpSpPr>
          <p:grpSpPr>
            <a:xfrm>
              <a:off x="0" y="0"/>
              <a:ext cx="571500" cy="824230"/>
              <a:chOff x="0" y="0"/>
              <a:chExt cx="571500" cy="824230"/>
            </a:xfrm>
          </p:grpSpPr>
          <p:sp>
            <p:nvSpPr>
              <p:cNvPr id="19" name="Arrondir un rectangle avec un coin du même côté 442">
                <a:extLst>
                  <a:ext uri="{FF2B5EF4-FFF2-40B4-BE49-F238E27FC236}">
                    <a16:creationId xmlns:a16="http://schemas.microsoft.com/office/drawing/2014/main" id="{EEB39DA7-20AC-405C-87A7-17DF97D14098}"/>
                  </a:ext>
                </a:extLst>
              </p:cNvPr>
              <p:cNvSpPr/>
              <p:nvPr/>
            </p:nvSpPr>
            <p:spPr>
              <a:xfrm rot="10800000">
                <a:off x="0" y="2413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E9CF19E-3512-4DDC-9C5A-8A730EEF2EEA}"/>
                  </a:ext>
                </a:extLst>
              </p:cNvPr>
              <p:cNvSpPr/>
              <p:nvPr/>
            </p:nvSpPr>
            <p:spPr>
              <a:xfrm flipV="1">
                <a:off x="0" y="0"/>
                <a:ext cx="571500" cy="45085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</p:grpSp>
      <p:sp>
        <p:nvSpPr>
          <p:cNvPr id="21" name="Forme libre 1">
            <a:extLst>
              <a:ext uri="{FF2B5EF4-FFF2-40B4-BE49-F238E27FC236}">
                <a16:creationId xmlns:a16="http://schemas.microsoft.com/office/drawing/2014/main" id="{F5B26606-95CD-4026-8BBD-1F37D70A8AB4}"/>
              </a:ext>
            </a:extLst>
          </p:cNvPr>
          <p:cNvSpPr/>
          <p:nvPr/>
        </p:nvSpPr>
        <p:spPr>
          <a:xfrm>
            <a:off x="2213235" y="5046818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2" name="Forme libre 1">
            <a:extLst>
              <a:ext uri="{FF2B5EF4-FFF2-40B4-BE49-F238E27FC236}">
                <a16:creationId xmlns:a16="http://schemas.microsoft.com/office/drawing/2014/main" id="{4DC4D77A-16A4-439B-9399-0FB2A93DAFBD}"/>
              </a:ext>
            </a:extLst>
          </p:cNvPr>
          <p:cNvSpPr/>
          <p:nvPr/>
        </p:nvSpPr>
        <p:spPr>
          <a:xfrm flipV="1">
            <a:off x="2449430" y="5046817"/>
            <a:ext cx="441960" cy="102235"/>
          </a:xfrm>
          <a:custGeom>
            <a:avLst/>
            <a:gdLst>
              <a:gd name="connsiteX0" fmla="*/ 147320 w 442174"/>
              <a:gd name="connsiteY0" fmla="*/ 92228 h 102388"/>
              <a:gd name="connsiteX1" fmla="*/ 200660 w 442174"/>
              <a:gd name="connsiteY1" fmla="*/ 94768 h 102388"/>
              <a:gd name="connsiteX2" fmla="*/ 215900 w 442174"/>
              <a:gd name="connsiteY2" fmla="*/ 99848 h 102388"/>
              <a:gd name="connsiteX3" fmla="*/ 223520 w 442174"/>
              <a:gd name="connsiteY3" fmla="*/ 102388 h 102388"/>
              <a:gd name="connsiteX4" fmla="*/ 246380 w 442174"/>
              <a:gd name="connsiteY4" fmla="*/ 99848 h 102388"/>
              <a:gd name="connsiteX5" fmla="*/ 261620 w 442174"/>
              <a:gd name="connsiteY5" fmla="*/ 89688 h 102388"/>
              <a:gd name="connsiteX6" fmla="*/ 269240 w 442174"/>
              <a:gd name="connsiteY6" fmla="*/ 84608 h 102388"/>
              <a:gd name="connsiteX7" fmla="*/ 271780 w 442174"/>
              <a:gd name="connsiteY7" fmla="*/ 56668 h 102388"/>
              <a:gd name="connsiteX8" fmla="*/ 264160 w 442174"/>
              <a:gd name="connsiteY8" fmla="*/ 54128 h 102388"/>
              <a:gd name="connsiteX9" fmla="*/ 233680 w 442174"/>
              <a:gd name="connsiteY9" fmla="*/ 56668 h 102388"/>
              <a:gd name="connsiteX10" fmla="*/ 215900 w 442174"/>
              <a:gd name="connsiteY10" fmla="*/ 54128 h 102388"/>
              <a:gd name="connsiteX11" fmla="*/ 223520 w 442174"/>
              <a:gd name="connsiteY11" fmla="*/ 38888 h 102388"/>
              <a:gd name="connsiteX12" fmla="*/ 241300 w 442174"/>
              <a:gd name="connsiteY12" fmla="*/ 31268 h 102388"/>
              <a:gd name="connsiteX13" fmla="*/ 248920 w 442174"/>
              <a:gd name="connsiteY13" fmla="*/ 28728 h 102388"/>
              <a:gd name="connsiteX14" fmla="*/ 271780 w 442174"/>
              <a:gd name="connsiteY14" fmla="*/ 31268 h 102388"/>
              <a:gd name="connsiteX15" fmla="*/ 294640 w 442174"/>
              <a:gd name="connsiteY15" fmla="*/ 49048 h 102388"/>
              <a:gd name="connsiteX16" fmla="*/ 309880 w 442174"/>
              <a:gd name="connsiteY16" fmla="*/ 54128 h 102388"/>
              <a:gd name="connsiteX17" fmla="*/ 327660 w 442174"/>
              <a:gd name="connsiteY17" fmla="*/ 51588 h 102388"/>
              <a:gd name="connsiteX18" fmla="*/ 342900 w 442174"/>
              <a:gd name="connsiteY18" fmla="*/ 43968 h 102388"/>
              <a:gd name="connsiteX19" fmla="*/ 368300 w 442174"/>
              <a:gd name="connsiteY19" fmla="*/ 36348 h 102388"/>
              <a:gd name="connsiteX20" fmla="*/ 383540 w 442174"/>
              <a:gd name="connsiteY20" fmla="*/ 31268 h 102388"/>
              <a:gd name="connsiteX21" fmla="*/ 398780 w 442174"/>
              <a:gd name="connsiteY21" fmla="*/ 21108 h 102388"/>
              <a:gd name="connsiteX22" fmla="*/ 381000 w 442174"/>
              <a:gd name="connsiteY22" fmla="*/ 26188 h 102388"/>
              <a:gd name="connsiteX23" fmla="*/ 358140 w 442174"/>
              <a:gd name="connsiteY23" fmla="*/ 38888 h 102388"/>
              <a:gd name="connsiteX24" fmla="*/ 337820 w 442174"/>
              <a:gd name="connsiteY24" fmla="*/ 56668 h 102388"/>
              <a:gd name="connsiteX25" fmla="*/ 322580 w 442174"/>
              <a:gd name="connsiteY25" fmla="*/ 61748 h 102388"/>
              <a:gd name="connsiteX26" fmla="*/ 302260 w 442174"/>
              <a:gd name="connsiteY26" fmla="*/ 59208 h 102388"/>
              <a:gd name="connsiteX27" fmla="*/ 325120 w 442174"/>
              <a:gd name="connsiteY27" fmla="*/ 46508 h 102388"/>
              <a:gd name="connsiteX28" fmla="*/ 335280 w 442174"/>
              <a:gd name="connsiteY28" fmla="*/ 43968 h 102388"/>
              <a:gd name="connsiteX29" fmla="*/ 391160 w 442174"/>
              <a:gd name="connsiteY29" fmla="*/ 43968 h 102388"/>
              <a:gd name="connsiteX30" fmla="*/ 398780 w 442174"/>
              <a:gd name="connsiteY30" fmla="*/ 36348 h 102388"/>
              <a:gd name="connsiteX31" fmla="*/ 401320 w 442174"/>
              <a:gd name="connsiteY31" fmla="*/ 13488 h 102388"/>
              <a:gd name="connsiteX32" fmla="*/ 370840 w 442174"/>
              <a:gd name="connsiteY32" fmla="*/ 16028 h 102388"/>
              <a:gd name="connsiteX33" fmla="*/ 360680 w 442174"/>
              <a:gd name="connsiteY33" fmla="*/ 18568 h 102388"/>
              <a:gd name="connsiteX34" fmla="*/ 347980 w 442174"/>
              <a:gd name="connsiteY34" fmla="*/ 21108 h 102388"/>
              <a:gd name="connsiteX35" fmla="*/ 340360 w 442174"/>
              <a:gd name="connsiteY35" fmla="*/ 23648 h 102388"/>
              <a:gd name="connsiteX36" fmla="*/ 327660 w 442174"/>
              <a:gd name="connsiteY36" fmla="*/ 26188 h 102388"/>
              <a:gd name="connsiteX37" fmla="*/ 317500 w 442174"/>
              <a:gd name="connsiteY37" fmla="*/ 31268 h 102388"/>
              <a:gd name="connsiteX38" fmla="*/ 307340 w 442174"/>
              <a:gd name="connsiteY38" fmla="*/ 46508 h 102388"/>
              <a:gd name="connsiteX39" fmla="*/ 304800 w 442174"/>
              <a:gd name="connsiteY39" fmla="*/ 54128 h 102388"/>
              <a:gd name="connsiteX40" fmla="*/ 289560 w 442174"/>
              <a:gd name="connsiteY40" fmla="*/ 69368 h 102388"/>
              <a:gd name="connsiteX41" fmla="*/ 274320 w 442174"/>
              <a:gd name="connsiteY41" fmla="*/ 74448 h 102388"/>
              <a:gd name="connsiteX42" fmla="*/ 165100 w 442174"/>
              <a:gd name="connsiteY42" fmla="*/ 71908 h 102388"/>
              <a:gd name="connsiteX43" fmla="*/ 157480 w 442174"/>
              <a:gd name="connsiteY43" fmla="*/ 69368 h 102388"/>
              <a:gd name="connsiteX44" fmla="*/ 152400 w 442174"/>
              <a:gd name="connsiteY44" fmla="*/ 61748 h 102388"/>
              <a:gd name="connsiteX45" fmla="*/ 152400 w 442174"/>
              <a:gd name="connsiteY45" fmla="*/ 26188 h 102388"/>
              <a:gd name="connsiteX46" fmla="*/ 160020 w 442174"/>
              <a:gd name="connsiteY46" fmla="*/ 23648 h 102388"/>
              <a:gd name="connsiteX47" fmla="*/ 172720 w 442174"/>
              <a:gd name="connsiteY47" fmla="*/ 18568 h 102388"/>
              <a:gd name="connsiteX48" fmla="*/ 195580 w 442174"/>
              <a:gd name="connsiteY48" fmla="*/ 21108 h 102388"/>
              <a:gd name="connsiteX49" fmla="*/ 198120 w 442174"/>
              <a:gd name="connsiteY49" fmla="*/ 28728 h 102388"/>
              <a:gd name="connsiteX50" fmla="*/ 195580 w 442174"/>
              <a:gd name="connsiteY50" fmla="*/ 54128 h 102388"/>
              <a:gd name="connsiteX51" fmla="*/ 187960 w 442174"/>
              <a:gd name="connsiteY51" fmla="*/ 61748 h 102388"/>
              <a:gd name="connsiteX52" fmla="*/ 172720 w 442174"/>
              <a:gd name="connsiteY52" fmla="*/ 69368 h 102388"/>
              <a:gd name="connsiteX53" fmla="*/ 147320 w 442174"/>
              <a:gd name="connsiteY53" fmla="*/ 66828 h 102388"/>
              <a:gd name="connsiteX54" fmla="*/ 139700 w 442174"/>
              <a:gd name="connsiteY54" fmla="*/ 61748 h 102388"/>
              <a:gd name="connsiteX55" fmla="*/ 132080 w 442174"/>
              <a:gd name="connsiteY55" fmla="*/ 59208 h 102388"/>
              <a:gd name="connsiteX56" fmla="*/ 124460 w 442174"/>
              <a:gd name="connsiteY56" fmla="*/ 51588 h 102388"/>
              <a:gd name="connsiteX57" fmla="*/ 109220 w 442174"/>
              <a:gd name="connsiteY57" fmla="*/ 38888 h 102388"/>
              <a:gd name="connsiteX58" fmla="*/ 91440 w 442174"/>
              <a:gd name="connsiteY58" fmla="*/ 21108 h 102388"/>
              <a:gd name="connsiteX59" fmla="*/ 81280 w 442174"/>
              <a:gd name="connsiteY59" fmla="*/ 18568 h 102388"/>
              <a:gd name="connsiteX60" fmla="*/ 71120 w 442174"/>
              <a:gd name="connsiteY60" fmla="*/ 21108 h 102388"/>
              <a:gd name="connsiteX61" fmla="*/ 66040 w 442174"/>
              <a:gd name="connsiteY61" fmla="*/ 49048 h 102388"/>
              <a:gd name="connsiteX62" fmla="*/ 73660 w 442174"/>
              <a:gd name="connsiteY62" fmla="*/ 54128 h 102388"/>
              <a:gd name="connsiteX63" fmla="*/ 83820 w 442174"/>
              <a:gd name="connsiteY63" fmla="*/ 56668 h 102388"/>
              <a:gd name="connsiteX64" fmla="*/ 124460 w 442174"/>
              <a:gd name="connsiteY64" fmla="*/ 59208 h 102388"/>
              <a:gd name="connsiteX65" fmla="*/ 152400 w 442174"/>
              <a:gd name="connsiteY65" fmla="*/ 61748 h 102388"/>
              <a:gd name="connsiteX66" fmla="*/ 231140 w 442174"/>
              <a:gd name="connsiteY66" fmla="*/ 56668 h 102388"/>
              <a:gd name="connsiteX67" fmla="*/ 261620 w 442174"/>
              <a:gd name="connsiteY67" fmla="*/ 51588 h 102388"/>
              <a:gd name="connsiteX68" fmla="*/ 279400 w 442174"/>
              <a:gd name="connsiteY68" fmla="*/ 43968 h 102388"/>
              <a:gd name="connsiteX69" fmla="*/ 294640 w 442174"/>
              <a:gd name="connsiteY69" fmla="*/ 33808 h 102388"/>
              <a:gd name="connsiteX70" fmla="*/ 302260 w 442174"/>
              <a:gd name="connsiteY70" fmla="*/ 28728 h 102388"/>
              <a:gd name="connsiteX71" fmla="*/ 309880 w 442174"/>
              <a:gd name="connsiteY71" fmla="*/ 23648 h 102388"/>
              <a:gd name="connsiteX72" fmla="*/ 332740 w 442174"/>
              <a:gd name="connsiteY72" fmla="*/ 18568 h 102388"/>
              <a:gd name="connsiteX73" fmla="*/ 355600 w 442174"/>
              <a:gd name="connsiteY73" fmla="*/ 21108 h 102388"/>
              <a:gd name="connsiteX74" fmla="*/ 358140 w 442174"/>
              <a:gd name="connsiteY74" fmla="*/ 28728 h 102388"/>
              <a:gd name="connsiteX75" fmla="*/ 355600 w 442174"/>
              <a:gd name="connsiteY75" fmla="*/ 41428 h 102388"/>
              <a:gd name="connsiteX76" fmla="*/ 340360 w 442174"/>
              <a:gd name="connsiteY76" fmla="*/ 54128 h 102388"/>
              <a:gd name="connsiteX77" fmla="*/ 304800 w 442174"/>
              <a:gd name="connsiteY77" fmla="*/ 64288 h 102388"/>
              <a:gd name="connsiteX78" fmla="*/ 297180 w 442174"/>
              <a:gd name="connsiteY78" fmla="*/ 66828 h 102388"/>
              <a:gd name="connsiteX79" fmla="*/ 289560 w 442174"/>
              <a:gd name="connsiteY79" fmla="*/ 71908 h 102388"/>
              <a:gd name="connsiteX80" fmla="*/ 274320 w 442174"/>
              <a:gd name="connsiteY80" fmla="*/ 74448 h 102388"/>
              <a:gd name="connsiteX81" fmla="*/ 233680 w 442174"/>
              <a:gd name="connsiteY81" fmla="*/ 79528 h 102388"/>
              <a:gd name="connsiteX82" fmla="*/ 187960 w 442174"/>
              <a:gd name="connsiteY82" fmla="*/ 76988 h 102388"/>
              <a:gd name="connsiteX83" fmla="*/ 177800 w 442174"/>
              <a:gd name="connsiteY83" fmla="*/ 74448 h 102388"/>
              <a:gd name="connsiteX84" fmla="*/ 154940 w 442174"/>
              <a:gd name="connsiteY84" fmla="*/ 71908 h 102388"/>
              <a:gd name="connsiteX85" fmla="*/ 78740 w 442174"/>
              <a:gd name="connsiteY85" fmla="*/ 69368 h 102388"/>
              <a:gd name="connsiteX86" fmla="*/ 63500 w 442174"/>
              <a:gd name="connsiteY86" fmla="*/ 59208 h 102388"/>
              <a:gd name="connsiteX87" fmla="*/ 55880 w 442174"/>
              <a:gd name="connsiteY87" fmla="*/ 56668 h 102388"/>
              <a:gd name="connsiteX88" fmla="*/ 48260 w 442174"/>
              <a:gd name="connsiteY88" fmla="*/ 51588 h 102388"/>
              <a:gd name="connsiteX89" fmla="*/ 33020 w 442174"/>
              <a:gd name="connsiteY89" fmla="*/ 46508 h 102388"/>
              <a:gd name="connsiteX90" fmla="*/ 45720 w 442174"/>
              <a:gd name="connsiteY90" fmla="*/ 46508 h 102388"/>
              <a:gd name="connsiteX91" fmla="*/ 60960 w 442174"/>
              <a:gd name="connsiteY91" fmla="*/ 51588 h 102388"/>
              <a:gd name="connsiteX92" fmla="*/ 68580 w 442174"/>
              <a:gd name="connsiteY92" fmla="*/ 54128 h 102388"/>
              <a:gd name="connsiteX93" fmla="*/ 81280 w 442174"/>
              <a:gd name="connsiteY93" fmla="*/ 59208 h 102388"/>
              <a:gd name="connsiteX94" fmla="*/ 99060 w 442174"/>
              <a:gd name="connsiteY94" fmla="*/ 61748 h 102388"/>
              <a:gd name="connsiteX95" fmla="*/ 106680 w 442174"/>
              <a:gd name="connsiteY95" fmla="*/ 64288 h 102388"/>
              <a:gd name="connsiteX96" fmla="*/ 129540 w 442174"/>
              <a:gd name="connsiteY96" fmla="*/ 71908 h 102388"/>
              <a:gd name="connsiteX97" fmla="*/ 139700 w 442174"/>
              <a:gd name="connsiteY97" fmla="*/ 79528 h 102388"/>
              <a:gd name="connsiteX98" fmla="*/ 142240 w 442174"/>
              <a:gd name="connsiteY98" fmla="*/ 87148 h 102388"/>
              <a:gd name="connsiteX99" fmla="*/ 121920 w 442174"/>
              <a:gd name="connsiteY99" fmla="*/ 82068 h 102388"/>
              <a:gd name="connsiteX100" fmla="*/ 114300 w 442174"/>
              <a:gd name="connsiteY100" fmla="*/ 76988 h 102388"/>
              <a:gd name="connsiteX101" fmla="*/ 121920 w 442174"/>
              <a:gd name="connsiteY101" fmla="*/ 79528 h 102388"/>
              <a:gd name="connsiteX102" fmla="*/ 134620 w 442174"/>
              <a:gd name="connsiteY102" fmla="*/ 82068 h 102388"/>
              <a:gd name="connsiteX103" fmla="*/ 215900 w 442174"/>
              <a:gd name="connsiteY103" fmla="*/ 79528 h 102388"/>
              <a:gd name="connsiteX104" fmla="*/ 238760 w 442174"/>
              <a:gd name="connsiteY104" fmla="*/ 76988 h 102388"/>
              <a:gd name="connsiteX105" fmla="*/ 287020 w 442174"/>
              <a:gd name="connsiteY105" fmla="*/ 74448 h 102388"/>
              <a:gd name="connsiteX106" fmla="*/ 294640 w 442174"/>
              <a:gd name="connsiteY106" fmla="*/ 71908 h 102388"/>
              <a:gd name="connsiteX107" fmla="*/ 342900 w 442174"/>
              <a:gd name="connsiteY107" fmla="*/ 64288 h 102388"/>
              <a:gd name="connsiteX108" fmla="*/ 350520 w 442174"/>
              <a:gd name="connsiteY108" fmla="*/ 61748 h 102388"/>
              <a:gd name="connsiteX109" fmla="*/ 365760 w 442174"/>
              <a:gd name="connsiteY109" fmla="*/ 51588 h 102388"/>
              <a:gd name="connsiteX110" fmla="*/ 353060 w 442174"/>
              <a:gd name="connsiteY110" fmla="*/ 59208 h 102388"/>
              <a:gd name="connsiteX111" fmla="*/ 342900 w 442174"/>
              <a:gd name="connsiteY111" fmla="*/ 64288 h 102388"/>
              <a:gd name="connsiteX112" fmla="*/ 335280 w 442174"/>
              <a:gd name="connsiteY112" fmla="*/ 66828 h 102388"/>
              <a:gd name="connsiteX113" fmla="*/ 317500 w 442174"/>
              <a:gd name="connsiteY113" fmla="*/ 74448 h 102388"/>
              <a:gd name="connsiteX114" fmla="*/ 281940 w 442174"/>
              <a:gd name="connsiteY114" fmla="*/ 79528 h 102388"/>
              <a:gd name="connsiteX115" fmla="*/ 274320 w 442174"/>
              <a:gd name="connsiteY115" fmla="*/ 82068 h 102388"/>
              <a:gd name="connsiteX116" fmla="*/ 307340 w 442174"/>
              <a:gd name="connsiteY116" fmla="*/ 66828 h 102388"/>
              <a:gd name="connsiteX117" fmla="*/ 317500 w 442174"/>
              <a:gd name="connsiteY117" fmla="*/ 61748 h 102388"/>
              <a:gd name="connsiteX118" fmla="*/ 347980 w 442174"/>
              <a:gd name="connsiteY118" fmla="*/ 51588 h 102388"/>
              <a:gd name="connsiteX119" fmla="*/ 365760 w 442174"/>
              <a:gd name="connsiteY119" fmla="*/ 41428 h 102388"/>
              <a:gd name="connsiteX120" fmla="*/ 373380 w 442174"/>
              <a:gd name="connsiteY120" fmla="*/ 38888 h 102388"/>
              <a:gd name="connsiteX121" fmla="*/ 391160 w 442174"/>
              <a:gd name="connsiteY121" fmla="*/ 31268 h 102388"/>
              <a:gd name="connsiteX122" fmla="*/ 398780 w 442174"/>
              <a:gd name="connsiteY122" fmla="*/ 26188 h 102388"/>
              <a:gd name="connsiteX123" fmla="*/ 408940 w 442174"/>
              <a:gd name="connsiteY123" fmla="*/ 10948 h 102388"/>
              <a:gd name="connsiteX124" fmla="*/ 381000 w 442174"/>
              <a:gd name="connsiteY124" fmla="*/ 10948 h 102388"/>
              <a:gd name="connsiteX125" fmla="*/ 363220 w 442174"/>
              <a:gd name="connsiteY125" fmla="*/ 23648 h 102388"/>
              <a:gd name="connsiteX126" fmla="*/ 347980 w 442174"/>
              <a:gd name="connsiteY126" fmla="*/ 31268 h 102388"/>
              <a:gd name="connsiteX127" fmla="*/ 335280 w 442174"/>
              <a:gd name="connsiteY127" fmla="*/ 38888 h 102388"/>
              <a:gd name="connsiteX128" fmla="*/ 322580 w 442174"/>
              <a:gd name="connsiteY128" fmla="*/ 41428 h 102388"/>
              <a:gd name="connsiteX129" fmla="*/ 284480 w 442174"/>
              <a:gd name="connsiteY129" fmla="*/ 38888 h 102388"/>
              <a:gd name="connsiteX130" fmla="*/ 274320 w 442174"/>
              <a:gd name="connsiteY130" fmla="*/ 36348 h 102388"/>
              <a:gd name="connsiteX131" fmla="*/ 243840 w 442174"/>
              <a:gd name="connsiteY131" fmla="*/ 38888 h 102388"/>
              <a:gd name="connsiteX132" fmla="*/ 215900 w 442174"/>
              <a:gd name="connsiteY132" fmla="*/ 46508 h 102388"/>
              <a:gd name="connsiteX133" fmla="*/ 195580 w 442174"/>
              <a:gd name="connsiteY133" fmla="*/ 43968 h 102388"/>
              <a:gd name="connsiteX134" fmla="*/ 187960 w 442174"/>
              <a:gd name="connsiteY134" fmla="*/ 36348 h 102388"/>
              <a:gd name="connsiteX135" fmla="*/ 147320 w 442174"/>
              <a:gd name="connsiteY135" fmla="*/ 28728 h 102388"/>
              <a:gd name="connsiteX136" fmla="*/ 137160 w 442174"/>
              <a:gd name="connsiteY136" fmla="*/ 26188 h 102388"/>
              <a:gd name="connsiteX137" fmla="*/ 127000 w 442174"/>
              <a:gd name="connsiteY137" fmla="*/ 18568 h 102388"/>
              <a:gd name="connsiteX138" fmla="*/ 119380 w 442174"/>
              <a:gd name="connsiteY138" fmla="*/ 13488 h 102388"/>
              <a:gd name="connsiteX139" fmla="*/ 111760 w 442174"/>
              <a:gd name="connsiteY139" fmla="*/ 10948 h 102388"/>
              <a:gd name="connsiteX140" fmla="*/ 35560 w 442174"/>
              <a:gd name="connsiteY140" fmla="*/ 13488 h 102388"/>
              <a:gd name="connsiteX141" fmla="*/ 5080 w 442174"/>
              <a:gd name="connsiteY141" fmla="*/ 16028 h 102388"/>
              <a:gd name="connsiteX142" fmla="*/ 0 w 442174"/>
              <a:gd name="connsiteY142" fmla="*/ 23648 h 102388"/>
              <a:gd name="connsiteX143" fmla="*/ 15240 w 442174"/>
              <a:gd name="connsiteY143" fmla="*/ 33808 h 102388"/>
              <a:gd name="connsiteX144" fmla="*/ 73660 w 442174"/>
              <a:gd name="connsiteY144" fmla="*/ 31268 h 102388"/>
              <a:gd name="connsiteX145" fmla="*/ 86360 w 442174"/>
              <a:gd name="connsiteY145" fmla="*/ 26188 h 102388"/>
              <a:gd name="connsiteX146" fmla="*/ 106680 w 442174"/>
              <a:gd name="connsiteY146" fmla="*/ 21108 h 102388"/>
              <a:gd name="connsiteX147" fmla="*/ 149860 w 442174"/>
              <a:gd name="connsiteY147" fmla="*/ 23648 h 102388"/>
              <a:gd name="connsiteX148" fmla="*/ 157480 w 442174"/>
              <a:gd name="connsiteY148" fmla="*/ 26188 h 102388"/>
              <a:gd name="connsiteX149" fmla="*/ 162560 w 442174"/>
              <a:gd name="connsiteY149" fmla="*/ 33808 h 102388"/>
              <a:gd name="connsiteX150" fmla="*/ 177800 w 442174"/>
              <a:gd name="connsiteY150" fmla="*/ 21108 h 102388"/>
              <a:gd name="connsiteX151" fmla="*/ 185420 w 442174"/>
              <a:gd name="connsiteY151" fmla="*/ 13488 h 102388"/>
              <a:gd name="connsiteX152" fmla="*/ 193040 w 442174"/>
              <a:gd name="connsiteY152" fmla="*/ 10948 h 102388"/>
              <a:gd name="connsiteX153" fmla="*/ 215900 w 442174"/>
              <a:gd name="connsiteY153" fmla="*/ 13488 h 102388"/>
              <a:gd name="connsiteX154" fmla="*/ 223520 w 442174"/>
              <a:gd name="connsiteY154" fmla="*/ 18568 h 102388"/>
              <a:gd name="connsiteX155" fmla="*/ 236220 w 442174"/>
              <a:gd name="connsiteY155" fmla="*/ 10948 h 102388"/>
              <a:gd name="connsiteX156" fmla="*/ 251460 w 442174"/>
              <a:gd name="connsiteY156" fmla="*/ 3328 h 102388"/>
              <a:gd name="connsiteX157" fmla="*/ 264160 w 442174"/>
              <a:gd name="connsiteY157" fmla="*/ 8408 h 102388"/>
              <a:gd name="connsiteX158" fmla="*/ 363220 w 442174"/>
              <a:gd name="connsiteY158" fmla="*/ 13488 h 102388"/>
              <a:gd name="connsiteX159" fmla="*/ 386080 w 442174"/>
              <a:gd name="connsiteY159" fmla="*/ 8408 h 102388"/>
              <a:gd name="connsiteX160" fmla="*/ 396240 w 442174"/>
              <a:gd name="connsiteY160" fmla="*/ 3328 h 102388"/>
              <a:gd name="connsiteX161" fmla="*/ 424180 w 442174"/>
              <a:gd name="connsiteY161" fmla="*/ 5868 h 102388"/>
              <a:gd name="connsiteX162" fmla="*/ 434340 w 442174"/>
              <a:gd name="connsiteY162" fmla="*/ 3328 h 102388"/>
              <a:gd name="connsiteX163" fmla="*/ 441960 w 442174"/>
              <a:gd name="connsiteY163" fmla="*/ 788 h 102388"/>
              <a:gd name="connsiteX164" fmla="*/ 429260 w 442174"/>
              <a:gd name="connsiteY164" fmla="*/ 16028 h 102388"/>
              <a:gd name="connsiteX165" fmla="*/ 391160 w 442174"/>
              <a:gd name="connsiteY165" fmla="*/ 21108 h 102388"/>
              <a:gd name="connsiteX166" fmla="*/ 378460 w 442174"/>
              <a:gd name="connsiteY166" fmla="*/ 23648 h 10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442174" h="102388">
                <a:moveTo>
                  <a:pt x="147320" y="92228"/>
                </a:moveTo>
                <a:cubicBezTo>
                  <a:pt x="165100" y="93075"/>
                  <a:pt x="182969" y="92802"/>
                  <a:pt x="200660" y="94768"/>
                </a:cubicBezTo>
                <a:cubicBezTo>
                  <a:pt x="205982" y="95359"/>
                  <a:pt x="210820" y="98155"/>
                  <a:pt x="215900" y="99848"/>
                </a:cubicBezTo>
                <a:lnTo>
                  <a:pt x="223520" y="102388"/>
                </a:lnTo>
                <a:cubicBezTo>
                  <a:pt x="231140" y="101541"/>
                  <a:pt x="239107" y="102272"/>
                  <a:pt x="246380" y="99848"/>
                </a:cubicBezTo>
                <a:cubicBezTo>
                  <a:pt x="252172" y="97917"/>
                  <a:pt x="256540" y="93075"/>
                  <a:pt x="261620" y="89688"/>
                </a:cubicBezTo>
                <a:lnTo>
                  <a:pt x="269240" y="84608"/>
                </a:lnTo>
                <a:cubicBezTo>
                  <a:pt x="276105" y="74310"/>
                  <a:pt x="279174" y="73304"/>
                  <a:pt x="271780" y="56668"/>
                </a:cubicBezTo>
                <a:cubicBezTo>
                  <a:pt x="270693" y="54221"/>
                  <a:pt x="266700" y="54975"/>
                  <a:pt x="264160" y="54128"/>
                </a:cubicBezTo>
                <a:cubicBezTo>
                  <a:pt x="254000" y="54975"/>
                  <a:pt x="243875" y="56668"/>
                  <a:pt x="233680" y="56668"/>
                </a:cubicBezTo>
                <a:cubicBezTo>
                  <a:pt x="227693" y="56668"/>
                  <a:pt x="218870" y="59326"/>
                  <a:pt x="215900" y="54128"/>
                </a:cubicBezTo>
                <a:cubicBezTo>
                  <a:pt x="213082" y="49197"/>
                  <a:pt x="220112" y="43432"/>
                  <a:pt x="223520" y="38888"/>
                </a:cubicBezTo>
                <a:cubicBezTo>
                  <a:pt x="227738" y="33264"/>
                  <a:pt x="235390" y="32957"/>
                  <a:pt x="241300" y="31268"/>
                </a:cubicBezTo>
                <a:cubicBezTo>
                  <a:pt x="243874" y="30532"/>
                  <a:pt x="246380" y="29575"/>
                  <a:pt x="248920" y="28728"/>
                </a:cubicBezTo>
                <a:cubicBezTo>
                  <a:pt x="256540" y="29575"/>
                  <a:pt x="264507" y="28844"/>
                  <a:pt x="271780" y="31268"/>
                </a:cubicBezTo>
                <a:cubicBezTo>
                  <a:pt x="303244" y="41756"/>
                  <a:pt x="274916" y="38090"/>
                  <a:pt x="294640" y="49048"/>
                </a:cubicBezTo>
                <a:cubicBezTo>
                  <a:pt x="299321" y="51649"/>
                  <a:pt x="309880" y="54128"/>
                  <a:pt x="309880" y="54128"/>
                </a:cubicBezTo>
                <a:cubicBezTo>
                  <a:pt x="315807" y="53281"/>
                  <a:pt x="321789" y="52762"/>
                  <a:pt x="327660" y="51588"/>
                </a:cubicBezTo>
                <a:cubicBezTo>
                  <a:pt x="338301" y="49460"/>
                  <a:pt x="332910" y="48963"/>
                  <a:pt x="342900" y="43968"/>
                </a:cubicBezTo>
                <a:cubicBezTo>
                  <a:pt x="358060" y="36388"/>
                  <a:pt x="352595" y="40631"/>
                  <a:pt x="368300" y="36348"/>
                </a:cubicBezTo>
                <a:cubicBezTo>
                  <a:pt x="373466" y="34939"/>
                  <a:pt x="379085" y="34238"/>
                  <a:pt x="383540" y="31268"/>
                </a:cubicBezTo>
                <a:cubicBezTo>
                  <a:pt x="388620" y="27881"/>
                  <a:pt x="404572" y="19177"/>
                  <a:pt x="398780" y="21108"/>
                </a:cubicBezTo>
                <a:cubicBezTo>
                  <a:pt x="387848" y="24752"/>
                  <a:pt x="393757" y="22999"/>
                  <a:pt x="381000" y="26188"/>
                </a:cubicBezTo>
                <a:cubicBezTo>
                  <a:pt x="363532" y="37833"/>
                  <a:pt x="371552" y="34417"/>
                  <a:pt x="358140" y="38888"/>
                </a:cubicBezTo>
                <a:cubicBezTo>
                  <a:pt x="352213" y="47778"/>
                  <a:pt x="350520" y="52435"/>
                  <a:pt x="337820" y="56668"/>
                </a:cubicBezTo>
                <a:lnTo>
                  <a:pt x="322580" y="61748"/>
                </a:lnTo>
                <a:cubicBezTo>
                  <a:pt x="315807" y="60901"/>
                  <a:pt x="304795" y="65546"/>
                  <a:pt x="302260" y="59208"/>
                </a:cubicBezTo>
                <a:cubicBezTo>
                  <a:pt x="300394" y="54543"/>
                  <a:pt x="320186" y="47918"/>
                  <a:pt x="325120" y="46508"/>
                </a:cubicBezTo>
                <a:cubicBezTo>
                  <a:pt x="328477" y="45549"/>
                  <a:pt x="331893" y="44815"/>
                  <a:pt x="335280" y="43968"/>
                </a:cubicBezTo>
                <a:cubicBezTo>
                  <a:pt x="343764" y="44534"/>
                  <a:pt x="377520" y="49424"/>
                  <a:pt x="391160" y="43968"/>
                </a:cubicBezTo>
                <a:cubicBezTo>
                  <a:pt x="394495" y="42634"/>
                  <a:pt x="396240" y="38888"/>
                  <a:pt x="398780" y="36348"/>
                </a:cubicBezTo>
                <a:cubicBezTo>
                  <a:pt x="404707" y="18568"/>
                  <a:pt x="405553" y="26188"/>
                  <a:pt x="401320" y="13488"/>
                </a:cubicBezTo>
                <a:cubicBezTo>
                  <a:pt x="391160" y="14335"/>
                  <a:pt x="380956" y="14763"/>
                  <a:pt x="370840" y="16028"/>
                </a:cubicBezTo>
                <a:cubicBezTo>
                  <a:pt x="367376" y="16461"/>
                  <a:pt x="364088" y="17811"/>
                  <a:pt x="360680" y="18568"/>
                </a:cubicBezTo>
                <a:cubicBezTo>
                  <a:pt x="356466" y="19505"/>
                  <a:pt x="352168" y="20061"/>
                  <a:pt x="347980" y="21108"/>
                </a:cubicBezTo>
                <a:cubicBezTo>
                  <a:pt x="345383" y="21757"/>
                  <a:pt x="342957" y="22999"/>
                  <a:pt x="340360" y="23648"/>
                </a:cubicBezTo>
                <a:cubicBezTo>
                  <a:pt x="336172" y="24695"/>
                  <a:pt x="331893" y="25341"/>
                  <a:pt x="327660" y="26188"/>
                </a:cubicBezTo>
                <a:cubicBezTo>
                  <a:pt x="324273" y="27881"/>
                  <a:pt x="320177" y="28591"/>
                  <a:pt x="317500" y="31268"/>
                </a:cubicBezTo>
                <a:cubicBezTo>
                  <a:pt x="313183" y="35585"/>
                  <a:pt x="309271" y="40716"/>
                  <a:pt x="307340" y="46508"/>
                </a:cubicBezTo>
                <a:cubicBezTo>
                  <a:pt x="306493" y="49048"/>
                  <a:pt x="306444" y="52015"/>
                  <a:pt x="304800" y="54128"/>
                </a:cubicBezTo>
                <a:cubicBezTo>
                  <a:pt x="300389" y="59799"/>
                  <a:pt x="296376" y="67096"/>
                  <a:pt x="289560" y="69368"/>
                </a:cubicBezTo>
                <a:lnTo>
                  <a:pt x="274320" y="74448"/>
                </a:lnTo>
                <a:cubicBezTo>
                  <a:pt x="237913" y="73601"/>
                  <a:pt x="201482" y="73490"/>
                  <a:pt x="165100" y="71908"/>
                </a:cubicBezTo>
                <a:cubicBezTo>
                  <a:pt x="162425" y="71792"/>
                  <a:pt x="159571" y="71041"/>
                  <a:pt x="157480" y="69368"/>
                </a:cubicBezTo>
                <a:cubicBezTo>
                  <a:pt x="155096" y="67461"/>
                  <a:pt x="154093" y="64288"/>
                  <a:pt x="152400" y="61748"/>
                </a:cubicBezTo>
                <a:cubicBezTo>
                  <a:pt x="150409" y="49804"/>
                  <a:pt x="147006" y="38325"/>
                  <a:pt x="152400" y="26188"/>
                </a:cubicBezTo>
                <a:cubicBezTo>
                  <a:pt x="153487" y="23741"/>
                  <a:pt x="157513" y="24588"/>
                  <a:pt x="160020" y="23648"/>
                </a:cubicBezTo>
                <a:cubicBezTo>
                  <a:pt x="164289" y="22047"/>
                  <a:pt x="168487" y="20261"/>
                  <a:pt x="172720" y="18568"/>
                </a:cubicBezTo>
                <a:cubicBezTo>
                  <a:pt x="180340" y="19415"/>
                  <a:pt x="188461" y="18261"/>
                  <a:pt x="195580" y="21108"/>
                </a:cubicBezTo>
                <a:cubicBezTo>
                  <a:pt x="198066" y="22102"/>
                  <a:pt x="198120" y="26051"/>
                  <a:pt x="198120" y="28728"/>
                </a:cubicBezTo>
                <a:cubicBezTo>
                  <a:pt x="198120" y="37237"/>
                  <a:pt x="198082" y="45995"/>
                  <a:pt x="195580" y="54128"/>
                </a:cubicBezTo>
                <a:cubicBezTo>
                  <a:pt x="194524" y="57561"/>
                  <a:pt x="190720" y="59448"/>
                  <a:pt x="187960" y="61748"/>
                </a:cubicBezTo>
                <a:cubicBezTo>
                  <a:pt x="181395" y="67219"/>
                  <a:pt x="180357" y="66822"/>
                  <a:pt x="172720" y="69368"/>
                </a:cubicBezTo>
                <a:cubicBezTo>
                  <a:pt x="164253" y="68521"/>
                  <a:pt x="155611" y="68741"/>
                  <a:pt x="147320" y="66828"/>
                </a:cubicBezTo>
                <a:cubicBezTo>
                  <a:pt x="144345" y="66142"/>
                  <a:pt x="142430" y="63113"/>
                  <a:pt x="139700" y="61748"/>
                </a:cubicBezTo>
                <a:cubicBezTo>
                  <a:pt x="137305" y="60551"/>
                  <a:pt x="134620" y="60055"/>
                  <a:pt x="132080" y="59208"/>
                </a:cubicBezTo>
                <a:cubicBezTo>
                  <a:pt x="129540" y="56668"/>
                  <a:pt x="127220" y="53888"/>
                  <a:pt x="124460" y="51588"/>
                </a:cubicBezTo>
                <a:cubicBezTo>
                  <a:pt x="115191" y="43864"/>
                  <a:pt x="117422" y="49433"/>
                  <a:pt x="109220" y="38888"/>
                </a:cubicBezTo>
                <a:cubicBezTo>
                  <a:pt x="96536" y="22580"/>
                  <a:pt x="105308" y="25070"/>
                  <a:pt x="91440" y="21108"/>
                </a:cubicBezTo>
                <a:cubicBezTo>
                  <a:pt x="88083" y="20149"/>
                  <a:pt x="84667" y="19415"/>
                  <a:pt x="81280" y="18568"/>
                </a:cubicBezTo>
                <a:cubicBezTo>
                  <a:pt x="77893" y="19415"/>
                  <a:pt x="73961" y="19079"/>
                  <a:pt x="71120" y="21108"/>
                </a:cubicBezTo>
                <a:cubicBezTo>
                  <a:pt x="61123" y="28249"/>
                  <a:pt x="61183" y="38120"/>
                  <a:pt x="66040" y="49048"/>
                </a:cubicBezTo>
                <a:cubicBezTo>
                  <a:pt x="67280" y="51838"/>
                  <a:pt x="70854" y="52925"/>
                  <a:pt x="73660" y="54128"/>
                </a:cubicBezTo>
                <a:cubicBezTo>
                  <a:pt x="76869" y="55503"/>
                  <a:pt x="80346" y="56321"/>
                  <a:pt x="83820" y="56668"/>
                </a:cubicBezTo>
                <a:cubicBezTo>
                  <a:pt x="97326" y="58019"/>
                  <a:pt x="110924" y="58205"/>
                  <a:pt x="124460" y="59208"/>
                </a:cubicBezTo>
                <a:cubicBezTo>
                  <a:pt x="133786" y="59899"/>
                  <a:pt x="143087" y="60901"/>
                  <a:pt x="152400" y="61748"/>
                </a:cubicBezTo>
                <a:cubicBezTo>
                  <a:pt x="202678" y="59653"/>
                  <a:pt x="198132" y="61880"/>
                  <a:pt x="231140" y="56668"/>
                </a:cubicBezTo>
                <a:cubicBezTo>
                  <a:pt x="241314" y="55062"/>
                  <a:pt x="251848" y="54845"/>
                  <a:pt x="261620" y="51588"/>
                </a:cubicBezTo>
                <a:cubicBezTo>
                  <a:pt x="269503" y="48960"/>
                  <a:pt x="271553" y="48676"/>
                  <a:pt x="279400" y="43968"/>
                </a:cubicBezTo>
                <a:cubicBezTo>
                  <a:pt x="284635" y="40827"/>
                  <a:pt x="289560" y="37195"/>
                  <a:pt x="294640" y="33808"/>
                </a:cubicBezTo>
                <a:lnTo>
                  <a:pt x="302260" y="28728"/>
                </a:lnTo>
                <a:cubicBezTo>
                  <a:pt x="304800" y="27035"/>
                  <a:pt x="306918" y="24388"/>
                  <a:pt x="309880" y="23648"/>
                </a:cubicBezTo>
                <a:cubicBezTo>
                  <a:pt x="324228" y="20061"/>
                  <a:pt x="316617" y="21793"/>
                  <a:pt x="332740" y="18568"/>
                </a:cubicBezTo>
                <a:cubicBezTo>
                  <a:pt x="340360" y="19415"/>
                  <a:pt x="348481" y="18261"/>
                  <a:pt x="355600" y="21108"/>
                </a:cubicBezTo>
                <a:cubicBezTo>
                  <a:pt x="358086" y="22102"/>
                  <a:pt x="358140" y="26051"/>
                  <a:pt x="358140" y="28728"/>
                </a:cubicBezTo>
                <a:cubicBezTo>
                  <a:pt x="358140" y="33045"/>
                  <a:pt x="357531" y="37567"/>
                  <a:pt x="355600" y="41428"/>
                </a:cubicBezTo>
                <a:cubicBezTo>
                  <a:pt x="353891" y="44846"/>
                  <a:pt x="344111" y="52461"/>
                  <a:pt x="340360" y="54128"/>
                </a:cubicBezTo>
                <a:cubicBezTo>
                  <a:pt x="325683" y="60651"/>
                  <a:pt x="320945" y="58906"/>
                  <a:pt x="304800" y="64288"/>
                </a:cubicBezTo>
                <a:cubicBezTo>
                  <a:pt x="302260" y="65135"/>
                  <a:pt x="299575" y="65631"/>
                  <a:pt x="297180" y="66828"/>
                </a:cubicBezTo>
                <a:cubicBezTo>
                  <a:pt x="294450" y="68193"/>
                  <a:pt x="292456" y="70943"/>
                  <a:pt x="289560" y="71908"/>
                </a:cubicBezTo>
                <a:cubicBezTo>
                  <a:pt x="284674" y="73537"/>
                  <a:pt x="279387" y="73527"/>
                  <a:pt x="274320" y="74448"/>
                </a:cubicBezTo>
                <a:cubicBezTo>
                  <a:pt x="248076" y="79220"/>
                  <a:pt x="275394" y="75736"/>
                  <a:pt x="233680" y="79528"/>
                </a:cubicBezTo>
                <a:cubicBezTo>
                  <a:pt x="218440" y="78681"/>
                  <a:pt x="203161" y="78370"/>
                  <a:pt x="187960" y="76988"/>
                </a:cubicBezTo>
                <a:cubicBezTo>
                  <a:pt x="184483" y="76672"/>
                  <a:pt x="181250" y="74979"/>
                  <a:pt x="177800" y="74448"/>
                </a:cubicBezTo>
                <a:cubicBezTo>
                  <a:pt x="170222" y="73282"/>
                  <a:pt x="162597" y="72301"/>
                  <a:pt x="154940" y="71908"/>
                </a:cubicBezTo>
                <a:cubicBezTo>
                  <a:pt x="129559" y="70606"/>
                  <a:pt x="104140" y="70215"/>
                  <a:pt x="78740" y="69368"/>
                </a:cubicBezTo>
                <a:cubicBezTo>
                  <a:pt x="73660" y="65981"/>
                  <a:pt x="69292" y="61139"/>
                  <a:pt x="63500" y="59208"/>
                </a:cubicBezTo>
                <a:cubicBezTo>
                  <a:pt x="60960" y="58361"/>
                  <a:pt x="58275" y="57865"/>
                  <a:pt x="55880" y="56668"/>
                </a:cubicBezTo>
                <a:cubicBezTo>
                  <a:pt x="53150" y="55303"/>
                  <a:pt x="51050" y="52828"/>
                  <a:pt x="48260" y="51588"/>
                </a:cubicBezTo>
                <a:cubicBezTo>
                  <a:pt x="43367" y="49413"/>
                  <a:pt x="38100" y="48201"/>
                  <a:pt x="33020" y="46508"/>
                </a:cubicBezTo>
                <a:cubicBezTo>
                  <a:pt x="18924" y="41809"/>
                  <a:pt x="22743" y="43636"/>
                  <a:pt x="45720" y="46508"/>
                </a:cubicBezTo>
                <a:lnTo>
                  <a:pt x="60960" y="51588"/>
                </a:lnTo>
                <a:cubicBezTo>
                  <a:pt x="63500" y="52435"/>
                  <a:pt x="66094" y="53134"/>
                  <a:pt x="68580" y="54128"/>
                </a:cubicBezTo>
                <a:cubicBezTo>
                  <a:pt x="72813" y="55821"/>
                  <a:pt x="76857" y="58102"/>
                  <a:pt x="81280" y="59208"/>
                </a:cubicBezTo>
                <a:cubicBezTo>
                  <a:pt x="87088" y="60660"/>
                  <a:pt x="93133" y="60901"/>
                  <a:pt x="99060" y="61748"/>
                </a:cubicBezTo>
                <a:cubicBezTo>
                  <a:pt x="101600" y="62595"/>
                  <a:pt x="104106" y="63552"/>
                  <a:pt x="106680" y="64288"/>
                </a:cubicBezTo>
                <a:cubicBezTo>
                  <a:pt x="116157" y="66996"/>
                  <a:pt x="120267" y="66757"/>
                  <a:pt x="129540" y="71908"/>
                </a:cubicBezTo>
                <a:cubicBezTo>
                  <a:pt x="133241" y="73964"/>
                  <a:pt x="136313" y="76988"/>
                  <a:pt x="139700" y="79528"/>
                </a:cubicBezTo>
                <a:cubicBezTo>
                  <a:pt x="140547" y="82068"/>
                  <a:pt x="144635" y="85951"/>
                  <a:pt x="142240" y="87148"/>
                </a:cubicBezTo>
                <a:cubicBezTo>
                  <a:pt x="140791" y="87873"/>
                  <a:pt x="125030" y="83623"/>
                  <a:pt x="121920" y="82068"/>
                </a:cubicBezTo>
                <a:cubicBezTo>
                  <a:pt x="119190" y="80703"/>
                  <a:pt x="114300" y="80041"/>
                  <a:pt x="114300" y="76988"/>
                </a:cubicBezTo>
                <a:cubicBezTo>
                  <a:pt x="114300" y="74311"/>
                  <a:pt x="119323" y="78879"/>
                  <a:pt x="121920" y="79528"/>
                </a:cubicBezTo>
                <a:cubicBezTo>
                  <a:pt x="126108" y="80575"/>
                  <a:pt x="130387" y="81221"/>
                  <a:pt x="134620" y="82068"/>
                </a:cubicBezTo>
                <a:lnTo>
                  <a:pt x="215900" y="79528"/>
                </a:lnTo>
                <a:cubicBezTo>
                  <a:pt x="223558" y="79154"/>
                  <a:pt x="231113" y="77534"/>
                  <a:pt x="238760" y="76988"/>
                </a:cubicBezTo>
                <a:cubicBezTo>
                  <a:pt x="254828" y="75840"/>
                  <a:pt x="270933" y="75295"/>
                  <a:pt x="287020" y="74448"/>
                </a:cubicBezTo>
                <a:cubicBezTo>
                  <a:pt x="289560" y="73601"/>
                  <a:pt x="292031" y="72510"/>
                  <a:pt x="294640" y="71908"/>
                </a:cubicBezTo>
                <a:cubicBezTo>
                  <a:pt x="319093" y="66265"/>
                  <a:pt x="318975" y="66946"/>
                  <a:pt x="342900" y="64288"/>
                </a:cubicBezTo>
                <a:cubicBezTo>
                  <a:pt x="345440" y="63441"/>
                  <a:pt x="348180" y="63048"/>
                  <a:pt x="350520" y="61748"/>
                </a:cubicBezTo>
                <a:cubicBezTo>
                  <a:pt x="355857" y="58783"/>
                  <a:pt x="365760" y="51588"/>
                  <a:pt x="365760" y="51588"/>
                </a:cubicBezTo>
                <a:cubicBezTo>
                  <a:pt x="365760" y="51588"/>
                  <a:pt x="357376" y="56810"/>
                  <a:pt x="353060" y="59208"/>
                </a:cubicBezTo>
                <a:cubicBezTo>
                  <a:pt x="349750" y="61047"/>
                  <a:pt x="346380" y="62796"/>
                  <a:pt x="342900" y="64288"/>
                </a:cubicBezTo>
                <a:cubicBezTo>
                  <a:pt x="340439" y="65343"/>
                  <a:pt x="337741" y="65773"/>
                  <a:pt x="335280" y="66828"/>
                </a:cubicBezTo>
                <a:cubicBezTo>
                  <a:pt x="326917" y="70412"/>
                  <a:pt x="325748" y="72615"/>
                  <a:pt x="317500" y="74448"/>
                </a:cubicBezTo>
                <a:cubicBezTo>
                  <a:pt x="308083" y="76541"/>
                  <a:pt x="290728" y="78429"/>
                  <a:pt x="281940" y="79528"/>
                </a:cubicBezTo>
                <a:cubicBezTo>
                  <a:pt x="279400" y="80375"/>
                  <a:pt x="272024" y="83446"/>
                  <a:pt x="274320" y="82068"/>
                </a:cubicBezTo>
                <a:cubicBezTo>
                  <a:pt x="292397" y="71222"/>
                  <a:pt x="291415" y="73906"/>
                  <a:pt x="307340" y="66828"/>
                </a:cubicBezTo>
                <a:cubicBezTo>
                  <a:pt x="310800" y="65290"/>
                  <a:pt x="314040" y="63286"/>
                  <a:pt x="317500" y="61748"/>
                </a:cubicBezTo>
                <a:cubicBezTo>
                  <a:pt x="341600" y="51037"/>
                  <a:pt x="318142" y="62438"/>
                  <a:pt x="347980" y="51588"/>
                </a:cubicBezTo>
                <a:cubicBezTo>
                  <a:pt x="364308" y="45651"/>
                  <a:pt x="352218" y="48199"/>
                  <a:pt x="365760" y="41428"/>
                </a:cubicBezTo>
                <a:cubicBezTo>
                  <a:pt x="368155" y="40231"/>
                  <a:pt x="370985" y="40085"/>
                  <a:pt x="373380" y="38888"/>
                </a:cubicBezTo>
                <a:cubicBezTo>
                  <a:pt x="390921" y="30117"/>
                  <a:pt x="370015" y="36554"/>
                  <a:pt x="391160" y="31268"/>
                </a:cubicBezTo>
                <a:cubicBezTo>
                  <a:pt x="393700" y="29575"/>
                  <a:pt x="396770" y="28485"/>
                  <a:pt x="398780" y="26188"/>
                </a:cubicBezTo>
                <a:cubicBezTo>
                  <a:pt x="402800" y="21593"/>
                  <a:pt x="408940" y="10948"/>
                  <a:pt x="408940" y="10948"/>
                </a:cubicBezTo>
                <a:cubicBezTo>
                  <a:pt x="398476" y="8855"/>
                  <a:pt x="391807" y="5960"/>
                  <a:pt x="381000" y="10948"/>
                </a:cubicBezTo>
                <a:cubicBezTo>
                  <a:pt x="374387" y="14000"/>
                  <a:pt x="369423" y="19831"/>
                  <a:pt x="363220" y="23648"/>
                </a:cubicBezTo>
                <a:cubicBezTo>
                  <a:pt x="358383" y="26625"/>
                  <a:pt x="352966" y="28548"/>
                  <a:pt x="347980" y="31268"/>
                </a:cubicBezTo>
                <a:cubicBezTo>
                  <a:pt x="343646" y="33632"/>
                  <a:pt x="339864" y="37054"/>
                  <a:pt x="335280" y="38888"/>
                </a:cubicBezTo>
                <a:cubicBezTo>
                  <a:pt x="331272" y="40491"/>
                  <a:pt x="326813" y="40581"/>
                  <a:pt x="322580" y="41428"/>
                </a:cubicBezTo>
                <a:cubicBezTo>
                  <a:pt x="309880" y="40581"/>
                  <a:pt x="297138" y="40220"/>
                  <a:pt x="284480" y="38888"/>
                </a:cubicBezTo>
                <a:cubicBezTo>
                  <a:pt x="281008" y="38523"/>
                  <a:pt x="277811" y="36348"/>
                  <a:pt x="274320" y="36348"/>
                </a:cubicBezTo>
                <a:cubicBezTo>
                  <a:pt x="264125" y="36348"/>
                  <a:pt x="254000" y="38041"/>
                  <a:pt x="243840" y="38888"/>
                </a:cubicBezTo>
                <a:cubicBezTo>
                  <a:pt x="237864" y="40880"/>
                  <a:pt x="223080" y="46508"/>
                  <a:pt x="215900" y="46508"/>
                </a:cubicBezTo>
                <a:cubicBezTo>
                  <a:pt x="209074" y="46508"/>
                  <a:pt x="202353" y="44815"/>
                  <a:pt x="195580" y="43968"/>
                </a:cubicBezTo>
                <a:cubicBezTo>
                  <a:pt x="193040" y="41428"/>
                  <a:pt x="190720" y="38648"/>
                  <a:pt x="187960" y="36348"/>
                </a:cubicBezTo>
                <a:cubicBezTo>
                  <a:pt x="174858" y="25429"/>
                  <a:pt x="169994" y="30472"/>
                  <a:pt x="147320" y="28728"/>
                </a:cubicBezTo>
                <a:cubicBezTo>
                  <a:pt x="143933" y="27881"/>
                  <a:pt x="140282" y="27749"/>
                  <a:pt x="137160" y="26188"/>
                </a:cubicBezTo>
                <a:cubicBezTo>
                  <a:pt x="133374" y="24295"/>
                  <a:pt x="130445" y="21029"/>
                  <a:pt x="127000" y="18568"/>
                </a:cubicBezTo>
                <a:cubicBezTo>
                  <a:pt x="124516" y="16794"/>
                  <a:pt x="122110" y="14853"/>
                  <a:pt x="119380" y="13488"/>
                </a:cubicBezTo>
                <a:cubicBezTo>
                  <a:pt x="116985" y="12291"/>
                  <a:pt x="114300" y="11795"/>
                  <a:pt x="111760" y="10948"/>
                </a:cubicBezTo>
                <a:cubicBezTo>
                  <a:pt x="84575" y="29071"/>
                  <a:pt x="111170" y="13488"/>
                  <a:pt x="35560" y="13488"/>
                </a:cubicBezTo>
                <a:cubicBezTo>
                  <a:pt x="25365" y="13488"/>
                  <a:pt x="15240" y="15181"/>
                  <a:pt x="5080" y="16028"/>
                </a:cubicBezTo>
                <a:cubicBezTo>
                  <a:pt x="3387" y="18568"/>
                  <a:pt x="0" y="20595"/>
                  <a:pt x="0" y="23648"/>
                </a:cubicBezTo>
                <a:cubicBezTo>
                  <a:pt x="0" y="32419"/>
                  <a:pt x="10142" y="32534"/>
                  <a:pt x="15240" y="33808"/>
                </a:cubicBezTo>
                <a:cubicBezTo>
                  <a:pt x="34713" y="32961"/>
                  <a:pt x="54279" y="33345"/>
                  <a:pt x="73660" y="31268"/>
                </a:cubicBezTo>
                <a:cubicBezTo>
                  <a:pt x="78193" y="30782"/>
                  <a:pt x="82002" y="27529"/>
                  <a:pt x="86360" y="26188"/>
                </a:cubicBezTo>
                <a:cubicBezTo>
                  <a:pt x="93033" y="24135"/>
                  <a:pt x="106680" y="21108"/>
                  <a:pt x="106680" y="21108"/>
                </a:cubicBezTo>
                <a:cubicBezTo>
                  <a:pt x="121073" y="21955"/>
                  <a:pt x="135513" y="22213"/>
                  <a:pt x="149860" y="23648"/>
                </a:cubicBezTo>
                <a:cubicBezTo>
                  <a:pt x="152524" y="23914"/>
                  <a:pt x="155389" y="24515"/>
                  <a:pt x="157480" y="26188"/>
                </a:cubicBezTo>
                <a:cubicBezTo>
                  <a:pt x="159864" y="28095"/>
                  <a:pt x="160867" y="31268"/>
                  <a:pt x="162560" y="33808"/>
                </a:cubicBezTo>
                <a:cubicBezTo>
                  <a:pt x="167640" y="29575"/>
                  <a:pt x="172858" y="25501"/>
                  <a:pt x="177800" y="21108"/>
                </a:cubicBezTo>
                <a:cubicBezTo>
                  <a:pt x="180485" y="18722"/>
                  <a:pt x="182431" y="15481"/>
                  <a:pt x="185420" y="13488"/>
                </a:cubicBezTo>
                <a:cubicBezTo>
                  <a:pt x="187648" y="12003"/>
                  <a:pt x="190500" y="11795"/>
                  <a:pt x="193040" y="10948"/>
                </a:cubicBezTo>
                <a:cubicBezTo>
                  <a:pt x="200660" y="11795"/>
                  <a:pt x="208462" y="11629"/>
                  <a:pt x="215900" y="13488"/>
                </a:cubicBezTo>
                <a:cubicBezTo>
                  <a:pt x="218862" y="14228"/>
                  <a:pt x="220491" y="18947"/>
                  <a:pt x="223520" y="18568"/>
                </a:cubicBezTo>
                <a:cubicBezTo>
                  <a:pt x="228419" y="17956"/>
                  <a:pt x="232034" y="13565"/>
                  <a:pt x="236220" y="10948"/>
                </a:cubicBezTo>
                <a:cubicBezTo>
                  <a:pt x="247475" y="3914"/>
                  <a:pt x="239710" y="7245"/>
                  <a:pt x="251460" y="3328"/>
                </a:cubicBezTo>
                <a:cubicBezTo>
                  <a:pt x="255693" y="5021"/>
                  <a:pt x="259891" y="6807"/>
                  <a:pt x="264160" y="8408"/>
                </a:cubicBezTo>
                <a:cubicBezTo>
                  <a:pt x="296321" y="20469"/>
                  <a:pt x="319050" y="12261"/>
                  <a:pt x="363220" y="13488"/>
                </a:cubicBezTo>
                <a:cubicBezTo>
                  <a:pt x="370840" y="11795"/>
                  <a:pt x="378619" y="10704"/>
                  <a:pt x="386080" y="8408"/>
                </a:cubicBezTo>
                <a:cubicBezTo>
                  <a:pt x="389699" y="7294"/>
                  <a:pt x="392462" y="3580"/>
                  <a:pt x="396240" y="3328"/>
                </a:cubicBezTo>
                <a:cubicBezTo>
                  <a:pt x="405571" y="2706"/>
                  <a:pt x="414867" y="5021"/>
                  <a:pt x="424180" y="5868"/>
                </a:cubicBezTo>
                <a:cubicBezTo>
                  <a:pt x="427567" y="5021"/>
                  <a:pt x="430983" y="4287"/>
                  <a:pt x="434340" y="3328"/>
                </a:cubicBezTo>
                <a:cubicBezTo>
                  <a:pt x="436914" y="2592"/>
                  <a:pt x="441113" y="-1752"/>
                  <a:pt x="441960" y="788"/>
                </a:cubicBezTo>
                <a:cubicBezTo>
                  <a:pt x="443796" y="6296"/>
                  <a:pt x="433354" y="14800"/>
                  <a:pt x="429260" y="16028"/>
                </a:cubicBezTo>
                <a:cubicBezTo>
                  <a:pt x="426756" y="16779"/>
                  <a:pt x="392298" y="20966"/>
                  <a:pt x="391160" y="21108"/>
                </a:cubicBezTo>
                <a:cubicBezTo>
                  <a:pt x="381934" y="24183"/>
                  <a:pt x="386217" y="23648"/>
                  <a:pt x="378460" y="23648"/>
                </a:cubicBezTo>
              </a:path>
            </a:pathLst>
          </a:custGeom>
          <a:noFill/>
          <a:ln w="19050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3" name="Triangle isocèle 22">
            <a:extLst>
              <a:ext uri="{FF2B5EF4-FFF2-40B4-BE49-F238E27FC236}">
                <a16:creationId xmlns:a16="http://schemas.microsoft.com/office/drawing/2014/main" id="{3B5CE0DF-C14D-485B-BDE7-9EA3B63A3FF9}"/>
              </a:ext>
            </a:extLst>
          </p:cNvPr>
          <p:cNvSpPr/>
          <p:nvPr/>
        </p:nvSpPr>
        <p:spPr>
          <a:xfrm flipV="1">
            <a:off x="2188919" y="4140507"/>
            <a:ext cx="771059" cy="829000"/>
          </a:xfrm>
          <a:prstGeom prst="triangle">
            <a:avLst/>
          </a:prstGeom>
          <a:solidFill>
            <a:srgbClr val="FFFFFF">
              <a:alpha val="5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demi-tour 23">
            <a:extLst>
              <a:ext uri="{FF2B5EF4-FFF2-40B4-BE49-F238E27FC236}">
                <a16:creationId xmlns:a16="http://schemas.microsoft.com/office/drawing/2014/main" id="{ADE0E6AF-D5E6-45CF-8A2A-488544A770EF}"/>
              </a:ext>
            </a:extLst>
          </p:cNvPr>
          <p:cNvSpPr/>
          <p:nvPr/>
        </p:nvSpPr>
        <p:spPr>
          <a:xfrm>
            <a:off x="2534003" y="3396850"/>
            <a:ext cx="4236074" cy="829000"/>
          </a:xfrm>
          <a:prstGeom prst="uturnArrow">
            <a:avLst>
              <a:gd name="adj1" fmla="val 11812"/>
              <a:gd name="adj2" fmla="val 25000"/>
              <a:gd name="adj3" fmla="val 23801"/>
              <a:gd name="adj4" fmla="val 76199"/>
              <a:gd name="adj5" fmla="val 10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E6C1861-FE6C-4103-B53F-C22BABC941D3}"/>
                  </a:ext>
                </a:extLst>
              </p:cNvPr>
              <p:cNvSpPr txBox="1"/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Prélèvement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 de surnageant</a:t>
                </a:r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E6C1861-FE6C-4103-B53F-C22BABC94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082" y="2973120"/>
                <a:ext cx="4199676" cy="369332"/>
              </a:xfrm>
              <a:prstGeom prst="rect">
                <a:avLst/>
              </a:prstGeom>
              <a:blipFill>
                <a:blip r:embed="rId5"/>
                <a:stretch>
                  <a:fillRect l="-1308" t="-10000" r="-581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9CF70585-0416-4B79-AB97-D40AF367324E}"/>
              </a:ext>
            </a:extLst>
          </p:cNvPr>
          <p:cNvSpPr txBox="1"/>
          <p:nvPr/>
        </p:nvSpPr>
        <p:spPr>
          <a:xfrm>
            <a:off x="1470754" y="5318305"/>
            <a:ext cx="2126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Solution saturée d’acide benzoïque</a:t>
            </a:r>
          </a:p>
        </p:txBody>
      </p:sp>
    </p:spTree>
    <p:extLst>
      <p:ext uri="{BB962C8B-B14F-4D97-AF65-F5344CB8AC3E}">
        <p14:creationId xmlns:p14="http://schemas.microsoft.com/office/powerpoint/2010/main" val="236869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3775C7-3EE6-4985-9FA5-1ECFF9BF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Solubilité de l’acide benzoïque en fonction du pH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96AC9D2-0387-4F50-95DF-95247B65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939A7F-5A8D-49D0-849D-A79F1903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5</a:t>
            </a:fld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14EA7FC-048C-4A78-AB8B-D43F05B2B28F}"/>
              </a:ext>
            </a:extLst>
          </p:cNvPr>
          <p:cNvGrpSpPr/>
          <p:nvPr/>
        </p:nvGrpSpPr>
        <p:grpSpPr>
          <a:xfrm>
            <a:off x="4483395" y="1973591"/>
            <a:ext cx="3225209" cy="3436125"/>
            <a:chOff x="552893" y="1619173"/>
            <a:chExt cx="3225209" cy="3436125"/>
          </a:xfrm>
        </p:grpSpPr>
        <p:grpSp>
          <p:nvGrpSpPr>
            <p:cNvPr id="6" name="Grouper 444">
              <a:extLst>
                <a:ext uri="{FF2B5EF4-FFF2-40B4-BE49-F238E27FC236}">
                  <a16:creationId xmlns:a16="http://schemas.microsoft.com/office/drawing/2014/main" id="{B86F89A2-4327-49C0-9181-5FF50C1D4FA2}"/>
                </a:ext>
              </a:extLst>
            </p:cNvPr>
            <p:cNvGrpSpPr/>
            <p:nvPr/>
          </p:nvGrpSpPr>
          <p:grpSpPr>
            <a:xfrm>
              <a:off x="637565" y="1938349"/>
              <a:ext cx="1347568" cy="1943491"/>
              <a:chOff x="-421" y="0"/>
              <a:chExt cx="571921" cy="824230"/>
            </a:xfrm>
          </p:grpSpPr>
          <p:sp>
            <p:nvSpPr>
              <p:cNvPr id="7" name="Arrondir un rectangle avec un coin du même côté 49">
                <a:extLst>
                  <a:ext uri="{FF2B5EF4-FFF2-40B4-BE49-F238E27FC236}">
                    <a16:creationId xmlns:a16="http://schemas.microsoft.com/office/drawing/2014/main" id="{45E3ADDE-1F02-4334-A410-A3A7C4642092}"/>
                  </a:ext>
                </a:extLst>
              </p:cNvPr>
              <p:cNvSpPr/>
              <p:nvPr/>
            </p:nvSpPr>
            <p:spPr>
              <a:xfrm rot="10800000">
                <a:off x="-421" y="481330"/>
                <a:ext cx="571500" cy="342900"/>
              </a:xfrm>
              <a:prstGeom prst="round2Same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8" name="Grouper 441">
                <a:extLst>
                  <a:ext uri="{FF2B5EF4-FFF2-40B4-BE49-F238E27FC236}">
                    <a16:creationId xmlns:a16="http://schemas.microsoft.com/office/drawing/2014/main" id="{1761C71D-63E6-419A-A8FA-CAE7E4372671}"/>
                  </a:ext>
                </a:extLst>
              </p:cNvPr>
              <p:cNvGrpSpPr/>
              <p:nvPr/>
            </p:nvGrpSpPr>
            <p:grpSpPr>
              <a:xfrm>
                <a:off x="0" y="0"/>
                <a:ext cx="571500" cy="824230"/>
                <a:chOff x="0" y="0"/>
                <a:chExt cx="571500" cy="824230"/>
              </a:xfrm>
            </p:grpSpPr>
            <p:sp>
              <p:nvSpPr>
                <p:cNvPr id="9" name="Arrondir un rectangle avec un coin du même côté 442">
                  <a:extLst>
                    <a:ext uri="{FF2B5EF4-FFF2-40B4-BE49-F238E27FC236}">
                      <a16:creationId xmlns:a16="http://schemas.microsoft.com/office/drawing/2014/main" id="{ED246A16-E2CB-4F9F-BF74-43BBBA3EA3C3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816063C5-AFC4-426A-BA66-FEC0B3519835}"/>
                    </a:ext>
                  </a:extLst>
                </p:cNvPr>
                <p:cNvSpPr/>
                <p:nvPr/>
              </p:nvSpPr>
              <p:spPr>
                <a:xfrm flipV="1">
                  <a:off x="0" y="0"/>
                  <a:ext cx="57150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p:grpSp>
          <p:nvGrpSpPr>
            <p:cNvPr id="11" name="Grouper 581">
              <a:extLst>
                <a:ext uri="{FF2B5EF4-FFF2-40B4-BE49-F238E27FC236}">
                  <a16:creationId xmlns:a16="http://schemas.microsoft.com/office/drawing/2014/main" id="{784F934B-00CA-4298-8D41-ACBE22B31D76}"/>
                </a:ext>
              </a:extLst>
            </p:cNvPr>
            <p:cNvGrpSpPr/>
            <p:nvPr/>
          </p:nvGrpSpPr>
          <p:grpSpPr>
            <a:xfrm>
              <a:off x="1601972" y="2736007"/>
              <a:ext cx="179351" cy="954025"/>
              <a:chOff x="0" y="0"/>
              <a:chExt cx="146050" cy="804545"/>
            </a:xfrm>
          </p:grpSpPr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EB724393-801C-4406-A0CF-04B7C4F10B8C}"/>
                  </a:ext>
                </a:extLst>
              </p:cNvPr>
              <p:cNvSpPr/>
              <p:nvPr/>
            </p:nvSpPr>
            <p:spPr>
              <a:xfrm>
                <a:off x="33020" y="709295"/>
                <a:ext cx="80010" cy="800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B0B8D4A-1472-4F03-88BB-1A7B8202C1AD}"/>
                  </a:ext>
                </a:extLst>
              </p:cNvPr>
              <p:cNvSpPr/>
              <p:nvPr/>
            </p:nvSpPr>
            <p:spPr>
              <a:xfrm rot="5400000">
                <a:off x="-282258" y="282258"/>
                <a:ext cx="710565" cy="14605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4C055BD5-BCE0-4606-8223-695F7DDFBE3A}"/>
                  </a:ext>
                </a:extLst>
              </p:cNvPr>
              <p:cNvCxnSpPr/>
              <p:nvPr/>
            </p:nvCxnSpPr>
            <p:spPr>
              <a:xfrm>
                <a:off x="9525" y="706755"/>
                <a:ext cx="0" cy="97790"/>
              </a:xfrm>
              <a:prstGeom prst="line">
                <a:avLst/>
              </a:prstGeom>
              <a:ln w="28575" cmpd="sng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E70E55D4-BC72-4F5C-992A-269FAC0374B2}"/>
                  </a:ext>
                </a:extLst>
              </p:cNvPr>
              <p:cNvCxnSpPr/>
              <p:nvPr/>
            </p:nvCxnSpPr>
            <p:spPr>
              <a:xfrm>
                <a:off x="137795" y="705485"/>
                <a:ext cx="0" cy="97790"/>
              </a:xfrm>
              <a:prstGeom prst="line">
                <a:avLst/>
              </a:prstGeom>
              <a:ln w="28575" cmpd="sng"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E3270A8-2750-4220-BC1B-B32610FF11E8}"/>
                </a:ext>
              </a:extLst>
            </p:cNvPr>
            <p:cNvSpPr/>
            <p:nvPr/>
          </p:nvSpPr>
          <p:spPr>
            <a:xfrm>
              <a:off x="2268279" y="3073300"/>
              <a:ext cx="1509823" cy="8085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pH-mètre</a:t>
              </a:r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DD9D1221-07AA-450C-A5A5-CF9F604B96F5}"/>
                </a:ext>
              </a:extLst>
            </p:cNvPr>
            <p:cNvSpPr/>
            <p:nvPr/>
          </p:nvSpPr>
          <p:spPr>
            <a:xfrm>
              <a:off x="1683597" y="1619173"/>
              <a:ext cx="1308279" cy="1450092"/>
            </a:xfrm>
            <a:custGeom>
              <a:avLst/>
              <a:gdLst>
                <a:gd name="connsiteX0" fmla="*/ 1173017 w 1308279"/>
                <a:gd name="connsiteY0" fmla="*/ 1450092 h 1450092"/>
                <a:gd name="connsiteX1" fmla="*/ 1215547 w 1308279"/>
                <a:gd name="connsiteY1" fmla="*/ 152920 h 1450092"/>
                <a:gd name="connsiteX2" fmla="*/ 116850 w 1308279"/>
                <a:gd name="connsiteY2" fmla="*/ 131655 h 1450092"/>
                <a:gd name="connsiteX3" fmla="*/ 31789 w 1308279"/>
                <a:gd name="connsiteY3" fmla="*/ 1109850 h 1450092"/>
                <a:gd name="connsiteX4" fmla="*/ 31789 w 1308279"/>
                <a:gd name="connsiteY4" fmla="*/ 1109850 h 1450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279" h="1450092">
                  <a:moveTo>
                    <a:pt x="1173017" y="1450092"/>
                  </a:moveTo>
                  <a:cubicBezTo>
                    <a:pt x="1282296" y="911375"/>
                    <a:pt x="1391575" y="372659"/>
                    <a:pt x="1215547" y="152920"/>
                  </a:cubicBezTo>
                  <a:cubicBezTo>
                    <a:pt x="1039519" y="-66820"/>
                    <a:pt x="314143" y="-27833"/>
                    <a:pt x="116850" y="131655"/>
                  </a:cubicBezTo>
                  <a:cubicBezTo>
                    <a:pt x="-80443" y="291143"/>
                    <a:pt x="31789" y="1109850"/>
                    <a:pt x="31789" y="1109850"/>
                  </a:cubicBezTo>
                  <a:lnTo>
                    <a:pt x="31789" y="1109850"/>
                  </a:ln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63C01F4C-563D-41B2-9FA1-67BE1707A975}"/>
                    </a:ext>
                  </a:extLst>
                </p:cNvPr>
                <p:cNvSpPr txBox="1"/>
                <p:nvPr/>
              </p:nvSpPr>
              <p:spPr>
                <a:xfrm>
                  <a:off x="552893" y="4408967"/>
                  <a:ext cx="2870791" cy="646331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dirty="0"/>
                    <a:t>Solution saturée d’acide benzoïque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hCOO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endParaRPr lang="fr-FR" dirty="0"/>
                </a:p>
              </p:txBody>
            </p:sp>
          </mc:Choice>
          <mc:Fallback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63C01F4C-563D-41B2-9FA1-67BE1707A9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893" y="4408967"/>
                  <a:ext cx="2870791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3670" b="-1192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11E48257-0B48-4D8B-9EA4-8FB0FBA2C739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1311845" y="3688526"/>
              <a:ext cx="676444" cy="7204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B74EB34E-2726-468C-A395-6F0BA367F93D}"/>
              </a:ext>
            </a:extLst>
          </p:cNvPr>
          <p:cNvSpPr txBox="1"/>
          <p:nvPr/>
        </p:nvSpPr>
        <p:spPr>
          <a:xfrm>
            <a:off x="1800447" y="2452577"/>
            <a:ext cx="214068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Ajout de soude pour faire varier le pH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E84A8879-A0E7-4A13-AD34-B526B2A1D0BC}"/>
              </a:ext>
            </a:extLst>
          </p:cNvPr>
          <p:cNvCxnSpPr>
            <a:stCxn id="24" idx="3"/>
          </p:cNvCxnSpPr>
          <p:nvPr/>
        </p:nvCxnSpPr>
        <p:spPr>
          <a:xfrm>
            <a:off x="3941135" y="2775743"/>
            <a:ext cx="1301212" cy="825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644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7085AD7A-D99D-4A1E-86D3-2DB78CE148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dirty="0"/>
                  <a:t>Solubilité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CaC</m:t>
                    </m:r>
                    <m:sSub>
                      <m:sSubPr>
                        <m:ctrlPr>
                          <a:rPr lang="fr-FR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fr-FR" dirty="0"/>
                  <a:t> en fonction du pH</a:t>
                </a:r>
              </a:p>
            </p:txBody>
          </p:sp>
        </mc:Choice>
        <mc:Fallback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7085AD7A-D99D-4A1E-86D3-2DB78CE14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b="-323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AA05C4A7-8BE3-40C7-9111-93C2CB4DF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6891" y="1436021"/>
            <a:ext cx="6638544" cy="4425696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6F51F68-1EBD-4878-AD47-FFD08848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8941B2-44D6-442C-86DF-3BBB7C68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90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4169F2-3E41-46CE-A6BC-C5724528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 de l’eau de mer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EA17541-157B-42FB-AB20-0892452A7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988" y="1391031"/>
            <a:ext cx="6512349" cy="4884262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32E3E4-9F6C-4D4C-9E15-F80A7F29E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651B03-B5E2-446B-9273-53C6DF83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7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A93292-D737-4203-B599-CF1A73B3CCEA}"/>
              </a:ext>
            </a:extLst>
          </p:cNvPr>
          <p:cNvSpPr/>
          <p:nvPr/>
        </p:nvSpPr>
        <p:spPr>
          <a:xfrm>
            <a:off x="3189767" y="3182679"/>
            <a:ext cx="170121" cy="1446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FC531-6196-4268-B0C2-BCC17738221E}"/>
              </a:ext>
            </a:extLst>
          </p:cNvPr>
          <p:cNvSpPr/>
          <p:nvPr/>
        </p:nvSpPr>
        <p:spPr>
          <a:xfrm rot="5400000">
            <a:off x="7872523" y="2963828"/>
            <a:ext cx="264042" cy="1194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47D335A-1950-4CFA-A987-64A6BCE17610}"/>
                  </a:ext>
                </a:extLst>
              </p:cNvPr>
              <p:cNvSpPr txBox="1"/>
              <p:nvPr/>
            </p:nvSpPr>
            <p:spPr>
              <a:xfrm>
                <a:off x="7339331" y="3391746"/>
                <a:ext cx="13120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C</m:t>
                    </m:r>
                    <m:sSub>
                      <m:sSubPr>
                        <m:ctrlPr>
                          <a:rPr lang="fr-FR" sz="1600" b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fr-FR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600" dirty="0"/>
                  <a:t> dissous</a:t>
                </a:r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47D335A-1950-4CFA-A987-64A6BCE17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331" y="3391746"/>
                <a:ext cx="1312025" cy="338554"/>
              </a:xfrm>
              <a:prstGeom prst="rect">
                <a:avLst/>
              </a:prstGeom>
              <a:blipFill>
                <a:blip r:embed="rId3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72F5124C-E5D4-4934-9043-6EEC2339E01F}"/>
              </a:ext>
            </a:extLst>
          </p:cNvPr>
          <p:cNvSpPr txBox="1"/>
          <p:nvPr/>
        </p:nvSpPr>
        <p:spPr>
          <a:xfrm rot="16200000">
            <a:off x="1556419" y="3663500"/>
            <a:ext cx="3268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Pourcentage de l’espèce considérée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090B5CB9-E5B5-4C87-8C4D-AAC3A7A581D1}"/>
              </a:ext>
            </a:extLst>
          </p:cNvPr>
          <p:cNvCxnSpPr/>
          <p:nvPr/>
        </p:nvCxnSpPr>
        <p:spPr>
          <a:xfrm flipH="1">
            <a:off x="5968409" y="3785191"/>
            <a:ext cx="318977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2330EFC9-B8B5-4AD3-B897-B22E63045650}"/>
              </a:ext>
            </a:extLst>
          </p:cNvPr>
          <p:cNvSpPr txBox="1"/>
          <p:nvPr/>
        </p:nvSpPr>
        <p:spPr>
          <a:xfrm>
            <a:off x="4967615" y="3872327"/>
            <a:ext cx="140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C000"/>
                </a:solidFill>
              </a:rPr>
              <a:t>Acidification</a:t>
            </a:r>
          </a:p>
        </p:txBody>
      </p:sp>
    </p:spTree>
    <p:extLst>
      <p:ext uri="{BB962C8B-B14F-4D97-AF65-F5344CB8AC3E}">
        <p14:creationId xmlns:p14="http://schemas.microsoft.com/office/powerpoint/2010/main" val="2316553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86DB8-0F37-447E-BBED-44D9F02C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Effet du pH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3FD30FD-F3D3-40CA-9AF0-B98A831D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36964B-C31C-4183-9E49-247563DB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7B49BD50-ECF2-4185-A8F8-5A8CDB7E84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428750"/>
          <a:ext cx="10058400" cy="4440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561CB6D9-BAD1-4D5C-853B-1A9D4E6A8D00}"/>
              </a:ext>
            </a:extLst>
          </p:cNvPr>
          <p:cNvSpPr txBox="1"/>
          <p:nvPr/>
        </p:nvSpPr>
        <p:spPr>
          <a:xfrm>
            <a:off x="150740" y="5839953"/>
            <a:ext cx="1040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 : Report of the Workshop on the Significance of Changing Ocean CO2 and pH in Shelf Sea Ecosystems, L. Fernand et P. Brewer (2007)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917095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33F3D-7C0F-440D-9598-6D4F12EE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des eaux usées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C33DDD-7D54-4C28-9642-0C9BA5FD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3F181F-AE38-44FE-B019-F3B01DFA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9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40A4BC38-073F-4687-B9EA-0DBA023A157A}"/>
                  </a:ext>
                </a:extLst>
              </p:cNvPr>
              <p:cNvSpPr txBox="1"/>
              <p:nvPr/>
            </p:nvSpPr>
            <p:spPr>
              <a:xfrm>
                <a:off x="680483" y="2537825"/>
                <a:ext cx="4281377" cy="22467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fr-FR" sz="2400" dirty="0"/>
                  <a:t>Métaux dissous issus des usines d’hydrométallurgie, de la combustion des déchets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fr-FR" sz="2400" dirty="0"/>
                  <a:t>Sulfates issus d’engrais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fr-FR" sz="2400" dirty="0"/>
                  <a:t>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fr-FR" sz="2400" b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p>
                  </m:oMath>
                </a14:m>
                <a:r>
                  <a:rPr lang="fr-FR" sz="2400" dirty="0"/>
                  <a:t> 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M</m:t>
                    </m:r>
                    <m:sSup>
                      <m:sSupPr>
                        <m:ctrlPr>
                          <a:rPr lang="fr-FR" sz="2400" b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p>
                  </m:oMath>
                </a14:m>
                <a:endParaRPr lang="fr-FR" sz="2400" dirty="0"/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40A4BC38-073F-4687-B9EA-0DBA023A1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83" y="2537825"/>
                <a:ext cx="4281377" cy="2246769"/>
              </a:xfrm>
              <a:prstGeom prst="rect">
                <a:avLst/>
              </a:prstGeom>
              <a:blipFill>
                <a:blip r:embed="rId2"/>
                <a:stretch>
                  <a:fillRect l="-1844" t="-1882" b="-45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ZoneTexte 14">
            <a:extLst>
              <a:ext uri="{FF2B5EF4-FFF2-40B4-BE49-F238E27FC236}">
                <a16:creationId xmlns:a16="http://schemas.microsoft.com/office/drawing/2014/main" id="{44F3C7D2-8595-4B38-965D-4AE2AA460868}"/>
              </a:ext>
            </a:extLst>
          </p:cNvPr>
          <p:cNvSpPr txBox="1"/>
          <p:nvPr/>
        </p:nvSpPr>
        <p:spPr>
          <a:xfrm>
            <a:off x="680483" y="2014605"/>
            <a:ext cx="4281377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Espèces à retirer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E819BF1-CAD2-4D8F-962F-6A88E4E7450E}"/>
                  </a:ext>
                </a:extLst>
              </p:cNvPr>
              <p:cNvSpPr txBox="1"/>
              <p:nvPr/>
            </p:nvSpPr>
            <p:spPr>
              <a:xfrm>
                <a:off x="6298018" y="2537825"/>
                <a:ext cx="5341089" cy="262001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fr-FR" sz="2400" dirty="0"/>
                  <a:t>Précipitation des métaux sous forme d’hydroxyde :</a:t>
                </a:r>
                <a:br>
                  <a:rPr lang="fr-FR" sz="240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P</m:t>
                    </m:r>
                    <m:sSup>
                      <m:sSup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fr-FR" sz="240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p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p>
                        <m:r>
                          <a:rPr lang="fr-FR" sz="240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Pb</m:t>
                    </m:r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sz="2400">
                                <a:latin typeface="Cambria Math" panose="02040503050406030204" pitchFamily="18" charset="0"/>
                              </a:rPr>
                              <m:t>OH</m:t>
                            </m:r>
                          </m:e>
                        </m:d>
                      </m:e>
                      <m:sub>
                        <m:r>
                          <a:rPr lang="fr-FR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24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fr-FR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400" dirty="0"/>
              </a:p>
              <a:p>
                <a:pPr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fr-FR" sz="2400" dirty="0"/>
                  <a:t>Précipitation d’anions indésirables :</a:t>
                </a:r>
                <a:br>
                  <a:rPr lang="fr-FR" sz="240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S</m:t>
                    </m:r>
                    <m:sSubSup>
                      <m:sSubSup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fr-FR" sz="240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fr-FR" sz="2400">
                            <a:latin typeface="Cambria Math" panose="02040503050406030204" pitchFamily="18" charset="0"/>
                          </a:rPr>
                          <m:t>2−</m:t>
                        </m:r>
                      </m:sup>
                    </m:sSubSup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fr-FR" sz="2400">
                            <a:latin typeface="Cambria Math" panose="02040503050406030204" pitchFamily="18" charset="0"/>
                          </a:rPr>
                          <m:t>2+</m:t>
                        </m:r>
                      </m:sup>
                    </m:sSup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aq</m:t>
                        </m:r>
                      </m:e>
                    </m:d>
                    <m:r>
                      <a:rPr lang="fr-FR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CaS</m:t>
                    </m:r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fr-FR" sz="240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fr-FR" sz="24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fr-FR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400" dirty="0"/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fr-FR" sz="2400" dirty="0"/>
              </a:p>
            </p:txBody>
          </p:sp>
        </mc:Choice>
        <mc:Fallback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E819BF1-CAD2-4D8F-962F-6A88E4E74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018" y="2537825"/>
                <a:ext cx="5341089" cy="2620013"/>
              </a:xfrm>
              <a:prstGeom prst="rect">
                <a:avLst/>
              </a:prstGeom>
              <a:blipFill>
                <a:blip r:embed="rId3"/>
                <a:stretch>
                  <a:fillRect l="-1593" t="-16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ZoneTexte 16">
            <a:extLst>
              <a:ext uri="{FF2B5EF4-FFF2-40B4-BE49-F238E27FC236}">
                <a16:creationId xmlns:a16="http://schemas.microsoft.com/office/drawing/2014/main" id="{A796B349-8C3C-4C06-BE04-0453D02F0B01}"/>
              </a:ext>
            </a:extLst>
          </p:cNvPr>
          <p:cNvSpPr txBox="1"/>
          <p:nvPr/>
        </p:nvSpPr>
        <p:spPr>
          <a:xfrm>
            <a:off x="6298018" y="2014605"/>
            <a:ext cx="5341089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/>
              <a:t>Traitement</a:t>
            </a:r>
          </a:p>
        </p:txBody>
      </p:sp>
    </p:spTree>
    <p:extLst>
      <p:ext uri="{BB962C8B-B14F-4D97-AF65-F5344CB8AC3E}">
        <p14:creationId xmlns:p14="http://schemas.microsoft.com/office/powerpoint/2010/main" val="2200047566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1152</TotalTime>
  <Words>207</Words>
  <Application>Microsoft Office PowerPoint</Application>
  <PresentationFormat>Grand écran</PresentationFormat>
  <Paragraphs>58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Rétrospective</vt:lpstr>
      <vt:lpstr>Solubilité</vt:lpstr>
      <vt:lpstr>Coquillages</vt:lpstr>
      <vt:lpstr>Coraux</vt:lpstr>
      <vt:lpstr>Produit de solubilité de l’acide benzoïque</vt:lpstr>
      <vt:lpstr>Solubilité de l’acide benzoïque en fonction du pH</vt:lpstr>
      <vt:lpstr>Solubilité de CaCO_3 en fonction du pH</vt:lpstr>
      <vt:lpstr>pH de l’eau de mer</vt:lpstr>
      <vt:lpstr>Effet du pH</vt:lpstr>
      <vt:lpstr>Traitement des eaux usées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90</cp:revision>
  <dcterms:created xsi:type="dcterms:W3CDTF">2019-04-06T14:18:31Z</dcterms:created>
  <dcterms:modified xsi:type="dcterms:W3CDTF">2019-06-14T12:25:01Z</dcterms:modified>
</cp:coreProperties>
</file>